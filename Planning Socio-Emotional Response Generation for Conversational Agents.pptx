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68"/>
  </p:notesMasterIdLst>
  <p:handoutMasterIdLst>
    <p:handoutMasterId r:id="rId69"/>
  </p:handoutMasterIdLst>
  <p:sldIdLst>
    <p:sldId id="257" r:id="rId5"/>
    <p:sldId id="317" r:id="rId6"/>
    <p:sldId id="439" r:id="rId7"/>
    <p:sldId id="366" r:id="rId8"/>
    <p:sldId id="393" r:id="rId9"/>
    <p:sldId id="376" r:id="rId10"/>
    <p:sldId id="348" r:id="rId11"/>
    <p:sldId id="391" r:id="rId12"/>
    <p:sldId id="392" r:id="rId13"/>
    <p:sldId id="441" r:id="rId14"/>
    <p:sldId id="321" r:id="rId15"/>
    <p:sldId id="406" r:id="rId16"/>
    <p:sldId id="407" r:id="rId17"/>
    <p:sldId id="413" r:id="rId18"/>
    <p:sldId id="408" r:id="rId19"/>
    <p:sldId id="395" r:id="rId20"/>
    <p:sldId id="396" r:id="rId21"/>
    <p:sldId id="352" r:id="rId22"/>
    <p:sldId id="361" r:id="rId23"/>
    <p:sldId id="444" r:id="rId24"/>
    <p:sldId id="415" r:id="rId25"/>
    <p:sldId id="403" r:id="rId26"/>
    <p:sldId id="412" r:id="rId27"/>
    <p:sldId id="362" r:id="rId28"/>
    <p:sldId id="432" r:id="rId29"/>
    <p:sldId id="427" r:id="rId30"/>
    <p:sldId id="447" r:id="rId31"/>
    <p:sldId id="431" r:id="rId32"/>
    <p:sldId id="429" r:id="rId33"/>
    <p:sldId id="363" r:id="rId34"/>
    <p:sldId id="470" r:id="rId35"/>
    <p:sldId id="478" r:id="rId36"/>
    <p:sldId id="476" r:id="rId37"/>
    <p:sldId id="457" r:id="rId38"/>
    <p:sldId id="365" r:id="rId39"/>
    <p:sldId id="458" r:id="rId40"/>
    <p:sldId id="402" r:id="rId41"/>
    <p:sldId id="295" r:id="rId42"/>
    <p:sldId id="293" r:id="rId43"/>
    <p:sldId id="460" r:id="rId44"/>
    <p:sldId id="445" r:id="rId45"/>
    <p:sldId id="469" r:id="rId46"/>
    <p:sldId id="459" r:id="rId47"/>
    <p:sldId id="410" r:id="rId48"/>
    <p:sldId id="446" r:id="rId49"/>
    <p:sldId id="411" r:id="rId50"/>
    <p:sldId id="434" r:id="rId51"/>
    <p:sldId id="461" r:id="rId52"/>
    <p:sldId id="462" r:id="rId53"/>
    <p:sldId id="466" r:id="rId54"/>
    <p:sldId id="467" r:id="rId55"/>
    <p:sldId id="468" r:id="rId56"/>
    <p:sldId id="435" r:id="rId57"/>
    <p:sldId id="430" r:id="rId58"/>
    <p:sldId id="397" r:id="rId59"/>
    <p:sldId id="372" r:id="rId60"/>
    <p:sldId id="378" r:id="rId61"/>
    <p:sldId id="442" r:id="rId62"/>
    <p:sldId id="479" r:id="rId63"/>
    <p:sldId id="480" r:id="rId64"/>
    <p:sldId id="379" r:id="rId65"/>
    <p:sldId id="380" r:id="rId66"/>
    <p:sldId id="481" r:id="rId67"/>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AFF5"/>
    <a:srgbClr val="4B84F4"/>
    <a:srgbClr val="D43F49"/>
    <a:srgbClr val="6D8EED"/>
    <a:srgbClr val="F2B781"/>
    <a:srgbClr val="6FD192"/>
    <a:srgbClr val="B08AB4"/>
    <a:srgbClr val="FFFFFF"/>
    <a:srgbClr val="E3ABCC"/>
    <a:srgbClr val="A5B0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06"/>
    <p:restoredTop sz="95580"/>
  </p:normalViewPr>
  <p:slideViewPr>
    <p:cSldViewPr snapToGrid="0">
      <p:cViewPr>
        <p:scale>
          <a:sx n="80" d="100"/>
          <a:sy n="80" d="100"/>
        </p:scale>
        <p:origin x="1784" y="1056"/>
      </p:cViewPr>
      <p:guideLst/>
    </p:cSldViewPr>
  </p:slideViewPr>
  <p:notesTextViewPr>
    <p:cViewPr>
      <p:scale>
        <a:sx n="55" d="100"/>
        <a:sy n="55" d="100"/>
      </p:scale>
      <p:origin x="0" y="0"/>
    </p:cViewPr>
  </p:notesTextViewPr>
  <p:sorterViewPr>
    <p:cViewPr>
      <p:scale>
        <a:sx n="80" d="100"/>
        <a:sy n="80" d="100"/>
      </p:scale>
      <p:origin x="0" y="0"/>
    </p:cViewPr>
  </p:sorterViewPr>
  <p:notesViewPr>
    <p:cSldViewPr snapToGrid="0">
      <p:cViewPr varScale="1">
        <p:scale>
          <a:sx n="95" d="100"/>
          <a:sy n="95" d="100"/>
        </p:scale>
        <p:origin x="2512" y="19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746CD6-9E5D-3FFD-9945-D0EF16F6CA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R"/>
          </a:p>
        </p:txBody>
      </p:sp>
      <p:sp>
        <p:nvSpPr>
          <p:cNvPr id="3" name="Date Placeholder 2">
            <a:extLst>
              <a:ext uri="{FF2B5EF4-FFF2-40B4-BE49-F238E27FC236}">
                <a16:creationId xmlns:a16="http://schemas.microsoft.com/office/drawing/2014/main" id="{4A74EDB6-0EC1-124F-9FF0-9DE5DACB9F8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D8685CC-E5D9-8E4F-91C5-936D0AF73894}" type="datetimeFigureOut">
              <a:rPr lang="en-FR" smtClean="0"/>
              <a:t>03/07/2025</a:t>
            </a:fld>
            <a:endParaRPr lang="en-FR"/>
          </a:p>
        </p:txBody>
      </p:sp>
      <p:sp>
        <p:nvSpPr>
          <p:cNvPr id="4" name="Footer Placeholder 3">
            <a:extLst>
              <a:ext uri="{FF2B5EF4-FFF2-40B4-BE49-F238E27FC236}">
                <a16:creationId xmlns:a16="http://schemas.microsoft.com/office/drawing/2014/main" id="{BA49648F-C6D1-2119-A1A5-E3FD502A562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FR"/>
          </a:p>
        </p:txBody>
      </p:sp>
      <p:sp>
        <p:nvSpPr>
          <p:cNvPr id="5" name="Slide Number Placeholder 4">
            <a:extLst>
              <a:ext uri="{FF2B5EF4-FFF2-40B4-BE49-F238E27FC236}">
                <a16:creationId xmlns:a16="http://schemas.microsoft.com/office/drawing/2014/main" id="{D144B268-2AF1-46A3-0366-B0C6325ACC7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3A59C2-5E5C-C749-BB28-879782C8064B}" type="slidenum">
              <a:rPr lang="en-FR" smtClean="0"/>
              <a:t>‹#›</a:t>
            </a:fld>
            <a:endParaRPr lang="en-FR"/>
          </a:p>
        </p:txBody>
      </p:sp>
    </p:spTree>
    <p:extLst>
      <p:ext uri="{BB962C8B-B14F-4D97-AF65-F5344CB8AC3E}">
        <p14:creationId xmlns:p14="http://schemas.microsoft.com/office/powerpoint/2010/main" val="1252631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84754-A63F-5348-82F3-2B2287A9D91A}" type="datetimeFigureOut">
              <a:rPr lang="en-FR" smtClean="0"/>
              <a:t>03/07/2025</a:t>
            </a:fld>
            <a:endParaRPr lang="en-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FF6257-208C-D647-A331-25E47C600D10}" type="slidenum">
              <a:rPr lang="en-FR" smtClean="0"/>
              <a:t>‹#›</a:t>
            </a:fld>
            <a:endParaRPr lang="en-FR"/>
          </a:p>
        </p:txBody>
      </p:sp>
    </p:spTree>
    <p:extLst>
      <p:ext uri="{BB962C8B-B14F-4D97-AF65-F5344CB8AC3E}">
        <p14:creationId xmlns:p14="http://schemas.microsoft.com/office/powerpoint/2010/main" val="2966644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B9D85DF-2378-9545-8C3C-563839805E02}" type="slidenum">
              <a:rPr lang="en-FR" smtClean="0"/>
              <a:t>1</a:t>
            </a:fld>
            <a:endParaRPr lang="en-FR"/>
          </a:p>
        </p:txBody>
      </p:sp>
    </p:spTree>
    <p:extLst>
      <p:ext uri="{BB962C8B-B14F-4D97-AF65-F5344CB8AC3E}">
        <p14:creationId xmlns:p14="http://schemas.microsoft.com/office/powerpoint/2010/main" val="1584347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Slide Number Placeholder 3"/>
          <p:cNvSpPr>
            <a:spLocks noGrp="1"/>
          </p:cNvSpPr>
          <p:nvPr>
            <p:ph type="sldNum" sz="quarter" idx="5"/>
          </p:nvPr>
        </p:nvSpPr>
        <p:spPr/>
        <p:txBody>
          <a:bodyPr/>
          <a:lstStyle/>
          <a:p>
            <a:fld id="{9B9D85DF-2378-9545-8C3C-563839805E02}" type="slidenum">
              <a:rPr lang="en-FR" smtClean="0"/>
              <a:t>2</a:t>
            </a:fld>
            <a:endParaRPr lang="en-FR"/>
          </a:p>
        </p:txBody>
      </p:sp>
    </p:spTree>
    <p:extLst>
      <p:ext uri="{BB962C8B-B14F-4D97-AF65-F5344CB8AC3E}">
        <p14:creationId xmlns:p14="http://schemas.microsoft.com/office/powerpoint/2010/main" val="3949368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CFFFD-DB94-C786-CBB4-F42D7323E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0408B0-7090-A510-FC40-910B7868E3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B18914-E089-D46C-16D6-D60CC19E7D8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The observation at the </a:t>
            </a:r>
            <a:r>
              <a:rPr lang="fr-FR" dirty="0" err="1"/>
              <a:t>heart</a:t>
            </a:r>
            <a:r>
              <a:rPr lang="fr-FR" dirty="0"/>
              <a:t> of </a:t>
            </a:r>
            <a:r>
              <a:rPr lang="fr-FR" dirty="0" err="1"/>
              <a:t>this</a:t>
            </a:r>
            <a:r>
              <a:rPr lang="fr-FR" dirty="0"/>
              <a:t> </a:t>
            </a:r>
            <a:r>
              <a:rPr lang="fr-FR" dirty="0" err="1"/>
              <a:t>thesis</a:t>
            </a:r>
            <a:r>
              <a:rPr lang="fr-FR" dirty="0"/>
              <a:t> </a:t>
            </a:r>
            <a:r>
              <a:rPr lang="fr-FR" dirty="0" err="1"/>
              <a:t>is</a:t>
            </a:r>
            <a:r>
              <a:rPr lang="fr-FR" dirty="0"/>
              <a:t> </a:t>
            </a:r>
            <a:r>
              <a:rPr lang="fr-FR" dirty="0" err="1"/>
              <a:t>that</a:t>
            </a:r>
            <a:r>
              <a:rPr lang="fr-FR" dirty="0"/>
              <a:t> </a:t>
            </a:r>
            <a:r>
              <a:rPr lang="fr-FR" dirty="0" err="1"/>
              <a:t>while</a:t>
            </a:r>
            <a:r>
              <a:rPr lang="fr-FR" dirty="0"/>
              <a:t> agents are </a:t>
            </a:r>
            <a:r>
              <a:rPr lang="fr-FR" dirty="0" err="1"/>
              <a:t>often</a:t>
            </a:r>
            <a:r>
              <a:rPr lang="fr-FR" dirty="0"/>
              <a:t> </a:t>
            </a:r>
            <a:r>
              <a:rPr lang="fr-FR" dirty="0" err="1"/>
              <a:t>led</a:t>
            </a:r>
            <a:r>
              <a:rPr lang="fr-FR" dirty="0"/>
              <a:t> to combine </a:t>
            </a:r>
            <a:r>
              <a:rPr lang="fr-FR" dirty="0" err="1"/>
              <a:t>emotional</a:t>
            </a:r>
            <a:r>
              <a:rPr lang="fr-FR" dirty="0"/>
              <a:t> support and </a:t>
            </a:r>
            <a:r>
              <a:rPr lang="fr-FR" dirty="0" err="1"/>
              <a:t>problem-solving</a:t>
            </a:r>
            <a:r>
              <a:rPr lang="fr-FR" dirty="0"/>
              <a:t>, </a:t>
            </a:r>
            <a:r>
              <a:rPr lang="fr-FR" dirty="0" err="1"/>
              <a:t>current</a:t>
            </a:r>
            <a:r>
              <a:rPr lang="fr-FR" dirty="0"/>
              <a:t> </a:t>
            </a:r>
            <a:r>
              <a:rPr lang="fr-FR" dirty="0" err="1"/>
              <a:t>industrial</a:t>
            </a:r>
            <a:r>
              <a:rPr lang="fr-FR" dirty="0"/>
              <a:t> dialogue system </a:t>
            </a:r>
            <a:r>
              <a:rPr lang="fr-FR" dirty="0" err="1"/>
              <a:t>don't</a:t>
            </a:r>
            <a:r>
              <a:rPr lang="fr-FR" dirty="0"/>
              <a:t> </a:t>
            </a:r>
            <a:r>
              <a:rPr lang="fr-FR" dirty="0" err="1"/>
              <a:t>easily</a:t>
            </a:r>
            <a:r>
              <a:rPr lang="fr-FR" dirty="0"/>
              <a:t> </a:t>
            </a:r>
            <a:r>
              <a:rPr lang="fr-FR" dirty="0" err="1"/>
              <a:t>allow</a:t>
            </a:r>
            <a:r>
              <a:rPr lang="fr-FR" dirty="0"/>
              <a:t> to combine </a:t>
            </a:r>
            <a:r>
              <a:rPr lang="fr-FR" dirty="0" err="1"/>
              <a:t>task-oriented</a:t>
            </a:r>
            <a:r>
              <a:rPr lang="fr-FR" dirty="0"/>
              <a:t> </a:t>
            </a:r>
            <a:r>
              <a:rPr lang="fr-FR" dirty="0" err="1"/>
              <a:t>efficiency</a:t>
            </a:r>
            <a:r>
              <a:rPr lang="fr-FR" dirty="0"/>
              <a:t> </a:t>
            </a:r>
            <a:r>
              <a:rPr lang="fr-FR" dirty="0" err="1"/>
              <a:t>with</a:t>
            </a:r>
            <a:r>
              <a:rPr lang="fr-FR" dirty="0"/>
              <a:t> socio-</a:t>
            </a:r>
            <a:r>
              <a:rPr lang="fr-FR" dirty="0" err="1"/>
              <a:t>emotional</a:t>
            </a:r>
            <a:r>
              <a:rPr lang="fr-FR" dirty="0"/>
              <a:t> </a:t>
            </a:r>
            <a:r>
              <a:rPr lang="fr-FR" dirty="0" err="1"/>
              <a:t>consistency</a:t>
            </a:r>
            <a:r>
              <a:rPr lang="fr-FR"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current industry standard for virtual agents is implemented as a modular architectures to guarantee safe and consistent automated responses.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Such a process ensures the agent's behaviour falls under human control. </a:t>
            </a:r>
          </a:p>
          <a:p>
            <a:pPr marL="285750" indent="-285750">
              <a:buFont typeface="Wingdings" pitchFamily="2" charset="2"/>
              <a:buChar char="è"/>
            </a:pPr>
            <a:r>
              <a:rPr lang="en-GB" dirty="0"/>
              <a:t>However, this modular design not only heavily relies on massive fully-annotated data, but also suffers from many intrinsic drawbacks, such as serious error accumulation, poor generalization ability, expensive set-up costs,</a:t>
            </a:r>
            <a:r>
              <a:rPr lang="fr-FR" dirty="0"/>
              <a:t> A </a:t>
            </a:r>
            <a:r>
              <a:rPr lang="fr-FR" dirty="0" err="1"/>
              <a:t>natural</a:t>
            </a:r>
            <a:r>
              <a:rPr lang="fr-FR" dirty="0"/>
              <a:t> </a:t>
            </a:r>
            <a:r>
              <a:rPr lang="fr-FR" dirty="0" err="1"/>
              <a:t>consequence</a:t>
            </a:r>
            <a:r>
              <a:rPr lang="fr-FR" dirty="0"/>
              <a:t> of </a:t>
            </a:r>
            <a:r>
              <a:rPr lang="fr-FR" dirty="0" err="1"/>
              <a:t>this</a:t>
            </a:r>
            <a:r>
              <a:rPr lang="fr-FR" dirty="0"/>
              <a:t>, </a:t>
            </a:r>
            <a:r>
              <a:rPr lang="fr-FR" dirty="0" err="1"/>
              <a:t>is</a:t>
            </a:r>
            <a:r>
              <a:rPr lang="fr-FR" dirty="0"/>
              <a:t> </a:t>
            </a:r>
            <a:r>
              <a:rPr lang="fr-FR" dirty="0" err="1"/>
              <a:t>that</a:t>
            </a:r>
            <a:r>
              <a:rPr lang="fr-FR" dirty="0"/>
              <a:t> </a:t>
            </a:r>
            <a:r>
              <a:rPr lang="fr-FR" dirty="0" err="1"/>
              <a:t>it’s</a:t>
            </a:r>
            <a:r>
              <a:rPr lang="fr-FR" dirty="0"/>
              <a:t> hard to </a:t>
            </a:r>
            <a:r>
              <a:rPr lang="fr-FR" dirty="0" err="1"/>
              <a:t>dynamically</a:t>
            </a:r>
            <a:r>
              <a:rPr lang="fr-FR" dirty="0"/>
              <a:t> </a:t>
            </a:r>
            <a:r>
              <a:rPr lang="fr-FR" dirty="0" err="1"/>
              <a:t>consider</a:t>
            </a:r>
            <a:r>
              <a:rPr lang="fr-FR" dirty="0"/>
              <a:t> the </a:t>
            </a:r>
            <a:r>
              <a:rPr lang="fr-FR" dirty="0" err="1"/>
              <a:t>user’s</a:t>
            </a:r>
            <a:r>
              <a:rPr lang="fr-FR" dirty="0"/>
              <a:t> </a:t>
            </a:r>
            <a:r>
              <a:rPr lang="fr-FR" dirty="0" err="1"/>
              <a:t>specific</a:t>
            </a:r>
            <a:r>
              <a:rPr lang="fr-FR" dirty="0"/>
              <a:t> situation, </a:t>
            </a:r>
            <a:r>
              <a:rPr lang="fr-FR" dirty="0" err="1"/>
              <a:t>especially</a:t>
            </a:r>
            <a:r>
              <a:rPr lang="fr-FR" dirty="0"/>
              <a:t> </a:t>
            </a:r>
            <a:r>
              <a:rPr lang="fr-FR" dirty="0" err="1"/>
              <a:t>their</a:t>
            </a:r>
            <a:r>
              <a:rPr lang="fr-FR" dirty="0"/>
              <a:t> social and </a:t>
            </a:r>
            <a:r>
              <a:rPr lang="fr-FR" dirty="0" err="1"/>
              <a:t>emotional</a:t>
            </a:r>
            <a:r>
              <a:rPr lang="fr-FR" dirty="0"/>
              <a:t> situation</a:t>
            </a:r>
          </a:p>
          <a:p>
            <a:pPr marL="285750" indent="-285750">
              <a:buFont typeface="Wingdings" pitchFamily="2" charset="2"/>
              <a:buChar char="è"/>
            </a:pPr>
            <a:r>
              <a:rPr lang="fr-FR" dirty="0" err="1"/>
              <a:t>Now</a:t>
            </a:r>
            <a:r>
              <a:rPr lang="fr-FR" dirty="0"/>
              <a:t>, </a:t>
            </a:r>
            <a:r>
              <a:rPr lang="fr-FR" dirty="0" err="1"/>
              <a:t>with</a:t>
            </a:r>
            <a:r>
              <a:rPr lang="fr-FR" dirty="0"/>
              <a:t> the </a:t>
            </a:r>
            <a:r>
              <a:rPr lang="fr-FR" dirty="0" err="1"/>
              <a:t>rise</a:t>
            </a:r>
            <a:r>
              <a:rPr lang="fr-FR" dirty="0"/>
              <a:t> of </a:t>
            </a:r>
            <a:r>
              <a:rPr lang="fr-FR" dirty="0" err="1"/>
              <a:t>LLMs</a:t>
            </a:r>
            <a:r>
              <a:rPr lang="fr-FR" dirty="0"/>
              <a:t>, new efficient alternatives </a:t>
            </a:r>
            <a:r>
              <a:rPr lang="fr-FR" dirty="0" err="1"/>
              <a:t>become</a:t>
            </a:r>
            <a:r>
              <a:rPr lang="fr-FR" dirty="0"/>
              <a:t> possible: agents </a:t>
            </a:r>
            <a:r>
              <a:rPr lang="fr-FR" dirty="0" err="1"/>
              <a:t>powered</a:t>
            </a:r>
            <a:r>
              <a:rPr lang="fr-FR" dirty="0"/>
              <a:t> by </a:t>
            </a:r>
            <a:r>
              <a:rPr lang="fr-FR" dirty="0" err="1"/>
              <a:t>generative</a:t>
            </a:r>
            <a:r>
              <a:rPr lang="fr-FR" dirty="0"/>
              <a:t> AI.</a:t>
            </a:r>
          </a:p>
          <a:p>
            <a:pPr marL="285750" indent="-285750">
              <a:buFont typeface="Wingdings" pitchFamily="2" charset="2"/>
              <a:buChar char="è"/>
            </a:pPr>
            <a:r>
              <a:rPr lang="fr-FR" dirty="0" err="1"/>
              <a:t>However</a:t>
            </a:r>
            <a:r>
              <a:rPr lang="fr-FR" dirty="0"/>
              <a:t>, </a:t>
            </a:r>
            <a:r>
              <a:rPr lang="fr-FR" dirty="0" err="1"/>
              <a:t>while</a:t>
            </a:r>
            <a:r>
              <a:rPr lang="fr-FR" dirty="0"/>
              <a:t> </a:t>
            </a:r>
            <a:r>
              <a:rPr lang="fr-FR" dirty="0" err="1"/>
              <a:t>it</a:t>
            </a:r>
            <a:r>
              <a:rPr lang="fr-FR" dirty="0"/>
              <a:t> solves </a:t>
            </a:r>
            <a:r>
              <a:rPr lang="fr-FR" dirty="0" err="1"/>
              <a:t>some</a:t>
            </a:r>
            <a:r>
              <a:rPr lang="fr-FR" dirty="0"/>
              <a:t> </a:t>
            </a:r>
            <a:r>
              <a:rPr lang="fr-FR" dirty="0" err="1"/>
              <a:t>problems</a:t>
            </a:r>
            <a:r>
              <a:rPr lang="fr-FR" dirty="0"/>
              <a:t> </a:t>
            </a:r>
            <a:r>
              <a:rPr lang="fr-FR" dirty="0" err="1"/>
              <a:t>such</a:t>
            </a:r>
            <a:r>
              <a:rPr lang="fr-FR" dirty="0"/>
              <a:t> as the </a:t>
            </a:r>
            <a:r>
              <a:rPr lang="fr-FR" dirty="0" err="1"/>
              <a:t>scalability</a:t>
            </a:r>
            <a:r>
              <a:rPr lang="fr-FR" dirty="0"/>
              <a:t> and the </a:t>
            </a:r>
            <a:r>
              <a:rPr lang="fr-FR" dirty="0" err="1"/>
              <a:t>personalisation</a:t>
            </a:r>
            <a:r>
              <a:rPr lang="fr-FR" dirty="0"/>
              <a:t>, </a:t>
            </a:r>
            <a:r>
              <a:rPr lang="fr-FR" dirty="0" err="1"/>
              <a:t>when</a:t>
            </a:r>
            <a:r>
              <a:rPr lang="fr-FR" dirty="0"/>
              <a:t> </a:t>
            </a:r>
            <a:r>
              <a:rPr lang="fr-FR" dirty="0" err="1"/>
              <a:t>used</a:t>
            </a:r>
            <a:r>
              <a:rPr lang="fr-FR" dirty="0"/>
              <a:t> as </a:t>
            </a:r>
            <a:r>
              <a:rPr lang="fr-FR" dirty="0" err="1"/>
              <a:t>is</a:t>
            </a:r>
            <a:r>
              <a:rPr lang="fr-FR" dirty="0"/>
              <a:t> </a:t>
            </a:r>
            <a:r>
              <a:rPr lang="fr-FR" dirty="0" err="1"/>
              <a:t>they</a:t>
            </a:r>
            <a:r>
              <a:rPr lang="fr-FR" dirty="0"/>
              <a:t> </a:t>
            </a:r>
            <a:r>
              <a:rPr lang="fr-FR" dirty="0" err="1"/>
              <a:t>act</a:t>
            </a:r>
            <a:r>
              <a:rPr lang="fr-FR" dirty="0"/>
              <a:t> like a black box, </a:t>
            </a:r>
            <a:r>
              <a:rPr lang="fr-FR" dirty="0" err="1"/>
              <a:t>which</a:t>
            </a:r>
            <a:r>
              <a:rPr lang="fr-FR" dirty="0"/>
              <a:t> </a:t>
            </a:r>
            <a:r>
              <a:rPr lang="fr-FR" dirty="0" err="1"/>
              <a:t>does</a:t>
            </a:r>
            <a:r>
              <a:rPr lang="fr-FR" dirty="0"/>
              <a:t> not </a:t>
            </a:r>
            <a:r>
              <a:rPr lang="fr-FR" dirty="0" err="1"/>
              <a:t>allow</a:t>
            </a:r>
            <a:r>
              <a:rPr lang="fr-FR" dirty="0"/>
              <a:t> for the </a:t>
            </a:r>
            <a:r>
              <a:rPr lang="fr-FR" dirty="0" err="1"/>
              <a:t>needed</a:t>
            </a:r>
            <a:r>
              <a:rPr lang="fr-FR" dirty="0"/>
              <a:t> </a:t>
            </a:r>
            <a:r>
              <a:rPr lang="fr-FR" dirty="0" err="1"/>
              <a:t>visibility</a:t>
            </a:r>
            <a:r>
              <a:rPr lang="fr-FR" dirty="0"/>
              <a:t> and </a:t>
            </a:r>
            <a:r>
              <a:rPr lang="fr-FR" dirty="0" err="1"/>
              <a:t>explainability</a:t>
            </a:r>
            <a:r>
              <a:rPr lang="fr-FR" dirty="0"/>
              <a:t>, </a:t>
            </a:r>
            <a:r>
              <a:rPr lang="fr-FR" dirty="0" err="1"/>
              <a:t>especially</a:t>
            </a:r>
            <a:r>
              <a:rPr lang="fr-FR" dirty="0"/>
              <a:t> for the socio-</a:t>
            </a:r>
            <a:r>
              <a:rPr lang="fr-FR" dirty="0" err="1"/>
              <a:t>emotional</a:t>
            </a:r>
            <a:r>
              <a:rPr lang="fr-FR" dirty="0"/>
              <a:t> </a:t>
            </a:r>
            <a:r>
              <a:rPr lang="fr-FR" dirty="0" err="1"/>
              <a:t>policy</a:t>
            </a:r>
            <a:r>
              <a:rPr lang="fr-FR" dirty="0"/>
              <a:t> </a:t>
            </a:r>
            <a:r>
              <a:rPr lang="fr-FR" dirty="0" err="1"/>
              <a:t>selection</a:t>
            </a:r>
            <a:endParaRPr lang="fr-FR" dirty="0"/>
          </a:p>
          <a:p>
            <a:pPr marL="0" indent="0">
              <a:buFont typeface="Wingdings" pitchFamily="2" charset="2"/>
              <a:buNone/>
            </a:pPr>
            <a:r>
              <a:rPr lang="en-GB" dirty="0"/>
              <a:t>Fully end-to-end approaches [</a:t>
            </a:r>
            <a:r>
              <a:rPr lang="en-GB" dirty="0" err="1"/>
              <a:t>kim</a:t>
            </a:r>
            <a:r>
              <a:rPr lang="en-GB" dirty="0"/>
              <a:t> et al., 2023] provides no visibility or control over the socio-emotional strategy underlying the response. This raises the question of industrial viability, as we become unable to control the agent’s potential errors, biases and misconceptions. This is why we have chosen to focus on approaches that provide greater visibility by adding an explicit planning stage.</a:t>
            </a:r>
            <a:endParaRPr lang="en-FR" dirty="0"/>
          </a:p>
        </p:txBody>
      </p:sp>
      <p:sp>
        <p:nvSpPr>
          <p:cNvPr id="4" name="Slide Number Placeholder 3">
            <a:extLst>
              <a:ext uri="{FF2B5EF4-FFF2-40B4-BE49-F238E27FC236}">
                <a16:creationId xmlns:a16="http://schemas.microsoft.com/office/drawing/2014/main" id="{3E30D52B-DFCA-4389-9A6B-061A9AD8C53C}"/>
              </a:ext>
            </a:extLst>
          </p:cNvPr>
          <p:cNvSpPr>
            <a:spLocks noGrp="1"/>
          </p:cNvSpPr>
          <p:nvPr>
            <p:ph type="sldNum" sz="quarter" idx="5"/>
          </p:nvPr>
        </p:nvSpPr>
        <p:spPr/>
        <p:txBody>
          <a:bodyPr/>
          <a:lstStyle/>
          <a:p>
            <a:fld id="{9B9D85DF-2378-9545-8C3C-563839805E02}" type="slidenum">
              <a:rPr lang="en-FR" smtClean="0"/>
              <a:t>3</a:t>
            </a:fld>
            <a:endParaRPr lang="en-FR"/>
          </a:p>
        </p:txBody>
      </p:sp>
    </p:spTree>
    <p:extLst>
      <p:ext uri="{BB962C8B-B14F-4D97-AF65-F5344CB8AC3E}">
        <p14:creationId xmlns:p14="http://schemas.microsoft.com/office/powerpoint/2010/main" val="2447212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DDFFB-81F0-DFAA-0494-B723FCDE63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879B1-B0CA-1E25-4A38-EDBEBA86B2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3E2459-79B2-5B20-D075-520F63B2113F}"/>
              </a:ext>
            </a:extLst>
          </p:cNvPr>
          <p:cNvSpPr>
            <a:spLocks noGrp="1"/>
          </p:cNvSpPr>
          <p:nvPr>
            <p:ph type="body" idx="1"/>
          </p:nvPr>
        </p:nvSpPr>
        <p:spPr/>
        <p:txBody>
          <a:bodyPr/>
          <a:lstStyle/>
          <a:p>
            <a:pPr algn="l"/>
            <a:r>
              <a:rPr lang="fr-FR" dirty="0"/>
              <a:t>RQ.1  </a:t>
            </a:r>
            <a:r>
              <a:rPr lang="en-GB" sz="1200" dirty="0">
                <a:solidFill>
                  <a:srgbClr val="D43F49"/>
                </a:solidFill>
                <a:latin typeface="Poppins" pitchFamily="2" charset="77"/>
                <a:cs typeface="Poppins" pitchFamily="2" charset="77"/>
              </a:rPr>
              <a:t>How to improve the socio-emotional response generation for task-oriented dialogue while meeting the industry technological requirements?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RQ.2 </a:t>
            </a:r>
            <a:r>
              <a:rPr lang="en-GB" sz="1200" dirty="0">
                <a:solidFill>
                  <a:schemeClr val="bg1"/>
                </a:solidFill>
                <a:latin typeface="Poppins" pitchFamily="2" charset="77"/>
                <a:cs typeface="Poppins" pitchFamily="2" charset="77"/>
              </a:rPr>
              <a:t>What data can be used to implement this approach in the specific context of French, customer service dialogue?</a:t>
            </a:r>
            <a:endParaRPr lang="en-FR" sz="1200" dirty="0">
              <a:solidFill>
                <a:schemeClr val="bg1"/>
              </a:solidFill>
              <a:latin typeface="Poppins" pitchFamily="2" charset="77"/>
              <a:cs typeface="Poppins"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algn="l"/>
            <a:r>
              <a:rPr lang="en-GB" sz="1400" b="1" dirty="0">
                <a:solidFill>
                  <a:schemeClr val="bg1"/>
                </a:solidFill>
                <a:latin typeface="Poppins" pitchFamily="2" charset="77"/>
                <a:cs typeface="Poppins" pitchFamily="2" charset="77"/>
              </a:rPr>
              <a:t>RQ.3 </a:t>
            </a:r>
            <a:r>
              <a:rPr lang="en-GB" sz="1200" dirty="0">
                <a:solidFill>
                  <a:schemeClr val="bg1"/>
                </a:solidFill>
                <a:latin typeface="Poppins" pitchFamily="2" charset="77"/>
                <a:cs typeface="Poppins" pitchFamily="2" charset="77"/>
              </a:rPr>
              <a:t>How to evaluate the general quality as well as the social and emotional consistency of a generative conversational system?</a:t>
            </a:r>
            <a:endParaRPr lang="en-FR" sz="1200" dirty="0">
              <a:solidFill>
                <a:schemeClr val="bg1"/>
              </a:solidFill>
              <a:latin typeface="Poppins" pitchFamily="2" charset="77"/>
              <a:cs typeface="Poppins"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Slide Number Placeholder 3">
            <a:extLst>
              <a:ext uri="{FF2B5EF4-FFF2-40B4-BE49-F238E27FC236}">
                <a16:creationId xmlns:a16="http://schemas.microsoft.com/office/drawing/2014/main" id="{127DCE88-7629-308E-6A5F-1B0A958781CB}"/>
              </a:ext>
            </a:extLst>
          </p:cNvPr>
          <p:cNvSpPr>
            <a:spLocks noGrp="1"/>
          </p:cNvSpPr>
          <p:nvPr>
            <p:ph type="sldNum" sz="quarter" idx="5"/>
          </p:nvPr>
        </p:nvSpPr>
        <p:spPr/>
        <p:txBody>
          <a:bodyPr/>
          <a:lstStyle/>
          <a:p>
            <a:fld id="{9B9D85DF-2378-9545-8C3C-563839805E02}" type="slidenum">
              <a:rPr lang="en-FR" smtClean="0"/>
              <a:t>4</a:t>
            </a:fld>
            <a:endParaRPr lang="en-FR"/>
          </a:p>
        </p:txBody>
      </p:sp>
    </p:spTree>
    <p:extLst>
      <p:ext uri="{BB962C8B-B14F-4D97-AF65-F5344CB8AC3E}">
        <p14:creationId xmlns:p14="http://schemas.microsoft.com/office/powerpoint/2010/main" val="1173226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0F10B-29A9-48A5-E33F-07D4D010B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ACE6E4-822E-5C05-7A95-6B5307B4DD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5E2FE6-DCAD-4C4C-509C-5D7BAAEA3A9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Currently, LLMs are not an immediate viable option for industry, because of their lack of controllability. To leverage their high generative capabilities, we draw inspiration from the literature of modular architectures, namely planning modules.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Thus, we propose to add such a planning step preceding the generation. As we seek to capture the dynamic evolution of a user's social and emotional state, we decide to plan a sequence of multiple socio-emotional labels. These labels represent the </a:t>
            </a:r>
            <a:r>
              <a:rPr lang="en-US" sz="2800" dirty="0" err="1"/>
              <a:t>behaviours</a:t>
            </a:r>
            <a:r>
              <a:rPr lang="en-US" sz="2800" dirty="0"/>
              <a:t> that we expect to see in the generated response.</a:t>
            </a:r>
            <a:endParaRPr lang="fr-FR" sz="2800" dirty="0"/>
          </a:p>
        </p:txBody>
      </p:sp>
      <p:sp>
        <p:nvSpPr>
          <p:cNvPr id="4" name="Slide Number Placeholder 3">
            <a:extLst>
              <a:ext uri="{FF2B5EF4-FFF2-40B4-BE49-F238E27FC236}">
                <a16:creationId xmlns:a16="http://schemas.microsoft.com/office/drawing/2014/main" id="{E243424F-7841-6519-AA95-7FE8E1DE8169}"/>
              </a:ext>
            </a:extLst>
          </p:cNvPr>
          <p:cNvSpPr>
            <a:spLocks noGrp="1"/>
          </p:cNvSpPr>
          <p:nvPr>
            <p:ph type="sldNum" sz="quarter" idx="5"/>
          </p:nvPr>
        </p:nvSpPr>
        <p:spPr/>
        <p:txBody>
          <a:bodyPr/>
          <a:lstStyle/>
          <a:p>
            <a:fld id="{9B9D85DF-2378-9545-8C3C-563839805E02}" type="slidenum">
              <a:rPr lang="en-FR" smtClean="0"/>
              <a:t>5</a:t>
            </a:fld>
            <a:endParaRPr lang="en-FR"/>
          </a:p>
        </p:txBody>
      </p:sp>
    </p:spTree>
    <p:extLst>
      <p:ext uri="{BB962C8B-B14F-4D97-AF65-F5344CB8AC3E}">
        <p14:creationId xmlns:p14="http://schemas.microsoft.com/office/powerpoint/2010/main" val="3146162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dirty="0"/>
              <a:t>1. a 2-module architecture including an explicit planning step to obtain a sequence of socio-emotional label, and a generative module to influence the generation of the response accordingly</a:t>
            </a:r>
          </a:p>
          <a:p>
            <a:endParaRPr lang="en-FR" dirty="0"/>
          </a:p>
          <a:p>
            <a:r>
              <a:rPr lang="en-FR" dirty="0"/>
              <a:t>2. Few resources combine task-oriented dialogues with socio-emotional annotations, especially multi-label annotations. Thus, we curate a new Dataset tailored for the task of socio-emotional response generation and annotated on the speaker turn</a:t>
            </a:r>
          </a:p>
          <a:p>
            <a:endParaRPr lang="en-FR" dirty="0"/>
          </a:p>
          <a:p>
            <a:r>
              <a:rPr lang="en-FR" dirty="0"/>
              <a:t>3. Lastly, we compare different evaluation methods to 1. evaluate the performance of the system and 2. assess the performance of current available metrics when compared to human judgment</a:t>
            </a:r>
          </a:p>
        </p:txBody>
      </p:sp>
      <p:sp>
        <p:nvSpPr>
          <p:cNvPr id="4" name="Slide Number Placeholder 3"/>
          <p:cNvSpPr>
            <a:spLocks noGrp="1"/>
          </p:cNvSpPr>
          <p:nvPr>
            <p:ph type="sldNum" sz="quarter" idx="5"/>
          </p:nvPr>
        </p:nvSpPr>
        <p:spPr/>
        <p:txBody>
          <a:bodyPr/>
          <a:lstStyle/>
          <a:p>
            <a:fld id="{8FFF6257-208C-D647-A331-25E47C600D10}" type="slidenum">
              <a:rPr lang="en-FR" smtClean="0"/>
              <a:t>6</a:t>
            </a:fld>
            <a:endParaRPr lang="en-FR"/>
          </a:p>
        </p:txBody>
      </p:sp>
    </p:spTree>
    <p:extLst>
      <p:ext uri="{BB962C8B-B14F-4D97-AF65-F5344CB8AC3E}">
        <p14:creationId xmlns:p14="http://schemas.microsoft.com/office/powerpoint/2010/main" val="18442063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dirty="0"/>
              <a:t>To present these contributions, I will first present the general approach, then describe the creation of the dataset before analysing our experimental findings. Using these results, I will discuss our research questions and conclude.</a:t>
            </a:r>
          </a:p>
        </p:txBody>
      </p:sp>
      <p:sp>
        <p:nvSpPr>
          <p:cNvPr id="4" name="Slide Number Placeholder 3"/>
          <p:cNvSpPr>
            <a:spLocks noGrp="1"/>
          </p:cNvSpPr>
          <p:nvPr>
            <p:ph type="sldNum" sz="quarter" idx="5"/>
          </p:nvPr>
        </p:nvSpPr>
        <p:spPr/>
        <p:txBody>
          <a:bodyPr/>
          <a:lstStyle/>
          <a:p>
            <a:fld id="{9B9D85DF-2378-9545-8C3C-563839805E02}" type="slidenum">
              <a:rPr lang="en-FR" smtClean="0"/>
              <a:t>7</a:t>
            </a:fld>
            <a:endParaRPr lang="en-FR"/>
          </a:p>
        </p:txBody>
      </p:sp>
    </p:spTree>
    <p:extLst>
      <p:ext uri="{BB962C8B-B14F-4D97-AF65-F5344CB8AC3E}">
        <p14:creationId xmlns:p14="http://schemas.microsoft.com/office/powerpoint/2010/main" val="8181129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Research in affective computing has focused on applying the mechanisms that underlie human emotion and social action regulation and expression to conversational systems. We focus on two main strategies that have emerged to model these mechanisms.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While many emotion-based strategies exist, such as empathy, we decide to focus on emotions </a:t>
            </a:r>
            <a:r>
              <a:rPr lang="en-FR" sz="1200" dirty="0">
                <a:solidFill>
                  <a:srgbClr val="FCB48D"/>
                </a:solidFill>
                <a:latin typeface="Poppins" pitchFamily="2" charset="77"/>
                <a:cs typeface="Poppins" pitchFamily="2" charset="77"/>
              </a:rPr>
              <a:t>to study the emotional dynamics between agent and customer. </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t>
            </a:r>
            <a:r>
              <a:rPr lang="en-GB" dirty="0" err="1"/>
              <a:t>dissastified</a:t>
            </a:r>
            <a:r>
              <a:rPr lang="en-GB" dirty="0"/>
              <a:t>, apologetic)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rgbClr val="D33F49"/>
                </a:solidFill>
                <a:latin typeface="Poppins" pitchFamily="2" charset="77"/>
                <a:cs typeface="Poppins" pitchFamily="2" charset="77"/>
              </a:rPr>
              <a:t>In task-oriented applications, the challenge is to generate responses that both fulfil the task and appropriately address the user’s social and emotional state., but few studies tend to combine action-focused and emotion-focused strategies</a:t>
            </a:r>
            <a:endParaRPr lang="en-FR" sz="1200" dirty="0">
              <a:solidFill>
                <a:srgbClr val="FCB48D"/>
              </a:solidFill>
              <a:latin typeface="Poppins" pitchFamily="2" charset="77"/>
              <a:cs typeface="Poppins"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8FFF6257-208C-D647-A331-25E47C600D10}" type="slidenum">
              <a:rPr lang="en-FR" smtClean="0"/>
              <a:t>8</a:t>
            </a:fld>
            <a:endParaRPr lang="en-FR"/>
          </a:p>
        </p:txBody>
      </p:sp>
    </p:spTree>
    <p:extLst>
      <p:ext uri="{BB962C8B-B14F-4D97-AF65-F5344CB8AC3E}">
        <p14:creationId xmlns:p14="http://schemas.microsoft.com/office/powerpoint/2010/main" val="3395099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FR" sz="1200" dirty="0">
                <a:solidFill>
                  <a:srgbClr val="FCB48D"/>
                </a:solidFill>
                <a:latin typeface="Poppins" pitchFamily="2" charset="77"/>
                <a:cs typeface="Poppins" pitchFamily="2" charset="77"/>
              </a:rPr>
              <a:t>The term dialogue strategies is heavily inspired of the work of Liu et al 2021 on support strategies. We also looked at the work of Amgoud, that defines a dialogue strategy as a 2-step component that first selects a label, and 2. select/generate text accordingly.</a:t>
            </a:r>
          </a:p>
        </p:txBody>
      </p:sp>
      <p:sp>
        <p:nvSpPr>
          <p:cNvPr id="4" name="Slide Number Placeholder 3"/>
          <p:cNvSpPr>
            <a:spLocks noGrp="1"/>
          </p:cNvSpPr>
          <p:nvPr>
            <p:ph type="sldNum" sz="quarter" idx="5"/>
          </p:nvPr>
        </p:nvSpPr>
        <p:spPr/>
        <p:txBody>
          <a:bodyPr/>
          <a:lstStyle/>
          <a:p>
            <a:fld id="{8FFF6257-208C-D647-A331-25E47C600D10}" type="slidenum">
              <a:rPr lang="en-FR" smtClean="0"/>
              <a:t>9</a:t>
            </a:fld>
            <a:endParaRPr lang="en-FR"/>
          </a:p>
        </p:txBody>
      </p:sp>
    </p:spTree>
    <p:extLst>
      <p:ext uri="{BB962C8B-B14F-4D97-AF65-F5344CB8AC3E}">
        <p14:creationId xmlns:p14="http://schemas.microsoft.com/office/powerpoint/2010/main" val="42006327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Ø"/>
              <a:tabLst/>
              <a:defRPr/>
            </a:pPr>
            <a:r>
              <a:rPr lang="en-FR" sz="1200" dirty="0">
                <a:solidFill>
                  <a:srgbClr val="FCB48D"/>
                </a:solidFill>
                <a:latin typeface="Poppins" pitchFamily="2" charset="77"/>
                <a:cs typeface="Poppins" pitchFamily="2" charset="77"/>
              </a:rPr>
              <a:t>Emotion: We use scheme designed at Zaion, as it has been successfully used on customer data. It is grounded in classic theory of emotion + completed by work on call centre data</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Ø"/>
              <a:tabLst/>
              <a:defRPr/>
            </a:pPr>
            <a:endParaRPr lang="en-FR" sz="1200" dirty="0">
              <a:solidFill>
                <a:srgbClr val="FCB48D"/>
              </a:solidFill>
              <a:latin typeface="Poppins" pitchFamily="2" charset="77"/>
              <a:cs typeface="Poppins" pitchFamily="2" charset="77"/>
            </a:endParaRP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Ø"/>
              <a:tabLst/>
              <a:defRPr/>
            </a:pPr>
            <a:r>
              <a:rPr lang="en-FR" sz="1200" dirty="0">
                <a:solidFill>
                  <a:srgbClr val="FCB48D"/>
                </a:solidFill>
                <a:latin typeface="Poppins" pitchFamily="2" charset="77"/>
                <a:cs typeface="Poppins" pitchFamily="2" charset="77"/>
              </a:rPr>
              <a:t>DS: we look at the literature to gather existing labels, and we fine-tune it by launching a trial annotation. This list is tailored to our data, and we believe it can be used on any task-oriented corpus</a:t>
            </a:r>
          </a:p>
        </p:txBody>
      </p:sp>
      <p:sp>
        <p:nvSpPr>
          <p:cNvPr id="4" name="Slide Number Placeholder 3"/>
          <p:cNvSpPr>
            <a:spLocks noGrp="1"/>
          </p:cNvSpPr>
          <p:nvPr>
            <p:ph type="sldNum" sz="quarter" idx="5"/>
          </p:nvPr>
        </p:nvSpPr>
        <p:spPr/>
        <p:txBody>
          <a:bodyPr/>
          <a:lstStyle/>
          <a:p>
            <a:fld id="{8FFF6257-208C-D647-A331-25E47C600D10}" type="slidenum">
              <a:rPr lang="en-FR" smtClean="0"/>
              <a:t>10</a:t>
            </a:fld>
            <a:endParaRPr lang="en-FR"/>
          </a:p>
        </p:txBody>
      </p:sp>
    </p:spTree>
    <p:extLst>
      <p:ext uri="{BB962C8B-B14F-4D97-AF65-F5344CB8AC3E}">
        <p14:creationId xmlns:p14="http://schemas.microsoft.com/office/powerpoint/2010/main" val="2289811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9B9D85DF-2378-9545-8C3C-563839805E02}" type="slidenum">
              <a:rPr lang="en-FR" smtClean="0"/>
              <a:t>11</a:t>
            </a:fld>
            <a:endParaRPr lang="en-FR"/>
          </a:p>
        </p:txBody>
      </p:sp>
    </p:spTree>
    <p:extLst>
      <p:ext uri="{BB962C8B-B14F-4D97-AF65-F5344CB8AC3E}">
        <p14:creationId xmlns:p14="http://schemas.microsoft.com/office/powerpoint/2010/main" val="659811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A45B3-1B59-539A-D843-32F6790F13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AA34B-00F6-0C5D-07C2-507211601C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370109-5E2F-D00C-CD8E-88FD67F1AC5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While many approaches to response planning exist, f</a:t>
            </a:r>
            <a:r>
              <a:rPr lang="fr-FR" dirty="0" err="1"/>
              <a:t>ew</a:t>
            </a:r>
            <a:r>
              <a:rPr lang="fr-FR" dirty="0"/>
              <a:t> </a:t>
            </a:r>
            <a:r>
              <a:rPr lang="fr-FR" dirty="0" err="1"/>
              <a:t>studies</a:t>
            </a:r>
            <a:r>
              <a:rPr lang="fr-FR" dirty="0"/>
              <a:t> tackle the planning of multiple social and/or </a:t>
            </a:r>
            <a:r>
              <a:rPr lang="fr-FR" dirty="0" err="1"/>
              <a:t>emotional</a:t>
            </a:r>
            <a:r>
              <a:rPr lang="fr-FR" dirty="0"/>
              <a:t> actions for </a:t>
            </a:r>
            <a:r>
              <a:rPr lang="fr-FR" dirty="0" err="1"/>
              <a:t>response</a:t>
            </a:r>
            <a:r>
              <a:rPr lang="fr-FR" dirty="0"/>
              <a:t> </a:t>
            </a:r>
            <a:r>
              <a:rPr lang="fr-FR" dirty="0" err="1"/>
              <a:t>generation</a:t>
            </a:r>
            <a:r>
              <a:rPr lang="fr-FR" dirty="0"/>
              <a:t>, and none have </a:t>
            </a:r>
            <a:r>
              <a:rPr lang="fr-FR" dirty="0" err="1"/>
              <a:t>modelled</a:t>
            </a:r>
            <a:r>
              <a:rPr lang="fr-FR" dirty="0"/>
              <a:t> </a:t>
            </a:r>
            <a:r>
              <a:rPr lang="fr-FR" dirty="0" err="1"/>
              <a:t>this</a:t>
            </a:r>
            <a:r>
              <a:rPr lang="fr-FR" dirty="0"/>
              <a:t> </a:t>
            </a:r>
            <a:r>
              <a:rPr lang="fr-FR" dirty="0" err="1"/>
              <a:t>problem</a:t>
            </a:r>
            <a:r>
              <a:rPr lang="fr-FR" dirty="0"/>
              <a:t> as a </a:t>
            </a:r>
            <a:r>
              <a:rPr lang="fr-FR" dirty="0" err="1"/>
              <a:t>sequence</a:t>
            </a:r>
            <a:r>
              <a:rPr lang="fr-FR" dirty="0"/>
              <a:t> </a:t>
            </a:r>
            <a:r>
              <a:rPr lang="fr-FR" dirty="0" err="1"/>
              <a:t>prediction</a:t>
            </a:r>
            <a:r>
              <a:rPr lang="fr-FR" dirty="0"/>
              <a:t> </a:t>
            </a:r>
            <a:r>
              <a:rPr lang="fr-FR" dirty="0" err="1"/>
              <a:t>task</a:t>
            </a:r>
            <a:r>
              <a:rPr lang="fr-FR" dirty="0"/>
              <a:t>. </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We</a:t>
            </a:r>
            <a:r>
              <a:rPr lang="fr-FR" dirty="0"/>
              <a:t> propose an architecture comparable to yang et </a:t>
            </a:r>
            <a:r>
              <a:rPr lang="fr-FR" dirty="0" err="1"/>
              <a:t>al's</a:t>
            </a:r>
            <a:r>
              <a:rPr lang="fr-FR" dirty="0"/>
              <a:t> </a:t>
            </a:r>
            <a:r>
              <a:rPr lang="fr-FR" dirty="0" err="1"/>
              <a:t>work</a:t>
            </a:r>
            <a:r>
              <a:rPr lang="fr-FR" dirty="0"/>
              <a:t> on </a:t>
            </a:r>
            <a:r>
              <a:rPr lang="fr-FR" dirty="0" err="1"/>
              <a:t>emotional</a:t>
            </a:r>
            <a:r>
              <a:rPr lang="fr-FR" dirty="0"/>
              <a:t> support </a:t>
            </a:r>
            <a:r>
              <a:rPr lang="fr-FR" dirty="0" err="1"/>
              <a:t>dialog</a:t>
            </a:r>
            <a:r>
              <a:rPr lang="fr-FR" dirty="0"/>
              <a:t> </a:t>
            </a:r>
            <a:r>
              <a:rPr lang="fr-FR" dirty="0" err="1"/>
              <a:t>systems</a:t>
            </a:r>
            <a:r>
              <a:rPr lang="fr-FR" dirty="0"/>
              <a:t>, </a:t>
            </a:r>
            <a:r>
              <a:rPr lang="fr-FR" dirty="0" err="1"/>
              <a:t>which</a:t>
            </a:r>
            <a:r>
              <a:rPr lang="fr-FR" dirty="0"/>
              <a:t> </a:t>
            </a:r>
            <a:r>
              <a:rPr lang="fr-FR" dirty="0" err="1"/>
              <a:t>integrates</a:t>
            </a:r>
            <a:r>
              <a:rPr lang="fr-FR" dirty="0"/>
              <a:t> a planning </a:t>
            </a:r>
            <a:r>
              <a:rPr lang="fr-FR" dirty="0" err="1"/>
              <a:t>step</a:t>
            </a:r>
            <a:r>
              <a:rPr lang="fr-FR" dirty="0"/>
              <a:t> </a:t>
            </a:r>
            <a:r>
              <a:rPr lang="fr-FR" dirty="0" err="1"/>
              <a:t>followed</a:t>
            </a:r>
            <a:r>
              <a:rPr lang="fr-FR" dirty="0"/>
              <a:t> by a </a:t>
            </a:r>
            <a:r>
              <a:rPr lang="fr-FR" dirty="0" err="1"/>
              <a:t>conditional</a:t>
            </a:r>
            <a:r>
              <a:rPr lang="fr-FR" dirty="0"/>
              <a:t> </a:t>
            </a:r>
            <a:r>
              <a:rPr lang="fr-FR" dirty="0" err="1"/>
              <a:t>generation</a:t>
            </a:r>
            <a:r>
              <a:rPr lang="fr-FR" dirty="0"/>
              <a:t> </a:t>
            </a:r>
            <a:r>
              <a:rPr lang="fr-FR" dirty="0" err="1"/>
              <a:t>step</a:t>
            </a:r>
            <a:r>
              <a:rPr lang="fr-FR" dirty="0"/>
              <a:t>. </a:t>
            </a:r>
            <a:r>
              <a:rPr lang="fr-FR" dirty="0" err="1"/>
              <a:t>We</a:t>
            </a:r>
            <a:r>
              <a:rPr lang="fr-FR" dirty="0"/>
              <a:t> propose to </a:t>
            </a:r>
            <a:r>
              <a:rPr lang="fr-FR" dirty="0" err="1"/>
              <a:t>improve</a:t>
            </a:r>
            <a:r>
              <a:rPr lang="fr-FR" dirty="0"/>
              <a:t> the planning phase by planning a </a:t>
            </a:r>
            <a:r>
              <a:rPr lang="fr-FR" dirty="0" err="1"/>
              <a:t>sequence</a:t>
            </a:r>
            <a:r>
              <a:rPr lang="fr-FR" dirty="0"/>
              <a:t> of </a:t>
            </a:r>
            <a:r>
              <a:rPr lang="fr-FR" dirty="0" err="1"/>
              <a:t>conversational</a:t>
            </a:r>
            <a:r>
              <a:rPr lang="fr-FR" dirty="0"/>
              <a:t> </a:t>
            </a:r>
            <a:r>
              <a:rPr lang="fr-FR" dirty="0" err="1"/>
              <a:t>strategies</a:t>
            </a:r>
            <a:r>
              <a:rPr lang="fr-FR" dirty="0"/>
              <a:t> to </a:t>
            </a:r>
            <a:r>
              <a:rPr lang="fr-FR" dirty="0" err="1"/>
              <a:t>enhance</a:t>
            </a:r>
            <a:r>
              <a:rPr lang="fr-FR" dirty="0"/>
              <a:t> the </a:t>
            </a:r>
            <a:r>
              <a:rPr lang="fr-FR" dirty="0" err="1"/>
              <a:t>quality</a:t>
            </a:r>
            <a:r>
              <a:rPr lang="fr-FR" dirty="0"/>
              <a:t> of </a:t>
            </a:r>
            <a:r>
              <a:rPr lang="fr-FR" dirty="0" err="1"/>
              <a:t>generated</a:t>
            </a:r>
            <a:r>
              <a:rPr lang="fr-FR" dirty="0"/>
              <a:t> </a:t>
            </a:r>
            <a:r>
              <a:rPr lang="fr-FR" dirty="0" err="1"/>
              <a:t>responses</a:t>
            </a:r>
            <a:r>
              <a:rPr lang="fr-FR"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Graph (the inability to scale is a major drawback of graph-based modules.), </a:t>
            </a:r>
            <a:r>
              <a:rPr lang="en-GB" dirty="0" err="1"/>
              <a:t>Rl</a:t>
            </a:r>
            <a:r>
              <a:rPr lang="en-GB" dirty="0"/>
              <a:t> but especially RL that requires Human or Simulated Human Feedback (RLHF), is a complex, often unstable and usually very costly procedure.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 </a:t>
            </a:r>
          </a:p>
        </p:txBody>
      </p:sp>
      <p:sp>
        <p:nvSpPr>
          <p:cNvPr id="4" name="Slide Number Placeholder 3">
            <a:extLst>
              <a:ext uri="{FF2B5EF4-FFF2-40B4-BE49-F238E27FC236}">
                <a16:creationId xmlns:a16="http://schemas.microsoft.com/office/drawing/2014/main" id="{E625C17D-58CF-24A8-ED73-52FC6E62EB27}"/>
              </a:ext>
            </a:extLst>
          </p:cNvPr>
          <p:cNvSpPr>
            <a:spLocks noGrp="1"/>
          </p:cNvSpPr>
          <p:nvPr>
            <p:ph type="sldNum" sz="quarter" idx="5"/>
          </p:nvPr>
        </p:nvSpPr>
        <p:spPr/>
        <p:txBody>
          <a:bodyPr/>
          <a:lstStyle/>
          <a:p>
            <a:fld id="{9B9D85DF-2378-9545-8C3C-563839805E02}" type="slidenum">
              <a:rPr lang="en-FR" smtClean="0"/>
              <a:t>12</a:t>
            </a:fld>
            <a:endParaRPr lang="en-FR"/>
          </a:p>
        </p:txBody>
      </p:sp>
    </p:spTree>
    <p:extLst>
      <p:ext uri="{BB962C8B-B14F-4D97-AF65-F5344CB8AC3E}">
        <p14:creationId xmlns:p14="http://schemas.microsoft.com/office/powerpoint/2010/main" val="2634823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5E658-BB85-F0B4-7585-1817ACD356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98FF0A-9298-3652-7ED1-C0C457B7B1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5F858E-776A-34EF-3E12-78614C58622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Only</a:t>
            </a:r>
            <a:r>
              <a:rPr lang="fr-FR" dirty="0"/>
              <a:t> </a:t>
            </a:r>
            <a:r>
              <a:rPr lang="fr-FR" dirty="0" err="1"/>
              <a:t>automatic</a:t>
            </a:r>
            <a:r>
              <a:rPr lang="fr-FR" dirty="0"/>
              <a:t> and </a:t>
            </a:r>
            <a:r>
              <a:rPr lang="fr-FR" dirty="0" err="1"/>
              <a:t>reference</a:t>
            </a:r>
            <a:r>
              <a:rPr lang="fr-FR" dirty="0"/>
              <a:t> </a:t>
            </a:r>
            <a:r>
              <a:rPr lang="fr-FR" dirty="0" err="1"/>
              <a:t>based</a:t>
            </a: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To round up the </a:t>
            </a:r>
            <a:r>
              <a:rPr lang="fr-FR" dirty="0" err="1"/>
              <a:t>analysis</a:t>
            </a:r>
            <a:r>
              <a:rPr lang="fr-FR" dirty="0"/>
              <a:t>, </a:t>
            </a:r>
            <a:r>
              <a:rPr lang="fr-FR" dirty="0" err="1"/>
              <a:t>we</a:t>
            </a:r>
            <a:r>
              <a:rPr lang="fr-FR" dirty="0"/>
              <a:t> look at the </a:t>
            </a:r>
            <a:r>
              <a:rPr lang="fr-FR" dirty="0" err="1"/>
              <a:t>mean</a:t>
            </a:r>
            <a:r>
              <a:rPr lang="fr-FR" dirty="0"/>
              <a:t> </a:t>
            </a:r>
            <a:r>
              <a:rPr lang="fr-FR" dirty="0" err="1"/>
              <a:t>length</a:t>
            </a:r>
            <a:r>
              <a:rPr lang="fr-FR" dirty="0"/>
              <a:t> </a:t>
            </a:r>
            <a:r>
              <a:rPr lang="fr-FR" dirty="0" err="1"/>
              <a:t>between</a:t>
            </a:r>
            <a:r>
              <a:rPr lang="fr-FR" dirty="0"/>
              <a:t> </a:t>
            </a:r>
            <a:r>
              <a:rPr lang="fr-FR" dirty="0" err="1"/>
              <a:t>ground</a:t>
            </a:r>
            <a:r>
              <a:rPr lang="fr-FR" dirty="0"/>
              <a:t> </a:t>
            </a:r>
            <a:r>
              <a:rPr lang="fr-FR" dirty="0" err="1"/>
              <a:t>truth</a:t>
            </a:r>
            <a:r>
              <a:rPr lang="fr-FR" dirty="0"/>
              <a:t> and output of planning to </a:t>
            </a:r>
            <a:r>
              <a:rPr lang="fr-FR" dirty="0" err="1"/>
              <a:t>study</a:t>
            </a:r>
            <a:r>
              <a:rPr lang="fr-FR" dirty="0"/>
              <a:t> the </a:t>
            </a:r>
            <a:r>
              <a:rPr lang="fr-FR" dirty="0" err="1"/>
              <a:t>general</a:t>
            </a:r>
            <a:r>
              <a:rPr lang="fr-FR" dirty="0"/>
              <a:t> </a:t>
            </a:r>
            <a:r>
              <a:rPr lang="fr-FR" dirty="0" err="1"/>
              <a:t>behaviour</a:t>
            </a:r>
            <a:r>
              <a:rPr lang="fr-FR" dirty="0"/>
              <a:t> of the system.</a:t>
            </a:r>
          </a:p>
        </p:txBody>
      </p:sp>
      <p:sp>
        <p:nvSpPr>
          <p:cNvPr id="4" name="Slide Number Placeholder 3">
            <a:extLst>
              <a:ext uri="{FF2B5EF4-FFF2-40B4-BE49-F238E27FC236}">
                <a16:creationId xmlns:a16="http://schemas.microsoft.com/office/drawing/2014/main" id="{9713146C-37B0-6EB5-8E0C-19B1ACE8796C}"/>
              </a:ext>
            </a:extLst>
          </p:cNvPr>
          <p:cNvSpPr>
            <a:spLocks noGrp="1"/>
          </p:cNvSpPr>
          <p:nvPr>
            <p:ph type="sldNum" sz="quarter" idx="5"/>
          </p:nvPr>
        </p:nvSpPr>
        <p:spPr/>
        <p:txBody>
          <a:bodyPr/>
          <a:lstStyle/>
          <a:p>
            <a:fld id="{9B9D85DF-2378-9545-8C3C-563839805E02}" type="slidenum">
              <a:rPr lang="en-FR" smtClean="0"/>
              <a:t>13</a:t>
            </a:fld>
            <a:endParaRPr lang="en-FR"/>
          </a:p>
        </p:txBody>
      </p:sp>
    </p:spTree>
    <p:extLst>
      <p:ext uri="{BB962C8B-B14F-4D97-AF65-F5344CB8AC3E}">
        <p14:creationId xmlns:p14="http://schemas.microsoft.com/office/powerpoint/2010/main" val="15463077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1D96F-460D-E0B7-F23C-BBBA6A41A5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3C589-536F-991D-D8CC-6F6B5B111D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0A2F6F-F2B7-6AA9-55CF-03C3FCB526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The absence of multi-label </a:t>
            </a:r>
            <a:r>
              <a:rPr lang="fr-FR" dirty="0" err="1"/>
              <a:t>approaches</a:t>
            </a:r>
            <a:r>
              <a:rPr lang="fr-FR" dirty="0"/>
              <a:t> </a:t>
            </a:r>
            <a:r>
              <a:rPr lang="fr-FR" dirty="0" err="1"/>
              <a:t>is</a:t>
            </a:r>
            <a:r>
              <a:rPr lang="fr-FR" dirty="0"/>
              <a:t> </a:t>
            </a:r>
            <a:r>
              <a:rPr lang="fr-FR" dirty="0" err="1"/>
              <a:t>also</a:t>
            </a:r>
            <a:r>
              <a:rPr lang="fr-FR" dirty="0"/>
              <a:t> </a:t>
            </a:r>
            <a:r>
              <a:rPr lang="fr-FR" dirty="0" err="1"/>
              <a:t>observed</a:t>
            </a:r>
            <a:r>
              <a:rPr lang="fr-FR" dirty="0"/>
              <a:t> in </a:t>
            </a:r>
            <a:r>
              <a:rPr lang="fr-FR" dirty="0" err="1"/>
              <a:t>conditional</a:t>
            </a:r>
            <a:r>
              <a:rPr lang="fr-FR" dirty="0"/>
              <a:t> </a:t>
            </a:r>
            <a:r>
              <a:rPr lang="fr-FR" dirty="0" err="1"/>
              <a:t>generation</a:t>
            </a:r>
            <a:r>
              <a:rPr lang="fr-FR" dirty="0"/>
              <a:t>. </a:t>
            </a:r>
            <a:r>
              <a:rPr lang="fr-FR" dirty="0" err="1"/>
              <a:t>We</a:t>
            </a:r>
            <a:r>
              <a:rPr lang="fr-FR" dirty="0"/>
              <a:t> </a:t>
            </a:r>
            <a:r>
              <a:rPr lang="fr-FR" dirty="0" err="1"/>
              <a:t>tested</a:t>
            </a:r>
            <a:r>
              <a:rPr lang="fr-FR" dirty="0"/>
              <a:t> multiple </a:t>
            </a:r>
            <a:r>
              <a:rPr lang="fr-FR" dirty="0" err="1"/>
              <a:t>approaches</a:t>
            </a:r>
            <a:r>
              <a:rPr lang="fr-FR" dirty="0"/>
              <a:t>, </a:t>
            </a:r>
            <a:r>
              <a:rPr lang="fr-FR" dirty="0" err="1"/>
              <a:t>such</a:t>
            </a:r>
            <a:r>
              <a:rPr lang="fr-FR" dirty="0"/>
              <a:t> as </a:t>
            </a:r>
            <a:r>
              <a:rPr lang="fr-FR" dirty="0" err="1"/>
              <a:t>traditional</a:t>
            </a:r>
            <a:r>
              <a:rPr lang="fr-FR" dirty="0"/>
              <a:t> </a:t>
            </a:r>
            <a:r>
              <a:rPr lang="fr-FR" dirty="0" err="1"/>
              <a:t>generation</a:t>
            </a:r>
            <a:r>
              <a:rPr lang="fr-FR" dirty="0"/>
              <a:t> </a:t>
            </a:r>
            <a:r>
              <a:rPr lang="fr-FR" dirty="0" err="1"/>
              <a:t>using</a:t>
            </a:r>
            <a:r>
              <a:rPr lang="fr-FR" dirty="0"/>
              <a:t> BART or  </a:t>
            </a:r>
            <a:r>
              <a:rPr lang="fr-FR" dirty="0" err="1"/>
              <a:t>dialoGPT</a:t>
            </a:r>
            <a:r>
              <a:rPr lang="fr-FR" dirty="0"/>
              <a:t>; but </a:t>
            </a:r>
            <a:r>
              <a:rPr lang="fr-FR" dirty="0" err="1"/>
              <a:t>we</a:t>
            </a:r>
            <a:r>
              <a:rPr lang="fr-FR" dirty="0"/>
              <a:t> </a:t>
            </a:r>
            <a:r>
              <a:rPr lang="fr-FR" dirty="0" err="1"/>
              <a:t>mainly</a:t>
            </a:r>
            <a:r>
              <a:rPr lang="fr-FR" dirty="0"/>
              <a:t> </a:t>
            </a:r>
            <a:r>
              <a:rPr lang="fr-FR" dirty="0" err="1"/>
              <a:t>focused</a:t>
            </a:r>
            <a:r>
              <a:rPr lang="fr-FR" dirty="0"/>
              <a:t> on prompt-</a:t>
            </a:r>
            <a:r>
              <a:rPr lang="fr-FR" dirty="0" err="1"/>
              <a:t>based</a:t>
            </a:r>
            <a:r>
              <a:rPr lang="fr-FR" dirty="0"/>
              <a:t> </a:t>
            </a:r>
            <a:r>
              <a:rPr lang="fr-FR" dirty="0" err="1"/>
              <a:t>generation</a:t>
            </a:r>
            <a:r>
              <a:rPr lang="fr-FR"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While</a:t>
            </a:r>
            <a:r>
              <a:rPr lang="fr-FR" dirty="0"/>
              <a:t> none of the </a:t>
            </a:r>
            <a:r>
              <a:rPr lang="fr-FR" dirty="0" err="1"/>
              <a:t>studies</a:t>
            </a:r>
            <a:r>
              <a:rPr lang="fr-FR" dirty="0"/>
              <a:t> on prompt-</a:t>
            </a:r>
            <a:r>
              <a:rPr lang="fr-FR" dirty="0" err="1"/>
              <a:t>based</a:t>
            </a:r>
            <a:r>
              <a:rPr lang="fr-FR" dirty="0"/>
              <a:t> </a:t>
            </a:r>
            <a:r>
              <a:rPr lang="fr-FR" dirty="0" err="1"/>
              <a:t>LLMs</a:t>
            </a:r>
            <a:r>
              <a:rPr lang="fr-FR" dirty="0"/>
              <a:t> are </a:t>
            </a:r>
            <a:r>
              <a:rPr lang="fr-FR" dirty="0" err="1"/>
              <a:t>adapted</a:t>
            </a:r>
            <a:r>
              <a:rPr lang="fr-FR" dirty="0"/>
              <a:t> for multi-label </a:t>
            </a:r>
            <a:r>
              <a:rPr lang="fr-FR" dirty="0" err="1"/>
              <a:t>generation</a:t>
            </a:r>
            <a:r>
              <a:rPr lang="fr-FR" dirty="0"/>
              <a:t>, the high performance of </a:t>
            </a:r>
            <a:r>
              <a:rPr lang="fr-FR" dirty="0" err="1"/>
              <a:t>LLMs</a:t>
            </a:r>
            <a:r>
              <a:rPr lang="fr-FR" dirty="0"/>
              <a:t> has been </a:t>
            </a:r>
            <a:r>
              <a:rPr lang="fr-FR" dirty="0" err="1"/>
              <a:t>proven</a:t>
            </a:r>
            <a:r>
              <a:rPr lang="fr-FR" dirty="0"/>
              <a:t> </a:t>
            </a:r>
            <a:r>
              <a:rPr lang="fr-FR" dirty="0" err="1"/>
              <a:t>repeatedly</a:t>
            </a:r>
            <a:r>
              <a:rPr lang="fr-FR" dirty="0"/>
              <a:t> by a large </a:t>
            </a:r>
            <a:r>
              <a:rPr lang="fr-FR" dirty="0" err="1"/>
              <a:t>amount</a:t>
            </a:r>
            <a:r>
              <a:rPr lang="fr-FR" dirty="0"/>
              <a:t> of </a:t>
            </a:r>
            <a:r>
              <a:rPr lang="fr-FR" dirty="0" err="1"/>
              <a:t>recent</a:t>
            </a:r>
            <a:r>
              <a:rPr lang="fr-FR" dirty="0"/>
              <a:t> </a:t>
            </a:r>
            <a:r>
              <a:rPr lang="fr-FR" dirty="0" err="1"/>
              <a:t>research</a:t>
            </a:r>
            <a:r>
              <a:rPr lang="fr-FR" dirty="0"/>
              <a:t>. </a:t>
            </a:r>
            <a:r>
              <a:rPr lang="fr-FR" dirty="0" err="1"/>
              <a:t>We</a:t>
            </a:r>
            <a:r>
              <a:rPr lang="fr-FR" dirty="0"/>
              <a:t> </a:t>
            </a:r>
            <a:r>
              <a:rPr lang="fr-FR" dirty="0" err="1"/>
              <a:t>decided</a:t>
            </a:r>
            <a:r>
              <a:rPr lang="fr-FR" dirty="0"/>
              <a:t> to capitalise on the </a:t>
            </a:r>
            <a:r>
              <a:rPr lang="fr-FR" dirty="0" err="1"/>
              <a:t>strong</a:t>
            </a:r>
            <a:r>
              <a:rPr lang="fr-FR" dirty="0"/>
              <a:t> </a:t>
            </a:r>
            <a:r>
              <a:rPr lang="fr-FR" dirty="0" err="1"/>
              <a:t>generative</a:t>
            </a:r>
            <a:r>
              <a:rPr lang="fr-FR" dirty="0"/>
              <a:t> </a:t>
            </a:r>
            <a:r>
              <a:rPr lang="fr-FR" dirty="0" err="1"/>
              <a:t>capabilities</a:t>
            </a:r>
            <a:r>
              <a:rPr lang="fr-FR" dirty="0"/>
              <a:t> of </a:t>
            </a:r>
            <a:r>
              <a:rPr lang="fr-FR" dirty="0" err="1"/>
              <a:t>these</a:t>
            </a:r>
            <a:r>
              <a:rPr lang="fr-FR" dirty="0"/>
              <a:t> </a:t>
            </a:r>
            <a:r>
              <a:rPr lang="fr-FR" dirty="0" err="1"/>
              <a:t>models</a:t>
            </a:r>
            <a:r>
              <a:rPr lang="fr-FR" dirty="0"/>
              <a:t> to design a </a:t>
            </a:r>
            <a:r>
              <a:rPr lang="fr-FR" dirty="0" err="1"/>
              <a:t>template</a:t>
            </a:r>
            <a:r>
              <a:rPr lang="fr-FR" dirty="0"/>
              <a:t>, </a:t>
            </a:r>
            <a:r>
              <a:rPr lang="fr-FR" dirty="0" err="1"/>
              <a:t>completed</a:t>
            </a:r>
            <a:r>
              <a:rPr lang="fr-FR" dirty="0"/>
              <a:t> by the dialogue </a:t>
            </a:r>
            <a:r>
              <a:rPr lang="fr-FR" dirty="0" err="1"/>
              <a:t>history</a:t>
            </a:r>
            <a:r>
              <a:rPr lang="fr-FR" dirty="0"/>
              <a:t> and the </a:t>
            </a:r>
            <a:r>
              <a:rPr lang="fr-FR" dirty="0" err="1"/>
              <a:t>planned</a:t>
            </a:r>
            <a:r>
              <a:rPr lang="fr-FR" dirty="0"/>
              <a:t> dialogue </a:t>
            </a:r>
            <a:r>
              <a:rPr lang="fr-FR" dirty="0" err="1"/>
              <a:t>strategies</a:t>
            </a:r>
            <a:r>
              <a:rPr lang="fr-FR" dirty="0"/>
              <a:t> </a:t>
            </a:r>
            <a:r>
              <a:rPr lang="fr-FR" dirty="0" err="1"/>
              <a:t>sequence</a:t>
            </a:r>
            <a:r>
              <a:rPr lang="fr-FR" dirty="0"/>
              <a:t>, to condition the </a:t>
            </a:r>
            <a:r>
              <a:rPr lang="fr-FR" dirty="0" err="1"/>
              <a:t>generation</a:t>
            </a:r>
            <a:r>
              <a:rPr lang="fr-FR" dirty="0"/>
              <a:t> of the </a:t>
            </a:r>
            <a:r>
              <a:rPr lang="fr-FR" dirty="0" err="1"/>
              <a:t>response</a:t>
            </a:r>
            <a:r>
              <a:rPr lang="fr-FR" dirty="0"/>
              <a:t>.</a:t>
            </a:r>
          </a:p>
        </p:txBody>
      </p:sp>
      <p:sp>
        <p:nvSpPr>
          <p:cNvPr id="4" name="Slide Number Placeholder 3">
            <a:extLst>
              <a:ext uri="{FF2B5EF4-FFF2-40B4-BE49-F238E27FC236}">
                <a16:creationId xmlns:a16="http://schemas.microsoft.com/office/drawing/2014/main" id="{107C991A-6BE0-915D-53F6-97AA25810D13}"/>
              </a:ext>
            </a:extLst>
          </p:cNvPr>
          <p:cNvSpPr>
            <a:spLocks noGrp="1"/>
          </p:cNvSpPr>
          <p:nvPr>
            <p:ph type="sldNum" sz="quarter" idx="5"/>
          </p:nvPr>
        </p:nvSpPr>
        <p:spPr/>
        <p:txBody>
          <a:bodyPr/>
          <a:lstStyle/>
          <a:p>
            <a:fld id="{9B9D85DF-2378-9545-8C3C-563839805E02}" type="slidenum">
              <a:rPr lang="en-FR" smtClean="0"/>
              <a:t>14</a:t>
            </a:fld>
            <a:endParaRPr lang="en-FR"/>
          </a:p>
        </p:txBody>
      </p:sp>
    </p:spTree>
    <p:extLst>
      <p:ext uri="{BB962C8B-B14F-4D97-AF65-F5344CB8AC3E}">
        <p14:creationId xmlns:p14="http://schemas.microsoft.com/office/powerpoint/2010/main" val="32821222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14C94-B4F9-5B70-5A68-1454466AB3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E546D-ADFD-8827-3D6D-42C566AE97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3CBE0C-6D45-5710-6464-AD667BECAD9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however</a:t>
            </a:r>
            <a:r>
              <a:rPr lang="fr-FR" dirty="0"/>
              <a:t>, </a:t>
            </a:r>
            <a:r>
              <a:rPr lang="fr-FR" dirty="0" err="1"/>
              <a:t>there</a:t>
            </a:r>
            <a:r>
              <a:rPr lang="fr-FR" dirty="0"/>
              <a:t> </a:t>
            </a:r>
            <a:r>
              <a:rPr lang="fr-FR" dirty="0" err="1"/>
              <a:t>is</a:t>
            </a:r>
            <a:r>
              <a:rPr lang="fr-FR" dirty="0"/>
              <a:t> </a:t>
            </a:r>
            <a:r>
              <a:rPr lang="fr-FR" dirty="0" err="1"/>
              <a:t>never</a:t>
            </a:r>
            <a:r>
              <a:rPr lang="fr-FR" dirty="0"/>
              <a:t> </a:t>
            </a:r>
            <a:r>
              <a:rPr lang="fr-FR" dirty="0" err="1"/>
              <a:t>only</a:t>
            </a:r>
            <a:r>
              <a:rPr lang="fr-FR" dirty="0"/>
              <a:t> one good </a:t>
            </a:r>
            <a:r>
              <a:rPr lang="fr-FR" dirty="0" err="1"/>
              <a:t>response</a:t>
            </a:r>
            <a:r>
              <a:rPr lang="fr-FR" dirty="0"/>
              <a:t> to a dialogue, </a:t>
            </a:r>
            <a:r>
              <a:rPr lang="fr-FR" dirty="0" err="1"/>
              <a:t>so</a:t>
            </a:r>
            <a:r>
              <a:rPr lang="fr-FR" dirty="0"/>
              <a:t> </a:t>
            </a:r>
            <a:r>
              <a:rPr lang="fr-FR" dirty="0" err="1"/>
              <a:t>comparing</a:t>
            </a:r>
            <a:r>
              <a:rPr lang="fr-FR" dirty="0"/>
              <a:t> </a:t>
            </a:r>
            <a:r>
              <a:rPr lang="fr-FR" dirty="0" err="1"/>
              <a:t>with</a:t>
            </a:r>
            <a:r>
              <a:rPr lang="fr-FR" dirty="0"/>
              <a:t> the </a:t>
            </a:r>
            <a:r>
              <a:rPr lang="fr-FR" dirty="0" err="1"/>
              <a:t>ground</a:t>
            </a:r>
            <a:r>
              <a:rPr lang="fr-FR" dirty="0"/>
              <a:t> </a:t>
            </a:r>
            <a:r>
              <a:rPr lang="fr-FR" dirty="0" err="1"/>
              <a:t>truth</a:t>
            </a:r>
            <a:r>
              <a:rPr lang="fr-FR" dirty="0"/>
              <a:t> can </a:t>
            </a:r>
            <a:r>
              <a:rPr lang="fr-FR" dirty="0" err="1"/>
              <a:t>sometimes</a:t>
            </a:r>
            <a:r>
              <a:rPr lang="fr-FR" dirty="0"/>
              <a:t> </a:t>
            </a:r>
            <a:r>
              <a:rPr lang="fr-FR" dirty="0" err="1"/>
              <a:t>be</a:t>
            </a:r>
            <a:r>
              <a:rPr lang="fr-FR" dirty="0"/>
              <a:t> </a:t>
            </a:r>
            <a:r>
              <a:rPr lang="fr-FR" dirty="0" err="1"/>
              <a:t>very</a:t>
            </a:r>
            <a:r>
              <a:rPr lang="fr-FR" dirty="0"/>
              <a:t> restrictive and </a:t>
            </a:r>
            <a:r>
              <a:rPr lang="fr-FR" dirty="0" err="1"/>
              <a:t>create</a:t>
            </a:r>
            <a:r>
              <a:rPr lang="fr-FR" dirty="0"/>
              <a:t> a </a:t>
            </a:r>
            <a:r>
              <a:rPr lang="fr-FR" dirty="0" err="1"/>
              <a:t>bias</a:t>
            </a:r>
            <a:r>
              <a:rPr lang="fr-FR" dirty="0"/>
              <a:t> in the </a:t>
            </a:r>
            <a:r>
              <a:rPr lang="fr-FR" dirty="0" err="1"/>
              <a:t>results</a:t>
            </a:r>
            <a:r>
              <a:rPr lang="fr-FR" dirty="0"/>
              <a:t>. </a:t>
            </a:r>
            <a:r>
              <a:rPr lang="fr-FR" dirty="0" err="1"/>
              <a:t>That's</a:t>
            </a:r>
            <a:r>
              <a:rPr lang="fr-FR" dirty="0"/>
              <a:t> </a:t>
            </a:r>
            <a:r>
              <a:rPr lang="fr-FR" dirty="0" err="1"/>
              <a:t>why</a:t>
            </a:r>
            <a:r>
              <a:rPr lang="fr-FR" dirty="0"/>
              <a:t> </a:t>
            </a:r>
            <a:r>
              <a:rPr lang="fr-FR" dirty="0" err="1"/>
              <a:t>we</a:t>
            </a:r>
            <a:r>
              <a:rPr lang="fr-FR" dirty="0"/>
              <a:t> </a:t>
            </a:r>
            <a:r>
              <a:rPr lang="fr-FR" dirty="0" err="1"/>
              <a:t>also</a:t>
            </a:r>
            <a:r>
              <a:rPr lang="fr-FR" dirty="0"/>
              <a:t> </a:t>
            </a:r>
            <a:r>
              <a:rPr lang="fr-FR" dirty="0" err="1"/>
              <a:t>consider</a:t>
            </a:r>
            <a:r>
              <a:rPr lang="fr-FR" dirty="0"/>
              <a:t> </a:t>
            </a:r>
            <a:r>
              <a:rPr lang="fr-FR" dirty="0" err="1"/>
              <a:t>some</a:t>
            </a:r>
            <a:r>
              <a:rPr lang="fr-FR" dirty="0"/>
              <a:t> </a:t>
            </a:r>
            <a:r>
              <a:rPr lang="fr-FR" dirty="0" err="1"/>
              <a:t>reference</a:t>
            </a:r>
            <a:r>
              <a:rPr lang="fr-FR" dirty="0"/>
              <a:t>-free </a:t>
            </a:r>
            <a:r>
              <a:rPr lang="fr-FR" dirty="0" err="1"/>
              <a:t>metrics</a:t>
            </a:r>
            <a:r>
              <a:rPr lang="fr-FR" dirty="0"/>
              <a:t>. </a:t>
            </a:r>
          </a:p>
        </p:txBody>
      </p:sp>
      <p:sp>
        <p:nvSpPr>
          <p:cNvPr id="4" name="Slide Number Placeholder 3">
            <a:extLst>
              <a:ext uri="{FF2B5EF4-FFF2-40B4-BE49-F238E27FC236}">
                <a16:creationId xmlns:a16="http://schemas.microsoft.com/office/drawing/2014/main" id="{B0BDF573-E66D-E318-157B-C30E37D973BE}"/>
              </a:ext>
            </a:extLst>
          </p:cNvPr>
          <p:cNvSpPr>
            <a:spLocks noGrp="1"/>
          </p:cNvSpPr>
          <p:nvPr>
            <p:ph type="sldNum" sz="quarter" idx="5"/>
          </p:nvPr>
        </p:nvSpPr>
        <p:spPr/>
        <p:txBody>
          <a:bodyPr/>
          <a:lstStyle/>
          <a:p>
            <a:fld id="{9B9D85DF-2378-9545-8C3C-563839805E02}" type="slidenum">
              <a:rPr lang="en-FR" smtClean="0"/>
              <a:t>15</a:t>
            </a:fld>
            <a:endParaRPr lang="en-FR"/>
          </a:p>
        </p:txBody>
      </p:sp>
    </p:spTree>
    <p:extLst>
      <p:ext uri="{BB962C8B-B14F-4D97-AF65-F5344CB8AC3E}">
        <p14:creationId xmlns:p14="http://schemas.microsoft.com/office/powerpoint/2010/main" val="23411451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dirty="0"/>
              <a:t>The goal was to obtain an assessment of socio-emotional quality of responses, but as we tested various models, it would have taken a very long time to individually rate all responses. That is why we split the process into three steps</a:t>
            </a:r>
          </a:p>
          <a:p>
            <a:endParaRPr lang="en-FR" dirty="0"/>
          </a:p>
          <a:p>
            <a:r>
              <a:rPr lang="en-FR" dirty="0"/>
              <a:t>1. Given a context, 2 annotators look at all candidate response from evaluated systems. They will then eliminate the responses that are not consistent - do not make sense to the context - and save those that do</a:t>
            </a:r>
          </a:p>
          <a:p>
            <a:endParaRPr lang="en-FR" dirty="0"/>
          </a:p>
          <a:p>
            <a:r>
              <a:rPr lang="en-FR" dirty="0"/>
              <a:t>2. Then, they will look at the saved responses to select and rank the best 3</a:t>
            </a:r>
          </a:p>
          <a:p>
            <a:endParaRPr lang="en-FR" dirty="0"/>
          </a:p>
          <a:p>
            <a:r>
              <a:rPr lang="en-FR" dirty="0"/>
              <a:t>3. Finally, we sample some of the best responses to annotate them individually on finer-grained socio-emotional criteria</a:t>
            </a:r>
          </a:p>
        </p:txBody>
      </p:sp>
      <p:sp>
        <p:nvSpPr>
          <p:cNvPr id="4" name="Slide Number Placeholder 3"/>
          <p:cNvSpPr>
            <a:spLocks noGrp="1"/>
          </p:cNvSpPr>
          <p:nvPr>
            <p:ph type="sldNum" sz="quarter" idx="5"/>
          </p:nvPr>
        </p:nvSpPr>
        <p:spPr/>
        <p:txBody>
          <a:bodyPr/>
          <a:lstStyle/>
          <a:p>
            <a:fld id="{8FFF6257-208C-D647-A331-25E47C600D10}" type="slidenum">
              <a:rPr lang="en-FR" smtClean="0"/>
              <a:t>16</a:t>
            </a:fld>
            <a:endParaRPr lang="en-FR"/>
          </a:p>
        </p:txBody>
      </p:sp>
    </p:spTree>
    <p:extLst>
      <p:ext uri="{BB962C8B-B14F-4D97-AF65-F5344CB8AC3E}">
        <p14:creationId xmlns:p14="http://schemas.microsoft.com/office/powerpoint/2010/main" val="606548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25247-25FC-5559-5372-EE899259A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B88E2-AF6A-74E5-1AF8-8CBFDF18E6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A48872-3D6A-6533-3FA9-DEF17D5535E0}"/>
              </a:ext>
            </a:extLst>
          </p:cNvPr>
          <p:cNvSpPr>
            <a:spLocks noGrp="1"/>
          </p:cNvSpPr>
          <p:nvPr>
            <p:ph type="body" idx="1"/>
          </p:nvPr>
        </p:nvSpPr>
        <p:spPr/>
        <p:txBody>
          <a:bodyPr/>
          <a:lstStyle/>
          <a:p>
            <a:r>
              <a:rPr lang="en-FR" dirty="0"/>
              <a:t>These criteria are divided into 3 axes:</a:t>
            </a:r>
          </a:p>
          <a:p>
            <a:endParaRPr lang="en-FR" dirty="0"/>
          </a:p>
          <a:p>
            <a:r>
              <a:rPr lang="en-FR" dirty="0"/>
              <a:t>Logical consistency: fluency, naturalness</a:t>
            </a:r>
          </a:p>
          <a:p>
            <a:endParaRPr lang="en-FR" dirty="0"/>
          </a:p>
          <a:p>
            <a:r>
              <a:rPr lang="en-FR" dirty="0"/>
              <a:t>Emotional consistency: is the emotional tone adequate?</a:t>
            </a:r>
          </a:p>
          <a:p>
            <a:endParaRPr lang="en-FR" dirty="0"/>
          </a:p>
          <a:p>
            <a:r>
              <a:rPr lang="en-FR" dirty="0"/>
              <a:t>Social consistency: does the response follow the social norms of the exchange?</a:t>
            </a:r>
          </a:p>
          <a:p>
            <a:endParaRPr lang="en-FR" dirty="0"/>
          </a:p>
          <a:p>
            <a:r>
              <a:rPr lang="en-FR" dirty="0"/>
              <a:t>To create this scheme, we followed works such as those condicted on Google's LAMDA to select the items. For the rating scale, we tried a couple options (5-point scale...) and this was the scale that allowed for the best time-quality ratio.</a:t>
            </a:r>
          </a:p>
        </p:txBody>
      </p:sp>
      <p:sp>
        <p:nvSpPr>
          <p:cNvPr id="4" name="Slide Number Placeholder 3">
            <a:extLst>
              <a:ext uri="{FF2B5EF4-FFF2-40B4-BE49-F238E27FC236}">
                <a16:creationId xmlns:a16="http://schemas.microsoft.com/office/drawing/2014/main" id="{D24DD3E3-A4ED-7F7F-1124-3A43B4969A23}"/>
              </a:ext>
            </a:extLst>
          </p:cNvPr>
          <p:cNvSpPr>
            <a:spLocks noGrp="1"/>
          </p:cNvSpPr>
          <p:nvPr>
            <p:ph type="sldNum" sz="quarter" idx="5"/>
          </p:nvPr>
        </p:nvSpPr>
        <p:spPr/>
        <p:txBody>
          <a:bodyPr/>
          <a:lstStyle/>
          <a:p>
            <a:fld id="{9B9D85DF-2378-9545-8C3C-563839805E02}" type="slidenum">
              <a:rPr lang="en-FR" smtClean="0"/>
              <a:t>17</a:t>
            </a:fld>
            <a:endParaRPr lang="en-FR"/>
          </a:p>
        </p:txBody>
      </p:sp>
    </p:spTree>
    <p:extLst>
      <p:ext uri="{BB962C8B-B14F-4D97-AF65-F5344CB8AC3E}">
        <p14:creationId xmlns:p14="http://schemas.microsoft.com/office/powerpoint/2010/main" val="26321634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After gathering the annotations on each step of the evaluation process, we compute various metrics to analyse the results. </a:t>
            </a:r>
          </a:p>
          <a:p>
            <a:endParaRPr lang="en-GB" dirty="0"/>
          </a:p>
          <a:p>
            <a:r>
              <a:rPr lang="en-GB" dirty="0"/>
              <a:t>(Step 1) Filter </a:t>
            </a:r>
            <a:r>
              <a:rPr lang="en-GB" dirty="0" err="1"/>
              <a:t>i</a:t>
            </a:r>
            <a:r>
              <a:rPr lang="en-GB" dirty="0"/>
              <a:t>(m) computes the probability for the response of model m to be filtered as ”consistent”. </a:t>
            </a:r>
          </a:p>
          <a:p>
            <a:endParaRPr lang="en-GB" dirty="0"/>
          </a:p>
          <a:p>
            <a:endParaRPr lang="en-GB" dirty="0"/>
          </a:p>
          <a:p>
            <a:r>
              <a:rPr lang="en-GB" dirty="0"/>
              <a:t>(Step 2) Similarly, top3 represents how likely the response of model m is to be chosen as part of a top-3</a:t>
            </a:r>
          </a:p>
          <a:p>
            <a:endParaRPr lang="en-GB" dirty="0"/>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(Step 3) To compute these axes scores, we take the rating of each question of the category, normalise them, and calculate the mean score. </a:t>
            </a:r>
          </a:p>
          <a:p>
            <a:endParaRPr lang="en-GB" dirty="0"/>
          </a:p>
          <a:p>
            <a:r>
              <a:rPr lang="en-GB" dirty="0"/>
              <a:t>We average the logical, social and emotional consistency scores to obtain a single, more global consistency score that evaluates the quality of the response to the logical, emotional and social context of the interaction. </a:t>
            </a:r>
          </a:p>
        </p:txBody>
      </p:sp>
      <p:sp>
        <p:nvSpPr>
          <p:cNvPr id="4" name="Slide Number Placeholder 3"/>
          <p:cNvSpPr>
            <a:spLocks noGrp="1"/>
          </p:cNvSpPr>
          <p:nvPr>
            <p:ph type="sldNum" sz="quarter" idx="5"/>
          </p:nvPr>
        </p:nvSpPr>
        <p:spPr/>
        <p:txBody>
          <a:bodyPr/>
          <a:lstStyle/>
          <a:p>
            <a:fld id="{9B9D85DF-2378-9545-8C3C-563839805E02}" type="slidenum">
              <a:rPr lang="en-FR" smtClean="0"/>
              <a:t>18</a:t>
            </a:fld>
            <a:endParaRPr lang="en-FR"/>
          </a:p>
        </p:txBody>
      </p:sp>
    </p:spTree>
    <p:extLst>
      <p:ext uri="{BB962C8B-B14F-4D97-AF65-F5344CB8AC3E}">
        <p14:creationId xmlns:p14="http://schemas.microsoft.com/office/powerpoint/2010/main" val="25539774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6B6C6-0A6E-AC86-0001-731FCFF629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6C837-19C1-CC67-0430-6828BFFB0A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D37AEA-64C2-9A73-9AB3-A7D8B90C5278}"/>
              </a:ext>
            </a:extLst>
          </p:cNvPr>
          <p:cNvSpPr>
            <a:spLocks noGrp="1"/>
          </p:cNvSpPr>
          <p:nvPr>
            <p:ph type="body" idx="1"/>
          </p:nvPr>
        </p:nvSpPr>
        <p:spPr/>
        <p:txBody>
          <a:bodyPr/>
          <a:lstStyle/>
          <a:p>
            <a:r>
              <a:rPr lang="en-FR" dirty="0"/>
              <a:t>To implement this approach as faithfully as possible, we need data that meet 2 main criteria:</a:t>
            </a:r>
          </a:p>
          <a:p>
            <a:endParaRPr lang="en-FR" dirty="0"/>
          </a:p>
          <a:p>
            <a:r>
              <a:rPr lang="en-FR" dirty="0"/>
              <a:t>* Task-oriented dialogues, better if it's in French.</a:t>
            </a:r>
          </a:p>
          <a:p>
            <a:r>
              <a:rPr lang="en-FR" dirty="0"/>
              <a:t>* Multi-label annotation in emotions and/or dialogue strategies on the speaker turn</a:t>
            </a:r>
          </a:p>
          <a:p>
            <a:endParaRPr lang="en-FR" dirty="0"/>
          </a:p>
          <a:p>
            <a:r>
              <a:rPr lang="en-FR" dirty="0"/>
              <a:t>As no readily available corpus seem to meet these needs, we curate our own: DATA-SERGe, a dataset for socio-emotional response generation.</a:t>
            </a:r>
          </a:p>
        </p:txBody>
      </p:sp>
      <p:sp>
        <p:nvSpPr>
          <p:cNvPr id="4" name="Slide Number Placeholder 3">
            <a:extLst>
              <a:ext uri="{FF2B5EF4-FFF2-40B4-BE49-F238E27FC236}">
                <a16:creationId xmlns:a16="http://schemas.microsoft.com/office/drawing/2014/main" id="{8879AB64-A528-DC55-E2F8-0A753384B928}"/>
              </a:ext>
            </a:extLst>
          </p:cNvPr>
          <p:cNvSpPr>
            <a:spLocks noGrp="1"/>
          </p:cNvSpPr>
          <p:nvPr>
            <p:ph type="sldNum" sz="quarter" idx="5"/>
          </p:nvPr>
        </p:nvSpPr>
        <p:spPr/>
        <p:txBody>
          <a:bodyPr/>
          <a:lstStyle/>
          <a:p>
            <a:fld id="{9B9D85DF-2378-9545-8C3C-563839805E02}" type="slidenum">
              <a:rPr lang="en-FR" smtClean="0"/>
              <a:t>19</a:t>
            </a:fld>
            <a:endParaRPr lang="en-FR"/>
          </a:p>
        </p:txBody>
      </p:sp>
    </p:spTree>
    <p:extLst>
      <p:ext uri="{BB962C8B-B14F-4D97-AF65-F5344CB8AC3E}">
        <p14:creationId xmlns:p14="http://schemas.microsoft.com/office/powerpoint/2010/main" val="10569181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9402C-872D-479A-5B33-F2F457229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D515B-316D-3080-FB76-4FA7372B40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94A8FE-050C-EA00-B073-7E2D61788568}"/>
              </a:ext>
            </a:extLst>
          </p:cNvPr>
          <p:cNvSpPr>
            <a:spLocks noGrp="1"/>
          </p:cNvSpPr>
          <p:nvPr>
            <p:ph type="body" idx="1"/>
          </p:nvPr>
        </p:nvSpPr>
        <p:spPr/>
        <p:txBody>
          <a:bodyPr/>
          <a:lstStyle/>
          <a:p>
            <a:r>
              <a:rPr lang="en-FR" dirty="0"/>
              <a:t>First, annotators are tasked to replace confidential information, preemptively masked by a BART model fine-tuned on customer data, by replacing them with fictional placeholder</a:t>
            </a:r>
          </a:p>
          <a:p>
            <a:r>
              <a:rPr lang="en-FR" dirty="0"/>
              <a:t>-&gt; agent's name always becomes Nadeige for example.</a:t>
            </a:r>
          </a:p>
          <a:p>
            <a:r>
              <a:rPr lang="en-FR" dirty="0"/>
              <a:t>-&gt; They record these equivalences in an excel that allowed me to create another version of the corpus, by replacing the placeholders by specific masks (nedeige becomes [AGENT NAME]</a:t>
            </a:r>
          </a:p>
          <a:p>
            <a:endParaRPr lang="en-FR" dirty="0"/>
          </a:p>
          <a:p>
            <a:r>
              <a:rPr lang="en-FR" dirty="0"/>
              <a:t>Jointly, they were asked to clean the data. We are aware this induced a loss of authenticity, namely by removing some heavy hesitations and reformulating certain sentences, but we decided it was an acceptable compromise to obtain a dataset that is more easily usable for both written and oral systems</a:t>
            </a:r>
          </a:p>
        </p:txBody>
      </p:sp>
      <p:sp>
        <p:nvSpPr>
          <p:cNvPr id="4" name="Slide Number Placeholder 3">
            <a:extLst>
              <a:ext uri="{FF2B5EF4-FFF2-40B4-BE49-F238E27FC236}">
                <a16:creationId xmlns:a16="http://schemas.microsoft.com/office/drawing/2014/main" id="{7EBE7162-BF1E-497C-C825-B76AD5C816BB}"/>
              </a:ext>
            </a:extLst>
          </p:cNvPr>
          <p:cNvSpPr>
            <a:spLocks noGrp="1"/>
          </p:cNvSpPr>
          <p:nvPr>
            <p:ph type="sldNum" sz="quarter" idx="5"/>
          </p:nvPr>
        </p:nvSpPr>
        <p:spPr/>
        <p:txBody>
          <a:bodyPr/>
          <a:lstStyle/>
          <a:p>
            <a:fld id="{9B9D85DF-2378-9545-8C3C-563839805E02}" type="slidenum">
              <a:rPr lang="en-FR" smtClean="0"/>
              <a:t>20</a:t>
            </a:fld>
            <a:endParaRPr lang="en-FR"/>
          </a:p>
        </p:txBody>
      </p:sp>
    </p:spTree>
    <p:extLst>
      <p:ext uri="{BB962C8B-B14F-4D97-AF65-F5344CB8AC3E}">
        <p14:creationId xmlns:p14="http://schemas.microsoft.com/office/powerpoint/2010/main" val="22042956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8A89A-5F28-6CF7-6CE9-5CEDAE960F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83417-2464-131A-86E2-CBFB0AA8CF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101CE-7DF5-303C-3B1B-52F3EF8A52A8}"/>
              </a:ext>
            </a:extLst>
          </p:cNvPr>
          <p:cNvSpPr>
            <a:spLocks noGrp="1"/>
          </p:cNvSpPr>
          <p:nvPr>
            <p:ph type="body" idx="1"/>
          </p:nvPr>
        </p:nvSpPr>
        <p:spPr/>
        <p:txBody>
          <a:bodyPr/>
          <a:lstStyle/>
          <a:p>
            <a:r>
              <a:rPr lang="en-FR" dirty="0"/>
              <a:t>1. First they label the emotions</a:t>
            </a:r>
          </a:p>
          <a:p>
            <a:r>
              <a:rPr lang="en-FR" dirty="0"/>
              <a:t>2. They enturely tag the speaker turns using codes to represent the dialogue strategies</a:t>
            </a:r>
          </a:p>
          <a:p>
            <a:endParaRPr lang="en-FR" dirty="0"/>
          </a:p>
          <a:p>
            <a:r>
              <a:rPr lang="en-FR" dirty="0"/>
              <a:t>On the conversation level, we designed three indicators to evaluate the overall quality of the conversation. We did not get to exploit them very much in this project, but we did use them in work unrelated to this thesis. It contributes to the richness of this corpus on a task-oriented standpoint and we believe it might help other studies and even play a role in future avenues of this project.</a:t>
            </a:r>
          </a:p>
        </p:txBody>
      </p:sp>
      <p:sp>
        <p:nvSpPr>
          <p:cNvPr id="4" name="Slide Number Placeholder 3">
            <a:extLst>
              <a:ext uri="{FF2B5EF4-FFF2-40B4-BE49-F238E27FC236}">
                <a16:creationId xmlns:a16="http://schemas.microsoft.com/office/drawing/2014/main" id="{7B55DFDD-99FF-F649-D7FA-92634E125D83}"/>
              </a:ext>
            </a:extLst>
          </p:cNvPr>
          <p:cNvSpPr>
            <a:spLocks noGrp="1"/>
          </p:cNvSpPr>
          <p:nvPr>
            <p:ph type="sldNum" sz="quarter" idx="5"/>
          </p:nvPr>
        </p:nvSpPr>
        <p:spPr/>
        <p:txBody>
          <a:bodyPr/>
          <a:lstStyle/>
          <a:p>
            <a:fld id="{9B9D85DF-2378-9545-8C3C-563839805E02}" type="slidenum">
              <a:rPr lang="en-FR" smtClean="0"/>
              <a:t>21</a:t>
            </a:fld>
            <a:endParaRPr lang="en-FR"/>
          </a:p>
        </p:txBody>
      </p:sp>
    </p:spTree>
    <p:extLst>
      <p:ext uri="{BB962C8B-B14F-4D97-AF65-F5344CB8AC3E}">
        <p14:creationId xmlns:p14="http://schemas.microsoft.com/office/powerpoint/2010/main" val="21008887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9C38A-2C8F-A903-E436-6F42118CC8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36BC8C-59F6-A80A-4595-2FECD350E8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8D0ED1-A82E-891B-DB4E-A4B85F1FACF0}"/>
              </a:ext>
            </a:extLst>
          </p:cNvPr>
          <p:cNvSpPr>
            <a:spLocks noGrp="1"/>
          </p:cNvSpPr>
          <p:nvPr>
            <p:ph type="body" idx="1"/>
          </p:nvPr>
        </p:nvSpPr>
        <p:spPr/>
        <p:txBody>
          <a:bodyPr/>
          <a:lstStyle/>
          <a:p>
            <a:r>
              <a:rPr lang="en-GB" b="0" i="0" dirty="0">
                <a:effectLst/>
                <a:latin typeface="Arial" panose="020B0604020202020204" pitchFamily="34" charset="0"/>
              </a:rPr>
              <a:t>We sampled 5 conversations so that the annotators could all perform all annotation tasks (emotion, DS, conversation indicators). This step was meant to curb the biases that come with evaluating such a subjective task. They were thus encouraged to debate and help each other, as well as create reference materials</a:t>
            </a:r>
          </a:p>
          <a:p>
            <a:r>
              <a:rPr lang="en-GB" b="0" i="0" dirty="0">
                <a:effectLst/>
                <a:latin typeface="Arial" panose="020B0604020202020204" pitchFamily="34" charset="0"/>
              </a:rPr>
              <a:t>-&gt; </a:t>
            </a:r>
            <a:r>
              <a:rPr lang="en-GB" b="0" i="0" dirty="0" err="1">
                <a:effectLst/>
                <a:latin typeface="Arial" panose="020B0604020202020204" pitchFamily="34" charset="0"/>
              </a:rPr>
              <a:t>interannotator</a:t>
            </a:r>
            <a:r>
              <a:rPr lang="en-GB" b="0" i="0" dirty="0">
                <a:effectLst/>
                <a:latin typeface="Arial" panose="020B0604020202020204" pitchFamily="34" charset="0"/>
              </a:rPr>
              <a:t> agreement</a:t>
            </a:r>
          </a:p>
          <a:p>
            <a:endParaRPr lang="en-GB" b="0" i="0" dirty="0">
              <a:effectLst/>
              <a:latin typeface="Arial" panose="020B0604020202020204" pitchFamily="34" charset="0"/>
            </a:endParaRPr>
          </a:p>
          <a:p>
            <a:r>
              <a:rPr lang="en-GB" b="0" i="0" dirty="0">
                <a:effectLst/>
                <a:latin typeface="Arial" panose="020B0604020202020204" pitchFamily="34" charset="0"/>
              </a:rPr>
              <a:t>-&gt; rest of the annotation</a:t>
            </a:r>
            <a:endParaRPr lang="en-FR" dirty="0"/>
          </a:p>
        </p:txBody>
      </p:sp>
      <p:sp>
        <p:nvSpPr>
          <p:cNvPr id="4" name="Slide Number Placeholder 3">
            <a:extLst>
              <a:ext uri="{FF2B5EF4-FFF2-40B4-BE49-F238E27FC236}">
                <a16:creationId xmlns:a16="http://schemas.microsoft.com/office/drawing/2014/main" id="{7110E8B0-05CE-97F0-47B7-A459811B8A9B}"/>
              </a:ext>
            </a:extLst>
          </p:cNvPr>
          <p:cNvSpPr>
            <a:spLocks noGrp="1"/>
          </p:cNvSpPr>
          <p:nvPr>
            <p:ph type="sldNum" sz="quarter" idx="5"/>
          </p:nvPr>
        </p:nvSpPr>
        <p:spPr/>
        <p:txBody>
          <a:bodyPr/>
          <a:lstStyle/>
          <a:p>
            <a:fld id="{9B9D85DF-2378-9545-8C3C-563839805E02}" type="slidenum">
              <a:rPr lang="en-FR" smtClean="0"/>
              <a:t>22</a:t>
            </a:fld>
            <a:endParaRPr lang="en-FR"/>
          </a:p>
        </p:txBody>
      </p:sp>
    </p:spTree>
    <p:extLst>
      <p:ext uri="{BB962C8B-B14F-4D97-AF65-F5344CB8AC3E}">
        <p14:creationId xmlns:p14="http://schemas.microsoft.com/office/powerpoint/2010/main" val="38335476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3E14B-C9B5-FF22-9EF7-C958088D7A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BB7089-02F4-EE69-E624-3D76F2AAC7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6A5457-5C48-5873-E263-FDAF2B2A682C}"/>
              </a:ext>
            </a:extLst>
          </p:cNvPr>
          <p:cNvSpPr>
            <a:spLocks noGrp="1"/>
          </p:cNvSpPr>
          <p:nvPr>
            <p:ph type="body" idx="1"/>
          </p:nvPr>
        </p:nvSpPr>
        <p:spPr/>
        <p:txBody>
          <a:bodyPr/>
          <a:lstStyle/>
          <a:p>
            <a:r>
              <a:rPr lang="en-GB" dirty="0"/>
              <a:t>Mean length of a speaker turn: 29 tokens</a:t>
            </a:r>
          </a:p>
          <a:p>
            <a:r>
              <a:rPr lang="en-GB" dirty="0"/>
              <a:t>Average sequence of labels length: 2.5, with a median of 2 -&gt; </a:t>
            </a:r>
          </a:p>
          <a:p>
            <a:r>
              <a:rPr lang="en-GB" dirty="0"/>
              <a:t>validates our multi-label approach. Agents also seem to produce longer turns that are on average richer in strategies. As many strategies are used in succession, reproducing an agent's behaviour implies understanding and expressing such a sequence from the bot.</a:t>
            </a:r>
          </a:p>
          <a:p>
            <a:endParaRPr lang="en-GB" dirty="0"/>
          </a:p>
          <a:p>
            <a:r>
              <a:rPr lang="en-GB" dirty="0"/>
              <a:t>We map the fine-grained emotions onto primary emotions to clarify the analysis. For emotions, satisfaction is the main emotion overall and in the agent's turns, while for customers it is anger (annoyance). Oppositely, some emotions such as disgust, are rarely observed.</a:t>
            </a:r>
          </a:p>
          <a:p>
            <a:endParaRPr lang="en-GB" dirty="0"/>
          </a:p>
          <a:p>
            <a:r>
              <a:rPr lang="en-GB" dirty="0"/>
              <a:t>For dialogue strategies, information and questions are overwhelmingly dominant. This makes sense, as a customer service dialogue usually follows a script, and the agent must guide the customer through a sequence of Q&amp;A. This observation is also confirmed by a study on adjacency pairs.</a:t>
            </a:r>
          </a:p>
          <a:p>
            <a:endParaRPr lang="en-GB" dirty="0"/>
          </a:p>
          <a:p>
            <a:r>
              <a:rPr lang="en-GB" dirty="0"/>
              <a:t>However, some other strategies, such as back-</a:t>
            </a:r>
            <a:r>
              <a:rPr lang="en-GB" dirty="0" err="1"/>
              <a:t>channeling</a:t>
            </a:r>
            <a:r>
              <a:rPr lang="en-GB" dirty="0"/>
              <a:t> or self-disclosure are also often used.</a:t>
            </a:r>
            <a:endParaRPr lang="en-FR" dirty="0"/>
          </a:p>
          <a:p>
            <a:endParaRPr lang="en-FR" dirty="0"/>
          </a:p>
        </p:txBody>
      </p:sp>
      <p:sp>
        <p:nvSpPr>
          <p:cNvPr id="4" name="Slide Number Placeholder 3">
            <a:extLst>
              <a:ext uri="{FF2B5EF4-FFF2-40B4-BE49-F238E27FC236}">
                <a16:creationId xmlns:a16="http://schemas.microsoft.com/office/drawing/2014/main" id="{4C96E052-3B55-F72C-B86D-852A0545FF1F}"/>
              </a:ext>
            </a:extLst>
          </p:cNvPr>
          <p:cNvSpPr>
            <a:spLocks noGrp="1"/>
          </p:cNvSpPr>
          <p:nvPr>
            <p:ph type="sldNum" sz="quarter" idx="5"/>
          </p:nvPr>
        </p:nvSpPr>
        <p:spPr/>
        <p:txBody>
          <a:bodyPr/>
          <a:lstStyle/>
          <a:p>
            <a:fld id="{9B9D85DF-2378-9545-8C3C-563839805E02}" type="slidenum">
              <a:rPr lang="en-FR" smtClean="0"/>
              <a:t>23</a:t>
            </a:fld>
            <a:endParaRPr lang="en-FR"/>
          </a:p>
        </p:txBody>
      </p:sp>
    </p:spTree>
    <p:extLst>
      <p:ext uri="{BB962C8B-B14F-4D97-AF65-F5344CB8AC3E}">
        <p14:creationId xmlns:p14="http://schemas.microsoft.com/office/powerpoint/2010/main" val="40064488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9C254-C9D4-A658-1BA2-F3E9923884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479036-82D9-5209-4E38-A8D1D8B948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8170C8-9BC5-A31F-CFC6-8F2DACFBD2DF}"/>
              </a:ext>
            </a:extLst>
          </p:cNvPr>
          <p:cNvSpPr>
            <a:spLocks noGrp="1"/>
          </p:cNvSpPr>
          <p:nvPr>
            <p:ph type="body" idx="1"/>
          </p:nvPr>
        </p:nvSpPr>
        <p:spPr/>
        <p:txBody>
          <a:bodyPr/>
          <a:lstStyle/>
          <a:p>
            <a:r>
              <a:rPr lang="en-FR" dirty="0"/>
              <a:t>To test this architecture, we condicted multiple experiments. I will now be describing the results obtained on our last experiment that focused on improving conditional generation on DATA-SERGe.</a:t>
            </a:r>
          </a:p>
        </p:txBody>
      </p:sp>
      <p:sp>
        <p:nvSpPr>
          <p:cNvPr id="4" name="Slide Number Placeholder 3">
            <a:extLst>
              <a:ext uri="{FF2B5EF4-FFF2-40B4-BE49-F238E27FC236}">
                <a16:creationId xmlns:a16="http://schemas.microsoft.com/office/drawing/2014/main" id="{30656F96-6935-89DC-6760-D5D6FAD2EF54}"/>
              </a:ext>
            </a:extLst>
          </p:cNvPr>
          <p:cNvSpPr>
            <a:spLocks noGrp="1"/>
          </p:cNvSpPr>
          <p:nvPr>
            <p:ph type="sldNum" sz="quarter" idx="5"/>
          </p:nvPr>
        </p:nvSpPr>
        <p:spPr/>
        <p:txBody>
          <a:bodyPr/>
          <a:lstStyle/>
          <a:p>
            <a:fld id="{9B9D85DF-2378-9545-8C3C-563839805E02}" type="slidenum">
              <a:rPr lang="en-FR" smtClean="0"/>
              <a:t>24</a:t>
            </a:fld>
            <a:endParaRPr lang="en-FR"/>
          </a:p>
        </p:txBody>
      </p:sp>
    </p:spTree>
    <p:extLst>
      <p:ext uri="{BB962C8B-B14F-4D97-AF65-F5344CB8AC3E}">
        <p14:creationId xmlns:p14="http://schemas.microsoft.com/office/powerpoint/2010/main" val="4144981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D0957-FC80-C65A-9BE0-8BFDB59D29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CC9E37-9F73-AB59-9817-A243D4337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0D048E-07BB-F1D5-5C72-A3EACD52B14F}"/>
              </a:ext>
            </a:extLst>
          </p:cNvPr>
          <p:cNvSpPr>
            <a:spLocks noGrp="1"/>
          </p:cNvSpPr>
          <p:nvPr>
            <p:ph type="body" idx="1"/>
          </p:nvPr>
        </p:nvSpPr>
        <p:spPr/>
        <p:txBody>
          <a:bodyPr/>
          <a:lstStyle/>
          <a:p>
            <a:r>
              <a:rPr lang="en-FR" dirty="0"/>
              <a:t>We test the conditional generation module on DATA-SERGe. We select 5 turns as dialogue history.</a:t>
            </a:r>
          </a:p>
          <a:p>
            <a:endParaRPr lang="en-FR" dirty="0"/>
          </a:p>
          <a:p>
            <a:r>
              <a:rPr lang="en-FR" dirty="0"/>
              <a:t>As a reminder: DATA-SERGe is a textual dataset that was transcribed from phone conversations. Our goal here is to generate responses that match this oral style and could be converted to speech</a:t>
            </a:r>
          </a:p>
          <a:p>
            <a:endParaRPr lang="en-FR" dirty="0"/>
          </a:p>
          <a:p>
            <a:r>
              <a:rPr lang="en-FR" dirty="0"/>
              <a:t>We focus on prompt-based LLMs and compare multiple prompting strategies:</a:t>
            </a:r>
          </a:p>
          <a:p>
            <a:r>
              <a:rPr lang="en-FR" dirty="0"/>
              <a:t>e2e -&gt; no conditioning</a:t>
            </a:r>
          </a:p>
          <a:p>
            <a:endParaRPr lang="en-FR" dirty="0"/>
          </a:p>
          <a:p>
            <a:r>
              <a:rPr lang="en-FR" dirty="0"/>
              <a:t>conditioning on GT -&gt; 1-, 2-, 3- step generation</a:t>
            </a:r>
          </a:p>
          <a:p>
            <a:endParaRPr lang="en-FR" dirty="0"/>
          </a:p>
          <a:p>
            <a:r>
              <a:rPr lang="en-FR" dirty="0"/>
              <a:t>2- and 3-step came from the hypothesis that asking a LLM to plan its own response would improve both the quality of the generated content and the generalisability of the approach</a:t>
            </a:r>
          </a:p>
        </p:txBody>
      </p:sp>
      <p:sp>
        <p:nvSpPr>
          <p:cNvPr id="4" name="Slide Number Placeholder 3">
            <a:extLst>
              <a:ext uri="{FF2B5EF4-FFF2-40B4-BE49-F238E27FC236}">
                <a16:creationId xmlns:a16="http://schemas.microsoft.com/office/drawing/2014/main" id="{42201F6F-511C-F2A8-4667-B46B11F447C9}"/>
              </a:ext>
            </a:extLst>
          </p:cNvPr>
          <p:cNvSpPr>
            <a:spLocks noGrp="1"/>
          </p:cNvSpPr>
          <p:nvPr>
            <p:ph type="sldNum" sz="quarter" idx="5"/>
          </p:nvPr>
        </p:nvSpPr>
        <p:spPr/>
        <p:txBody>
          <a:bodyPr/>
          <a:lstStyle/>
          <a:p>
            <a:fld id="{9B9D85DF-2378-9545-8C3C-563839805E02}" type="slidenum">
              <a:rPr lang="en-FR" smtClean="0"/>
              <a:t>25</a:t>
            </a:fld>
            <a:endParaRPr lang="en-FR"/>
          </a:p>
        </p:txBody>
      </p:sp>
    </p:spTree>
    <p:extLst>
      <p:ext uri="{BB962C8B-B14F-4D97-AF65-F5344CB8AC3E}">
        <p14:creationId xmlns:p14="http://schemas.microsoft.com/office/powerpoint/2010/main" val="33760986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3CAC3-4AA2-537A-4E2C-0EEABD792F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479E1B-BDD9-51DF-1BFB-2BAF44A97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C91E9D-B5CD-94EE-361E-76DD5F170D9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results disprove that hypothesis, by having the 1-step and the e2e generation far outperform the multi-step generation.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Both the filtering and ranking phases shows that these models are often selected above the others. Llama and </a:t>
            </a:r>
            <a:r>
              <a:rPr lang="en-GB" dirty="0" err="1"/>
              <a:t>Mixtral</a:t>
            </a:r>
            <a:r>
              <a:rPr lang="en-GB" dirty="0"/>
              <a:t> models, as well as Qwen 1-step, have equivalent results, with a slight preference for </a:t>
            </a:r>
            <a:r>
              <a:rPr lang="en-GB" dirty="0" err="1"/>
              <a:t>Mixtral</a:t>
            </a:r>
            <a:r>
              <a:rPr lang="en-GB" dirty="0"/>
              <a:t> models. However, </a:t>
            </a:r>
            <a:r>
              <a:rPr lang="en-GB" dirty="0" err="1"/>
              <a:t>Mixtral</a:t>
            </a:r>
            <a:r>
              <a:rPr lang="en-GB" dirty="0"/>
              <a:t> is also the model that generates sentences in English the most often, which is a definite concern and explains a proportion of the times </a:t>
            </a:r>
            <a:r>
              <a:rPr lang="en-GB" dirty="0" err="1"/>
              <a:t>Mixtral</a:t>
            </a:r>
            <a:r>
              <a:rPr lang="en-GB" dirty="0"/>
              <a:t> responses were not selected. Furthermore, while Llama 1-step and </a:t>
            </a:r>
            <a:r>
              <a:rPr lang="en-GB" dirty="0" err="1"/>
              <a:t>Mixtral</a:t>
            </a:r>
            <a:r>
              <a:rPr lang="en-GB" dirty="0"/>
              <a:t> 1-step have the best Top@3, Top@1 shows that Qwen 1-step, when selected in the top-3, was always ranked first, which makes it a better option. Similarly, we see that even though Llama 1-step and </a:t>
            </a:r>
            <a:r>
              <a:rPr lang="en-GB" dirty="0" err="1"/>
              <a:t>Mixtral</a:t>
            </a:r>
            <a:r>
              <a:rPr lang="en-GB" dirty="0"/>
              <a:t> 1-step have similar Top@3, Llama 1-step has been preferred, as its Top@1 is better than </a:t>
            </a:r>
            <a:r>
              <a:rPr lang="en-GB" dirty="0" err="1"/>
              <a:t>Mixtral’s</a:t>
            </a:r>
            <a:r>
              <a:rPr lang="en-GB"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For the second step of the human evaluation, we set aside the models that performed poorly in the previous two steps, thereby retaining the end-to-end and 1-step planning options.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Overall, Qwen 1-step seems to be the preferred model, as it shows a general socio-emotional (</a:t>
            </a:r>
            <a:r>
              <a:rPr lang="en-GB" dirty="0" err="1"/>
              <a:t>SocEmo</a:t>
            </a:r>
            <a:r>
              <a:rPr lang="en-GB" dirty="0"/>
              <a:t>) and Logical scores on par with human responses and even outperforms the ground truth on the emotional and Social scores. Generally, the preference for the 1-step schemes seems to yield two conclusions: the selection of 1-step over end-to-end shows that planning does have a positive impact on the quality of the response, and the poor performance of multi-step planning imply that despite their superior generative capabilities, LLMs struggle to achieve good results on planning tasks.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Comparing automatic metrics, we see that while the general agrees on the superiority of e2e and1-step, they tend to prefer e2e. Our correlation study between human and auto metrics further highlights the discrepancy between both sets and the inability of current metrics to echo human judgement@</a:t>
            </a:r>
          </a:p>
        </p:txBody>
      </p:sp>
      <p:sp>
        <p:nvSpPr>
          <p:cNvPr id="4" name="Slide Number Placeholder 3">
            <a:extLst>
              <a:ext uri="{FF2B5EF4-FFF2-40B4-BE49-F238E27FC236}">
                <a16:creationId xmlns:a16="http://schemas.microsoft.com/office/drawing/2014/main" id="{7C445BC3-BCCF-4FAF-8583-43486CF08B8A}"/>
              </a:ext>
            </a:extLst>
          </p:cNvPr>
          <p:cNvSpPr>
            <a:spLocks noGrp="1"/>
          </p:cNvSpPr>
          <p:nvPr>
            <p:ph type="sldNum" sz="quarter" idx="5"/>
          </p:nvPr>
        </p:nvSpPr>
        <p:spPr/>
        <p:txBody>
          <a:bodyPr/>
          <a:lstStyle/>
          <a:p>
            <a:fld id="{9B9D85DF-2378-9545-8C3C-563839805E02}" type="slidenum">
              <a:rPr lang="en-FR" smtClean="0"/>
              <a:t>26</a:t>
            </a:fld>
            <a:endParaRPr lang="en-FR"/>
          </a:p>
        </p:txBody>
      </p:sp>
    </p:spTree>
    <p:extLst>
      <p:ext uri="{BB962C8B-B14F-4D97-AF65-F5344CB8AC3E}">
        <p14:creationId xmlns:p14="http://schemas.microsoft.com/office/powerpoint/2010/main" val="19032921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11B83-7ED2-EB94-02DB-8B3050A08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F038B0-F2A1-5B57-B584-28406F08D6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5F77F7-B490-94FC-13E8-1979E2DD93F8}"/>
              </a:ext>
            </a:extLst>
          </p:cNvPr>
          <p:cNvSpPr>
            <a:spLocks noGrp="1"/>
          </p:cNvSpPr>
          <p:nvPr>
            <p:ph type="body" idx="1"/>
          </p:nvPr>
        </p:nvSpPr>
        <p:spPr/>
        <p:txBody>
          <a:bodyPr/>
          <a:lstStyle/>
          <a:p>
            <a:r>
              <a:rPr lang="en-FR" dirty="0"/>
              <a:t>In addition to the metrics, we also collect the annotator's feedback through a post-evaluation meeting.</a:t>
            </a:r>
          </a:p>
          <a:p>
            <a:endParaRPr lang="en-FR" dirty="0"/>
          </a:p>
          <a:p>
            <a:r>
              <a:rPr lang="en-FR" dirty="0"/>
              <a:t>These feedbacks can be sorted into two categories: style mismatch: </a:t>
            </a:r>
            <a:r>
              <a:rPr lang="en-GB" dirty="0"/>
              <a:t>Models use a style that is overly formal and lengthy, which includes context reformulation, disrupting the conversation flow. Very large response lengths are a direct consequence of this, whereas preferred models tend to generate shorter </a:t>
            </a:r>
            <a:r>
              <a:rPr lang="en-GB" dirty="0" err="1"/>
              <a:t>responses.In</a:t>
            </a:r>
            <a:r>
              <a:rPr lang="en-GB" dirty="0"/>
              <a:t> other words, LLMs seem unable to align their generation with the original style of the context: as the conversations were originally oral, the formally written responses create a stylistic clash with the transcribed context. From these observations, we conclude that in-context learning does not seem to be enough to achieve a good oral style, as explicitly requesting to adapt the style fails to capture the naturalness of a spoken conversation.</a:t>
            </a:r>
          </a:p>
          <a:p>
            <a:endParaRPr lang="en-GB" dirty="0"/>
          </a:p>
          <a:p>
            <a:r>
              <a:rPr lang="en-GB" dirty="0"/>
              <a:t>However, fine-tuning the LLMs on specific data is an option that requires a large amount of data. Our experiments with few-shot learning did not yield interesting results, but more prompt engineering might be required to obtain better results. </a:t>
            </a:r>
          </a:p>
          <a:p>
            <a:r>
              <a:rPr lang="en-GB" dirty="0"/>
              <a:t>This also implies that there is a need to quantify and evaluate this stylistic aspect of the response generation. Beyond naturalness, which evaluates if a response could have been uttered by a human, this component must be rated in its context: a response that would sound natural in a written context might stand out in a different conversational setting.</a:t>
            </a:r>
          </a:p>
          <a:p>
            <a:endParaRPr lang="en-GB" dirty="0"/>
          </a:p>
          <a:p>
            <a:r>
              <a:rPr lang="en-GB" dirty="0"/>
              <a:t>Other errors include grammatical mistakes to language switches. While some of these may be avoided by employing models better at dealing with French, we suspect our anonymisation scheme to be a factor. Even though it was done manually, this process necessarily denatured the authenticity of the data  as it censored the way users provided pieces of information, like spelling out their names or emphasising some details; hence, it created an unusual conversational context for the model to react to. Hence important to think of smarter ways to conceal private information, allowing to preserve the native context.</a:t>
            </a:r>
            <a:endParaRPr lang="en-FR" dirty="0"/>
          </a:p>
        </p:txBody>
      </p:sp>
      <p:sp>
        <p:nvSpPr>
          <p:cNvPr id="4" name="Slide Number Placeholder 3">
            <a:extLst>
              <a:ext uri="{FF2B5EF4-FFF2-40B4-BE49-F238E27FC236}">
                <a16:creationId xmlns:a16="http://schemas.microsoft.com/office/drawing/2014/main" id="{0527DD2B-3593-AC84-F541-E92B335A964B}"/>
              </a:ext>
            </a:extLst>
          </p:cNvPr>
          <p:cNvSpPr>
            <a:spLocks noGrp="1"/>
          </p:cNvSpPr>
          <p:nvPr>
            <p:ph type="sldNum" sz="quarter" idx="5"/>
          </p:nvPr>
        </p:nvSpPr>
        <p:spPr/>
        <p:txBody>
          <a:bodyPr/>
          <a:lstStyle/>
          <a:p>
            <a:fld id="{9B9D85DF-2378-9545-8C3C-563839805E02}" type="slidenum">
              <a:rPr lang="en-FR" smtClean="0"/>
              <a:t>27</a:t>
            </a:fld>
            <a:endParaRPr lang="en-FR"/>
          </a:p>
        </p:txBody>
      </p:sp>
    </p:spTree>
    <p:extLst>
      <p:ext uri="{BB962C8B-B14F-4D97-AF65-F5344CB8AC3E}">
        <p14:creationId xmlns:p14="http://schemas.microsoft.com/office/powerpoint/2010/main" val="20262102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013BF-BCAF-D87B-5940-3A9C0C2299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3A83DF-FFFE-CE3C-B507-8690A7145D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696B4A-33EE-F909-7144-B09EB7A134D4}"/>
              </a:ext>
            </a:extLst>
          </p:cNvPr>
          <p:cNvSpPr>
            <a:spLocks noGrp="1"/>
          </p:cNvSpPr>
          <p:nvPr>
            <p:ph type="body" idx="1"/>
          </p:nvPr>
        </p:nvSpPr>
        <p:spPr/>
        <p:txBody>
          <a:bodyPr/>
          <a:lstStyle/>
          <a:p>
            <a:r>
              <a:rPr lang="en-FR" dirty="0"/>
              <a:t>As we are still currently working on releasing DATA-SERGe, we conducted an additional experiment on Daily Dialog to share our results and test our approach on a different and bigger corpus. While DailyDialog is not task-oriented and is scripted, the annotation scheme, with dailog acts and emotions on the speaker turn is the closest to our needs. The amount of data also allowed us to explore our experiments on the planning module more</a:t>
            </a:r>
          </a:p>
          <a:p>
            <a:endParaRPr lang="en-FR" dirty="0"/>
          </a:p>
          <a:p>
            <a:r>
              <a:rPr lang="en-FR" dirty="0"/>
              <a:t>PLANNING: As mentionned in the approach, we tested various approaches to plan sequences of labels, including such as BERT (classifier), BART (generation) and a Llama-like model (prompt-based) and BART was the best. </a:t>
            </a:r>
          </a:p>
          <a:p>
            <a:endParaRPr lang="en-FR" dirty="0"/>
          </a:p>
          <a:p>
            <a:r>
              <a:rPr lang="en-FR" dirty="0"/>
              <a:t>GENERATIVE: By comparing prompt-based LLMs and traditional models such as dialoGPT, we find that prompt-based LLM approach was favoured. </a:t>
            </a:r>
          </a:p>
          <a:p>
            <a:endParaRPr lang="en-FR" dirty="0"/>
          </a:p>
          <a:p>
            <a:r>
              <a:rPr lang="en-FR" dirty="0"/>
              <a:t>Furthermore, this experiment showed that planning using the BART model improved the overall quality of the response</a:t>
            </a:r>
          </a:p>
          <a:p>
            <a:endParaRPr lang="en-FR" dirty="0"/>
          </a:p>
          <a:p>
            <a:r>
              <a:rPr lang="en-FR" dirty="0"/>
              <a:t>An interesting conclusion of this experiment is the difference in expectations between customer-service TOD and open domain.</a:t>
            </a:r>
          </a:p>
        </p:txBody>
      </p:sp>
      <p:sp>
        <p:nvSpPr>
          <p:cNvPr id="4" name="Slide Number Placeholder 3">
            <a:extLst>
              <a:ext uri="{FF2B5EF4-FFF2-40B4-BE49-F238E27FC236}">
                <a16:creationId xmlns:a16="http://schemas.microsoft.com/office/drawing/2014/main" id="{5747F94A-1146-8403-4062-EF60FD2B87B6}"/>
              </a:ext>
            </a:extLst>
          </p:cNvPr>
          <p:cNvSpPr>
            <a:spLocks noGrp="1"/>
          </p:cNvSpPr>
          <p:nvPr>
            <p:ph type="sldNum" sz="quarter" idx="5"/>
          </p:nvPr>
        </p:nvSpPr>
        <p:spPr/>
        <p:txBody>
          <a:bodyPr/>
          <a:lstStyle/>
          <a:p>
            <a:fld id="{9B9D85DF-2378-9545-8C3C-563839805E02}" type="slidenum">
              <a:rPr lang="en-FR" smtClean="0"/>
              <a:t>28</a:t>
            </a:fld>
            <a:endParaRPr lang="en-FR"/>
          </a:p>
        </p:txBody>
      </p:sp>
    </p:spTree>
    <p:extLst>
      <p:ext uri="{BB962C8B-B14F-4D97-AF65-F5344CB8AC3E}">
        <p14:creationId xmlns:p14="http://schemas.microsoft.com/office/powerpoint/2010/main" val="23393517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5DB5D-6366-0990-7542-7C0A7D3049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158AD9-75C9-22E1-9D6C-61517451A7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91255-E7DF-2B76-2AD1-896A7FE07B7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D43F49"/>
              </a:buClr>
              <a:buSzPct val="130000"/>
              <a:buFont typeface="Arial" panose="020B0604020202020204" pitchFamily="34" charset="0"/>
              <a:buNone/>
              <a:tabLst/>
              <a:defRPr/>
            </a:pPr>
            <a:r>
              <a:rPr lang="en-GB" sz="1200" b="1" dirty="0">
                <a:latin typeface="Poppins" pitchFamily="2" charset="77"/>
                <a:cs typeface="Poppins" pitchFamily="2" charset="77"/>
              </a:rPr>
              <a:t>The preference of 1-Step generation yields two main conclusions</a:t>
            </a:r>
          </a:p>
          <a:p>
            <a:pPr marL="0" marR="0" lvl="0" indent="0" algn="l" defTabSz="914400" rtl="0" eaLnBrk="1" fontAlgn="auto" latinLnBrk="0" hangingPunct="1">
              <a:lnSpc>
                <a:spcPct val="100000"/>
              </a:lnSpc>
              <a:spcBef>
                <a:spcPts val="0"/>
              </a:spcBef>
              <a:spcAft>
                <a:spcPts val="0"/>
              </a:spcAft>
              <a:buClr>
                <a:srgbClr val="D43F49"/>
              </a:buClr>
              <a:buSzPct val="130000"/>
              <a:buFont typeface="Arial" panose="020B0604020202020204" pitchFamily="34" charset="0"/>
              <a:buNone/>
              <a:tabLst/>
              <a:defRPr/>
            </a:pPr>
            <a:r>
              <a:rPr lang="en-GB" dirty="0">
                <a:latin typeface="Poppins" pitchFamily="2" charset="77"/>
                <a:cs typeface="Poppins" pitchFamily="2" charset="77"/>
              </a:rPr>
              <a:t>Our </a:t>
            </a:r>
            <a:r>
              <a:rPr lang="en-GB" b="1" u="sng" dirty="0">
                <a:solidFill>
                  <a:srgbClr val="D43F49"/>
                </a:solidFill>
                <a:latin typeface="Poppins" pitchFamily="2" charset="77"/>
                <a:cs typeface="Poppins" pitchFamily="2" charset="77"/>
              </a:rPr>
              <a:t>findings support the beneficial impact </a:t>
            </a:r>
            <a:r>
              <a:rPr lang="en-GB" dirty="0">
                <a:latin typeface="Poppins" pitchFamily="2" charset="77"/>
                <a:cs typeface="Poppins" pitchFamily="2" charset="77"/>
              </a:rPr>
              <a:t>of employing a </a:t>
            </a:r>
            <a:r>
              <a:rPr lang="en-GB" b="1" u="sng" dirty="0">
                <a:solidFill>
                  <a:srgbClr val="D43F49"/>
                </a:solidFill>
                <a:latin typeface="Poppins" pitchFamily="2" charset="77"/>
                <a:cs typeface="Poppins" pitchFamily="2" charset="77"/>
              </a:rPr>
              <a:t>label sequence to plan a response </a:t>
            </a:r>
            <a:r>
              <a:rPr lang="en-GB" dirty="0">
                <a:latin typeface="Poppins" pitchFamily="2" charset="77"/>
                <a:cs typeface="Poppins" pitchFamily="2" charset="77"/>
              </a:rPr>
              <a:t>in </a:t>
            </a:r>
            <a:r>
              <a:rPr lang="en-GB" sz="1200" dirty="0">
                <a:latin typeface="Poppins" pitchFamily="2" charset="77"/>
                <a:cs typeface="Poppins" pitchFamily="2" charset="77"/>
              </a:rPr>
              <a:t>both on the general consistency of the answer, as well as the finer-grained social and emotional criteria. as 1-step &gt; e2e</a:t>
            </a:r>
            <a:r>
              <a:rPr lang="en-GB" dirty="0">
                <a:latin typeface="Poppins" pitchFamily="2" charset="77"/>
                <a:cs typeface="Poppins" pitchFamily="2" charset="77"/>
              </a:rPr>
              <a:t> as observed on open-domain and a task-oriented corpus.</a:t>
            </a:r>
          </a:p>
          <a:p>
            <a:pPr marL="0" indent="0">
              <a:buClr>
                <a:srgbClr val="D43F49"/>
              </a:buClr>
              <a:buSzPct val="130000"/>
              <a:buFont typeface="Arial" panose="020B0604020202020204" pitchFamily="34" charset="0"/>
              <a:buNone/>
            </a:pPr>
            <a:r>
              <a:rPr lang="en-GB" dirty="0">
                <a:latin typeface="Poppins" pitchFamily="2" charset="77"/>
                <a:cs typeface="Poppins" pitchFamily="2" charset="77"/>
              </a:rPr>
              <a:t>LLMs are great at generation but struggle with planning (both DD experiment and the poor performance of 2- and 3-step generation)</a:t>
            </a:r>
          </a:p>
          <a:p>
            <a:pPr marL="0" marR="0" lvl="0" indent="0" algn="l" defTabSz="914400" rtl="0" eaLnBrk="1" fontAlgn="auto" latinLnBrk="0" hangingPunct="1">
              <a:lnSpc>
                <a:spcPct val="100000"/>
              </a:lnSpc>
              <a:spcBef>
                <a:spcPts val="0"/>
              </a:spcBef>
              <a:spcAft>
                <a:spcPts val="0"/>
              </a:spcAft>
              <a:buClr>
                <a:srgbClr val="D43F49"/>
              </a:buClr>
              <a:buSzPct val="130000"/>
              <a:buFont typeface="Arial" panose="020B0604020202020204" pitchFamily="34" charset="0"/>
              <a:buNone/>
              <a:tabLst/>
              <a:defRPr/>
            </a:pPr>
            <a:r>
              <a:rPr lang="en-GB" sz="1200" dirty="0">
                <a:latin typeface="Poppins" pitchFamily="2" charset="77"/>
                <a:cs typeface="Poppins" pitchFamily="2" charset="77"/>
              </a:rPr>
              <a:t>Human evaluation and annotators’ feedback have highlighted major differences between what is expected from an open-domain response and a task-oriented answer. This gap is not detected by current metrics which highlights </a:t>
            </a:r>
            <a:r>
              <a:rPr lang="en-GB" sz="1200" dirty="0">
                <a:solidFill>
                  <a:srgbClr val="A5AFF5"/>
                </a:solidFill>
                <a:latin typeface="Poppins" pitchFamily="2" charset="77"/>
                <a:cs typeface="Poppins" pitchFamily="2" charset="77"/>
              </a:rPr>
              <a:t>a need for better metrics to capture the complexity of social or emotional consistency, particularly adapted to an industrial setting.</a:t>
            </a:r>
            <a:endParaRPr lang="en-FR" sz="1200" dirty="0">
              <a:solidFill>
                <a:srgbClr val="A5AFF5"/>
              </a:solidFill>
              <a:latin typeface="Poppins" pitchFamily="2" charset="77"/>
              <a:cs typeface="Poppins" pitchFamily="2" charset="77"/>
            </a:endParaRPr>
          </a:p>
          <a:p>
            <a:pPr marL="285750" marR="0" lvl="0" indent="-285750" algn="l" defTabSz="914400" rtl="0" eaLnBrk="1" fontAlgn="auto" latinLnBrk="0" hangingPunct="1">
              <a:lnSpc>
                <a:spcPct val="100000"/>
              </a:lnSpc>
              <a:spcBef>
                <a:spcPts val="0"/>
              </a:spcBef>
              <a:spcAft>
                <a:spcPts val="0"/>
              </a:spcAft>
              <a:buClr>
                <a:srgbClr val="D43F49"/>
              </a:buClr>
              <a:buSzPct val="130000"/>
              <a:buFont typeface="Arial" panose="020B0604020202020204" pitchFamily="34" charset="0"/>
              <a:buChar char="•"/>
              <a:tabLst/>
              <a:defRPr/>
            </a:pPr>
            <a:endParaRPr lang="en-FR" sz="1200" dirty="0">
              <a:latin typeface="Poppins" pitchFamily="2" charset="77"/>
              <a:cs typeface="Poppins" pitchFamily="2" charset="77"/>
            </a:endParaRPr>
          </a:p>
          <a:p>
            <a:pPr marL="285750" indent="-285750">
              <a:buClr>
                <a:srgbClr val="D43F49"/>
              </a:buClr>
              <a:buSzPct val="130000"/>
              <a:buFont typeface="Arial" panose="020B0604020202020204" pitchFamily="34" charset="0"/>
              <a:buChar char="•"/>
            </a:pPr>
            <a:endParaRPr lang="en-GB" dirty="0">
              <a:latin typeface="Poppins" pitchFamily="2" charset="77"/>
              <a:cs typeface="Poppins" pitchFamily="2" charset="77"/>
            </a:endParaRPr>
          </a:p>
        </p:txBody>
      </p:sp>
      <p:sp>
        <p:nvSpPr>
          <p:cNvPr id="4" name="Slide Number Placeholder 3">
            <a:extLst>
              <a:ext uri="{FF2B5EF4-FFF2-40B4-BE49-F238E27FC236}">
                <a16:creationId xmlns:a16="http://schemas.microsoft.com/office/drawing/2014/main" id="{B78994F9-156A-E851-5955-B3CA6C0CBD0C}"/>
              </a:ext>
            </a:extLst>
          </p:cNvPr>
          <p:cNvSpPr>
            <a:spLocks noGrp="1"/>
          </p:cNvSpPr>
          <p:nvPr>
            <p:ph type="sldNum" sz="quarter" idx="5"/>
          </p:nvPr>
        </p:nvSpPr>
        <p:spPr/>
        <p:txBody>
          <a:bodyPr/>
          <a:lstStyle/>
          <a:p>
            <a:fld id="{9B9D85DF-2378-9545-8C3C-563839805E02}" type="slidenum">
              <a:rPr lang="en-FR" smtClean="0"/>
              <a:t>29</a:t>
            </a:fld>
            <a:endParaRPr lang="en-FR"/>
          </a:p>
        </p:txBody>
      </p:sp>
    </p:spTree>
    <p:extLst>
      <p:ext uri="{BB962C8B-B14F-4D97-AF65-F5344CB8AC3E}">
        <p14:creationId xmlns:p14="http://schemas.microsoft.com/office/powerpoint/2010/main" val="2448049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1A9E2-1192-C0BA-956E-F356C79AB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B4F9B-3536-93C7-64C4-52D4BCCFBA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40437-A79B-B14D-5267-B1877949269E}"/>
              </a:ext>
            </a:extLst>
          </p:cNvPr>
          <p:cNvSpPr>
            <a:spLocks noGrp="1"/>
          </p:cNvSpPr>
          <p:nvPr>
            <p:ph type="body" idx="1"/>
          </p:nvPr>
        </p:nvSpPr>
        <p:spPr/>
        <p:txBody>
          <a:bodyPr/>
          <a:lstStyle/>
          <a:p>
            <a:endParaRPr lang="en-FR" dirty="0"/>
          </a:p>
        </p:txBody>
      </p:sp>
      <p:sp>
        <p:nvSpPr>
          <p:cNvPr id="4" name="Slide Number Placeholder 3">
            <a:extLst>
              <a:ext uri="{FF2B5EF4-FFF2-40B4-BE49-F238E27FC236}">
                <a16:creationId xmlns:a16="http://schemas.microsoft.com/office/drawing/2014/main" id="{50FFA3BD-34BD-4FE1-2E84-7A451199B3F7}"/>
              </a:ext>
            </a:extLst>
          </p:cNvPr>
          <p:cNvSpPr>
            <a:spLocks noGrp="1"/>
          </p:cNvSpPr>
          <p:nvPr>
            <p:ph type="sldNum" sz="quarter" idx="5"/>
          </p:nvPr>
        </p:nvSpPr>
        <p:spPr/>
        <p:txBody>
          <a:bodyPr/>
          <a:lstStyle/>
          <a:p>
            <a:fld id="{9B9D85DF-2378-9545-8C3C-563839805E02}" type="slidenum">
              <a:rPr lang="en-FR" smtClean="0"/>
              <a:t>30</a:t>
            </a:fld>
            <a:endParaRPr lang="en-FR"/>
          </a:p>
        </p:txBody>
      </p:sp>
    </p:spTree>
    <p:extLst>
      <p:ext uri="{BB962C8B-B14F-4D97-AF65-F5344CB8AC3E}">
        <p14:creationId xmlns:p14="http://schemas.microsoft.com/office/powerpoint/2010/main" val="2059835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D9680-1C7D-173E-62BD-0302F05A9D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54EBD2-968B-7642-92FF-DEE027CDEF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7AD82E-983F-1843-3F38-D08F6DA3091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D43F49"/>
              </a:buClr>
              <a:buSzPct val="130000"/>
              <a:buFont typeface="Arial" panose="020B0604020202020204" pitchFamily="34" charset="0"/>
              <a:buNone/>
              <a:tabLst/>
              <a:defRPr/>
            </a:pPr>
            <a:r>
              <a:rPr lang="en-GB" sz="2000" dirty="0">
                <a:latin typeface="Poppins" pitchFamily="2" charset="77"/>
                <a:cs typeface="Poppins" pitchFamily="2" charset="77"/>
              </a:rPr>
              <a:t>To our knowledge, this thesis is one of the first works to propose an approach that combines explicit planning with LLMs: We propose a two-module architecture composed of an explicit planning module and a generative module. We formulate a new planning task to capture the richness of dialogue and the ability of customer service agents to combine emotional support and task efficiency. </a:t>
            </a:r>
          </a:p>
          <a:p>
            <a:pPr marL="0" marR="0" lvl="0" indent="0" algn="l" defTabSz="914400" rtl="0" eaLnBrk="1" fontAlgn="auto" latinLnBrk="0" hangingPunct="1">
              <a:lnSpc>
                <a:spcPct val="100000"/>
              </a:lnSpc>
              <a:spcBef>
                <a:spcPts val="0"/>
              </a:spcBef>
              <a:spcAft>
                <a:spcPts val="0"/>
              </a:spcAft>
              <a:buClr>
                <a:srgbClr val="D43F49"/>
              </a:buClr>
              <a:buSzPct val="130000"/>
              <a:buFont typeface="Arial" panose="020B0604020202020204" pitchFamily="34" charset="0"/>
              <a:buNone/>
              <a:tabLst/>
              <a:defRPr/>
            </a:pPr>
            <a:endParaRPr lang="en-GB" sz="2000" dirty="0">
              <a:latin typeface="Poppins" pitchFamily="2" charset="77"/>
              <a:cs typeface="Poppins" pitchFamily="2" charset="77"/>
            </a:endParaRPr>
          </a:p>
          <a:p>
            <a:pPr marL="0" marR="0" lvl="0" indent="0" algn="l" defTabSz="914400" rtl="0" eaLnBrk="1" fontAlgn="auto" latinLnBrk="0" hangingPunct="1">
              <a:lnSpc>
                <a:spcPct val="100000"/>
              </a:lnSpc>
              <a:spcBef>
                <a:spcPts val="0"/>
              </a:spcBef>
              <a:spcAft>
                <a:spcPts val="0"/>
              </a:spcAft>
              <a:buClr>
                <a:srgbClr val="D43F49"/>
              </a:buClr>
              <a:buSzPct val="130000"/>
              <a:buFont typeface="Arial" panose="020B0604020202020204" pitchFamily="34" charset="0"/>
              <a:buNone/>
              <a:tabLst/>
              <a:defRPr/>
            </a:pPr>
            <a:r>
              <a:rPr lang="en-GB" sz="2000" dirty="0">
                <a:latin typeface="Poppins" pitchFamily="2" charset="77"/>
                <a:cs typeface="Poppins" pitchFamily="2" charset="77"/>
              </a:rPr>
              <a:t>Our findings support the beneficial impact of employing a label sequence to plan a response in both an open-domain dataset and a task-oriented corpus. Although end-to-end strategies have also shown promising results, they are less appealing for industry services due to their lack of controllability. Our results show that the multi-label planning, beyond providing control and visibility lacking in its end-to-end counterparts, also provides better results.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000" dirty="0">
              <a:latin typeface="Poppins" pitchFamily="2" charset="77"/>
              <a:cs typeface="Poppins"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Poppins" pitchFamily="2" charset="77"/>
                <a:cs typeface="Poppins" pitchFamily="2" charset="77"/>
              </a:rPr>
              <a:t>While our proposed architecture has shown that multi-label planning has a positive impact on response generation, there are various ways to investigate and improve these modules: Planning Module} approaches to modelling sequential multi-label socio-emotional context can be tested. Instead of chronological order, we could imagine ordering labels in order of priority. This would imply finding a way to prioritise labels to maximise social and task efficiency; Generation Module}: results show that there is still much work to do on the prompting. LLMs are very prompt-sensitive, and thinking of ways to improve the prompting to combine both socio-emotional consistency and task efficiency is crucial. Other aspects of the architecture can also be optimised. For instance, context modelling is crucial and limiting in our work, as we operate with at most five turns, whereas a system should consider the entire conversation. Designing a smarter way to model longer contexts to allow a conversational agent to base its response on the whole ongoing interaction would enhance overall performance. Adding a layer of persona design could also help models behave more consistently and personalise a conversation.</a:t>
            </a:r>
          </a:p>
          <a:p>
            <a:pPr marL="285750" indent="-285750">
              <a:buClr>
                <a:srgbClr val="D43F49"/>
              </a:buClr>
              <a:buSzPct val="130000"/>
              <a:buFont typeface="Arial" panose="020B0604020202020204" pitchFamily="34" charset="0"/>
              <a:buChar char="•"/>
            </a:pPr>
            <a:endParaRPr lang="en-GB" sz="2000" dirty="0">
              <a:latin typeface="Poppins" pitchFamily="2" charset="77"/>
              <a:cs typeface="Poppins"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000" dirty="0">
              <a:latin typeface="Poppins" pitchFamily="2" charset="77"/>
              <a:cs typeface="Poppins" pitchFamily="2" charset="77"/>
            </a:endParaRPr>
          </a:p>
        </p:txBody>
      </p:sp>
      <p:sp>
        <p:nvSpPr>
          <p:cNvPr id="4" name="Slide Number Placeholder 3">
            <a:extLst>
              <a:ext uri="{FF2B5EF4-FFF2-40B4-BE49-F238E27FC236}">
                <a16:creationId xmlns:a16="http://schemas.microsoft.com/office/drawing/2014/main" id="{C4374C28-88CB-2AF9-CEC9-3171894F4EAF}"/>
              </a:ext>
            </a:extLst>
          </p:cNvPr>
          <p:cNvSpPr>
            <a:spLocks noGrp="1"/>
          </p:cNvSpPr>
          <p:nvPr>
            <p:ph type="sldNum" sz="quarter" idx="5"/>
          </p:nvPr>
        </p:nvSpPr>
        <p:spPr/>
        <p:txBody>
          <a:bodyPr/>
          <a:lstStyle/>
          <a:p>
            <a:fld id="{9B9D85DF-2378-9545-8C3C-563839805E02}" type="slidenum">
              <a:rPr lang="en-FR" smtClean="0"/>
              <a:t>31</a:t>
            </a:fld>
            <a:endParaRPr lang="en-FR"/>
          </a:p>
        </p:txBody>
      </p:sp>
    </p:spTree>
    <p:extLst>
      <p:ext uri="{BB962C8B-B14F-4D97-AF65-F5344CB8AC3E}">
        <p14:creationId xmlns:p14="http://schemas.microsoft.com/office/powerpoint/2010/main" val="5029405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0387B-4CCD-FE0E-FE85-73317AD7C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D96106-D8A4-D5F7-12D7-778A11029A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680402-FC54-D467-347D-7FF420F67C3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B08AB4"/>
              </a:buClr>
              <a:buSzTx/>
              <a:buFontTx/>
              <a:buNone/>
              <a:tabLst/>
              <a:defRPr/>
            </a:pPr>
            <a:r>
              <a:rPr lang="en-GB" sz="2000" dirty="0"/>
              <a:t>As we have established, very few public datasets combine task-</a:t>
            </a:r>
            <a:r>
              <a:rPr lang="en-GB" sz="2000" dirty="0" err="1"/>
              <a:t>orientedness</a:t>
            </a:r>
            <a:r>
              <a:rPr lang="en-GB" sz="2000" dirty="0"/>
              <a:t> with socio-emotional annotations, even less so with multi-label annotations. We introduce DATA-</a:t>
            </a:r>
            <a:r>
              <a:rPr lang="en-GB" sz="2000" dirty="0" err="1"/>
              <a:t>SERGe</a:t>
            </a:r>
            <a:r>
              <a:rPr lang="en-GB" sz="2000" dirty="0"/>
              <a:t>, a dataset annotated to satisfy our annotation requirements and consisting of actual customer service chats.</a:t>
            </a:r>
          </a:p>
          <a:p>
            <a:pPr marL="0" marR="0" lvl="0" indent="0" algn="l" defTabSz="914400" rtl="0" eaLnBrk="1" fontAlgn="auto" latinLnBrk="0" hangingPunct="1">
              <a:lnSpc>
                <a:spcPct val="100000"/>
              </a:lnSpc>
              <a:spcBef>
                <a:spcPts val="0"/>
              </a:spcBef>
              <a:spcAft>
                <a:spcPts val="0"/>
              </a:spcAft>
              <a:buClr>
                <a:srgbClr val="B08AB4"/>
              </a:buClr>
              <a:buSzTx/>
              <a:buFontTx/>
              <a:buNone/>
              <a:tabLst/>
              <a:defRPr/>
            </a:pPr>
            <a:endParaRPr lang="en-GB" sz="2000" dirty="0"/>
          </a:p>
          <a:p>
            <a:pPr>
              <a:buClr>
                <a:srgbClr val="B08AB4"/>
              </a:buClr>
            </a:pPr>
            <a:r>
              <a:rPr lang="en-GB" sz="2000" dirty="0"/>
              <a:t>However, our experiments have raised an issue with such a dataset: The method we used to anonymise the dataset, by masking the sensitive data using [TYPE OF DATA] masks, has led to decreased results and sometimes inaccurate information in the responses. Models are not trained to parse out formats specific to phone calls, which negatively affects the understanding of the conversation and subsequent response generation.</a:t>
            </a:r>
          </a:p>
          <a:p>
            <a:pPr>
              <a:buClr>
                <a:srgbClr val="B08AB4"/>
              </a:buClr>
            </a:pPr>
            <a:endParaRPr lang="en-GB" sz="2000" dirty="0"/>
          </a:p>
          <a:p>
            <a:pPr marL="0" marR="0" lvl="0" indent="0" algn="l" defTabSz="914400" rtl="0" eaLnBrk="1" fontAlgn="auto" latinLnBrk="0" hangingPunct="1">
              <a:lnSpc>
                <a:spcPct val="100000"/>
              </a:lnSpc>
              <a:spcBef>
                <a:spcPts val="0"/>
              </a:spcBef>
              <a:spcAft>
                <a:spcPts val="0"/>
              </a:spcAft>
              <a:buClr>
                <a:srgbClr val="B08AB4"/>
              </a:buClr>
              <a:buSzTx/>
              <a:buFontTx/>
              <a:buNone/>
              <a:tabLst/>
              <a:defRPr/>
            </a:pPr>
            <a:r>
              <a:rPr lang="en-GB" sz="2000" dirty="0">
                <a:latin typeface="Poppins" pitchFamily="2" charset="77"/>
                <a:cs typeface="Poppins" pitchFamily="2" charset="77"/>
              </a:rPr>
              <a:t>Even as we are working to release DATA-</a:t>
            </a:r>
            <a:r>
              <a:rPr lang="en-GB" sz="2000" dirty="0" err="1">
                <a:latin typeface="Poppins" pitchFamily="2" charset="77"/>
                <a:cs typeface="Poppins" pitchFamily="2" charset="77"/>
              </a:rPr>
              <a:t>SERGe</a:t>
            </a:r>
            <a:r>
              <a:rPr lang="en-GB" sz="2000" dirty="0">
                <a:latin typeface="Poppins" pitchFamily="2" charset="77"/>
                <a:cs typeface="Poppins" pitchFamily="2" charset="77"/>
              </a:rPr>
              <a:t> so it can benefit the field of socio-emotional generation, we are aware that it is a very small corpus in comparison to other available resources. The size of the dataset has a direct impact on our results, both on the development of our module and the generalisability of our results.</a:t>
            </a:r>
            <a:endParaRPr lang="en-GB" sz="2000" dirty="0"/>
          </a:p>
          <a:p>
            <a:pPr>
              <a:buClr>
                <a:srgbClr val="B08AB4"/>
              </a:buClr>
            </a:pPr>
            <a:endParaRPr lang="en-GB" sz="2000" dirty="0"/>
          </a:p>
        </p:txBody>
      </p:sp>
      <p:sp>
        <p:nvSpPr>
          <p:cNvPr id="4" name="Slide Number Placeholder 3">
            <a:extLst>
              <a:ext uri="{FF2B5EF4-FFF2-40B4-BE49-F238E27FC236}">
                <a16:creationId xmlns:a16="http://schemas.microsoft.com/office/drawing/2014/main" id="{8CD8B85E-32C4-EAF1-F95B-B33523526064}"/>
              </a:ext>
            </a:extLst>
          </p:cNvPr>
          <p:cNvSpPr>
            <a:spLocks noGrp="1"/>
          </p:cNvSpPr>
          <p:nvPr>
            <p:ph type="sldNum" sz="quarter" idx="5"/>
          </p:nvPr>
        </p:nvSpPr>
        <p:spPr/>
        <p:txBody>
          <a:bodyPr/>
          <a:lstStyle/>
          <a:p>
            <a:fld id="{9B9D85DF-2378-9545-8C3C-563839805E02}" type="slidenum">
              <a:rPr lang="en-FR" smtClean="0"/>
              <a:t>32</a:t>
            </a:fld>
            <a:endParaRPr lang="en-FR"/>
          </a:p>
        </p:txBody>
      </p:sp>
    </p:spTree>
    <p:extLst>
      <p:ext uri="{BB962C8B-B14F-4D97-AF65-F5344CB8AC3E}">
        <p14:creationId xmlns:p14="http://schemas.microsoft.com/office/powerpoint/2010/main" val="2005644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DFC67-DDBB-8697-F3AD-BFA74F715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B0536D-59C2-3440-755B-A65147B565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814B37-8A9D-87B1-9C1C-85EDC2AA33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Poppins" pitchFamily="2" charset="77"/>
                <a:cs typeface="Poppins" pitchFamily="2" charset="77"/>
              </a:rPr>
              <a:t>One significant issue raised in our work is how to automatically assess a generated response's consistency. We compare automatic metrics with human evaluation to gauge the performance of available metrics, through results analysis and correlation study.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000" dirty="0">
              <a:latin typeface="Poppins" pitchFamily="2" charset="77"/>
              <a:cs typeface="Poppins"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Poppins" pitchFamily="2" charset="77"/>
                <a:cs typeface="Poppins" pitchFamily="2" charset="77"/>
              </a:rPr>
              <a:t>As demonstrated in this thesis, the current automatic metrics correlate poorly with human judgement and cannot provide a reliable quality assessment: new metrics need to be developed to meet this need and fill this gap in the field of response generation. Indeed, reliable metrics is a crucial challenge for industrial systems, as they can be used to assess a model's overall performance, but more significantly, they can and should be employed as part of a control loop that ensures the user receives only safe and relevant responses.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000" dirty="0">
              <a:latin typeface="Poppins" pitchFamily="2" charset="77"/>
              <a:cs typeface="Poppins"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err="1">
                <a:latin typeface="Poppins" pitchFamily="2" charset="77"/>
                <a:cs typeface="Poppins" pitchFamily="2" charset="77"/>
              </a:rPr>
              <a:t>Persp</a:t>
            </a:r>
            <a:r>
              <a:rPr lang="en-GB" sz="2000" dirty="0">
                <a:latin typeface="Poppins" pitchFamily="2" charset="77"/>
                <a:cs typeface="Poppins" pitchFamily="2" charset="77"/>
              </a:rPr>
              <a:t>: W are currently working on </a:t>
            </a:r>
            <a:r>
              <a:rPr lang="en-GB" sz="2000" dirty="0" err="1">
                <a:latin typeface="Poppins" pitchFamily="2" charset="77"/>
                <a:cs typeface="Poppins" pitchFamily="2" charset="77"/>
              </a:rPr>
              <a:t>zpplying</a:t>
            </a:r>
            <a:r>
              <a:rPr lang="en-GB" sz="2000" dirty="0">
                <a:latin typeface="Poppins" pitchFamily="2" charset="77"/>
                <a:cs typeface="Poppins" pitchFamily="2" charset="77"/>
              </a:rPr>
              <a:t> new technologies like leveraging LLMs' ever-improving performance. These automatic metrics should not only rely on gauging the general quality of a response but also consider all the aspects of the answer, such as social and emotional relevance. While a strong correlation with human evaluation cannot guarantee a 100\% accuracy, it would be a solid argument to justify their relevance.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2000" dirty="0">
              <a:latin typeface="Poppins" pitchFamily="2" charset="77"/>
              <a:cs typeface="Poppins" pitchFamily="2" charset="77"/>
            </a:endParaRPr>
          </a:p>
        </p:txBody>
      </p:sp>
      <p:sp>
        <p:nvSpPr>
          <p:cNvPr id="4" name="Slide Number Placeholder 3">
            <a:extLst>
              <a:ext uri="{FF2B5EF4-FFF2-40B4-BE49-F238E27FC236}">
                <a16:creationId xmlns:a16="http://schemas.microsoft.com/office/drawing/2014/main" id="{C97CDBC4-C57F-A950-2695-F3CE4C9F6380}"/>
              </a:ext>
            </a:extLst>
          </p:cNvPr>
          <p:cNvSpPr>
            <a:spLocks noGrp="1"/>
          </p:cNvSpPr>
          <p:nvPr>
            <p:ph type="sldNum" sz="quarter" idx="5"/>
          </p:nvPr>
        </p:nvSpPr>
        <p:spPr/>
        <p:txBody>
          <a:bodyPr/>
          <a:lstStyle/>
          <a:p>
            <a:fld id="{9B9D85DF-2378-9545-8C3C-563839805E02}" type="slidenum">
              <a:rPr lang="en-FR" smtClean="0"/>
              <a:t>33</a:t>
            </a:fld>
            <a:endParaRPr lang="en-FR"/>
          </a:p>
        </p:txBody>
      </p:sp>
    </p:spTree>
    <p:extLst>
      <p:ext uri="{BB962C8B-B14F-4D97-AF65-F5344CB8AC3E}">
        <p14:creationId xmlns:p14="http://schemas.microsoft.com/office/powerpoint/2010/main" val="15574672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E29C6-E2C5-4DE7-10D3-F472B322F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C5A21-A41E-A4EB-2262-BD37EEEB1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8EFCBD-2FC9-7A64-9A22-5D2CD4851BE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Poppins" pitchFamily="2" charset="77"/>
                <a:cs typeface="Poppins" pitchFamily="2" charset="77"/>
              </a:rPr>
              <a:t>AI system can leave a lasting societal impact. And we believe it is our responsibility to minimise any potential risk associated with the deployment of our technologies. Ensuring a system, like a virtual agent, is safe to deploy is an essential step in its development: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latin typeface="Poppins" pitchFamily="2" charset="77"/>
              <a:cs typeface="Poppins"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As mentioned previously one of our main goals was to find a middle ground between the more rigid architecture of modular systems and the computational power of larger end-to-end solutions, while trying not to compromise transparency. To encourage accessible and reproducible results, we favoured free, open-source models.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a:buClr>
                <a:srgbClr val="6FD192"/>
              </a:buClr>
            </a:pPr>
            <a:r>
              <a:rPr lang="en-GB" dirty="0"/>
              <a:t>Data is crucial for training machine learning models: it is the foundation of their knowledge and understanding. Potential biases can com from the corpus's origin as it transcribes cultural habits, and social customs of the speakers. Annotation Biases are an unavoidable byproduct of any human annotation task. They can be related to the personal and cultural experiences of the annotators, which may influence their perception of emotions and interactions. 5 annotators on the female spectrum and the same age bracket -&gt; biases</a:t>
            </a:r>
          </a:p>
          <a:p>
            <a:pPr>
              <a:buClr>
                <a:srgbClr val="6FD192"/>
              </a:buClr>
            </a:pPr>
            <a:endParaRPr lang="en-GB" dirty="0"/>
          </a:p>
          <a:p>
            <a:pPr>
              <a:buClr>
                <a:srgbClr val="6FD192"/>
              </a:buClr>
            </a:pPr>
            <a:r>
              <a:rPr lang="en-GB" dirty="0"/>
              <a:t>In the realm of conversational AI agents equipped with social and emotional capabilities, a noteworthy emerging risk lies in their potential to sway consumers towards making purchases or believing misinformation. While we are working on this subject to contribute to the scientific community and improve the quality of the service that agents offer by being more tuned to the users’ emotional and social situations, we are aware that it could be used in a defective way.  For this reason, emotion detection technologies are highly regulated in the European Union. Companies must remain careful of how they design and deploy their conversational systems to respect these laws and protect both employees and customers.</a:t>
            </a:r>
          </a:p>
          <a:p>
            <a:pPr>
              <a:buClr>
                <a:srgbClr val="6FD192"/>
              </a:buClr>
            </a:pPr>
            <a:endParaRPr lang="en-GB" dirty="0"/>
          </a:p>
          <a:p>
            <a:pPr>
              <a:buClr>
                <a:srgbClr val="6FD192"/>
              </a:buClr>
            </a:pPr>
            <a:endParaRPr lang="en-GB" dirty="0"/>
          </a:p>
          <a:p>
            <a:pPr>
              <a:buClr>
                <a:srgbClr val="6FD192"/>
              </a:buClr>
            </a:pPr>
            <a:endParaRPr lang="en-FR" dirty="0"/>
          </a:p>
        </p:txBody>
      </p:sp>
      <p:sp>
        <p:nvSpPr>
          <p:cNvPr id="4" name="Slide Number Placeholder 3">
            <a:extLst>
              <a:ext uri="{FF2B5EF4-FFF2-40B4-BE49-F238E27FC236}">
                <a16:creationId xmlns:a16="http://schemas.microsoft.com/office/drawing/2014/main" id="{D4267733-0D2C-4CD4-226E-67FFFEB60C76}"/>
              </a:ext>
            </a:extLst>
          </p:cNvPr>
          <p:cNvSpPr>
            <a:spLocks noGrp="1"/>
          </p:cNvSpPr>
          <p:nvPr>
            <p:ph type="sldNum" sz="quarter" idx="5"/>
          </p:nvPr>
        </p:nvSpPr>
        <p:spPr/>
        <p:txBody>
          <a:bodyPr/>
          <a:lstStyle/>
          <a:p>
            <a:fld id="{9B9D85DF-2378-9545-8C3C-563839805E02}" type="slidenum">
              <a:rPr lang="en-FR" smtClean="0"/>
              <a:t>34</a:t>
            </a:fld>
            <a:endParaRPr lang="en-FR"/>
          </a:p>
        </p:txBody>
      </p:sp>
    </p:spTree>
    <p:extLst>
      <p:ext uri="{BB962C8B-B14F-4D97-AF65-F5344CB8AC3E}">
        <p14:creationId xmlns:p14="http://schemas.microsoft.com/office/powerpoint/2010/main" val="10259036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E3A64-0D4E-600C-B0D6-E4B53B171B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869B69-4D41-BD9F-C54F-B5183EBD7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1977E9-0BBC-91D8-2F93-943EC830A533}"/>
              </a:ext>
            </a:extLst>
          </p:cNvPr>
          <p:cNvSpPr>
            <a:spLocks noGrp="1"/>
          </p:cNvSpPr>
          <p:nvPr>
            <p:ph type="body" idx="1"/>
          </p:nvPr>
        </p:nvSpPr>
        <p:spPr/>
        <p:txBody>
          <a:bodyPr/>
          <a:lstStyle/>
          <a:p>
            <a:endParaRPr lang="en-FR" dirty="0"/>
          </a:p>
        </p:txBody>
      </p:sp>
      <p:sp>
        <p:nvSpPr>
          <p:cNvPr id="4" name="Slide Number Placeholder 3">
            <a:extLst>
              <a:ext uri="{FF2B5EF4-FFF2-40B4-BE49-F238E27FC236}">
                <a16:creationId xmlns:a16="http://schemas.microsoft.com/office/drawing/2014/main" id="{554451FF-6411-5E7A-488D-22A0B1D27B09}"/>
              </a:ext>
            </a:extLst>
          </p:cNvPr>
          <p:cNvSpPr>
            <a:spLocks noGrp="1"/>
          </p:cNvSpPr>
          <p:nvPr>
            <p:ph type="sldNum" sz="quarter" idx="5"/>
          </p:nvPr>
        </p:nvSpPr>
        <p:spPr/>
        <p:txBody>
          <a:bodyPr/>
          <a:lstStyle/>
          <a:p>
            <a:fld id="{9B9D85DF-2378-9545-8C3C-563839805E02}" type="slidenum">
              <a:rPr lang="en-FR" smtClean="0"/>
              <a:t>35</a:t>
            </a:fld>
            <a:endParaRPr lang="en-FR"/>
          </a:p>
        </p:txBody>
      </p:sp>
    </p:spTree>
    <p:extLst>
      <p:ext uri="{BB962C8B-B14F-4D97-AF65-F5344CB8AC3E}">
        <p14:creationId xmlns:p14="http://schemas.microsoft.com/office/powerpoint/2010/main" val="18560782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97518-11CD-E0AB-E9BB-05AF1C9CFA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A7456-8427-AFCB-C141-9DBB0E6D20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46CC9C-2503-E6B3-B54F-C6B8163E889A}"/>
              </a:ext>
            </a:extLst>
          </p:cNvPr>
          <p:cNvSpPr>
            <a:spLocks noGrp="1"/>
          </p:cNvSpPr>
          <p:nvPr>
            <p:ph type="body" idx="1"/>
          </p:nvPr>
        </p:nvSpPr>
        <p:spPr/>
        <p:txBody>
          <a:bodyPr/>
          <a:lstStyle/>
          <a:p>
            <a:endParaRPr lang="en-GB" dirty="0"/>
          </a:p>
          <a:p>
            <a:r>
              <a:rPr lang="en-GB" dirty="0"/>
              <a:t>Ma these </a:t>
            </a:r>
            <a:r>
              <a:rPr lang="en-GB" dirty="0" err="1"/>
              <a:t>porte</a:t>
            </a:r>
            <a:r>
              <a:rPr lang="en-GB" dirty="0"/>
              <a:t> sur la recherche et le </a:t>
            </a:r>
            <a:r>
              <a:rPr lang="en-GB" dirty="0" err="1"/>
              <a:t>développement</a:t>
            </a:r>
            <a:r>
              <a:rPr lang="en-GB" dirty="0"/>
              <a:t> de techniques de NLG pour des agents </a:t>
            </a:r>
            <a:r>
              <a:rPr lang="en-GB" dirty="0" err="1"/>
              <a:t>socialement</a:t>
            </a:r>
            <a:r>
              <a:rPr lang="en-GB" dirty="0"/>
              <a:t> </a:t>
            </a:r>
            <a:r>
              <a:rPr lang="en-GB" dirty="0" err="1"/>
              <a:t>compétents</a:t>
            </a:r>
            <a:endParaRPr lang="en-FR" dirty="0"/>
          </a:p>
        </p:txBody>
      </p:sp>
      <p:sp>
        <p:nvSpPr>
          <p:cNvPr id="4" name="Slide Number Placeholder 3">
            <a:extLst>
              <a:ext uri="{FF2B5EF4-FFF2-40B4-BE49-F238E27FC236}">
                <a16:creationId xmlns:a16="http://schemas.microsoft.com/office/drawing/2014/main" id="{D410C8FA-E749-E566-E0C7-36658752F631}"/>
              </a:ext>
            </a:extLst>
          </p:cNvPr>
          <p:cNvSpPr>
            <a:spLocks noGrp="1"/>
          </p:cNvSpPr>
          <p:nvPr>
            <p:ph type="sldNum" sz="quarter" idx="5"/>
          </p:nvPr>
        </p:nvSpPr>
        <p:spPr/>
        <p:txBody>
          <a:bodyPr/>
          <a:lstStyle/>
          <a:p>
            <a:fld id="{9B9D85DF-2378-9545-8C3C-563839805E02}" type="slidenum">
              <a:rPr lang="en-FR" smtClean="0"/>
              <a:t>36</a:t>
            </a:fld>
            <a:endParaRPr lang="en-FR"/>
          </a:p>
        </p:txBody>
      </p:sp>
    </p:spTree>
    <p:extLst>
      <p:ext uri="{BB962C8B-B14F-4D97-AF65-F5344CB8AC3E}">
        <p14:creationId xmlns:p14="http://schemas.microsoft.com/office/powerpoint/2010/main" val="41071976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65033-4631-6B6D-E6C8-78D9BC2B8C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C5F51-2D08-2F80-B52E-68472A0527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2D9F68-0294-EF16-1BF6-1DDDCC6400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Slide Number Placeholder 3">
            <a:extLst>
              <a:ext uri="{FF2B5EF4-FFF2-40B4-BE49-F238E27FC236}">
                <a16:creationId xmlns:a16="http://schemas.microsoft.com/office/drawing/2014/main" id="{7EF83A0A-A742-777B-DD3A-53945C45CF27}"/>
              </a:ext>
            </a:extLst>
          </p:cNvPr>
          <p:cNvSpPr>
            <a:spLocks noGrp="1"/>
          </p:cNvSpPr>
          <p:nvPr>
            <p:ph type="sldNum" sz="quarter" idx="5"/>
          </p:nvPr>
        </p:nvSpPr>
        <p:spPr/>
        <p:txBody>
          <a:bodyPr/>
          <a:lstStyle/>
          <a:p>
            <a:fld id="{9B9D85DF-2378-9545-8C3C-563839805E02}" type="slidenum">
              <a:rPr lang="en-FR" smtClean="0"/>
              <a:t>37</a:t>
            </a:fld>
            <a:endParaRPr lang="en-FR"/>
          </a:p>
        </p:txBody>
      </p:sp>
    </p:spTree>
    <p:extLst>
      <p:ext uri="{BB962C8B-B14F-4D97-AF65-F5344CB8AC3E}">
        <p14:creationId xmlns:p14="http://schemas.microsoft.com/office/powerpoint/2010/main" val="1678694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2</a:t>
            </a:r>
            <a:r>
              <a:rPr lang="en-FR" dirty="0"/>
              <a:t>.a / b agent/client</a:t>
            </a:r>
          </a:p>
          <a:p>
            <a:endParaRPr lang="en-FR" dirty="0"/>
          </a:p>
        </p:txBody>
      </p:sp>
      <p:sp>
        <p:nvSpPr>
          <p:cNvPr id="4" name="Slide Number Placeholder 3"/>
          <p:cNvSpPr>
            <a:spLocks noGrp="1"/>
          </p:cNvSpPr>
          <p:nvPr>
            <p:ph type="sldNum" sz="quarter" idx="5"/>
          </p:nvPr>
        </p:nvSpPr>
        <p:spPr/>
        <p:txBody>
          <a:bodyPr/>
          <a:lstStyle/>
          <a:p>
            <a:fld id="{9B9D85DF-2378-9545-8C3C-563839805E02}" type="slidenum">
              <a:rPr lang="en-FR" smtClean="0"/>
              <a:t>38</a:t>
            </a:fld>
            <a:endParaRPr lang="en-FR"/>
          </a:p>
        </p:txBody>
      </p:sp>
    </p:spTree>
    <p:extLst>
      <p:ext uri="{BB962C8B-B14F-4D97-AF65-F5344CB8AC3E}">
        <p14:creationId xmlns:p14="http://schemas.microsoft.com/office/powerpoint/2010/main" val="38282200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Arial" panose="020B0604020202020204" pitchFamily="34" charset="0"/>
              </a:rPr>
              <a:t>Pour </a:t>
            </a:r>
            <a:r>
              <a:rPr lang="en-GB" b="0" i="0" dirty="0" err="1">
                <a:effectLst/>
                <a:latin typeface="Arial" panose="020B0604020202020204" pitchFamily="34" charset="0"/>
              </a:rPr>
              <a:t>l’annotation</a:t>
            </a:r>
            <a:r>
              <a:rPr lang="en-GB" b="0" i="0" dirty="0">
                <a:effectLst/>
                <a:latin typeface="Arial" panose="020B0604020202020204" pitchFamily="34" charset="0"/>
              </a:rPr>
              <a:t> au </a:t>
            </a:r>
            <a:r>
              <a:rPr lang="en-GB" b="0" i="0" dirty="0" err="1">
                <a:effectLst/>
                <a:latin typeface="Arial" panose="020B0604020202020204" pitchFamily="34" charset="0"/>
              </a:rPr>
              <a:t>niveau</a:t>
            </a:r>
            <a:r>
              <a:rPr lang="en-GB" b="0" i="0" dirty="0">
                <a:effectLst/>
                <a:latin typeface="Arial" panose="020B0604020202020204" pitchFamily="34" charset="0"/>
              </a:rPr>
              <a:t> de la conversation, nous </a:t>
            </a:r>
            <a:r>
              <a:rPr lang="en-GB" b="0" i="0" dirty="0" err="1">
                <a:effectLst/>
                <a:latin typeface="Arial" panose="020B0604020202020204" pitchFamily="34" charset="0"/>
              </a:rPr>
              <a:t>avons</a:t>
            </a:r>
            <a:r>
              <a:rPr lang="en-GB" b="0" i="0" dirty="0">
                <a:effectLst/>
                <a:latin typeface="Arial" panose="020B0604020202020204" pitchFamily="34" charset="0"/>
              </a:rPr>
              <a:t> </a:t>
            </a:r>
            <a:r>
              <a:rPr lang="en-GB" b="0" i="0" dirty="0" err="1">
                <a:effectLst/>
                <a:latin typeface="Arial" panose="020B0604020202020204" pitchFamily="34" charset="0"/>
              </a:rPr>
              <a:t>défini</a:t>
            </a:r>
            <a:r>
              <a:rPr lang="en-GB" b="0" i="0" dirty="0">
                <a:effectLst/>
                <a:latin typeface="Arial" panose="020B0604020202020204" pitchFamily="34" charset="0"/>
              </a:rPr>
              <a:t> trois aspects qui </a:t>
            </a:r>
            <a:r>
              <a:rPr lang="en-GB" b="0" i="0" dirty="0" err="1">
                <a:effectLst/>
                <a:latin typeface="Arial" panose="020B0604020202020204" pitchFamily="34" charset="0"/>
              </a:rPr>
              <a:t>permettent</a:t>
            </a:r>
            <a:r>
              <a:rPr lang="en-GB" b="0" i="0" dirty="0">
                <a:effectLst/>
                <a:latin typeface="Arial" panose="020B0604020202020204" pitchFamily="34" charset="0"/>
              </a:rPr>
              <a:t> </a:t>
            </a:r>
            <a:r>
              <a:rPr lang="en-GB" b="0" i="0" dirty="0" err="1">
                <a:effectLst/>
                <a:latin typeface="Arial" panose="020B0604020202020204" pitchFamily="34" charset="0"/>
              </a:rPr>
              <a:t>d’évaluer</a:t>
            </a:r>
            <a:r>
              <a:rPr lang="en-GB" b="0" i="0" dirty="0">
                <a:effectLst/>
                <a:latin typeface="Arial" panose="020B0604020202020204" pitchFamily="34" charset="0"/>
              </a:rPr>
              <a:t> le </a:t>
            </a:r>
            <a:r>
              <a:rPr lang="en-GB" b="0" i="0" dirty="0" err="1">
                <a:effectLst/>
                <a:latin typeface="Arial" panose="020B0604020202020204" pitchFamily="34" charset="0"/>
              </a:rPr>
              <a:t>ressenti</a:t>
            </a:r>
            <a:r>
              <a:rPr lang="en-GB" b="0" i="0" dirty="0">
                <a:effectLst/>
                <a:latin typeface="Arial" panose="020B0604020202020204" pitchFamily="34" charset="0"/>
              </a:rPr>
              <a:t> global de la conversation sur </a:t>
            </a:r>
            <a:r>
              <a:rPr lang="en-GB" b="0" i="0" dirty="0" err="1">
                <a:effectLst/>
                <a:latin typeface="Arial" panose="020B0604020202020204" pitchFamily="34" charset="0"/>
              </a:rPr>
              <a:t>plusieurs</a:t>
            </a:r>
            <a:r>
              <a:rPr lang="en-GB" b="0" i="0" dirty="0">
                <a:effectLst/>
                <a:latin typeface="Arial" panose="020B0604020202020204" pitchFamily="34" charset="0"/>
              </a:rPr>
              <a:t> plans. </a:t>
            </a:r>
            <a:r>
              <a:rPr lang="en-GB" b="0" i="0" dirty="0" err="1">
                <a:effectLst/>
                <a:latin typeface="Arial" panose="020B0604020202020204" pitchFamily="34" charset="0"/>
              </a:rPr>
              <a:t>Ces</a:t>
            </a:r>
            <a:r>
              <a:rPr lang="en-GB" b="0" i="0" dirty="0">
                <a:effectLst/>
                <a:latin typeface="Arial" panose="020B0604020202020204" pitchFamily="34" charset="0"/>
              </a:rPr>
              <a:t> indices </a:t>
            </a:r>
            <a:r>
              <a:rPr lang="en-GB" b="0" i="0" dirty="0" err="1">
                <a:effectLst/>
                <a:latin typeface="Arial" panose="020B0604020202020204" pitchFamily="34" charset="0"/>
              </a:rPr>
              <a:t>prennent</a:t>
            </a:r>
            <a:r>
              <a:rPr lang="en-GB" b="0" i="0" dirty="0">
                <a:effectLst/>
                <a:latin typeface="Arial" panose="020B0604020202020204" pitchFamily="34" charset="0"/>
              </a:rPr>
              <a:t> </a:t>
            </a:r>
            <a:r>
              <a:rPr lang="en-GB" b="0" i="0" dirty="0" err="1">
                <a:effectLst/>
                <a:latin typeface="Arial" panose="020B0604020202020204" pitchFamily="34" charset="0"/>
              </a:rPr>
              <a:t>en</a:t>
            </a:r>
            <a:r>
              <a:rPr lang="en-GB" b="0" i="0" dirty="0">
                <a:effectLst/>
                <a:latin typeface="Arial" panose="020B0604020202020204" pitchFamily="34" charset="0"/>
              </a:rPr>
              <a:t> </a:t>
            </a:r>
            <a:r>
              <a:rPr lang="en-GB" b="0" i="0" dirty="0" err="1">
                <a:effectLst/>
                <a:latin typeface="Arial" panose="020B0604020202020204" pitchFamily="34" charset="0"/>
              </a:rPr>
              <a:t>considération</a:t>
            </a:r>
            <a:r>
              <a:rPr lang="en-GB" b="0" i="0" dirty="0">
                <a:effectLst/>
                <a:latin typeface="Arial" panose="020B0604020202020204" pitchFamily="34" charset="0"/>
              </a:rPr>
              <a:t> le point de </a:t>
            </a:r>
            <a:r>
              <a:rPr lang="en-GB" b="0" i="0" dirty="0" err="1">
                <a:effectLst/>
                <a:latin typeface="Arial" panose="020B0604020202020204" pitchFamily="34" charset="0"/>
              </a:rPr>
              <a:t>vue</a:t>
            </a:r>
            <a:r>
              <a:rPr lang="en-GB" b="0" i="0" dirty="0">
                <a:effectLst/>
                <a:latin typeface="Arial" panose="020B0604020202020204" pitchFamily="34" charset="0"/>
              </a:rPr>
              <a:t> du client et la </a:t>
            </a:r>
            <a:r>
              <a:rPr lang="en-GB" b="0" i="0" dirty="0" err="1">
                <a:effectLst/>
                <a:latin typeface="Arial" panose="020B0604020202020204" pitchFamily="34" charset="0"/>
              </a:rPr>
              <a:t>qualité</a:t>
            </a:r>
            <a:r>
              <a:rPr lang="en-GB" b="0" i="0" dirty="0">
                <a:effectLst/>
                <a:latin typeface="Arial" panose="020B0604020202020204" pitchFamily="34" charset="0"/>
              </a:rPr>
              <a:t> du travail de </a:t>
            </a:r>
            <a:r>
              <a:rPr lang="en-GB" b="0" i="0" dirty="0" err="1">
                <a:effectLst/>
                <a:latin typeface="Arial" panose="020B0604020202020204" pitchFamily="34" charset="0"/>
              </a:rPr>
              <a:t>l’agent</a:t>
            </a:r>
            <a:r>
              <a:rPr lang="en-GB" b="0" i="0" dirty="0">
                <a:effectLst/>
                <a:latin typeface="Arial" panose="020B0604020202020204" pitchFamily="34" charset="0"/>
              </a:rPr>
              <a:t>. </a:t>
            </a:r>
            <a:r>
              <a:rPr lang="en-GB" b="0" i="0" dirty="0" err="1">
                <a:effectLst/>
                <a:latin typeface="Arial" panose="020B0604020202020204" pitchFamily="34" charset="0"/>
              </a:rPr>
              <a:t>Ils</a:t>
            </a:r>
            <a:r>
              <a:rPr lang="en-GB" b="0" i="0" dirty="0">
                <a:effectLst/>
                <a:latin typeface="Arial" panose="020B0604020202020204" pitchFamily="34" charset="0"/>
              </a:rPr>
              <a:t> </a:t>
            </a:r>
            <a:r>
              <a:rPr lang="en-GB" b="0" i="0" dirty="0" err="1">
                <a:effectLst/>
                <a:latin typeface="Arial" panose="020B0604020202020204" pitchFamily="34" charset="0"/>
              </a:rPr>
              <a:t>permettent</a:t>
            </a:r>
            <a:r>
              <a:rPr lang="en-GB" b="0" i="0" dirty="0">
                <a:effectLst/>
                <a:latin typeface="Arial" panose="020B0604020202020204" pitchFamily="34" charset="0"/>
              </a:rPr>
              <a:t> </a:t>
            </a:r>
            <a:r>
              <a:rPr lang="en-GB" b="0" i="0" dirty="0" err="1">
                <a:effectLst/>
                <a:latin typeface="Arial" panose="020B0604020202020204" pitchFamily="34" charset="0"/>
              </a:rPr>
              <a:t>également</a:t>
            </a:r>
            <a:r>
              <a:rPr lang="en-GB" b="0" i="0" dirty="0">
                <a:effectLst/>
                <a:latin typeface="Arial" panose="020B0604020202020204" pitchFamily="34" charset="0"/>
              </a:rPr>
              <a:t> le </a:t>
            </a:r>
            <a:r>
              <a:rPr lang="en-GB" b="0" i="0" dirty="0" err="1">
                <a:effectLst/>
                <a:latin typeface="Arial" panose="020B0604020202020204" pitchFamily="34" charset="0"/>
              </a:rPr>
              <a:t>filtrage</a:t>
            </a:r>
            <a:r>
              <a:rPr lang="en-GB" b="0" i="0" dirty="0">
                <a:effectLst/>
                <a:latin typeface="Arial" panose="020B0604020202020204" pitchFamily="34" charset="0"/>
              </a:rPr>
              <a:t> des conversations, car nous </a:t>
            </a:r>
            <a:r>
              <a:rPr lang="en-GB" b="0" i="0" dirty="0" err="1">
                <a:effectLst/>
                <a:latin typeface="Arial" panose="020B0604020202020204" pitchFamily="34" charset="0"/>
              </a:rPr>
              <a:t>souhaitons</a:t>
            </a:r>
            <a:r>
              <a:rPr lang="en-GB" b="0" i="0" dirty="0">
                <a:effectLst/>
                <a:latin typeface="Arial" panose="020B0604020202020204" pitchFamily="34" charset="0"/>
              </a:rPr>
              <a:t> </a:t>
            </a:r>
            <a:r>
              <a:rPr lang="en-GB" b="0" i="0" dirty="0" err="1">
                <a:effectLst/>
                <a:latin typeface="Arial" panose="020B0604020202020204" pitchFamily="34" charset="0"/>
              </a:rPr>
              <a:t>entraîner</a:t>
            </a:r>
            <a:r>
              <a:rPr lang="en-GB" b="0" i="0" dirty="0">
                <a:effectLst/>
                <a:latin typeface="Arial" panose="020B0604020202020204" pitchFamily="34" charset="0"/>
              </a:rPr>
              <a:t> </a:t>
            </a:r>
            <a:r>
              <a:rPr lang="en-GB" b="0" i="0" dirty="0" err="1">
                <a:effectLst/>
                <a:latin typeface="Arial" panose="020B0604020202020204" pitchFamily="34" charset="0"/>
              </a:rPr>
              <a:t>nos</a:t>
            </a:r>
            <a:r>
              <a:rPr lang="en-GB" b="0" i="0" dirty="0">
                <a:effectLst/>
                <a:latin typeface="Arial" panose="020B0604020202020204" pitchFamily="34" charset="0"/>
              </a:rPr>
              <a:t> </a:t>
            </a:r>
            <a:r>
              <a:rPr lang="en-GB" b="0" i="0" dirty="0" err="1">
                <a:effectLst/>
                <a:latin typeface="Arial" panose="020B0604020202020204" pitchFamily="34" charset="0"/>
              </a:rPr>
              <a:t>modèles</a:t>
            </a:r>
            <a:r>
              <a:rPr lang="en-GB" b="0" i="0" dirty="0">
                <a:effectLst/>
                <a:latin typeface="Arial" panose="020B0604020202020204" pitchFamily="34" charset="0"/>
              </a:rPr>
              <a:t> sur de bons </a:t>
            </a:r>
            <a:r>
              <a:rPr lang="en-GB" b="0" i="0" dirty="0" err="1">
                <a:effectLst/>
                <a:latin typeface="Arial" panose="020B0604020202020204" pitchFamily="34" charset="0"/>
              </a:rPr>
              <a:t>exemples</a:t>
            </a:r>
            <a:r>
              <a:rPr lang="en-GB" b="0" i="0" dirty="0">
                <a:effectLst/>
                <a:latin typeface="Arial" panose="020B0604020202020204" pitchFamily="34" charset="0"/>
              </a:rPr>
              <a:t> de conversations avec un support agent de bonne </a:t>
            </a:r>
            <a:r>
              <a:rPr lang="en-GB" b="0" i="0" dirty="0" err="1">
                <a:effectLst/>
                <a:latin typeface="Arial" panose="020B0604020202020204" pitchFamily="34" charset="0"/>
              </a:rPr>
              <a:t>qualité</a:t>
            </a:r>
            <a:r>
              <a:rPr lang="en-GB" b="0" i="0" dirty="0">
                <a:effectLst/>
                <a:latin typeface="Arial" panose="020B0604020202020204" pitchFamily="34" charset="0"/>
              </a:rPr>
              <a:t> pour assurer la satisfaction du client au </a:t>
            </a:r>
            <a:r>
              <a:rPr lang="en-GB" b="0" i="0" dirty="0" err="1">
                <a:effectLst/>
                <a:latin typeface="Arial" panose="020B0604020202020204" pitchFamily="34" charset="0"/>
              </a:rPr>
              <a:t>terme</a:t>
            </a:r>
            <a:r>
              <a:rPr lang="en-GB" b="0" i="0" dirty="0">
                <a:effectLst/>
                <a:latin typeface="Arial" panose="020B0604020202020204" pitchFamily="34" charset="0"/>
              </a:rPr>
              <a:t> de </a:t>
            </a:r>
            <a:r>
              <a:rPr lang="en-GB" b="0" i="0" dirty="0" err="1">
                <a:effectLst/>
                <a:latin typeface="Arial" panose="020B0604020202020204" pitchFamily="34" charset="0"/>
              </a:rPr>
              <a:t>l’interaction</a:t>
            </a:r>
            <a:r>
              <a:rPr lang="en-GB" b="0" i="0" dirty="0">
                <a:effectLst/>
                <a:latin typeface="Arial" panose="020B0604020202020204" pitchFamily="34" charset="0"/>
              </a:rPr>
              <a:t>.</a:t>
            </a:r>
            <a:endParaRPr lang="en-FR" dirty="0"/>
          </a:p>
        </p:txBody>
      </p:sp>
      <p:sp>
        <p:nvSpPr>
          <p:cNvPr id="4" name="Slide Number Placeholder 3"/>
          <p:cNvSpPr>
            <a:spLocks noGrp="1"/>
          </p:cNvSpPr>
          <p:nvPr>
            <p:ph type="sldNum" sz="quarter" idx="5"/>
          </p:nvPr>
        </p:nvSpPr>
        <p:spPr/>
        <p:txBody>
          <a:bodyPr/>
          <a:lstStyle/>
          <a:p>
            <a:fld id="{9B9D85DF-2378-9545-8C3C-563839805E02}" type="slidenum">
              <a:rPr lang="en-FR" smtClean="0"/>
              <a:t>39</a:t>
            </a:fld>
            <a:endParaRPr lang="en-FR"/>
          </a:p>
        </p:txBody>
      </p:sp>
    </p:spTree>
    <p:extLst>
      <p:ext uri="{BB962C8B-B14F-4D97-AF65-F5344CB8AC3E}">
        <p14:creationId xmlns:p14="http://schemas.microsoft.com/office/powerpoint/2010/main" val="6494314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85E27-4131-4A54-D161-626C009AD1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398514-4A8B-EF94-B37A-746549DDD6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D5B43B-AF4A-0E34-B82D-64FC0AA535BA}"/>
              </a:ext>
            </a:extLst>
          </p:cNvPr>
          <p:cNvSpPr>
            <a:spLocks noGrp="1"/>
          </p:cNvSpPr>
          <p:nvPr>
            <p:ph type="body" idx="1"/>
          </p:nvPr>
        </p:nvSpPr>
        <p:spPr/>
        <p:txBody>
          <a:bodyPr/>
          <a:lstStyle/>
          <a:p>
            <a:r>
              <a:rPr lang="en-GB" b="0" i="0" dirty="0">
                <a:effectLst/>
                <a:latin typeface="Arial" panose="020B0604020202020204" pitchFamily="34" charset="0"/>
              </a:rPr>
              <a:t>Pour </a:t>
            </a:r>
            <a:r>
              <a:rPr lang="en-GB" b="0" i="0" dirty="0" err="1">
                <a:effectLst/>
                <a:latin typeface="Arial" panose="020B0604020202020204" pitchFamily="34" charset="0"/>
              </a:rPr>
              <a:t>l’annotation</a:t>
            </a:r>
            <a:r>
              <a:rPr lang="en-GB" b="0" i="0" dirty="0">
                <a:effectLst/>
                <a:latin typeface="Arial" panose="020B0604020202020204" pitchFamily="34" charset="0"/>
              </a:rPr>
              <a:t> au </a:t>
            </a:r>
            <a:r>
              <a:rPr lang="en-GB" b="0" i="0" dirty="0" err="1">
                <a:effectLst/>
                <a:latin typeface="Arial" panose="020B0604020202020204" pitchFamily="34" charset="0"/>
              </a:rPr>
              <a:t>niveau</a:t>
            </a:r>
            <a:r>
              <a:rPr lang="en-GB" b="0" i="0" dirty="0">
                <a:effectLst/>
                <a:latin typeface="Arial" panose="020B0604020202020204" pitchFamily="34" charset="0"/>
              </a:rPr>
              <a:t> de la conversation, nous </a:t>
            </a:r>
            <a:r>
              <a:rPr lang="en-GB" b="0" i="0" dirty="0" err="1">
                <a:effectLst/>
                <a:latin typeface="Arial" panose="020B0604020202020204" pitchFamily="34" charset="0"/>
              </a:rPr>
              <a:t>avons</a:t>
            </a:r>
            <a:r>
              <a:rPr lang="en-GB" b="0" i="0" dirty="0">
                <a:effectLst/>
                <a:latin typeface="Arial" panose="020B0604020202020204" pitchFamily="34" charset="0"/>
              </a:rPr>
              <a:t> </a:t>
            </a:r>
            <a:r>
              <a:rPr lang="en-GB" b="0" i="0" dirty="0" err="1">
                <a:effectLst/>
                <a:latin typeface="Arial" panose="020B0604020202020204" pitchFamily="34" charset="0"/>
              </a:rPr>
              <a:t>défini</a:t>
            </a:r>
            <a:br>
              <a:rPr lang="en-GB" dirty="0"/>
            </a:br>
            <a:r>
              <a:rPr lang="en-GB" b="0" i="0" dirty="0">
                <a:effectLst/>
                <a:latin typeface="Arial" panose="020B0604020202020204" pitchFamily="34" charset="0"/>
              </a:rPr>
              <a:t>trois aspects qui </a:t>
            </a:r>
            <a:r>
              <a:rPr lang="en-GB" b="0" i="0" dirty="0" err="1">
                <a:effectLst/>
                <a:latin typeface="Arial" panose="020B0604020202020204" pitchFamily="34" charset="0"/>
              </a:rPr>
              <a:t>permettent</a:t>
            </a:r>
            <a:r>
              <a:rPr lang="en-GB" b="0" i="0" dirty="0">
                <a:effectLst/>
                <a:latin typeface="Arial" panose="020B0604020202020204" pitchFamily="34" charset="0"/>
              </a:rPr>
              <a:t> </a:t>
            </a:r>
            <a:r>
              <a:rPr lang="en-GB" b="0" i="0" dirty="0" err="1">
                <a:effectLst/>
                <a:latin typeface="Arial" panose="020B0604020202020204" pitchFamily="34" charset="0"/>
              </a:rPr>
              <a:t>d’évaluer</a:t>
            </a:r>
            <a:r>
              <a:rPr lang="en-GB" b="0" i="0" dirty="0">
                <a:effectLst/>
                <a:latin typeface="Arial" panose="020B0604020202020204" pitchFamily="34" charset="0"/>
              </a:rPr>
              <a:t> le </a:t>
            </a:r>
            <a:r>
              <a:rPr lang="en-GB" b="0" i="0" dirty="0" err="1">
                <a:effectLst/>
                <a:latin typeface="Arial" panose="020B0604020202020204" pitchFamily="34" charset="0"/>
              </a:rPr>
              <a:t>ressenti</a:t>
            </a:r>
            <a:r>
              <a:rPr lang="en-GB" b="0" i="0" dirty="0">
                <a:effectLst/>
                <a:latin typeface="Arial" panose="020B0604020202020204" pitchFamily="34" charset="0"/>
              </a:rPr>
              <a:t> global de la conversation sur </a:t>
            </a:r>
            <a:r>
              <a:rPr lang="en-GB" b="0" i="0" dirty="0" err="1">
                <a:effectLst/>
                <a:latin typeface="Arial" panose="020B0604020202020204" pitchFamily="34" charset="0"/>
              </a:rPr>
              <a:t>plusieurs</a:t>
            </a:r>
            <a:r>
              <a:rPr lang="en-GB" b="0" i="0" dirty="0">
                <a:effectLst/>
                <a:latin typeface="Arial" panose="020B0604020202020204" pitchFamily="34" charset="0"/>
              </a:rPr>
              <a:t> plans. </a:t>
            </a:r>
            <a:r>
              <a:rPr lang="en-GB" b="0" i="0" dirty="0" err="1">
                <a:effectLst/>
                <a:latin typeface="Arial" panose="020B0604020202020204" pitchFamily="34" charset="0"/>
              </a:rPr>
              <a:t>Ces</a:t>
            </a:r>
            <a:br>
              <a:rPr lang="en-GB" dirty="0"/>
            </a:br>
            <a:r>
              <a:rPr lang="en-GB" b="0" i="0" dirty="0">
                <a:effectLst/>
                <a:latin typeface="Arial" panose="020B0604020202020204" pitchFamily="34" charset="0"/>
              </a:rPr>
              <a:t>indices </a:t>
            </a:r>
            <a:r>
              <a:rPr lang="en-GB" b="0" i="0" dirty="0" err="1">
                <a:effectLst/>
                <a:latin typeface="Arial" panose="020B0604020202020204" pitchFamily="34" charset="0"/>
              </a:rPr>
              <a:t>prennent</a:t>
            </a:r>
            <a:r>
              <a:rPr lang="en-GB" b="0" i="0" dirty="0">
                <a:effectLst/>
                <a:latin typeface="Arial" panose="020B0604020202020204" pitchFamily="34" charset="0"/>
              </a:rPr>
              <a:t> </a:t>
            </a:r>
            <a:r>
              <a:rPr lang="en-GB" b="0" i="0" dirty="0" err="1">
                <a:effectLst/>
                <a:latin typeface="Arial" panose="020B0604020202020204" pitchFamily="34" charset="0"/>
              </a:rPr>
              <a:t>en</a:t>
            </a:r>
            <a:r>
              <a:rPr lang="en-GB" b="0" i="0" dirty="0">
                <a:effectLst/>
                <a:latin typeface="Arial" panose="020B0604020202020204" pitchFamily="34" charset="0"/>
              </a:rPr>
              <a:t> </a:t>
            </a:r>
            <a:r>
              <a:rPr lang="en-GB" b="0" i="0" dirty="0" err="1">
                <a:effectLst/>
                <a:latin typeface="Arial" panose="020B0604020202020204" pitchFamily="34" charset="0"/>
              </a:rPr>
              <a:t>considération</a:t>
            </a:r>
            <a:r>
              <a:rPr lang="en-GB" b="0" i="0" dirty="0">
                <a:effectLst/>
                <a:latin typeface="Arial" panose="020B0604020202020204" pitchFamily="34" charset="0"/>
              </a:rPr>
              <a:t> le point de </a:t>
            </a:r>
            <a:r>
              <a:rPr lang="en-GB" b="0" i="0" dirty="0" err="1">
                <a:effectLst/>
                <a:latin typeface="Arial" panose="020B0604020202020204" pitchFamily="34" charset="0"/>
              </a:rPr>
              <a:t>vue</a:t>
            </a:r>
            <a:r>
              <a:rPr lang="en-GB" b="0" i="0" dirty="0">
                <a:effectLst/>
                <a:latin typeface="Arial" panose="020B0604020202020204" pitchFamily="34" charset="0"/>
              </a:rPr>
              <a:t> du client et la </a:t>
            </a:r>
            <a:r>
              <a:rPr lang="en-GB" b="0" i="0" dirty="0" err="1">
                <a:effectLst/>
                <a:latin typeface="Arial" panose="020B0604020202020204" pitchFamily="34" charset="0"/>
              </a:rPr>
              <a:t>qualité</a:t>
            </a:r>
            <a:r>
              <a:rPr lang="en-GB" b="0" i="0" dirty="0">
                <a:effectLst/>
                <a:latin typeface="Arial" panose="020B0604020202020204" pitchFamily="34" charset="0"/>
              </a:rPr>
              <a:t> du travail de </a:t>
            </a:r>
            <a:r>
              <a:rPr lang="en-GB" b="0" i="0" dirty="0" err="1">
                <a:effectLst/>
                <a:latin typeface="Arial" panose="020B0604020202020204" pitchFamily="34" charset="0"/>
              </a:rPr>
              <a:t>l’agent</a:t>
            </a:r>
            <a:r>
              <a:rPr lang="en-GB" b="0" i="0" dirty="0">
                <a:effectLst/>
                <a:latin typeface="Arial" panose="020B0604020202020204" pitchFamily="34" charset="0"/>
              </a:rPr>
              <a:t>. </a:t>
            </a:r>
            <a:r>
              <a:rPr lang="en-GB" b="0" i="0" dirty="0" err="1">
                <a:effectLst/>
                <a:latin typeface="Arial" panose="020B0604020202020204" pitchFamily="34" charset="0"/>
              </a:rPr>
              <a:t>Ils</a:t>
            </a:r>
            <a:br>
              <a:rPr lang="en-GB" dirty="0"/>
            </a:br>
            <a:r>
              <a:rPr lang="en-GB" b="0" i="0" dirty="0" err="1">
                <a:effectLst/>
                <a:latin typeface="Arial" panose="020B0604020202020204" pitchFamily="34" charset="0"/>
              </a:rPr>
              <a:t>permettent</a:t>
            </a:r>
            <a:r>
              <a:rPr lang="en-GB" b="0" i="0" dirty="0">
                <a:effectLst/>
                <a:latin typeface="Arial" panose="020B0604020202020204" pitchFamily="34" charset="0"/>
              </a:rPr>
              <a:t> </a:t>
            </a:r>
            <a:r>
              <a:rPr lang="en-GB" b="0" i="0" dirty="0" err="1">
                <a:effectLst/>
                <a:latin typeface="Arial" panose="020B0604020202020204" pitchFamily="34" charset="0"/>
              </a:rPr>
              <a:t>également</a:t>
            </a:r>
            <a:r>
              <a:rPr lang="en-GB" b="0" i="0" dirty="0">
                <a:effectLst/>
                <a:latin typeface="Arial" panose="020B0604020202020204" pitchFamily="34" charset="0"/>
              </a:rPr>
              <a:t> le </a:t>
            </a:r>
            <a:r>
              <a:rPr lang="en-GB" b="0" i="0" dirty="0" err="1">
                <a:effectLst/>
                <a:latin typeface="Arial" panose="020B0604020202020204" pitchFamily="34" charset="0"/>
              </a:rPr>
              <a:t>filtrage</a:t>
            </a:r>
            <a:r>
              <a:rPr lang="en-GB" b="0" i="0" dirty="0">
                <a:effectLst/>
                <a:latin typeface="Arial" panose="020B0604020202020204" pitchFamily="34" charset="0"/>
              </a:rPr>
              <a:t> des conversations, car nous </a:t>
            </a:r>
            <a:r>
              <a:rPr lang="en-GB" b="0" i="0" dirty="0" err="1">
                <a:effectLst/>
                <a:latin typeface="Arial" panose="020B0604020202020204" pitchFamily="34" charset="0"/>
              </a:rPr>
              <a:t>souhaitons</a:t>
            </a:r>
            <a:r>
              <a:rPr lang="en-GB" b="0" i="0" dirty="0">
                <a:effectLst/>
                <a:latin typeface="Arial" panose="020B0604020202020204" pitchFamily="34" charset="0"/>
              </a:rPr>
              <a:t> </a:t>
            </a:r>
            <a:r>
              <a:rPr lang="en-GB" b="0" i="0" dirty="0" err="1">
                <a:effectLst/>
                <a:latin typeface="Arial" panose="020B0604020202020204" pitchFamily="34" charset="0"/>
              </a:rPr>
              <a:t>entraîner</a:t>
            </a:r>
            <a:r>
              <a:rPr lang="en-GB" b="0" i="0" dirty="0">
                <a:effectLst/>
                <a:latin typeface="Arial" panose="020B0604020202020204" pitchFamily="34" charset="0"/>
              </a:rPr>
              <a:t> </a:t>
            </a:r>
            <a:r>
              <a:rPr lang="en-GB" b="0" i="0" dirty="0" err="1">
                <a:effectLst/>
                <a:latin typeface="Arial" panose="020B0604020202020204" pitchFamily="34" charset="0"/>
              </a:rPr>
              <a:t>nos</a:t>
            </a:r>
            <a:r>
              <a:rPr lang="en-GB" b="0" i="0" dirty="0">
                <a:effectLst/>
                <a:latin typeface="Arial" panose="020B0604020202020204" pitchFamily="34" charset="0"/>
              </a:rPr>
              <a:t> </a:t>
            </a:r>
            <a:r>
              <a:rPr lang="en-GB" b="0" i="0" dirty="0" err="1">
                <a:effectLst/>
                <a:latin typeface="Arial" panose="020B0604020202020204" pitchFamily="34" charset="0"/>
              </a:rPr>
              <a:t>modèles</a:t>
            </a:r>
            <a:r>
              <a:rPr lang="en-GB" b="0" i="0" dirty="0">
                <a:effectLst/>
                <a:latin typeface="Arial" panose="020B0604020202020204" pitchFamily="34" charset="0"/>
              </a:rPr>
              <a:t> sur de</a:t>
            </a:r>
            <a:br>
              <a:rPr lang="en-GB" dirty="0"/>
            </a:br>
            <a:r>
              <a:rPr lang="en-GB" b="0" i="0" dirty="0">
                <a:effectLst/>
                <a:latin typeface="Arial" panose="020B0604020202020204" pitchFamily="34" charset="0"/>
              </a:rPr>
              <a:t>bons </a:t>
            </a:r>
            <a:r>
              <a:rPr lang="en-GB" b="0" i="0" dirty="0" err="1">
                <a:effectLst/>
                <a:latin typeface="Arial" panose="020B0604020202020204" pitchFamily="34" charset="0"/>
              </a:rPr>
              <a:t>exemples</a:t>
            </a:r>
            <a:r>
              <a:rPr lang="en-GB" b="0" i="0" dirty="0">
                <a:effectLst/>
                <a:latin typeface="Arial" panose="020B0604020202020204" pitchFamily="34" charset="0"/>
              </a:rPr>
              <a:t> de conversations avec un support agent de bonne </a:t>
            </a:r>
            <a:r>
              <a:rPr lang="en-GB" b="0" i="0" dirty="0" err="1">
                <a:effectLst/>
                <a:latin typeface="Arial" panose="020B0604020202020204" pitchFamily="34" charset="0"/>
              </a:rPr>
              <a:t>qualité</a:t>
            </a:r>
            <a:r>
              <a:rPr lang="en-GB" b="0" i="0" dirty="0">
                <a:effectLst/>
                <a:latin typeface="Arial" panose="020B0604020202020204" pitchFamily="34" charset="0"/>
              </a:rPr>
              <a:t> pour assurer la satisfaction</a:t>
            </a:r>
            <a:br>
              <a:rPr lang="en-GB" dirty="0"/>
            </a:br>
            <a:r>
              <a:rPr lang="en-GB" b="0" i="0" dirty="0">
                <a:effectLst/>
                <a:latin typeface="Arial" panose="020B0604020202020204" pitchFamily="34" charset="0"/>
              </a:rPr>
              <a:t>du client au </a:t>
            </a:r>
            <a:r>
              <a:rPr lang="en-GB" b="0" i="0" dirty="0" err="1">
                <a:effectLst/>
                <a:latin typeface="Arial" panose="020B0604020202020204" pitchFamily="34" charset="0"/>
              </a:rPr>
              <a:t>terme</a:t>
            </a:r>
            <a:r>
              <a:rPr lang="en-GB" b="0" i="0" dirty="0">
                <a:effectLst/>
                <a:latin typeface="Arial" panose="020B0604020202020204" pitchFamily="34" charset="0"/>
              </a:rPr>
              <a:t> de </a:t>
            </a:r>
            <a:r>
              <a:rPr lang="en-GB" b="0" i="0" dirty="0" err="1">
                <a:effectLst/>
                <a:latin typeface="Arial" panose="020B0604020202020204" pitchFamily="34" charset="0"/>
              </a:rPr>
              <a:t>l’interaction</a:t>
            </a:r>
            <a:r>
              <a:rPr lang="en-GB" b="0" i="0" dirty="0">
                <a:effectLst/>
                <a:latin typeface="Arial" panose="020B0604020202020204" pitchFamily="34" charset="0"/>
              </a:rPr>
              <a:t>.</a:t>
            </a:r>
            <a:endParaRPr lang="en-FR" dirty="0"/>
          </a:p>
        </p:txBody>
      </p:sp>
      <p:sp>
        <p:nvSpPr>
          <p:cNvPr id="4" name="Slide Number Placeholder 3">
            <a:extLst>
              <a:ext uri="{FF2B5EF4-FFF2-40B4-BE49-F238E27FC236}">
                <a16:creationId xmlns:a16="http://schemas.microsoft.com/office/drawing/2014/main" id="{A0EEA035-83DB-47BA-5648-42F48A410C5B}"/>
              </a:ext>
            </a:extLst>
          </p:cNvPr>
          <p:cNvSpPr>
            <a:spLocks noGrp="1"/>
          </p:cNvSpPr>
          <p:nvPr>
            <p:ph type="sldNum" sz="quarter" idx="5"/>
          </p:nvPr>
        </p:nvSpPr>
        <p:spPr/>
        <p:txBody>
          <a:bodyPr/>
          <a:lstStyle/>
          <a:p>
            <a:fld id="{9B9D85DF-2378-9545-8C3C-563839805E02}" type="slidenum">
              <a:rPr lang="en-FR" smtClean="0"/>
              <a:t>40</a:t>
            </a:fld>
            <a:endParaRPr lang="en-FR"/>
          </a:p>
        </p:txBody>
      </p:sp>
    </p:spTree>
    <p:extLst>
      <p:ext uri="{BB962C8B-B14F-4D97-AF65-F5344CB8AC3E}">
        <p14:creationId xmlns:p14="http://schemas.microsoft.com/office/powerpoint/2010/main" val="34819840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F622E-30DC-A602-FC17-1654689ED1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305EA-1353-3A6D-16E9-24692BEB20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CC3BA2-EBBC-A1BD-8170-134A115AB23A}"/>
              </a:ext>
            </a:extLst>
          </p:cNvPr>
          <p:cNvSpPr>
            <a:spLocks noGrp="1"/>
          </p:cNvSpPr>
          <p:nvPr>
            <p:ph type="body" idx="1"/>
          </p:nvPr>
        </p:nvSpPr>
        <p:spPr/>
        <p:txBody>
          <a:bodyPr/>
          <a:lstStyle/>
          <a:p>
            <a:r>
              <a:rPr lang="en-GB" b="0" i="0" dirty="0">
                <a:effectLst/>
                <a:latin typeface="Arial" panose="020B0604020202020204" pitchFamily="34" charset="0"/>
              </a:rPr>
              <a:t>Pour </a:t>
            </a:r>
            <a:r>
              <a:rPr lang="en-GB" b="0" i="0" dirty="0" err="1">
                <a:effectLst/>
                <a:latin typeface="Arial" panose="020B0604020202020204" pitchFamily="34" charset="0"/>
              </a:rPr>
              <a:t>l’annotation</a:t>
            </a:r>
            <a:r>
              <a:rPr lang="en-GB" b="0" i="0" dirty="0">
                <a:effectLst/>
                <a:latin typeface="Arial" panose="020B0604020202020204" pitchFamily="34" charset="0"/>
              </a:rPr>
              <a:t> au </a:t>
            </a:r>
            <a:r>
              <a:rPr lang="en-GB" b="0" i="0" dirty="0" err="1">
                <a:effectLst/>
                <a:latin typeface="Arial" panose="020B0604020202020204" pitchFamily="34" charset="0"/>
              </a:rPr>
              <a:t>niveau</a:t>
            </a:r>
            <a:r>
              <a:rPr lang="en-GB" b="0" i="0" dirty="0">
                <a:effectLst/>
                <a:latin typeface="Arial" panose="020B0604020202020204" pitchFamily="34" charset="0"/>
              </a:rPr>
              <a:t> de la conversation, nous </a:t>
            </a:r>
            <a:r>
              <a:rPr lang="en-GB" b="0" i="0" dirty="0" err="1">
                <a:effectLst/>
                <a:latin typeface="Arial" panose="020B0604020202020204" pitchFamily="34" charset="0"/>
              </a:rPr>
              <a:t>avons</a:t>
            </a:r>
            <a:r>
              <a:rPr lang="en-GB" b="0" i="0" dirty="0">
                <a:effectLst/>
                <a:latin typeface="Arial" panose="020B0604020202020204" pitchFamily="34" charset="0"/>
              </a:rPr>
              <a:t> </a:t>
            </a:r>
            <a:r>
              <a:rPr lang="en-GB" b="0" i="0" dirty="0" err="1">
                <a:effectLst/>
                <a:latin typeface="Arial" panose="020B0604020202020204" pitchFamily="34" charset="0"/>
              </a:rPr>
              <a:t>défini</a:t>
            </a:r>
            <a:br>
              <a:rPr lang="en-GB" dirty="0"/>
            </a:br>
            <a:r>
              <a:rPr lang="en-GB" b="0" i="0" dirty="0">
                <a:effectLst/>
                <a:latin typeface="Arial" panose="020B0604020202020204" pitchFamily="34" charset="0"/>
              </a:rPr>
              <a:t>trois aspects qui </a:t>
            </a:r>
            <a:r>
              <a:rPr lang="en-GB" b="0" i="0" dirty="0" err="1">
                <a:effectLst/>
                <a:latin typeface="Arial" panose="020B0604020202020204" pitchFamily="34" charset="0"/>
              </a:rPr>
              <a:t>permettent</a:t>
            </a:r>
            <a:r>
              <a:rPr lang="en-GB" b="0" i="0" dirty="0">
                <a:effectLst/>
                <a:latin typeface="Arial" panose="020B0604020202020204" pitchFamily="34" charset="0"/>
              </a:rPr>
              <a:t> </a:t>
            </a:r>
            <a:r>
              <a:rPr lang="en-GB" b="0" i="0" dirty="0" err="1">
                <a:effectLst/>
                <a:latin typeface="Arial" panose="020B0604020202020204" pitchFamily="34" charset="0"/>
              </a:rPr>
              <a:t>d’évaluer</a:t>
            </a:r>
            <a:r>
              <a:rPr lang="en-GB" b="0" i="0" dirty="0">
                <a:effectLst/>
                <a:latin typeface="Arial" panose="020B0604020202020204" pitchFamily="34" charset="0"/>
              </a:rPr>
              <a:t> le </a:t>
            </a:r>
            <a:r>
              <a:rPr lang="en-GB" b="0" i="0" dirty="0" err="1">
                <a:effectLst/>
                <a:latin typeface="Arial" panose="020B0604020202020204" pitchFamily="34" charset="0"/>
              </a:rPr>
              <a:t>ressenti</a:t>
            </a:r>
            <a:r>
              <a:rPr lang="en-GB" b="0" i="0" dirty="0">
                <a:effectLst/>
                <a:latin typeface="Arial" panose="020B0604020202020204" pitchFamily="34" charset="0"/>
              </a:rPr>
              <a:t> global de la conversation sur </a:t>
            </a:r>
            <a:r>
              <a:rPr lang="en-GB" b="0" i="0" dirty="0" err="1">
                <a:effectLst/>
                <a:latin typeface="Arial" panose="020B0604020202020204" pitchFamily="34" charset="0"/>
              </a:rPr>
              <a:t>plusieurs</a:t>
            </a:r>
            <a:r>
              <a:rPr lang="en-GB" b="0" i="0" dirty="0">
                <a:effectLst/>
                <a:latin typeface="Arial" panose="020B0604020202020204" pitchFamily="34" charset="0"/>
              </a:rPr>
              <a:t> plans. </a:t>
            </a:r>
            <a:r>
              <a:rPr lang="en-GB" b="0" i="0" dirty="0" err="1">
                <a:effectLst/>
                <a:latin typeface="Arial" panose="020B0604020202020204" pitchFamily="34" charset="0"/>
              </a:rPr>
              <a:t>Ces</a:t>
            </a:r>
            <a:br>
              <a:rPr lang="en-GB" dirty="0"/>
            </a:br>
            <a:r>
              <a:rPr lang="en-GB" b="0" i="0" dirty="0">
                <a:effectLst/>
                <a:latin typeface="Arial" panose="020B0604020202020204" pitchFamily="34" charset="0"/>
              </a:rPr>
              <a:t>indices </a:t>
            </a:r>
            <a:r>
              <a:rPr lang="en-GB" b="0" i="0" dirty="0" err="1">
                <a:effectLst/>
                <a:latin typeface="Arial" panose="020B0604020202020204" pitchFamily="34" charset="0"/>
              </a:rPr>
              <a:t>prennent</a:t>
            </a:r>
            <a:r>
              <a:rPr lang="en-GB" b="0" i="0" dirty="0">
                <a:effectLst/>
                <a:latin typeface="Arial" panose="020B0604020202020204" pitchFamily="34" charset="0"/>
              </a:rPr>
              <a:t> </a:t>
            </a:r>
            <a:r>
              <a:rPr lang="en-GB" b="0" i="0" dirty="0" err="1">
                <a:effectLst/>
                <a:latin typeface="Arial" panose="020B0604020202020204" pitchFamily="34" charset="0"/>
              </a:rPr>
              <a:t>en</a:t>
            </a:r>
            <a:r>
              <a:rPr lang="en-GB" b="0" i="0" dirty="0">
                <a:effectLst/>
                <a:latin typeface="Arial" panose="020B0604020202020204" pitchFamily="34" charset="0"/>
              </a:rPr>
              <a:t> </a:t>
            </a:r>
            <a:r>
              <a:rPr lang="en-GB" b="0" i="0" dirty="0" err="1">
                <a:effectLst/>
                <a:latin typeface="Arial" panose="020B0604020202020204" pitchFamily="34" charset="0"/>
              </a:rPr>
              <a:t>considération</a:t>
            </a:r>
            <a:r>
              <a:rPr lang="en-GB" b="0" i="0" dirty="0">
                <a:effectLst/>
                <a:latin typeface="Arial" panose="020B0604020202020204" pitchFamily="34" charset="0"/>
              </a:rPr>
              <a:t> le point de </a:t>
            </a:r>
            <a:r>
              <a:rPr lang="en-GB" b="0" i="0" dirty="0" err="1">
                <a:effectLst/>
                <a:latin typeface="Arial" panose="020B0604020202020204" pitchFamily="34" charset="0"/>
              </a:rPr>
              <a:t>vue</a:t>
            </a:r>
            <a:r>
              <a:rPr lang="en-GB" b="0" i="0" dirty="0">
                <a:effectLst/>
                <a:latin typeface="Arial" panose="020B0604020202020204" pitchFamily="34" charset="0"/>
              </a:rPr>
              <a:t> du client et la </a:t>
            </a:r>
            <a:r>
              <a:rPr lang="en-GB" b="0" i="0" dirty="0" err="1">
                <a:effectLst/>
                <a:latin typeface="Arial" panose="020B0604020202020204" pitchFamily="34" charset="0"/>
              </a:rPr>
              <a:t>qualité</a:t>
            </a:r>
            <a:r>
              <a:rPr lang="en-GB" b="0" i="0" dirty="0">
                <a:effectLst/>
                <a:latin typeface="Arial" panose="020B0604020202020204" pitchFamily="34" charset="0"/>
              </a:rPr>
              <a:t> du travail de </a:t>
            </a:r>
            <a:r>
              <a:rPr lang="en-GB" b="0" i="0" dirty="0" err="1">
                <a:effectLst/>
                <a:latin typeface="Arial" panose="020B0604020202020204" pitchFamily="34" charset="0"/>
              </a:rPr>
              <a:t>l’agent</a:t>
            </a:r>
            <a:r>
              <a:rPr lang="en-GB" b="0" i="0" dirty="0">
                <a:effectLst/>
                <a:latin typeface="Arial" panose="020B0604020202020204" pitchFamily="34" charset="0"/>
              </a:rPr>
              <a:t>. </a:t>
            </a:r>
            <a:r>
              <a:rPr lang="en-GB" b="0" i="0" dirty="0" err="1">
                <a:effectLst/>
                <a:latin typeface="Arial" panose="020B0604020202020204" pitchFamily="34" charset="0"/>
              </a:rPr>
              <a:t>Ils</a:t>
            </a:r>
            <a:br>
              <a:rPr lang="en-GB" dirty="0"/>
            </a:br>
            <a:r>
              <a:rPr lang="en-GB" b="0" i="0" dirty="0" err="1">
                <a:effectLst/>
                <a:latin typeface="Arial" panose="020B0604020202020204" pitchFamily="34" charset="0"/>
              </a:rPr>
              <a:t>permettent</a:t>
            </a:r>
            <a:r>
              <a:rPr lang="en-GB" b="0" i="0" dirty="0">
                <a:effectLst/>
                <a:latin typeface="Arial" panose="020B0604020202020204" pitchFamily="34" charset="0"/>
              </a:rPr>
              <a:t> </a:t>
            </a:r>
            <a:r>
              <a:rPr lang="en-GB" b="0" i="0" dirty="0" err="1">
                <a:effectLst/>
                <a:latin typeface="Arial" panose="020B0604020202020204" pitchFamily="34" charset="0"/>
              </a:rPr>
              <a:t>également</a:t>
            </a:r>
            <a:r>
              <a:rPr lang="en-GB" b="0" i="0" dirty="0">
                <a:effectLst/>
                <a:latin typeface="Arial" panose="020B0604020202020204" pitchFamily="34" charset="0"/>
              </a:rPr>
              <a:t> le </a:t>
            </a:r>
            <a:r>
              <a:rPr lang="en-GB" b="0" i="0" dirty="0" err="1">
                <a:effectLst/>
                <a:latin typeface="Arial" panose="020B0604020202020204" pitchFamily="34" charset="0"/>
              </a:rPr>
              <a:t>filtrage</a:t>
            </a:r>
            <a:r>
              <a:rPr lang="en-GB" b="0" i="0" dirty="0">
                <a:effectLst/>
                <a:latin typeface="Arial" panose="020B0604020202020204" pitchFamily="34" charset="0"/>
              </a:rPr>
              <a:t> des conversations, car nous </a:t>
            </a:r>
            <a:r>
              <a:rPr lang="en-GB" b="0" i="0" dirty="0" err="1">
                <a:effectLst/>
                <a:latin typeface="Arial" panose="020B0604020202020204" pitchFamily="34" charset="0"/>
              </a:rPr>
              <a:t>souhaitons</a:t>
            </a:r>
            <a:r>
              <a:rPr lang="en-GB" b="0" i="0" dirty="0">
                <a:effectLst/>
                <a:latin typeface="Arial" panose="020B0604020202020204" pitchFamily="34" charset="0"/>
              </a:rPr>
              <a:t> </a:t>
            </a:r>
            <a:r>
              <a:rPr lang="en-GB" b="0" i="0" dirty="0" err="1">
                <a:effectLst/>
                <a:latin typeface="Arial" panose="020B0604020202020204" pitchFamily="34" charset="0"/>
              </a:rPr>
              <a:t>entraîner</a:t>
            </a:r>
            <a:r>
              <a:rPr lang="en-GB" b="0" i="0" dirty="0">
                <a:effectLst/>
                <a:latin typeface="Arial" panose="020B0604020202020204" pitchFamily="34" charset="0"/>
              </a:rPr>
              <a:t> </a:t>
            </a:r>
            <a:r>
              <a:rPr lang="en-GB" b="0" i="0" dirty="0" err="1">
                <a:effectLst/>
                <a:latin typeface="Arial" panose="020B0604020202020204" pitchFamily="34" charset="0"/>
              </a:rPr>
              <a:t>nos</a:t>
            </a:r>
            <a:r>
              <a:rPr lang="en-GB" b="0" i="0" dirty="0">
                <a:effectLst/>
                <a:latin typeface="Arial" panose="020B0604020202020204" pitchFamily="34" charset="0"/>
              </a:rPr>
              <a:t> </a:t>
            </a:r>
            <a:r>
              <a:rPr lang="en-GB" b="0" i="0" dirty="0" err="1">
                <a:effectLst/>
                <a:latin typeface="Arial" panose="020B0604020202020204" pitchFamily="34" charset="0"/>
              </a:rPr>
              <a:t>modèles</a:t>
            </a:r>
            <a:r>
              <a:rPr lang="en-GB" b="0" i="0" dirty="0">
                <a:effectLst/>
                <a:latin typeface="Arial" panose="020B0604020202020204" pitchFamily="34" charset="0"/>
              </a:rPr>
              <a:t> sur de</a:t>
            </a:r>
            <a:br>
              <a:rPr lang="en-GB" dirty="0"/>
            </a:br>
            <a:r>
              <a:rPr lang="en-GB" b="0" i="0" dirty="0">
                <a:effectLst/>
                <a:latin typeface="Arial" panose="020B0604020202020204" pitchFamily="34" charset="0"/>
              </a:rPr>
              <a:t>bons </a:t>
            </a:r>
            <a:r>
              <a:rPr lang="en-GB" b="0" i="0" dirty="0" err="1">
                <a:effectLst/>
                <a:latin typeface="Arial" panose="020B0604020202020204" pitchFamily="34" charset="0"/>
              </a:rPr>
              <a:t>exemples</a:t>
            </a:r>
            <a:r>
              <a:rPr lang="en-GB" b="0" i="0" dirty="0">
                <a:effectLst/>
                <a:latin typeface="Arial" panose="020B0604020202020204" pitchFamily="34" charset="0"/>
              </a:rPr>
              <a:t> de conversations avec un support agent de bonne </a:t>
            </a:r>
            <a:r>
              <a:rPr lang="en-GB" b="0" i="0" dirty="0" err="1">
                <a:effectLst/>
                <a:latin typeface="Arial" panose="020B0604020202020204" pitchFamily="34" charset="0"/>
              </a:rPr>
              <a:t>qualité</a:t>
            </a:r>
            <a:r>
              <a:rPr lang="en-GB" b="0" i="0" dirty="0">
                <a:effectLst/>
                <a:latin typeface="Arial" panose="020B0604020202020204" pitchFamily="34" charset="0"/>
              </a:rPr>
              <a:t> pour assurer la satisfaction</a:t>
            </a:r>
            <a:br>
              <a:rPr lang="en-GB" dirty="0"/>
            </a:br>
            <a:r>
              <a:rPr lang="en-GB" b="0" i="0" dirty="0">
                <a:effectLst/>
                <a:latin typeface="Arial" panose="020B0604020202020204" pitchFamily="34" charset="0"/>
              </a:rPr>
              <a:t>du client au </a:t>
            </a:r>
            <a:r>
              <a:rPr lang="en-GB" b="0" i="0" dirty="0" err="1">
                <a:effectLst/>
                <a:latin typeface="Arial" panose="020B0604020202020204" pitchFamily="34" charset="0"/>
              </a:rPr>
              <a:t>terme</a:t>
            </a:r>
            <a:r>
              <a:rPr lang="en-GB" b="0" i="0" dirty="0">
                <a:effectLst/>
                <a:latin typeface="Arial" panose="020B0604020202020204" pitchFamily="34" charset="0"/>
              </a:rPr>
              <a:t> de </a:t>
            </a:r>
            <a:r>
              <a:rPr lang="en-GB" b="0" i="0" dirty="0" err="1">
                <a:effectLst/>
                <a:latin typeface="Arial" panose="020B0604020202020204" pitchFamily="34" charset="0"/>
              </a:rPr>
              <a:t>l’interaction</a:t>
            </a:r>
            <a:r>
              <a:rPr lang="en-GB" b="0" i="0" dirty="0">
                <a:effectLst/>
                <a:latin typeface="Arial" panose="020B0604020202020204" pitchFamily="34" charset="0"/>
              </a:rPr>
              <a:t>.</a:t>
            </a:r>
            <a:endParaRPr lang="en-FR" dirty="0"/>
          </a:p>
        </p:txBody>
      </p:sp>
      <p:sp>
        <p:nvSpPr>
          <p:cNvPr id="4" name="Slide Number Placeholder 3">
            <a:extLst>
              <a:ext uri="{FF2B5EF4-FFF2-40B4-BE49-F238E27FC236}">
                <a16:creationId xmlns:a16="http://schemas.microsoft.com/office/drawing/2014/main" id="{E20A5923-6EC9-04B9-E484-2C85501026B9}"/>
              </a:ext>
            </a:extLst>
          </p:cNvPr>
          <p:cNvSpPr>
            <a:spLocks noGrp="1"/>
          </p:cNvSpPr>
          <p:nvPr>
            <p:ph type="sldNum" sz="quarter" idx="5"/>
          </p:nvPr>
        </p:nvSpPr>
        <p:spPr/>
        <p:txBody>
          <a:bodyPr/>
          <a:lstStyle/>
          <a:p>
            <a:fld id="{9B9D85DF-2378-9545-8C3C-563839805E02}" type="slidenum">
              <a:rPr lang="en-FR" smtClean="0"/>
              <a:t>41</a:t>
            </a:fld>
            <a:endParaRPr lang="en-FR"/>
          </a:p>
        </p:txBody>
      </p:sp>
    </p:spTree>
    <p:extLst>
      <p:ext uri="{BB962C8B-B14F-4D97-AF65-F5344CB8AC3E}">
        <p14:creationId xmlns:p14="http://schemas.microsoft.com/office/powerpoint/2010/main" val="25693078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25B16-D476-1E2F-FC5E-415605F1D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F54641-3B01-F22B-855D-9D4C0666A3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D7221-D77D-490A-B4A0-90CC3B12EF7B}"/>
              </a:ext>
            </a:extLst>
          </p:cNvPr>
          <p:cNvSpPr>
            <a:spLocks noGrp="1"/>
          </p:cNvSpPr>
          <p:nvPr>
            <p:ph type="body" idx="1"/>
          </p:nvPr>
        </p:nvSpPr>
        <p:spPr/>
        <p:txBody>
          <a:bodyPr/>
          <a:lstStyle/>
          <a:p>
            <a:r>
              <a:rPr lang="en-GB" b="0" i="0" dirty="0">
                <a:effectLst/>
                <a:latin typeface="Arial" panose="020B0604020202020204" pitchFamily="34" charset="0"/>
              </a:rPr>
              <a:t>Pour </a:t>
            </a:r>
            <a:r>
              <a:rPr lang="en-GB" b="0" i="0" dirty="0" err="1">
                <a:effectLst/>
                <a:latin typeface="Arial" panose="020B0604020202020204" pitchFamily="34" charset="0"/>
              </a:rPr>
              <a:t>l’annotation</a:t>
            </a:r>
            <a:r>
              <a:rPr lang="en-GB" b="0" i="0" dirty="0">
                <a:effectLst/>
                <a:latin typeface="Arial" panose="020B0604020202020204" pitchFamily="34" charset="0"/>
              </a:rPr>
              <a:t> au </a:t>
            </a:r>
            <a:r>
              <a:rPr lang="en-GB" b="0" i="0" dirty="0" err="1">
                <a:effectLst/>
                <a:latin typeface="Arial" panose="020B0604020202020204" pitchFamily="34" charset="0"/>
              </a:rPr>
              <a:t>niveau</a:t>
            </a:r>
            <a:r>
              <a:rPr lang="en-GB" b="0" i="0" dirty="0">
                <a:effectLst/>
                <a:latin typeface="Arial" panose="020B0604020202020204" pitchFamily="34" charset="0"/>
              </a:rPr>
              <a:t> de la conversation, nous </a:t>
            </a:r>
            <a:r>
              <a:rPr lang="en-GB" b="0" i="0" dirty="0" err="1">
                <a:effectLst/>
                <a:latin typeface="Arial" panose="020B0604020202020204" pitchFamily="34" charset="0"/>
              </a:rPr>
              <a:t>avons</a:t>
            </a:r>
            <a:r>
              <a:rPr lang="en-GB" b="0" i="0" dirty="0">
                <a:effectLst/>
                <a:latin typeface="Arial" panose="020B0604020202020204" pitchFamily="34" charset="0"/>
              </a:rPr>
              <a:t> </a:t>
            </a:r>
            <a:r>
              <a:rPr lang="en-GB" b="0" i="0" dirty="0" err="1">
                <a:effectLst/>
                <a:latin typeface="Arial" panose="020B0604020202020204" pitchFamily="34" charset="0"/>
              </a:rPr>
              <a:t>défini</a:t>
            </a:r>
            <a:br>
              <a:rPr lang="en-GB" dirty="0"/>
            </a:br>
            <a:r>
              <a:rPr lang="en-GB" b="0" i="0" dirty="0">
                <a:effectLst/>
                <a:latin typeface="Arial" panose="020B0604020202020204" pitchFamily="34" charset="0"/>
              </a:rPr>
              <a:t>trois aspects qui </a:t>
            </a:r>
            <a:r>
              <a:rPr lang="en-GB" b="0" i="0" dirty="0" err="1">
                <a:effectLst/>
                <a:latin typeface="Arial" panose="020B0604020202020204" pitchFamily="34" charset="0"/>
              </a:rPr>
              <a:t>permettent</a:t>
            </a:r>
            <a:r>
              <a:rPr lang="en-GB" b="0" i="0" dirty="0">
                <a:effectLst/>
                <a:latin typeface="Arial" panose="020B0604020202020204" pitchFamily="34" charset="0"/>
              </a:rPr>
              <a:t> </a:t>
            </a:r>
            <a:r>
              <a:rPr lang="en-GB" b="0" i="0" dirty="0" err="1">
                <a:effectLst/>
                <a:latin typeface="Arial" panose="020B0604020202020204" pitchFamily="34" charset="0"/>
              </a:rPr>
              <a:t>d’évaluer</a:t>
            </a:r>
            <a:r>
              <a:rPr lang="en-GB" b="0" i="0" dirty="0">
                <a:effectLst/>
                <a:latin typeface="Arial" panose="020B0604020202020204" pitchFamily="34" charset="0"/>
              </a:rPr>
              <a:t> le </a:t>
            </a:r>
            <a:r>
              <a:rPr lang="en-GB" b="0" i="0" dirty="0" err="1">
                <a:effectLst/>
                <a:latin typeface="Arial" panose="020B0604020202020204" pitchFamily="34" charset="0"/>
              </a:rPr>
              <a:t>ressenti</a:t>
            </a:r>
            <a:r>
              <a:rPr lang="en-GB" b="0" i="0" dirty="0">
                <a:effectLst/>
                <a:latin typeface="Arial" panose="020B0604020202020204" pitchFamily="34" charset="0"/>
              </a:rPr>
              <a:t> global de la conversation sur </a:t>
            </a:r>
            <a:r>
              <a:rPr lang="en-GB" b="0" i="0" dirty="0" err="1">
                <a:effectLst/>
                <a:latin typeface="Arial" panose="020B0604020202020204" pitchFamily="34" charset="0"/>
              </a:rPr>
              <a:t>plusieurs</a:t>
            </a:r>
            <a:r>
              <a:rPr lang="en-GB" b="0" i="0" dirty="0">
                <a:effectLst/>
                <a:latin typeface="Arial" panose="020B0604020202020204" pitchFamily="34" charset="0"/>
              </a:rPr>
              <a:t> plans. </a:t>
            </a:r>
            <a:r>
              <a:rPr lang="en-GB" b="0" i="0" dirty="0" err="1">
                <a:effectLst/>
                <a:latin typeface="Arial" panose="020B0604020202020204" pitchFamily="34" charset="0"/>
              </a:rPr>
              <a:t>Ces</a:t>
            </a:r>
            <a:br>
              <a:rPr lang="en-GB" dirty="0"/>
            </a:br>
            <a:r>
              <a:rPr lang="en-GB" b="0" i="0" dirty="0">
                <a:effectLst/>
                <a:latin typeface="Arial" panose="020B0604020202020204" pitchFamily="34" charset="0"/>
              </a:rPr>
              <a:t>indices </a:t>
            </a:r>
            <a:r>
              <a:rPr lang="en-GB" b="0" i="0" dirty="0" err="1">
                <a:effectLst/>
                <a:latin typeface="Arial" panose="020B0604020202020204" pitchFamily="34" charset="0"/>
              </a:rPr>
              <a:t>prennent</a:t>
            </a:r>
            <a:r>
              <a:rPr lang="en-GB" b="0" i="0" dirty="0">
                <a:effectLst/>
                <a:latin typeface="Arial" panose="020B0604020202020204" pitchFamily="34" charset="0"/>
              </a:rPr>
              <a:t> </a:t>
            </a:r>
            <a:r>
              <a:rPr lang="en-GB" b="0" i="0" dirty="0" err="1">
                <a:effectLst/>
                <a:latin typeface="Arial" panose="020B0604020202020204" pitchFamily="34" charset="0"/>
              </a:rPr>
              <a:t>en</a:t>
            </a:r>
            <a:r>
              <a:rPr lang="en-GB" b="0" i="0" dirty="0">
                <a:effectLst/>
                <a:latin typeface="Arial" panose="020B0604020202020204" pitchFamily="34" charset="0"/>
              </a:rPr>
              <a:t> </a:t>
            </a:r>
            <a:r>
              <a:rPr lang="en-GB" b="0" i="0" dirty="0" err="1">
                <a:effectLst/>
                <a:latin typeface="Arial" panose="020B0604020202020204" pitchFamily="34" charset="0"/>
              </a:rPr>
              <a:t>considération</a:t>
            </a:r>
            <a:r>
              <a:rPr lang="en-GB" b="0" i="0" dirty="0">
                <a:effectLst/>
                <a:latin typeface="Arial" panose="020B0604020202020204" pitchFamily="34" charset="0"/>
              </a:rPr>
              <a:t> le point de </a:t>
            </a:r>
            <a:r>
              <a:rPr lang="en-GB" b="0" i="0" dirty="0" err="1">
                <a:effectLst/>
                <a:latin typeface="Arial" panose="020B0604020202020204" pitchFamily="34" charset="0"/>
              </a:rPr>
              <a:t>vue</a:t>
            </a:r>
            <a:r>
              <a:rPr lang="en-GB" b="0" i="0" dirty="0">
                <a:effectLst/>
                <a:latin typeface="Arial" panose="020B0604020202020204" pitchFamily="34" charset="0"/>
              </a:rPr>
              <a:t> du client et la </a:t>
            </a:r>
            <a:r>
              <a:rPr lang="en-GB" b="0" i="0" dirty="0" err="1">
                <a:effectLst/>
                <a:latin typeface="Arial" panose="020B0604020202020204" pitchFamily="34" charset="0"/>
              </a:rPr>
              <a:t>qualité</a:t>
            </a:r>
            <a:r>
              <a:rPr lang="en-GB" b="0" i="0" dirty="0">
                <a:effectLst/>
                <a:latin typeface="Arial" panose="020B0604020202020204" pitchFamily="34" charset="0"/>
              </a:rPr>
              <a:t> du travail de </a:t>
            </a:r>
            <a:r>
              <a:rPr lang="en-GB" b="0" i="0" dirty="0" err="1">
                <a:effectLst/>
                <a:latin typeface="Arial" panose="020B0604020202020204" pitchFamily="34" charset="0"/>
              </a:rPr>
              <a:t>l’agent</a:t>
            </a:r>
            <a:r>
              <a:rPr lang="en-GB" b="0" i="0" dirty="0">
                <a:effectLst/>
                <a:latin typeface="Arial" panose="020B0604020202020204" pitchFamily="34" charset="0"/>
              </a:rPr>
              <a:t>. </a:t>
            </a:r>
            <a:r>
              <a:rPr lang="en-GB" b="0" i="0" dirty="0" err="1">
                <a:effectLst/>
                <a:latin typeface="Arial" panose="020B0604020202020204" pitchFamily="34" charset="0"/>
              </a:rPr>
              <a:t>Ils</a:t>
            </a:r>
            <a:br>
              <a:rPr lang="en-GB" dirty="0"/>
            </a:br>
            <a:r>
              <a:rPr lang="en-GB" b="0" i="0" dirty="0" err="1">
                <a:effectLst/>
                <a:latin typeface="Arial" panose="020B0604020202020204" pitchFamily="34" charset="0"/>
              </a:rPr>
              <a:t>permettent</a:t>
            </a:r>
            <a:r>
              <a:rPr lang="en-GB" b="0" i="0" dirty="0">
                <a:effectLst/>
                <a:latin typeface="Arial" panose="020B0604020202020204" pitchFamily="34" charset="0"/>
              </a:rPr>
              <a:t> </a:t>
            </a:r>
            <a:r>
              <a:rPr lang="en-GB" b="0" i="0" dirty="0" err="1">
                <a:effectLst/>
                <a:latin typeface="Arial" panose="020B0604020202020204" pitchFamily="34" charset="0"/>
              </a:rPr>
              <a:t>également</a:t>
            </a:r>
            <a:r>
              <a:rPr lang="en-GB" b="0" i="0" dirty="0">
                <a:effectLst/>
                <a:latin typeface="Arial" panose="020B0604020202020204" pitchFamily="34" charset="0"/>
              </a:rPr>
              <a:t> le </a:t>
            </a:r>
            <a:r>
              <a:rPr lang="en-GB" b="0" i="0" dirty="0" err="1">
                <a:effectLst/>
                <a:latin typeface="Arial" panose="020B0604020202020204" pitchFamily="34" charset="0"/>
              </a:rPr>
              <a:t>filtrage</a:t>
            </a:r>
            <a:r>
              <a:rPr lang="en-GB" b="0" i="0" dirty="0">
                <a:effectLst/>
                <a:latin typeface="Arial" panose="020B0604020202020204" pitchFamily="34" charset="0"/>
              </a:rPr>
              <a:t> des conversations, car nous </a:t>
            </a:r>
            <a:r>
              <a:rPr lang="en-GB" b="0" i="0" dirty="0" err="1">
                <a:effectLst/>
                <a:latin typeface="Arial" panose="020B0604020202020204" pitchFamily="34" charset="0"/>
              </a:rPr>
              <a:t>souhaitons</a:t>
            </a:r>
            <a:r>
              <a:rPr lang="en-GB" b="0" i="0" dirty="0">
                <a:effectLst/>
                <a:latin typeface="Arial" panose="020B0604020202020204" pitchFamily="34" charset="0"/>
              </a:rPr>
              <a:t> </a:t>
            </a:r>
            <a:r>
              <a:rPr lang="en-GB" b="0" i="0" dirty="0" err="1">
                <a:effectLst/>
                <a:latin typeface="Arial" panose="020B0604020202020204" pitchFamily="34" charset="0"/>
              </a:rPr>
              <a:t>entraîner</a:t>
            </a:r>
            <a:r>
              <a:rPr lang="en-GB" b="0" i="0" dirty="0">
                <a:effectLst/>
                <a:latin typeface="Arial" panose="020B0604020202020204" pitchFamily="34" charset="0"/>
              </a:rPr>
              <a:t> </a:t>
            </a:r>
            <a:r>
              <a:rPr lang="en-GB" b="0" i="0" dirty="0" err="1">
                <a:effectLst/>
                <a:latin typeface="Arial" panose="020B0604020202020204" pitchFamily="34" charset="0"/>
              </a:rPr>
              <a:t>nos</a:t>
            </a:r>
            <a:r>
              <a:rPr lang="en-GB" b="0" i="0" dirty="0">
                <a:effectLst/>
                <a:latin typeface="Arial" panose="020B0604020202020204" pitchFamily="34" charset="0"/>
              </a:rPr>
              <a:t> </a:t>
            </a:r>
            <a:r>
              <a:rPr lang="en-GB" b="0" i="0" dirty="0" err="1">
                <a:effectLst/>
                <a:latin typeface="Arial" panose="020B0604020202020204" pitchFamily="34" charset="0"/>
              </a:rPr>
              <a:t>modèles</a:t>
            </a:r>
            <a:r>
              <a:rPr lang="en-GB" b="0" i="0" dirty="0">
                <a:effectLst/>
                <a:latin typeface="Arial" panose="020B0604020202020204" pitchFamily="34" charset="0"/>
              </a:rPr>
              <a:t> sur de</a:t>
            </a:r>
            <a:br>
              <a:rPr lang="en-GB" dirty="0"/>
            </a:br>
            <a:r>
              <a:rPr lang="en-GB" b="0" i="0" dirty="0">
                <a:effectLst/>
                <a:latin typeface="Arial" panose="020B0604020202020204" pitchFamily="34" charset="0"/>
              </a:rPr>
              <a:t>bons </a:t>
            </a:r>
            <a:r>
              <a:rPr lang="en-GB" b="0" i="0" dirty="0" err="1">
                <a:effectLst/>
                <a:latin typeface="Arial" panose="020B0604020202020204" pitchFamily="34" charset="0"/>
              </a:rPr>
              <a:t>exemples</a:t>
            </a:r>
            <a:r>
              <a:rPr lang="en-GB" b="0" i="0" dirty="0">
                <a:effectLst/>
                <a:latin typeface="Arial" panose="020B0604020202020204" pitchFamily="34" charset="0"/>
              </a:rPr>
              <a:t> de conversations avec un support agent de bonne </a:t>
            </a:r>
            <a:r>
              <a:rPr lang="en-GB" b="0" i="0" dirty="0" err="1">
                <a:effectLst/>
                <a:latin typeface="Arial" panose="020B0604020202020204" pitchFamily="34" charset="0"/>
              </a:rPr>
              <a:t>qualité</a:t>
            </a:r>
            <a:r>
              <a:rPr lang="en-GB" b="0" i="0" dirty="0">
                <a:effectLst/>
                <a:latin typeface="Arial" panose="020B0604020202020204" pitchFamily="34" charset="0"/>
              </a:rPr>
              <a:t> pour assurer la satisfaction</a:t>
            </a:r>
            <a:br>
              <a:rPr lang="en-GB" dirty="0"/>
            </a:br>
            <a:r>
              <a:rPr lang="en-GB" b="0" i="0" dirty="0">
                <a:effectLst/>
                <a:latin typeface="Arial" panose="020B0604020202020204" pitchFamily="34" charset="0"/>
              </a:rPr>
              <a:t>du client au </a:t>
            </a:r>
            <a:r>
              <a:rPr lang="en-GB" b="0" i="0" dirty="0" err="1">
                <a:effectLst/>
                <a:latin typeface="Arial" panose="020B0604020202020204" pitchFamily="34" charset="0"/>
              </a:rPr>
              <a:t>terme</a:t>
            </a:r>
            <a:r>
              <a:rPr lang="en-GB" b="0" i="0" dirty="0">
                <a:effectLst/>
                <a:latin typeface="Arial" panose="020B0604020202020204" pitchFamily="34" charset="0"/>
              </a:rPr>
              <a:t> de </a:t>
            </a:r>
            <a:r>
              <a:rPr lang="en-GB" b="0" i="0" dirty="0" err="1">
                <a:effectLst/>
                <a:latin typeface="Arial" panose="020B0604020202020204" pitchFamily="34" charset="0"/>
              </a:rPr>
              <a:t>l’interaction</a:t>
            </a:r>
            <a:r>
              <a:rPr lang="en-GB" b="0" i="0" dirty="0">
                <a:effectLst/>
                <a:latin typeface="Arial" panose="020B0604020202020204" pitchFamily="34" charset="0"/>
              </a:rPr>
              <a:t>.</a:t>
            </a:r>
            <a:endParaRPr lang="en-FR" dirty="0"/>
          </a:p>
        </p:txBody>
      </p:sp>
      <p:sp>
        <p:nvSpPr>
          <p:cNvPr id="4" name="Slide Number Placeholder 3">
            <a:extLst>
              <a:ext uri="{FF2B5EF4-FFF2-40B4-BE49-F238E27FC236}">
                <a16:creationId xmlns:a16="http://schemas.microsoft.com/office/drawing/2014/main" id="{E1DBDE75-9E6A-ECB3-0197-477AF4523A25}"/>
              </a:ext>
            </a:extLst>
          </p:cNvPr>
          <p:cNvSpPr>
            <a:spLocks noGrp="1"/>
          </p:cNvSpPr>
          <p:nvPr>
            <p:ph type="sldNum" sz="quarter" idx="5"/>
          </p:nvPr>
        </p:nvSpPr>
        <p:spPr/>
        <p:txBody>
          <a:bodyPr/>
          <a:lstStyle/>
          <a:p>
            <a:fld id="{9B9D85DF-2378-9545-8C3C-563839805E02}" type="slidenum">
              <a:rPr lang="en-FR" smtClean="0"/>
              <a:t>43</a:t>
            </a:fld>
            <a:endParaRPr lang="en-FR"/>
          </a:p>
        </p:txBody>
      </p:sp>
    </p:spTree>
    <p:extLst>
      <p:ext uri="{BB962C8B-B14F-4D97-AF65-F5344CB8AC3E}">
        <p14:creationId xmlns:p14="http://schemas.microsoft.com/office/powerpoint/2010/main" val="20929610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9F3FA-88D3-55CA-1E61-71FA6769F3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CE8549-0C97-7B75-F3C4-4132A21E37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C9691B-5C9E-146F-2420-111F98AC1898}"/>
              </a:ext>
            </a:extLst>
          </p:cNvPr>
          <p:cNvSpPr>
            <a:spLocks noGrp="1"/>
          </p:cNvSpPr>
          <p:nvPr>
            <p:ph type="body" idx="1"/>
          </p:nvPr>
        </p:nvSpPr>
        <p:spPr/>
        <p:txBody>
          <a:bodyPr/>
          <a:lstStyle/>
          <a:p>
            <a:r>
              <a:rPr lang="en-GB" b="0" i="0" dirty="0">
                <a:effectLst/>
                <a:latin typeface="Arial" panose="020B0604020202020204" pitchFamily="34" charset="0"/>
              </a:rPr>
              <a:t>Pour </a:t>
            </a:r>
            <a:r>
              <a:rPr lang="en-GB" b="0" i="0" dirty="0" err="1">
                <a:effectLst/>
                <a:latin typeface="Arial" panose="020B0604020202020204" pitchFamily="34" charset="0"/>
              </a:rPr>
              <a:t>l’annotation</a:t>
            </a:r>
            <a:r>
              <a:rPr lang="en-GB" b="0" i="0" dirty="0">
                <a:effectLst/>
                <a:latin typeface="Arial" panose="020B0604020202020204" pitchFamily="34" charset="0"/>
              </a:rPr>
              <a:t> au </a:t>
            </a:r>
            <a:r>
              <a:rPr lang="en-GB" b="0" i="0" dirty="0" err="1">
                <a:effectLst/>
                <a:latin typeface="Arial" panose="020B0604020202020204" pitchFamily="34" charset="0"/>
              </a:rPr>
              <a:t>niveau</a:t>
            </a:r>
            <a:r>
              <a:rPr lang="en-GB" b="0" i="0" dirty="0">
                <a:effectLst/>
                <a:latin typeface="Arial" panose="020B0604020202020204" pitchFamily="34" charset="0"/>
              </a:rPr>
              <a:t> de la conversation, nous </a:t>
            </a:r>
            <a:r>
              <a:rPr lang="en-GB" b="0" i="0" dirty="0" err="1">
                <a:effectLst/>
                <a:latin typeface="Arial" panose="020B0604020202020204" pitchFamily="34" charset="0"/>
              </a:rPr>
              <a:t>avons</a:t>
            </a:r>
            <a:r>
              <a:rPr lang="en-GB" b="0" i="0" dirty="0">
                <a:effectLst/>
                <a:latin typeface="Arial" panose="020B0604020202020204" pitchFamily="34" charset="0"/>
              </a:rPr>
              <a:t> </a:t>
            </a:r>
            <a:r>
              <a:rPr lang="en-GB" b="0" i="0" dirty="0" err="1">
                <a:effectLst/>
                <a:latin typeface="Arial" panose="020B0604020202020204" pitchFamily="34" charset="0"/>
              </a:rPr>
              <a:t>défini</a:t>
            </a:r>
            <a:br>
              <a:rPr lang="en-GB" dirty="0"/>
            </a:br>
            <a:r>
              <a:rPr lang="en-GB" b="0" i="0" dirty="0">
                <a:effectLst/>
                <a:latin typeface="Arial" panose="020B0604020202020204" pitchFamily="34" charset="0"/>
              </a:rPr>
              <a:t>trois aspects qui </a:t>
            </a:r>
            <a:r>
              <a:rPr lang="en-GB" b="0" i="0" dirty="0" err="1">
                <a:effectLst/>
                <a:latin typeface="Arial" panose="020B0604020202020204" pitchFamily="34" charset="0"/>
              </a:rPr>
              <a:t>permettent</a:t>
            </a:r>
            <a:r>
              <a:rPr lang="en-GB" b="0" i="0" dirty="0">
                <a:effectLst/>
                <a:latin typeface="Arial" panose="020B0604020202020204" pitchFamily="34" charset="0"/>
              </a:rPr>
              <a:t> </a:t>
            </a:r>
            <a:r>
              <a:rPr lang="en-GB" b="0" i="0" dirty="0" err="1">
                <a:effectLst/>
                <a:latin typeface="Arial" panose="020B0604020202020204" pitchFamily="34" charset="0"/>
              </a:rPr>
              <a:t>d’évaluer</a:t>
            </a:r>
            <a:r>
              <a:rPr lang="en-GB" b="0" i="0" dirty="0">
                <a:effectLst/>
                <a:latin typeface="Arial" panose="020B0604020202020204" pitchFamily="34" charset="0"/>
              </a:rPr>
              <a:t> le </a:t>
            </a:r>
            <a:r>
              <a:rPr lang="en-GB" b="0" i="0" dirty="0" err="1">
                <a:effectLst/>
                <a:latin typeface="Arial" panose="020B0604020202020204" pitchFamily="34" charset="0"/>
              </a:rPr>
              <a:t>ressenti</a:t>
            </a:r>
            <a:r>
              <a:rPr lang="en-GB" b="0" i="0" dirty="0">
                <a:effectLst/>
                <a:latin typeface="Arial" panose="020B0604020202020204" pitchFamily="34" charset="0"/>
              </a:rPr>
              <a:t> global de la conversation sur </a:t>
            </a:r>
            <a:r>
              <a:rPr lang="en-GB" b="0" i="0" dirty="0" err="1">
                <a:effectLst/>
                <a:latin typeface="Arial" panose="020B0604020202020204" pitchFamily="34" charset="0"/>
              </a:rPr>
              <a:t>plusieurs</a:t>
            </a:r>
            <a:r>
              <a:rPr lang="en-GB" b="0" i="0" dirty="0">
                <a:effectLst/>
                <a:latin typeface="Arial" panose="020B0604020202020204" pitchFamily="34" charset="0"/>
              </a:rPr>
              <a:t> plans. </a:t>
            </a:r>
            <a:r>
              <a:rPr lang="en-GB" b="0" i="0" dirty="0" err="1">
                <a:effectLst/>
                <a:latin typeface="Arial" panose="020B0604020202020204" pitchFamily="34" charset="0"/>
              </a:rPr>
              <a:t>Ces</a:t>
            </a:r>
            <a:br>
              <a:rPr lang="en-GB" dirty="0"/>
            </a:br>
            <a:r>
              <a:rPr lang="en-GB" b="0" i="0" dirty="0">
                <a:effectLst/>
                <a:latin typeface="Arial" panose="020B0604020202020204" pitchFamily="34" charset="0"/>
              </a:rPr>
              <a:t>indices </a:t>
            </a:r>
            <a:r>
              <a:rPr lang="en-GB" b="0" i="0" dirty="0" err="1">
                <a:effectLst/>
                <a:latin typeface="Arial" panose="020B0604020202020204" pitchFamily="34" charset="0"/>
              </a:rPr>
              <a:t>prennent</a:t>
            </a:r>
            <a:r>
              <a:rPr lang="en-GB" b="0" i="0" dirty="0">
                <a:effectLst/>
                <a:latin typeface="Arial" panose="020B0604020202020204" pitchFamily="34" charset="0"/>
              </a:rPr>
              <a:t> </a:t>
            </a:r>
            <a:r>
              <a:rPr lang="en-GB" b="0" i="0" dirty="0" err="1">
                <a:effectLst/>
                <a:latin typeface="Arial" panose="020B0604020202020204" pitchFamily="34" charset="0"/>
              </a:rPr>
              <a:t>en</a:t>
            </a:r>
            <a:r>
              <a:rPr lang="en-GB" b="0" i="0" dirty="0">
                <a:effectLst/>
                <a:latin typeface="Arial" panose="020B0604020202020204" pitchFamily="34" charset="0"/>
              </a:rPr>
              <a:t> </a:t>
            </a:r>
            <a:r>
              <a:rPr lang="en-GB" b="0" i="0" dirty="0" err="1">
                <a:effectLst/>
                <a:latin typeface="Arial" panose="020B0604020202020204" pitchFamily="34" charset="0"/>
              </a:rPr>
              <a:t>considération</a:t>
            </a:r>
            <a:r>
              <a:rPr lang="en-GB" b="0" i="0" dirty="0">
                <a:effectLst/>
                <a:latin typeface="Arial" panose="020B0604020202020204" pitchFamily="34" charset="0"/>
              </a:rPr>
              <a:t> le point de </a:t>
            </a:r>
            <a:r>
              <a:rPr lang="en-GB" b="0" i="0" dirty="0" err="1">
                <a:effectLst/>
                <a:latin typeface="Arial" panose="020B0604020202020204" pitchFamily="34" charset="0"/>
              </a:rPr>
              <a:t>vue</a:t>
            </a:r>
            <a:r>
              <a:rPr lang="en-GB" b="0" i="0" dirty="0">
                <a:effectLst/>
                <a:latin typeface="Arial" panose="020B0604020202020204" pitchFamily="34" charset="0"/>
              </a:rPr>
              <a:t> du client et la </a:t>
            </a:r>
            <a:r>
              <a:rPr lang="en-GB" b="0" i="0" dirty="0" err="1">
                <a:effectLst/>
                <a:latin typeface="Arial" panose="020B0604020202020204" pitchFamily="34" charset="0"/>
              </a:rPr>
              <a:t>qualité</a:t>
            </a:r>
            <a:r>
              <a:rPr lang="en-GB" b="0" i="0" dirty="0">
                <a:effectLst/>
                <a:latin typeface="Arial" panose="020B0604020202020204" pitchFamily="34" charset="0"/>
              </a:rPr>
              <a:t> du travail de </a:t>
            </a:r>
            <a:r>
              <a:rPr lang="en-GB" b="0" i="0" dirty="0" err="1">
                <a:effectLst/>
                <a:latin typeface="Arial" panose="020B0604020202020204" pitchFamily="34" charset="0"/>
              </a:rPr>
              <a:t>l’agent</a:t>
            </a:r>
            <a:r>
              <a:rPr lang="en-GB" b="0" i="0" dirty="0">
                <a:effectLst/>
                <a:latin typeface="Arial" panose="020B0604020202020204" pitchFamily="34" charset="0"/>
              </a:rPr>
              <a:t>. </a:t>
            </a:r>
            <a:r>
              <a:rPr lang="en-GB" b="0" i="0" dirty="0" err="1">
                <a:effectLst/>
                <a:latin typeface="Arial" panose="020B0604020202020204" pitchFamily="34" charset="0"/>
              </a:rPr>
              <a:t>Ils</a:t>
            </a:r>
            <a:br>
              <a:rPr lang="en-GB" dirty="0"/>
            </a:br>
            <a:r>
              <a:rPr lang="en-GB" b="0" i="0" dirty="0" err="1">
                <a:effectLst/>
                <a:latin typeface="Arial" panose="020B0604020202020204" pitchFamily="34" charset="0"/>
              </a:rPr>
              <a:t>permettent</a:t>
            </a:r>
            <a:r>
              <a:rPr lang="en-GB" b="0" i="0" dirty="0">
                <a:effectLst/>
                <a:latin typeface="Arial" panose="020B0604020202020204" pitchFamily="34" charset="0"/>
              </a:rPr>
              <a:t> </a:t>
            </a:r>
            <a:r>
              <a:rPr lang="en-GB" b="0" i="0" dirty="0" err="1">
                <a:effectLst/>
                <a:latin typeface="Arial" panose="020B0604020202020204" pitchFamily="34" charset="0"/>
              </a:rPr>
              <a:t>également</a:t>
            </a:r>
            <a:r>
              <a:rPr lang="en-GB" b="0" i="0" dirty="0">
                <a:effectLst/>
                <a:latin typeface="Arial" panose="020B0604020202020204" pitchFamily="34" charset="0"/>
              </a:rPr>
              <a:t> le </a:t>
            </a:r>
            <a:r>
              <a:rPr lang="en-GB" b="0" i="0" dirty="0" err="1">
                <a:effectLst/>
                <a:latin typeface="Arial" panose="020B0604020202020204" pitchFamily="34" charset="0"/>
              </a:rPr>
              <a:t>filtrage</a:t>
            </a:r>
            <a:r>
              <a:rPr lang="en-GB" b="0" i="0" dirty="0">
                <a:effectLst/>
                <a:latin typeface="Arial" panose="020B0604020202020204" pitchFamily="34" charset="0"/>
              </a:rPr>
              <a:t> des conversations, car nous </a:t>
            </a:r>
            <a:r>
              <a:rPr lang="en-GB" b="0" i="0" dirty="0" err="1">
                <a:effectLst/>
                <a:latin typeface="Arial" panose="020B0604020202020204" pitchFamily="34" charset="0"/>
              </a:rPr>
              <a:t>souhaitons</a:t>
            </a:r>
            <a:r>
              <a:rPr lang="en-GB" b="0" i="0" dirty="0">
                <a:effectLst/>
                <a:latin typeface="Arial" panose="020B0604020202020204" pitchFamily="34" charset="0"/>
              </a:rPr>
              <a:t> </a:t>
            </a:r>
            <a:r>
              <a:rPr lang="en-GB" b="0" i="0" dirty="0" err="1">
                <a:effectLst/>
                <a:latin typeface="Arial" panose="020B0604020202020204" pitchFamily="34" charset="0"/>
              </a:rPr>
              <a:t>entraîner</a:t>
            </a:r>
            <a:r>
              <a:rPr lang="en-GB" b="0" i="0" dirty="0">
                <a:effectLst/>
                <a:latin typeface="Arial" panose="020B0604020202020204" pitchFamily="34" charset="0"/>
              </a:rPr>
              <a:t> </a:t>
            </a:r>
            <a:r>
              <a:rPr lang="en-GB" b="0" i="0" dirty="0" err="1">
                <a:effectLst/>
                <a:latin typeface="Arial" panose="020B0604020202020204" pitchFamily="34" charset="0"/>
              </a:rPr>
              <a:t>nos</a:t>
            </a:r>
            <a:r>
              <a:rPr lang="en-GB" b="0" i="0" dirty="0">
                <a:effectLst/>
                <a:latin typeface="Arial" panose="020B0604020202020204" pitchFamily="34" charset="0"/>
              </a:rPr>
              <a:t> </a:t>
            </a:r>
            <a:r>
              <a:rPr lang="en-GB" b="0" i="0" dirty="0" err="1">
                <a:effectLst/>
                <a:latin typeface="Arial" panose="020B0604020202020204" pitchFamily="34" charset="0"/>
              </a:rPr>
              <a:t>modèles</a:t>
            </a:r>
            <a:r>
              <a:rPr lang="en-GB" b="0" i="0" dirty="0">
                <a:effectLst/>
                <a:latin typeface="Arial" panose="020B0604020202020204" pitchFamily="34" charset="0"/>
              </a:rPr>
              <a:t> sur de</a:t>
            </a:r>
            <a:br>
              <a:rPr lang="en-GB" dirty="0"/>
            </a:br>
            <a:r>
              <a:rPr lang="en-GB" b="0" i="0" dirty="0">
                <a:effectLst/>
                <a:latin typeface="Arial" panose="020B0604020202020204" pitchFamily="34" charset="0"/>
              </a:rPr>
              <a:t>bons </a:t>
            </a:r>
            <a:r>
              <a:rPr lang="en-GB" b="0" i="0" dirty="0" err="1">
                <a:effectLst/>
                <a:latin typeface="Arial" panose="020B0604020202020204" pitchFamily="34" charset="0"/>
              </a:rPr>
              <a:t>exemples</a:t>
            </a:r>
            <a:r>
              <a:rPr lang="en-GB" b="0" i="0" dirty="0">
                <a:effectLst/>
                <a:latin typeface="Arial" panose="020B0604020202020204" pitchFamily="34" charset="0"/>
              </a:rPr>
              <a:t> de conversations avec un support agent de bonne </a:t>
            </a:r>
            <a:r>
              <a:rPr lang="en-GB" b="0" i="0" dirty="0" err="1">
                <a:effectLst/>
                <a:latin typeface="Arial" panose="020B0604020202020204" pitchFamily="34" charset="0"/>
              </a:rPr>
              <a:t>qualité</a:t>
            </a:r>
            <a:r>
              <a:rPr lang="en-GB" b="0" i="0" dirty="0">
                <a:effectLst/>
                <a:latin typeface="Arial" panose="020B0604020202020204" pitchFamily="34" charset="0"/>
              </a:rPr>
              <a:t> pour assurer la satisfaction</a:t>
            </a:r>
            <a:br>
              <a:rPr lang="en-GB" dirty="0"/>
            </a:br>
            <a:r>
              <a:rPr lang="en-GB" b="0" i="0" dirty="0">
                <a:effectLst/>
                <a:latin typeface="Arial" panose="020B0604020202020204" pitchFamily="34" charset="0"/>
              </a:rPr>
              <a:t>du client au </a:t>
            </a:r>
            <a:r>
              <a:rPr lang="en-GB" b="0" i="0" dirty="0" err="1">
                <a:effectLst/>
                <a:latin typeface="Arial" panose="020B0604020202020204" pitchFamily="34" charset="0"/>
              </a:rPr>
              <a:t>terme</a:t>
            </a:r>
            <a:r>
              <a:rPr lang="en-GB" b="0" i="0" dirty="0">
                <a:effectLst/>
                <a:latin typeface="Arial" panose="020B0604020202020204" pitchFamily="34" charset="0"/>
              </a:rPr>
              <a:t> de </a:t>
            </a:r>
            <a:r>
              <a:rPr lang="en-GB" b="0" i="0" dirty="0" err="1">
                <a:effectLst/>
                <a:latin typeface="Arial" panose="020B0604020202020204" pitchFamily="34" charset="0"/>
              </a:rPr>
              <a:t>l’interaction</a:t>
            </a:r>
            <a:r>
              <a:rPr lang="en-GB" b="0" i="0" dirty="0">
                <a:effectLst/>
                <a:latin typeface="Arial" panose="020B0604020202020204" pitchFamily="34" charset="0"/>
              </a:rPr>
              <a:t>.</a:t>
            </a:r>
            <a:endParaRPr lang="en-FR" dirty="0"/>
          </a:p>
        </p:txBody>
      </p:sp>
      <p:sp>
        <p:nvSpPr>
          <p:cNvPr id="4" name="Slide Number Placeholder 3">
            <a:extLst>
              <a:ext uri="{FF2B5EF4-FFF2-40B4-BE49-F238E27FC236}">
                <a16:creationId xmlns:a16="http://schemas.microsoft.com/office/drawing/2014/main" id="{6D408C8D-9550-4A6D-C644-9BFBE84481B5}"/>
              </a:ext>
            </a:extLst>
          </p:cNvPr>
          <p:cNvSpPr>
            <a:spLocks noGrp="1"/>
          </p:cNvSpPr>
          <p:nvPr>
            <p:ph type="sldNum" sz="quarter" idx="5"/>
          </p:nvPr>
        </p:nvSpPr>
        <p:spPr/>
        <p:txBody>
          <a:bodyPr/>
          <a:lstStyle/>
          <a:p>
            <a:fld id="{9B9D85DF-2378-9545-8C3C-563839805E02}" type="slidenum">
              <a:rPr lang="en-FR" smtClean="0"/>
              <a:t>44</a:t>
            </a:fld>
            <a:endParaRPr lang="en-FR"/>
          </a:p>
        </p:txBody>
      </p:sp>
    </p:spTree>
    <p:extLst>
      <p:ext uri="{BB962C8B-B14F-4D97-AF65-F5344CB8AC3E}">
        <p14:creationId xmlns:p14="http://schemas.microsoft.com/office/powerpoint/2010/main" val="16521701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396B4-EF90-2B2C-E143-681DE2D758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9BE69-A1B2-D011-4058-C72F630801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E8EAA8-B2FE-D8B5-D2E1-4F3BEFB7B0DB}"/>
              </a:ext>
            </a:extLst>
          </p:cNvPr>
          <p:cNvSpPr>
            <a:spLocks noGrp="1"/>
          </p:cNvSpPr>
          <p:nvPr>
            <p:ph type="body" idx="1"/>
          </p:nvPr>
        </p:nvSpPr>
        <p:spPr/>
        <p:txBody>
          <a:bodyPr/>
          <a:lstStyle/>
          <a:p>
            <a:endParaRPr lang="en-FR" dirty="0"/>
          </a:p>
        </p:txBody>
      </p:sp>
      <p:sp>
        <p:nvSpPr>
          <p:cNvPr id="4" name="Slide Number Placeholder 3">
            <a:extLst>
              <a:ext uri="{FF2B5EF4-FFF2-40B4-BE49-F238E27FC236}">
                <a16:creationId xmlns:a16="http://schemas.microsoft.com/office/drawing/2014/main" id="{64852084-E61A-0B59-FB4B-E74C591CE624}"/>
              </a:ext>
            </a:extLst>
          </p:cNvPr>
          <p:cNvSpPr>
            <a:spLocks noGrp="1"/>
          </p:cNvSpPr>
          <p:nvPr>
            <p:ph type="sldNum" sz="quarter" idx="5"/>
          </p:nvPr>
        </p:nvSpPr>
        <p:spPr/>
        <p:txBody>
          <a:bodyPr/>
          <a:lstStyle/>
          <a:p>
            <a:fld id="{9B9D85DF-2378-9545-8C3C-563839805E02}" type="slidenum">
              <a:rPr lang="en-FR" smtClean="0"/>
              <a:t>45</a:t>
            </a:fld>
            <a:endParaRPr lang="en-FR"/>
          </a:p>
        </p:txBody>
      </p:sp>
    </p:spTree>
    <p:extLst>
      <p:ext uri="{BB962C8B-B14F-4D97-AF65-F5344CB8AC3E}">
        <p14:creationId xmlns:p14="http://schemas.microsoft.com/office/powerpoint/2010/main" val="41815594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0D69B-FD4D-6F4C-10F3-DB324B117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231D16-C5D4-EF5E-DCBB-55F1584CD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EC003F-38DC-5680-227B-D14FA053E8BF}"/>
              </a:ext>
            </a:extLst>
          </p:cNvPr>
          <p:cNvSpPr>
            <a:spLocks noGrp="1"/>
          </p:cNvSpPr>
          <p:nvPr>
            <p:ph type="body" idx="1"/>
          </p:nvPr>
        </p:nvSpPr>
        <p:spPr/>
        <p:txBody>
          <a:bodyPr/>
          <a:lstStyle/>
          <a:p>
            <a:endParaRPr lang="en-FR" dirty="0"/>
          </a:p>
        </p:txBody>
      </p:sp>
      <p:sp>
        <p:nvSpPr>
          <p:cNvPr id="4" name="Slide Number Placeholder 3">
            <a:extLst>
              <a:ext uri="{FF2B5EF4-FFF2-40B4-BE49-F238E27FC236}">
                <a16:creationId xmlns:a16="http://schemas.microsoft.com/office/drawing/2014/main" id="{5305ADAC-B942-8B8E-72EC-6E85DD2B2C8D}"/>
              </a:ext>
            </a:extLst>
          </p:cNvPr>
          <p:cNvSpPr>
            <a:spLocks noGrp="1"/>
          </p:cNvSpPr>
          <p:nvPr>
            <p:ph type="sldNum" sz="quarter" idx="5"/>
          </p:nvPr>
        </p:nvSpPr>
        <p:spPr/>
        <p:txBody>
          <a:bodyPr/>
          <a:lstStyle/>
          <a:p>
            <a:fld id="{9B9D85DF-2378-9545-8C3C-563839805E02}" type="slidenum">
              <a:rPr lang="en-FR" smtClean="0"/>
              <a:t>46</a:t>
            </a:fld>
            <a:endParaRPr lang="en-FR"/>
          </a:p>
        </p:txBody>
      </p:sp>
    </p:spTree>
    <p:extLst>
      <p:ext uri="{BB962C8B-B14F-4D97-AF65-F5344CB8AC3E}">
        <p14:creationId xmlns:p14="http://schemas.microsoft.com/office/powerpoint/2010/main" val="32703479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2AA6C-886D-D006-77F9-371367BED5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309E7-7222-CB36-6409-DA186A9117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CEEE92-8D61-4E42-64DC-F6AD73ED0E04}"/>
              </a:ext>
            </a:extLst>
          </p:cNvPr>
          <p:cNvSpPr>
            <a:spLocks noGrp="1"/>
          </p:cNvSpPr>
          <p:nvPr>
            <p:ph type="body" idx="1"/>
          </p:nvPr>
        </p:nvSpPr>
        <p:spPr/>
        <p:txBody>
          <a:bodyPr/>
          <a:lstStyle/>
          <a:p>
            <a:endParaRPr lang="en-FR" dirty="0"/>
          </a:p>
        </p:txBody>
      </p:sp>
      <p:sp>
        <p:nvSpPr>
          <p:cNvPr id="4" name="Slide Number Placeholder 3">
            <a:extLst>
              <a:ext uri="{FF2B5EF4-FFF2-40B4-BE49-F238E27FC236}">
                <a16:creationId xmlns:a16="http://schemas.microsoft.com/office/drawing/2014/main" id="{BD16E23C-04AB-58E2-5BFB-EE7DAE47B116}"/>
              </a:ext>
            </a:extLst>
          </p:cNvPr>
          <p:cNvSpPr>
            <a:spLocks noGrp="1"/>
          </p:cNvSpPr>
          <p:nvPr>
            <p:ph type="sldNum" sz="quarter" idx="5"/>
          </p:nvPr>
        </p:nvSpPr>
        <p:spPr/>
        <p:txBody>
          <a:bodyPr/>
          <a:lstStyle/>
          <a:p>
            <a:fld id="{9B9D85DF-2378-9545-8C3C-563839805E02}" type="slidenum">
              <a:rPr lang="en-FR" smtClean="0"/>
              <a:t>47</a:t>
            </a:fld>
            <a:endParaRPr lang="en-FR"/>
          </a:p>
        </p:txBody>
      </p:sp>
    </p:spTree>
    <p:extLst>
      <p:ext uri="{BB962C8B-B14F-4D97-AF65-F5344CB8AC3E}">
        <p14:creationId xmlns:p14="http://schemas.microsoft.com/office/powerpoint/2010/main" val="41403386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2A9AA-CAEA-3A7B-1877-33B73FB23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58739-6D3A-020E-54FA-766BED3B80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D09B1E-4F9C-1495-46BF-5A95FD687C19}"/>
              </a:ext>
            </a:extLst>
          </p:cNvPr>
          <p:cNvSpPr>
            <a:spLocks noGrp="1"/>
          </p:cNvSpPr>
          <p:nvPr>
            <p:ph type="body" idx="1"/>
          </p:nvPr>
        </p:nvSpPr>
        <p:spPr/>
        <p:txBody>
          <a:bodyPr/>
          <a:lstStyle/>
          <a:p>
            <a:endParaRPr lang="en-FR" dirty="0"/>
          </a:p>
        </p:txBody>
      </p:sp>
      <p:sp>
        <p:nvSpPr>
          <p:cNvPr id="4" name="Slide Number Placeholder 3">
            <a:extLst>
              <a:ext uri="{FF2B5EF4-FFF2-40B4-BE49-F238E27FC236}">
                <a16:creationId xmlns:a16="http://schemas.microsoft.com/office/drawing/2014/main" id="{E307AF60-EA3D-E2C2-2B77-1E66FBE07318}"/>
              </a:ext>
            </a:extLst>
          </p:cNvPr>
          <p:cNvSpPr>
            <a:spLocks noGrp="1"/>
          </p:cNvSpPr>
          <p:nvPr>
            <p:ph type="sldNum" sz="quarter" idx="5"/>
          </p:nvPr>
        </p:nvSpPr>
        <p:spPr/>
        <p:txBody>
          <a:bodyPr/>
          <a:lstStyle/>
          <a:p>
            <a:fld id="{9B9D85DF-2378-9545-8C3C-563839805E02}" type="slidenum">
              <a:rPr lang="en-FR" smtClean="0"/>
              <a:t>48</a:t>
            </a:fld>
            <a:endParaRPr lang="en-FR"/>
          </a:p>
        </p:txBody>
      </p:sp>
    </p:spTree>
    <p:extLst>
      <p:ext uri="{BB962C8B-B14F-4D97-AF65-F5344CB8AC3E}">
        <p14:creationId xmlns:p14="http://schemas.microsoft.com/office/powerpoint/2010/main" val="33862442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C5A2F-3BE1-D8ED-14FF-1CFA4B711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DE1E3E-4E9A-3379-D294-5FCA82FB52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C28496-4884-162E-0703-3E8AC97E8516}"/>
              </a:ext>
            </a:extLst>
          </p:cNvPr>
          <p:cNvSpPr>
            <a:spLocks noGrp="1"/>
          </p:cNvSpPr>
          <p:nvPr>
            <p:ph type="body" idx="1"/>
          </p:nvPr>
        </p:nvSpPr>
        <p:spPr/>
        <p:txBody>
          <a:bodyPr/>
          <a:lstStyle/>
          <a:p>
            <a:endParaRPr lang="en-FR" dirty="0"/>
          </a:p>
        </p:txBody>
      </p:sp>
      <p:sp>
        <p:nvSpPr>
          <p:cNvPr id="4" name="Slide Number Placeholder 3">
            <a:extLst>
              <a:ext uri="{FF2B5EF4-FFF2-40B4-BE49-F238E27FC236}">
                <a16:creationId xmlns:a16="http://schemas.microsoft.com/office/drawing/2014/main" id="{F1993F00-DF27-BC8D-368A-831D1DE579B1}"/>
              </a:ext>
            </a:extLst>
          </p:cNvPr>
          <p:cNvSpPr>
            <a:spLocks noGrp="1"/>
          </p:cNvSpPr>
          <p:nvPr>
            <p:ph type="sldNum" sz="quarter" idx="5"/>
          </p:nvPr>
        </p:nvSpPr>
        <p:spPr/>
        <p:txBody>
          <a:bodyPr/>
          <a:lstStyle/>
          <a:p>
            <a:fld id="{9B9D85DF-2378-9545-8C3C-563839805E02}" type="slidenum">
              <a:rPr lang="en-FR" smtClean="0"/>
              <a:t>49</a:t>
            </a:fld>
            <a:endParaRPr lang="en-FR"/>
          </a:p>
        </p:txBody>
      </p:sp>
    </p:spTree>
    <p:extLst>
      <p:ext uri="{BB962C8B-B14F-4D97-AF65-F5344CB8AC3E}">
        <p14:creationId xmlns:p14="http://schemas.microsoft.com/office/powerpoint/2010/main" val="22326932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07BC2-70EE-FACC-DB76-A451919A6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1914B9-FC35-9061-31FC-A47C2DBB4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E92E47-5831-7746-F61B-61DC71903CDD}"/>
              </a:ext>
            </a:extLst>
          </p:cNvPr>
          <p:cNvSpPr>
            <a:spLocks noGrp="1"/>
          </p:cNvSpPr>
          <p:nvPr>
            <p:ph type="body" idx="1"/>
          </p:nvPr>
        </p:nvSpPr>
        <p:spPr/>
        <p:txBody>
          <a:bodyPr/>
          <a:lstStyle/>
          <a:p>
            <a:endParaRPr lang="en-FR" dirty="0"/>
          </a:p>
        </p:txBody>
      </p:sp>
      <p:sp>
        <p:nvSpPr>
          <p:cNvPr id="4" name="Slide Number Placeholder 3">
            <a:extLst>
              <a:ext uri="{FF2B5EF4-FFF2-40B4-BE49-F238E27FC236}">
                <a16:creationId xmlns:a16="http://schemas.microsoft.com/office/drawing/2014/main" id="{3E89A8E6-362E-4083-5F66-CBC3D22E265C}"/>
              </a:ext>
            </a:extLst>
          </p:cNvPr>
          <p:cNvSpPr>
            <a:spLocks noGrp="1"/>
          </p:cNvSpPr>
          <p:nvPr>
            <p:ph type="sldNum" sz="quarter" idx="5"/>
          </p:nvPr>
        </p:nvSpPr>
        <p:spPr/>
        <p:txBody>
          <a:bodyPr/>
          <a:lstStyle/>
          <a:p>
            <a:fld id="{9B9D85DF-2378-9545-8C3C-563839805E02}" type="slidenum">
              <a:rPr lang="en-FR" smtClean="0"/>
              <a:t>50</a:t>
            </a:fld>
            <a:endParaRPr lang="en-FR"/>
          </a:p>
        </p:txBody>
      </p:sp>
    </p:spTree>
    <p:extLst>
      <p:ext uri="{BB962C8B-B14F-4D97-AF65-F5344CB8AC3E}">
        <p14:creationId xmlns:p14="http://schemas.microsoft.com/office/powerpoint/2010/main" val="31876350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2E32-81FB-73D8-A1F3-6843805F99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79AE40-0A10-2741-B395-7A935AB065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C8A285-1B58-8A39-02D7-DA458D131C5B}"/>
              </a:ext>
            </a:extLst>
          </p:cNvPr>
          <p:cNvSpPr>
            <a:spLocks noGrp="1"/>
          </p:cNvSpPr>
          <p:nvPr>
            <p:ph type="body" idx="1"/>
          </p:nvPr>
        </p:nvSpPr>
        <p:spPr/>
        <p:txBody>
          <a:bodyPr/>
          <a:lstStyle/>
          <a:p>
            <a:endParaRPr lang="en-FR" dirty="0"/>
          </a:p>
        </p:txBody>
      </p:sp>
      <p:sp>
        <p:nvSpPr>
          <p:cNvPr id="4" name="Slide Number Placeholder 3">
            <a:extLst>
              <a:ext uri="{FF2B5EF4-FFF2-40B4-BE49-F238E27FC236}">
                <a16:creationId xmlns:a16="http://schemas.microsoft.com/office/drawing/2014/main" id="{23353B4E-FA54-CDB1-975C-80BE03C6AF8A}"/>
              </a:ext>
            </a:extLst>
          </p:cNvPr>
          <p:cNvSpPr>
            <a:spLocks noGrp="1"/>
          </p:cNvSpPr>
          <p:nvPr>
            <p:ph type="sldNum" sz="quarter" idx="5"/>
          </p:nvPr>
        </p:nvSpPr>
        <p:spPr/>
        <p:txBody>
          <a:bodyPr/>
          <a:lstStyle/>
          <a:p>
            <a:fld id="{9B9D85DF-2378-9545-8C3C-563839805E02}" type="slidenum">
              <a:rPr lang="en-FR" smtClean="0"/>
              <a:t>51</a:t>
            </a:fld>
            <a:endParaRPr lang="en-FR"/>
          </a:p>
        </p:txBody>
      </p:sp>
    </p:spTree>
    <p:extLst>
      <p:ext uri="{BB962C8B-B14F-4D97-AF65-F5344CB8AC3E}">
        <p14:creationId xmlns:p14="http://schemas.microsoft.com/office/powerpoint/2010/main" val="31020379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7F66A-C909-DCF2-D28F-03A9CBC5BF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B7C570-3BA8-E6B8-9C8A-35B969A09A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BFCCBF-CE23-0351-277E-6801E3524AF4}"/>
              </a:ext>
            </a:extLst>
          </p:cNvPr>
          <p:cNvSpPr>
            <a:spLocks noGrp="1"/>
          </p:cNvSpPr>
          <p:nvPr>
            <p:ph type="body" idx="1"/>
          </p:nvPr>
        </p:nvSpPr>
        <p:spPr/>
        <p:txBody>
          <a:bodyPr/>
          <a:lstStyle/>
          <a:p>
            <a:endParaRPr lang="en-FR" dirty="0"/>
          </a:p>
        </p:txBody>
      </p:sp>
      <p:sp>
        <p:nvSpPr>
          <p:cNvPr id="4" name="Slide Number Placeholder 3">
            <a:extLst>
              <a:ext uri="{FF2B5EF4-FFF2-40B4-BE49-F238E27FC236}">
                <a16:creationId xmlns:a16="http://schemas.microsoft.com/office/drawing/2014/main" id="{89E6AE30-F3F4-F115-610A-2B65380E8D57}"/>
              </a:ext>
            </a:extLst>
          </p:cNvPr>
          <p:cNvSpPr>
            <a:spLocks noGrp="1"/>
          </p:cNvSpPr>
          <p:nvPr>
            <p:ph type="sldNum" sz="quarter" idx="5"/>
          </p:nvPr>
        </p:nvSpPr>
        <p:spPr/>
        <p:txBody>
          <a:bodyPr/>
          <a:lstStyle/>
          <a:p>
            <a:fld id="{9B9D85DF-2378-9545-8C3C-563839805E02}" type="slidenum">
              <a:rPr lang="en-FR" smtClean="0"/>
              <a:t>52</a:t>
            </a:fld>
            <a:endParaRPr lang="en-FR"/>
          </a:p>
        </p:txBody>
      </p:sp>
    </p:spTree>
    <p:extLst>
      <p:ext uri="{BB962C8B-B14F-4D97-AF65-F5344CB8AC3E}">
        <p14:creationId xmlns:p14="http://schemas.microsoft.com/office/powerpoint/2010/main" val="31753316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16883-3DDB-1489-F9E8-3AF53F8AB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63B2F0-D8E5-D79B-D701-2E84B71CDF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35A61B-A10A-A182-03CD-D497CB72228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rgbClr val="A5AFF5"/>
                </a:solidFill>
                <a:latin typeface="Poppins" pitchFamily="2" charset="77"/>
                <a:cs typeface="Poppins" pitchFamily="2" charset="77"/>
              </a:rPr>
              <a:t>Automatic metrics, like human evaluation, plainly seem to prefer end-to-end and Naive planning, as the other schemes display generally poor results. They are presented in Table \ref{tab:autometric2}. According to automatic metrics, the best-performing systems are Qwen end-to-end and Qwen Naive, which do echo human ratings. However, the trends are different, as automatic results, such as </a:t>
            </a:r>
            <a:r>
              <a:rPr lang="en-GB" dirty="0" err="1">
                <a:solidFill>
                  <a:srgbClr val="A5AFF5"/>
                </a:solidFill>
                <a:latin typeface="Poppins" pitchFamily="2" charset="77"/>
                <a:cs typeface="Poppins" pitchFamily="2" charset="77"/>
              </a:rPr>
              <a:t>sacreBLEU</a:t>
            </a:r>
            <a:r>
              <a:rPr lang="en-GB" dirty="0">
                <a:solidFill>
                  <a:srgbClr val="A5AFF5"/>
                </a:solidFill>
                <a:latin typeface="Poppins" pitchFamily="2" charset="77"/>
                <a:cs typeface="Poppins" pitchFamily="2" charset="77"/>
              </a:rPr>
              <a:t>, ROUGE or the </a:t>
            </a:r>
            <a:r>
              <a:rPr lang="en-GB" dirty="0" err="1">
                <a:solidFill>
                  <a:srgbClr val="A5AFF5"/>
                </a:solidFill>
                <a:latin typeface="Poppins" pitchFamily="2" charset="77"/>
                <a:cs typeface="Poppins" pitchFamily="2" charset="77"/>
              </a:rPr>
              <a:t>BERTscore</a:t>
            </a:r>
            <a:r>
              <a:rPr lang="en-GB" dirty="0">
                <a:solidFill>
                  <a:srgbClr val="A5AFF5"/>
                </a:solidFill>
                <a:latin typeface="Poppins" pitchFamily="2" charset="77"/>
                <a:cs typeface="Poppins" pitchFamily="2" charset="77"/>
              </a:rPr>
              <a:t>, favour end-to-end approaches.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solidFill>
                <a:srgbClr val="A5AFF5"/>
              </a:solidFill>
              <a:latin typeface="Poppins" pitchFamily="2" charset="77"/>
              <a:cs typeface="Poppins"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rgbClr val="A5AFF5"/>
                </a:solidFill>
                <a:latin typeface="Poppins" pitchFamily="2" charset="77"/>
                <a:cs typeface="Poppins" pitchFamily="2" charset="77"/>
              </a:rPr>
              <a:t>Perplexity results are perplexing, to say the least. The human ground truth has a score of 1357, which is extremely high, and only approached by the multi-step planning schemes. Usually, PPL must be minimised, but in that case, it becomes complicated to compare the scores with a seemingly abnormal ground truth. Other models show more appropriate scores, which shows that the problem does not lie in the code, but elsewhere. Scores such as METEOR or BERT-context show very little variation and do not seem to provide any insight into the quality of the answer.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solidFill>
                <a:srgbClr val="A5AFF5"/>
              </a:solidFill>
              <a:latin typeface="Poppins" pitchFamily="2" charset="77"/>
              <a:cs typeface="Poppins"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rgbClr val="A5AFF5"/>
                </a:solidFill>
                <a:latin typeface="Poppins" pitchFamily="2" charset="77"/>
                <a:cs typeface="Poppins" pitchFamily="2" charset="77"/>
              </a:rPr>
              <a:t>Semantic and Linguistic diversity both seem to present a slight improvement for all planning schemes compared to end-to-end alternatives. Emotional F1-score, computed by comparing emotions predicted by a </a:t>
            </a:r>
            <a:r>
              <a:rPr lang="en-GB" dirty="0" err="1">
                <a:solidFill>
                  <a:srgbClr val="A5AFF5"/>
                </a:solidFill>
                <a:latin typeface="Poppins" pitchFamily="2" charset="77"/>
                <a:cs typeface="Poppins" pitchFamily="2" charset="77"/>
              </a:rPr>
              <a:t>camemBERT</a:t>
            </a:r>
            <a:r>
              <a:rPr lang="en-GB" dirty="0">
                <a:solidFill>
                  <a:srgbClr val="A5AFF5"/>
                </a:solidFill>
                <a:latin typeface="Poppins" pitchFamily="2" charset="77"/>
                <a:cs typeface="Poppins" pitchFamily="2" charset="77"/>
              </a:rPr>
              <a:t> classifier with the ground truth, also shows a preference for approaches involving planning. As for dialogue strategies, </a:t>
            </a:r>
            <a:r>
              <a:rPr lang="en-GB" dirty="0" err="1">
                <a:solidFill>
                  <a:srgbClr val="A5AFF5"/>
                </a:solidFill>
                <a:latin typeface="Poppins" pitchFamily="2" charset="77"/>
                <a:cs typeface="Poppins" pitchFamily="2" charset="77"/>
              </a:rPr>
              <a:t>Levenshtein</a:t>
            </a:r>
            <a:r>
              <a:rPr lang="en-GB" dirty="0">
                <a:solidFill>
                  <a:srgbClr val="A5AFF5"/>
                </a:solidFill>
                <a:latin typeface="Poppins" pitchFamily="2" charset="77"/>
                <a:cs typeface="Poppins" pitchFamily="2" charset="77"/>
              </a:rPr>
              <a:t> Similarity compares predicted strategies with the ground truth by considering order, clearly prefers end-to-end models, where Jaccard Similarity, which does not take order into account, shows a constant improvement for planning-based schemes over direct generation.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solidFill>
                <a:srgbClr val="A5AFF5"/>
              </a:solidFill>
              <a:latin typeface="Poppins" pitchFamily="2" charset="77"/>
              <a:cs typeface="Poppins"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rgbClr val="A5AFF5"/>
                </a:solidFill>
                <a:latin typeface="Poppins" pitchFamily="2" charset="77"/>
                <a:cs typeface="Poppins" pitchFamily="2" charset="77"/>
              </a:rPr>
              <a:t>Emotional and Social relevance, represented respectively by Emotion F1-score and </a:t>
            </a:r>
            <a:r>
              <a:rPr lang="en-GB" dirty="0" err="1">
                <a:solidFill>
                  <a:srgbClr val="A5AFF5"/>
                </a:solidFill>
                <a:latin typeface="Poppins" pitchFamily="2" charset="77"/>
                <a:cs typeface="Poppins" pitchFamily="2" charset="77"/>
              </a:rPr>
              <a:t>Levenshtein</a:t>
            </a:r>
            <a:r>
              <a:rPr lang="en-GB" dirty="0">
                <a:solidFill>
                  <a:srgbClr val="A5AFF5"/>
                </a:solidFill>
                <a:latin typeface="Poppins" pitchFamily="2" charset="77"/>
                <a:cs typeface="Poppins" pitchFamily="2" charset="77"/>
              </a:rPr>
              <a:t> and Jaccard Similarity, were based on the output of fine-tuned classifiers that predicted both emotions and sequences of strategies for all generated responses. End-to-end approaches seem to perform a little bit better on these metrics, which contradicts the results of the human evaluation.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solidFill>
                <a:srgbClr val="A5AFF5"/>
              </a:solidFill>
              <a:latin typeface="Poppins" pitchFamily="2" charset="77"/>
              <a:cs typeface="Poppins"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rgbClr val="A5AFF5"/>
                </a:solidFill>
                <a:latin typeface="Poppins" pitchFamily="2" charset="77"/>
                <a:cs typeface="Poppins" pitchFamily="2" charset="77"/>
              </a:rPr>
              <a:t>To conclude, the best approaches are naive planning and e2e generation. Where some automatic metrics favour the 1-step planning and others prefer end-to-end responses, human evaluation provides higher ratings for naive 1-step planning. In contrast, more complex planning, such as multi-step prompting, performed poorly across all metrics, both human and automatic. While we had hypothesised that letting the model generate a response plan and apply it would make the approach more generalisable, it seems to have failed. We thought that the model would prefer its own explanation and instructions rather than the more general instructions from the naive approach, but it does not seem to be the case. We also noticed that the models did not follow instructions very well, as the 3-Step planning was explicitly asked to provide shorter answers, but on average, they tend to output long responses.</a:t>
            </a:r>
            <a:endParaRPr lang="en-FR" dirty="0"/>
          </a:p>
        </p:txBody>
      </p:sp>
      <p:sp>
        <p:nvSpPr>
          <p:cNvPr id="4" name="Slide Number Placeholder 3">
            <a:extLst>
              <a:ext uri="{FF2B5EF4-FFF2-40B4-BE49-F238E27FC236}">
                <a16:creationId xmlns:a16="http://schemas.microsoft.com/office/drawing/2014/main" id="{06473861-A648-5723-75C2-AEF1E91C49D8}"/>
              </a:ext>
            </a:extLst>
          </p:cNvPr>
          <p:cNvSpPr>
            <a:spLocks noGrp="1"/>
          </p:cNvSpPr>
          <p:nvPr>
            <p:ph type="sldNum" sz="quarter" idx="5"/>
          </p:nvPr>
        </p:nvSpPr>
        <p:spPr/>
        <p:txBody>
          <a:bodyPr/>
          <a:lstStyle/>
          <a:p>
            <a:fld id="{9B9D85DF-2378-9545-8C3C-563839805E02}" type="slidenum">
              <a:rPr lang="en-FR" smtClean="0"/>
              <a:t>53</a:t>
            </a:fld>
            <a:endParaRPr lang="en-FR"/>
          </a:p>
        </p:txBody>
      </p:sp>
    </p:spTree>
    <p:extLst>
      <p:ext uri="{BB962C8B-B14F-4D97-AF65-F5344CB8AC3E}">
        <p14:creationId xmlns:p14="http://schemas.microsoft.com/office/powerpoint/2010/main" val="31943731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3082D-F569-D6E5-E83E-5ECFC8AA5A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2849B-0808-9E16-585B-2095E5FF54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4F1D76-C78A-7C11-62B8-DDC35C12D2E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FR" sz="1200" dirty="0">
              <a:solidFill>
                <a:srgbClr val="A5AFF5"/>
              </a:solidFill>
            </a:endParaRPr>
          </a:p>
        </p:txBody>
      </p:sp>
      <p:sp>
        <p:nvSpPr>
          <p:cNvPr id="4" name="Slide Number Placeholder 3">
            <a:extLst>
              <a:ext uri="{FF2B5EF4-FFF2-40B4-BE49-F238E27FC236}">
                <a16:creationId xmlns:a16="http://schemas.microsoft.com/office/drawing/2014/main" id="{467FABA9-DD4F-5FA0-64EE-6939AB8008C3}"/>
              </a:ext>
            </a:extLst>
          </p:cNvPr>
          <p:cNvSpPr>
            <a:spLocks noGrp="1"/>
          </p:cNvSpPr>
          <p:nvPr>
            <p:ph type="sldNum" sz="quarter" idx="5"/>
          </p:nvPr>
        </p:nvSpPr>
        <p:spPr/>
        <p:txBody>
          <a:bodyPr/>
          <a:lstStyle/>
          <a:p>
            <a:fld id="{9B9D85DF-2378-9545-8C3C-563839805E02}" type="slidenum">
              <a:rPr lang="en-FR" smtClean="0"/>
              <a:t>54</a:t>
            </a:fld>
            <a:endParaRPr lang="en-FR"/>
          </a:p>
        </p:txBody>
      </p:sp>
    </p:spTree>
    <p:extLst>
      <p:ext uri="{BB962C8B-B14F-4D97-AF65-F5344CB8AC3E}">
        <p14:creationId xmlns:p14="http://schemas.microsoft.com/office/powerpoint/2010/main" val="157986283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98058-89F8-3A11-DEF6-C155A87C5C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27BC2A-73B7-9F5F-C5FD-3F31FB8E59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8EF8FA-972B-DE12-42A6-74CBBAD06121}"/>
              </a:ext>
            </a:extLst>
          </p:cNvPr>
          <p:cNvSpPr>
            <a:spLocks noGrp="1"/>
          </p:cNvSpPr>
          <p:nvPr>
            <p:ph type="body" idx="1"/>
          </p:nvPr>
        </p:nvSpPr>
        <p:spPr/>
        <p:txBody>
          <a:bodyPr/>
          <a:lstStyle/>
          <a:p>
            <a:r>
              <a:rPr lang="fr-FR" dirty="0" err="1"/>
              <a:t>Loss</a:t>
            </a:r>
            <a:r>
              <a:rPr lang="fr-FR" dirty="0"/>
              <a:t> of </a:t>
            </a:r>
            <a:r>
              <a:rPr lang="fr-FR" dirty="0" err="1"/>
              <a:t>some</a:t>
            </a:r>
            <a:r>
              <a:rPr lang="fr-FR" dirty="0"/>
              <a:t> (but not all) information </a:t>
            </a:r>
            <a:r>
              <a:rPr lang="fr-FR" dirty="0" err="1"/>
              <a:t>such</a:t>
            </a:r>
            <a:r>
              <a:rPr lang="fr-FR" dirty="0"/>
              <a:t> as </a:t>
            </a:r>
            <a:r>
              <a:rPr lang="fr-FR" dirty="0" err="1"/>
              <a:t>hesitations</a:t>
            </a:r>
            <a:r>
              <a:rPr lang="fr-FR" dirty="0"/>
              <a:t> as a compromise to </a:t>
            </a:r>
            <a:r>
              <a:rPr lang="fr-FR" dirty="0" err="1"/>
              <a:t>create</a:t>
            </a:r>
            <a:r>
              <a:rPr lang="fr-FR" dirty="0"/>
              <a:t> a </a:t>
            </a:r>
            <a:r>
              <a:rPr lang="fr-FR" dirty="0" err="1"/>
              <a:t>dataset</a:t>
            </a:r>
            <a:r>
              <a:rPr lang="fr-FR" dirty="0"/>
              <a:t> </a:t>
            </a:r>
            <a:r>
              <a:rPr lang="fr-FR" dirty="0" err="1"/>
              <a:t>that</a:t>
            </a:r>
            <a:r>
              <a:rPr lang="fr-FR" dirty="0"/>
              <a:t> can </a:t>
            </a:r>
            <a:r>
              <a:rPr lang="fr-FR" dirty="0" err="1"/>
              <a:t>be</a:t>
            </a:r>
            <a:r>
              <a:rPr lang="fr-FR" dirty="0"/>
              <a:t> </a:t>
            </a:r>
            <a:r>
              <a:rPr lang="fr-FR" dirty="0" err="1"/>
              <a:t>used</a:t>
            </a:r>
            <a:r>
              <a:rPr lang="fr-FR" dirty="0"/>
              <a:t> for </a:t>
            </a:r>
            <a:r>
              <a:rPr lang="fr-FR" dirty="0" err="1"/>
              <a:t>both</a:t>
            </a:r>
            <a:r>
              <a:rPr lang="fr-FR" dirty="0"/>
              <a:t> </a:t>
            </a:r>
            <a:r>
              <a:rPr lang="fr-FR" dirty="0" err="1"/>
              <a:t>text</a:t>
            </a:r>
            <a:r>
              <a:rPr lang="fr-FR" dirty="0"/>
              <a:t> and oral </a:t>
            </a:r>
            <a:r>
              <a:rPr lang="fr-FR" dirty="0" err="1"/>
              <a:t>systems</a:t>
            </a:r>
            <a:endParaRPr lang="en-FR" dirty="0"/>
          </a:p>
        </p:txBody>
      </p:sp>
      <p:sp>
        <p:nvSpPr>
          <p:cNvPr id="4" name="Slide Number Placeholder 3">
            <a:extLst>
              <a:ext uri="{FF2B5EF4-FFF2-40B4-BE49-F238E27FC236}">
                <a16:creationId xmlns:a16="http://schemas.microsoft.com/office/drawing/2014/main" id="{F92529D6-D5F8-A836-8ABC-34D56BB7EC8D}"/>
              </a:ext>
            </a:extLst>
          </p:cNvPr>
          <p:cNvSpPr>
            <a:spLocks noGrp="1"/>
          </p:cNvSpPr>
          <p:nvPr>
            <p:ph type="sldNum" sz="quarter" idx="5"/>
          </p:nvPr>
        </p:nvSpPr>
        <p:spPr/>
        <p:txBody>
          <a:bodyPr/>
          <a:lstStyle/>
          <a:p>
            <a:fld id="{9B9D85DF-2378-9545-8C3C-563839805E02}" type="slidenum">
              <a:rPr lang="en-FR" smtClean="0"/>
              <a:t>55</a:t>
            </a:fld>
            <a:endParaRPr lang="en-FR"/>
          </a:p>
        </p:txBody>
      </p:sp>
    </p:spTree>
    <p:extLst>
      <p:ext uri="{BB962C8B-B14F-4D97-AF65-F5344CB8AC3E}">
        <p14:creationId xmlns:p14="http://schemas.microsoft.com/office/powerpoint/2010/main" val="18391262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90A28-7589-FA1F-7596-62E6CC25C7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9691FC-9DDF-3BBB-B0FF-7D41C947A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3688E4-F487-DB89-DACD-F1B294A5ECE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We</a:t>
            </a:r>
            <a:r>
              <a:rPr lang="fr-FR" dirty="0"/>
              <a:t> </a:t>
            </a:r>
            <a:r>
              <a:rPr lang="fr-FR" dirty="0" err="1"/>
              <a:t>also</a:t>
            </a:r>
            <a:r>
              <a:rPr lang="fr-FR" dirty="0"/>
              <a:t> </a:t>
            </a:r>
            <a:r>
              <a:rPr lang="fr-FR" dirty="0" err="1"/>
              <a:t>investigate</a:t>
            </a:r>
            <a:r>
              <a:rPr lang="fr-FR" dirty="0"/>
              <a:t> </a:t>
            </a:r>
            <a:r>
              <a:rPr lang="fr-FR" dirty="0" err="1"/>
              <a:t>various</a:t>
            </a:r>
            <a:r>
              <a:rPr lang="fr-FR" dirty="0"/>
              <a:t> </a:t>
            </a:r>
            <a:r>
              <a:rPr lang="fr-FR" dirty="0" err="1"/>
              <a:t>ways</a:t>
            </a:r>
            <a:r>
              <a:rPr lang="fr-FR" dirty="0"/>
              <a:t> to condition the </a:t>
            </a:r>
            <a:r>
              <a:rPr lang="fr-FR" dirty="0" err="1"/>
              <a:t>generation</a:t>
            </a:r>
            <a:r>
              <a:rPr lang="fr-FR" dirty="0"/>
              <a:t>. One first </a:t>
            </a:r>
            <a:r>
              <a:rPr lang="fr-FR" dirty="0" err="1"/>
              <a:t>naive</a:t>
            </a:r>
            <a:r>
              <a:rPr lang="fr-FR" dirty="0"/>
              <a:t> </a:t>
            </a:r>
            <a:r>
              <a:rPr lang="fr-FR" dirty="0" err="1"/>
              <a:t>way</a:t>
            </a:r>
            <a:r>
              <a:rPr lang="fr-FR" dirty="0"/>
              <a:t>:</a:t>
            </a:r>
          </a:p>
        </p:txBody>
      </p:sp>
      <p:sp>
        <p:nvSpPr>
          <p:cNvPr id="4" name="Slide Number Placeholder 3">
            <a:extLst>
              <a:ext uri="{FF2B5EF4-FFF2-40B4-BE49-F238E27FC236}">
                <a16:creationId xmlns:a16="http://schemas.microsoft.com/office/drawing/2014/main" id="{FB68084D-FD73-7D2E-617A-31E63FCC022A}"/>
              </a:ext>
            </a:extLst>
          </p:cNvPr>
          <p:cNvSpPr>
            <a:spLocks noGrp="1"/>
          </p:cNvSpPr>
          <p:nvPr>
            <p:ph type="sldNum" sz="quarter" idx="5"/>
          </p:nvPr>
        </p:nvSpPr>
        <p:spPr/>
        <p:txBody>
          <a:bodyPr/>
          <a:lstStyle/>
          <a:p>
            <a:fld id="{9B9D85DF-2378-9545-8C3C-563839805E02}" type="slidenum">
              <a:rPr lang="en-FR" smtClean="0"/>
              <a:t>58</a:t>
            </a:fld>
            <a:endParaRPr lang="en-FR"/>
          </a:p>
        </p:txBody>
      </p:sp>
    </p:spTree>
    <p:extLst>
      <p:ext uri="{BB962C8B-B14F-4D97-AF65-F5344CB8AC3E}">
        <p14:creationId xmlns:p14="http://schemas.microsoft.com/office/powerpoint/2010/main" val="22946600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0014E-1F75-DDAA-16B0-5C1833AEA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8D63E7-5AB6-BD30-8676-0D79D6E32D8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3A4A5CD6-D78C-26B1-1CA0-23B0DE2F49B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We consider the task of predicting the sequence </a:t>
                </a:r>
                <a14:m>
                  <m:oMath xmlns:m="http://schemas.openxmlformats.org/officeDocument/2006/math">
                    <m:sSub>
                      <m:sSubPr>
                        <m:ctrlPr>
                          <a:rPr lang="en-GB" i="1" dirty="0" smtClean="0">
                            <a:latin typeface="Cambria Math" panose="02040503050406030204" pitchFamily="18" charset="0"/>
                            <a:ea typeface="Cambria Math" panose="02040503050406030204" pitchFamily="18" charset="0"/>
                          </a:rPr>
                        </m:ctrlPr>
                      </m:sSubPr>
                      <m:e>
                        <m:r>
                          <a:rPr lang="fr-FR" b="0" i="1" dirty="0" smtClean="0">
                            <a:latin typeface="Cambria Math" panose="02040503050406030204" pitchFamily="18" charset="0"/>
                            <a:ea typeface="Cambria Math" panose="02040503050406030204" pitchFamily="18" charset="0"/>
                          </a:rPr>
                          <m:t>𝑦</m:t>
                        </m:r>
                      </m:e>
                      <m:sub>
                        <m:r>
                          <a:rPr lang="fr-FR" b="0" i="1" dirty="0" smtClean="0">
                            <a:latin typeface="Cambria Math" panose="02040503050406030204" pitchFamily="18" charset="0"/>
                            <a:ea typeface="Cambria Math" panose="02040503050406030204" pitchFamily="18" charset="0"/>
                          </a:rPr>
                          <m:t>𝑡</m:t>
                        </m:r>
                        <m:r>
                          <a:rPr lang="fr-FR" b="0" i="1" dirty="0" smtClean="0">
                            <a:latin typeface="Cambria Math" panose="02040503050406030204" pitchFamily="18" charset="0"/>
                            <a:ea typeface="Cambria Math" panose="02040503050406030204" pitchFamily="18" charset="0"/>
                          </a:rPr>
                          <m:t>+1</m:t>
                        </m:r>
                      </m:sub>
                    </m:sSub>
                    <m:r>
                      <a:rPr lang="fr-FR" b="0" i="1" dirty="0" smtClean="0">
                        <a:latin typeface="Cambria Math" panose="02040503050406030204" pitchFamily="18" charset="0"/>
                        <a:ea typeface="Cambria Math" panose="02040503050406030204" pitchFamily="18" charset="0"/>
                      </a:rPr>
                      <m:t> </m:t>
                    </m:r>
                  </m:oMath>
                </a14:m>
                <a:r>
                  <a:rPr lang="en-GB" dirty="0"/>
                  <a:t>of socio-emotional labels related to the next speaker turn </a:t>
                </a:r>
                <a14:m>
                  <m:oMath xmlns:m="http://schemas.openxmlformats.org/officeDocument/2006/math">
                    <m:r>
                      <a:rPr lang="fr-FR" b="0" i="1" dirty="0" smtClean="0">
                        <a:latin typeface="Cambria Math" panose="02040503050406030204" pitchFamily="18" charset="0"/>
                      </a:rPr>
                      <m:t>𝑡</m:t>
                    </m:r>
                    <m:r>
                      <a:rPr lang="fr-FR" b="0" i="1" dirty="0" smtClean="0">
                        <a:latin typeface="Cambria Math" panose="02040503050406030204" pitchFamily="18" charset="0"/>
                      </a:rPr>
                      <m:t>+1</m:t>
                    </m:r>
                  </m:oMath>
                </a14:m>
                <a:r>
                  <a:rPr lang="en-GB" dirty="0"/>
                  <a:t>, </a:t>
                </a:r>
                <a14:m>
                  <m:oMath xmlns:m="http://schemas.openxmlformats.org/officeDocument/2006/math">
                    <m:sSub>
                      <m:sSubPr>
                        <m:ctrlPr>
                          <a:rPr lang="en-GB" i="1">
                            <a:latin typeface="Cambria Math" panose="02040503050406030204" pitchFamily="18" charset="0"/>
                          </a:rPr>
                        </m:ctrlPr>
                      </m:sSubPr>
                      <m:e>
                        <m:r>
                          <a:rPr lang="fr-FR" i="1">
                            <a:latin typeface="Cambria Math" panose="02040503050406030204" pitchFamily="18" charset="0"/>
                          </a:rPr>
                          <m:t>𝑐</m:t>
                        </m:r>
                      </m:e>
                      <m:sub>
                        <m:r>
                          <a:rPr lang="fr-FR" b="0" i="1" smtClean="0">
                            <a:latin typeface="Cambria Math" panose="02040503050406030204" pitchFamily="18" charset="0"/>
                          </a:rPr>
                          <m:t>𝑡</m:t>
                        </m:r>
                        <m:r>
                          <a:rPr lang="fr-FR" b="0" i="1" smtClean="0">
                            <a:latin typeface="Cambria Math" panose="02040503050406030204" pitchFamily="18" charset="0"/>
                          </a:rPr>
                          <m:t>+1</m:t>
                        </m:r>
                      </m:sub>
                    </m:sSub>
                  </m:oMath>
                </a14:m>
                <a:r>
                  <a:rPr lang="en-GB" dirty="0"/>
                  <a:t>. </a:t>
                </a:r>
                <a:endParaRPr lang="fr-FR" dirty="0"/>
              </a:p>
            </p:txBody>
          </p:sp>
        </mc:Choice>
        <mc:Fallback xmlns="">
          <p:sp>
            <p:nvSpPr>
              <p:cNvPr id="3" name="Notes Placeholder 2">
                <a:extLst>
                  <a:ext uri="{FF2B5EF4-FFF2-40B4-BE49-F238E27FC236}">
                    <a16:creationId xmlns:a16="http://schemas.microsoft.com/office/drawing/2014/main" id="{3A4A5CD6-D78C-26B1-1CA0-23B0DE2F49B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We consider the task of predicting the sequence </a:t>
                </a:r>
                <a:r>
                  <a:rPr lang="fr-FR" b="0" i="0" dirty="0">
                    <a:latin typeface="Cambria Math" panose="02040503050406030204" pitchFamily="18" charset="0"/>
                    <a:ea typeface="Cambria Math" panose="02040503050406030204" pitchFamily="18" charset="0"/>
                  </a:rPr>
                  <a:t>𝑦</a:t>
                </a:r>
                <a:r>
                  <a:rPr lang="en-GB" b="0" i="0" dirty="0">
                    <a:latin typeface="Cambria Math" panose="02040503050406030204" pitchFamily="18" charset="0"/>
                    <a:ea typeface="Cambria Math" panose="02040503050406030204" pitchFamily="18" charset="0"/>
                  </a:rPr>
                  <a:t>_(</a:t>
                </a:r>
                <a:r>
                  <a:rPr lang="fr-FR" b="0" i="0" dirty="0">
                    <a:latin typeface="Cambria Math" panose="02040503050406030204" pitchFamily="18" charset="0"/>
                    <a:ea typeface="Cambria Math" panose="02040503050406030204" pitchFamily="18" charset="0"/>
                  </a:rPr>
                  <a:t>𝑡+1</a:t>
                </a:r>
                <a:r>
                  <a:rPr lang="en-GB" b="0" i="0" dirty="0">
                    <a:latin typeface="Cambria Math" panose="02040503050406030204" pitchFamily="18" charset="0"/>
                    <a:ea typeface="Cambria Math" panose="02040503050406030204" pitchFamily="18" charset="0"/>
                  </a:rPr>
                  <a:t>)</a:t>
                </a:r>
                <a:r>
                  <a:rPr lang="fr-FR" b="0" i="0" dirty="0">
                    <a:latin typeface="Cambria Math" panose="02040503050406030204" pitchFamily="18" charset="0"/>
                    <a:ea typeface="Cambria Math" panose="02040503050406030204" pitchFamily="18" charset="0"/>
                  </a:rPr>
                  <a:t>  </a:t>
                </a:r>
                <a:r>
                  <a:rPr lang="en-GB" dirty="0"/>
                  <a:t>of socio-emotional labels related to the next speaker turn </a:t>
                </a:r>
                <a:r>
                  <a:rPr lang="fr-FR" b="0" i="0" dirty="0">
                    <a:latin typeface="Cambria Math" panose="02040503050406030204" pitchFamily="18" charset="0"/>
                  </a:rPr>
                  <a:t>𝑡+1</a:t>
                </a:r>
                <a:r>
                  <a:rPr lang="en-GB" dirty="0"/>
                  <a:t>, </a:t>
                </a:r>
                <a:r>
                  <a:rPr lang="fr-FR" i="0">
                    <a:latin typeface="Cambria Math" panose="02040503050406030204" pitchFamily="18" charset="0"/>
                  </a:rPr>
                  <a:t>𝑐</a:t>
                </a:r>
                <a:r>
                  <a:rPr lang="en-GB" i="0">
                    <a:latin typeface="Cambria Math" panose="02040503050406030204" pitchFamily="18" charset="0"/>
                  </a:rPr>
                  <a:t>_(</a:t>
                </a:r>
                <a:r>
                  <a:rPr lang="fr-FR" b="0" i="0">
                    <a:latin typeface="Cambria Math" panose="02040503050406030204" pitchFamily="18" charset="0"/>
                  </a:rPr>
                  <a:t>𝑡+1</a:t>
                </a:r>
                <a:r>
                  <a:rPr lang="en-GB" b="0" i="0">
                    <a:latin typeface="Cambria Math" panose="02040503050406030204" pitchFamily="18" charset="0"/>
                  </a:rPr>
                  <a:t>)</a:t>
                </a:r>
                <a:r>
                  <a:rPr lang="en-GB" dirty="0"/>
                  <a:t>. </a:t>
                </a:r>
                <a:endParaRPr lang="fr-FR" dirty="0"/>
              </a:p>
            </p:txBody>
          </p:sp>
        </mc:Fallback>
      </mc:AlternateContent>
      <p:sp>
        <p:nvSpPr>
          <p:cNvPr id="4" name="Slide Number Placeholder 3">
            <a:extLst>
              <a:ext uri="{FF2B5EF4-FFF2-40B4-BE49-F238E27FC236}">
                <a16:creationId xmlns:a16="http://schemas.microsoft.com/office/drawing/2014/main" id="{00F9999C-49B0-3220-9852-466DA49C6BCF}"/>
              </a:ext>
            </a:extLst>
          </p:cNvPr>
          <p:cNvSpPr>
            <a:spLocks noGrp="1"/>
          </p:cNvSpPr>
          <p:nvPr>
            <p:ph type="sldNum" sz="quarter" idx="5"/>
          </p:nvPr>
        </p:nvSpPr>
        <p:spPr/>
        <p:txBody>
          <a:bodyPr/>
          <a:lstStyle/>
          <a:p>
            <a:fld id="{9B9D85DF-2378-9545-8C3C-563839805E02}" type="slidenum">
              <a:rPr lang="en-FR" smtClean="0"/>
              <a:t>59</a:t>
            </a:fld>
            <a:endParaRPr lang="en-FR"/>
          </a:p>
        </p:txBody>
      </p:sp>
    </p:spTree>
    <p:extLst>
      <p:ext uri="{BB962C8B-B14F-4D97-AF65-F5344CB8AC3E}">
        <p14:creationId xmlns:p14="http://schemas.microsoft.com/office/powerpoint/2010/main" val="342976987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B5E23-9AE6-895B-A7B2-B5F543C5C0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DC449-70EE-AB10-F230-C379289B50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4D54B1-785C-A16F-3F24-55C442BFED7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Slide Number Placeholder 3">
            <a:extLst>
              <a:ext uri="{FF2B5EF4-FFF2-40B4-BE49-F238E27FC236}">
                <a16:creationId xmlns:a16="http://schemas.microsoft.com/office/drawing/2014/main" id="{5C272338-3B57-B753-DCDD-3A3107F72C7E}"/>
              </a:ext>
            </a:extLst>
          </p:cNvPr>
          <p:cNvSpPr>
            <a:spLocks noGrp="1"/>
          </p:cNvSpPr>
          <p:nvPr>
            <p:ph type="sldNum" sz="quarter" idx="5"/>
          </p:nvPr>
        </p:nvSpPr>
        <p:spPr/>
        <p:txBody>
          <a:bodyPr/>
          <a:lstStyle/>
          <a:p>
            <a:fld id="{9B9D85DF-2378-9545-8C3C-563839805E02}" type="slidenum">
              <a:rPr lang="en-FR" smtClean="0"/>
              <a:t>60</a:t>
            </a:fld>
            <a:endParaRPr lang="en-FR"/>
          </a:p>
        </p:txBody>
      </p:sp>
    </p:spTree>
    <p:extLst>
      <p:ext uri="{BB962C8B-B14F-4D97-AF65-F5344CB8AC3E}">
        <p14:creationId xmlns:p14="http://schemas.microsoft.com/office/powerpoint/2010/main" val="3347516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11628BAF-885E-A79E-711C-69989A01BD6A}"/>
              </a:ext>
            </a:extLst>
          </p:cNvPr>
          <p:cNvSpPr txBox="1"/>
          <p:nvPr userDrawn="1"/>
        </p:nvSpPr>
        <p:spPr>
          <a:xfrm>
            <a:off x="234337" y="6352143"/>
            <a:ext cx="906017" cy="369332"/>
          </a:xfrm>
          <a:prstGeom prst="rect">
            <a:avLst/>
          </a:prstGeom>
          <a:noFill/>
        </p:spPr>
        <p:txBody>
          <a:bodyPr wrap="none" lIns="91440" tIns="45720" rIns="91440" bIns="45720" rtlCol="0" anchor="t">
            <a:spAutoFit/>
          </a:bodyPr>
          <a:lstStyle/>
          <a:p>
            <a:fld id="{58EE0AA8-3F6E-BE42-91FE-795D5F5DB117}" type="slidenum">
              <a:rPr lang="en-FR" smtClean="0">
                <a:solidFill>
                  <a:srgbClr val="4B85F4"/>
                </a:solidFill>
              </a:rPr>
              <a:t>‹#›</a:t>
            </a:fld>
            <a:r>
              <a:rPr lang="en-FR" dirty="0">
                <a:solidFill>
                  <a:srgbClr val="4B85F4"/>
                </a:solidFill>
              </a:rPr>
              <a:t> </a:t>
            </a:r>
            <a:r>
              <a:rPr lang="en-FR" b="1" dirty="0">
                <a:solidFill>
                  <a:srgbClr val="4B85F4"/>
                </a:solidFill>
              </a:rPr>
              <a:t>| 34</a:t>
            </a:r>
          </a:p>
        </p:txBody>
      </p:sp>
      <p:cxnSp>
        <p:nvCxnSpPr>
          <p:cNvPr id="13" name="Straight Connector 12">
            <a:extLst>
              <a:ext uri="{FF2B5EF4-FFF2-40B4-BE49-F238E27FC236}">
                <a16:creationId xmlns:a16="http://schemas.microsoft.com/office/drawing/2014/main" id="{C6BEBCD1-509F-97AE-37BA-384FA07F6B25}"/>
              </a:ext>
            </a:extLst>
          </p:cNvPr>
          <p:cNvCxnSpPr>
            <a:cxnSpLocks/>
          </p:cNvCxnSpPr>
          <p:nvPr userDrawn="1"/>
        </p:nvCxnSpPr>
        <p:spPr>
          <a:xfrm>
            <a:off x="1122264" y="335266"/>
            <a:ext cx="0" cy="773029"/>
          </a:xfrm>
          <a:prstGeom prst="line">
            <a:avLst/>
          </a:prstGeom>
          <a:ln w="28575">
            <a:solidFill>
              <a:srgbClr val="4B85F4"/>
            </a:solidFill>
          </a:ln>
        </p:spPr>
        <p:style>
          <a:lnRef idx="1">
            <a:schemeClr val="accent1"/>
          </a:lnRef>
          <a:fillRef idx="0">
            <a:schemeClr val="accent1"/>
          </a:fillRef>
          <a:effectRef idx="0">
            <a:schemeClr val="accent1"/>
          </a:effectRef>
          <a:fontRef idx="minor">
            <a:schemeClr val="tx1"/>
          </a:fontRef>
        </p:style>
      </p:cxnSp>
      <p:sp>
        <p:nvSpPr>
          <p:cNvPr id="15" name="Title 14">
            <a:extLst>
              <a:ext uri="{FF2B5EF4-FFF2-40B4-BE49-F238E27FC236}">
                <a16:creationId xmlns:a16="http://schemas.microsoft.com/office/drawing/2014/main" id="{4E57716C-2B79-12FC-C90A-9433B77055FA}"/>
              </a:ext>
            </a:extLst>
          </p:cNvPr>
          <p:cNvSpPr>
            <a:spLocks noGrp="1"/>
          </p:cNvSpPr>
          <p:nvPr>
            <p:ph type="title"/>
          </p:nvPr>
        </p:nvSpPr>
        <p:spPr>
          <a:xfrm>
            <a:off x="1246163" y="58998"/>
            <a:ext cx="10515600" cy="1325563"/>
          </a:xfrm>
        </p:spPr>
        <p:txBody>
          <a:bodyPr>
            <a:normAutofit/>
          </a:bodyPr>
          <a:lstStyle>
            <a:lvl1pPr marL="0" algn="l" defTabSz="914400" rtl="0" eaLnBrk="1" latinLnBrk="0" hangingPunct="1">
              <a:defRPr lang="en-FR" sz="3200" kern="1200" dirty="0">
                <a:solidFill>
                  <a:srgbClr val="4B85F4"/>
                </a:solidFill>
                <a:latin typeface="Poppins" pitchFamily="2" charset="77"/>
                <a:ea typeface="+mn-ea"/>
                <a:cs typeface="Poppins" pitchFamily="2" charset="77"/>
              </a:defRPr>
            </a:lvl1pPr>
          </a:lstStyle>
          <a:p>
            <a:r>
              <a:rPr lang="en-GB" dirty="0"/>
              <a:t>Click to edit Master title style</a:t>
            </a:r>
            <a:endParaRPr lang="en-FR" dirty="0"/>
          </a:p>
        </p:txBody>
      </p:sp>
    </p:spTree>
    <p:extLst>
      <p:ext uri="{BB962C8B-B14F-4D97-AF65-F5344CB8AC3E}">
        <p14:creationId xmlns:p14="http://schemas.microsoft.com/office/powerpoint/2010/main" val="1158756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C392480-D006-FF9B-EC72-2C649A843A60}"/>
              </a:ext>
            </a:extLst>
          </p:cNvPr>
          <p:cNvSpPr/>
          <p:nvPr userDrawn="1"/>
        </p:nvSpPr>
        <p:spPr>
          <a:xfrm>
            <a:off x="0" y="0"/>
            <a:ext cx="12192000" cy="6858000"/>
          </a:xfrm>
          <a:prstGeom prst="rect">
            <a:avLst/>
          </a:prstGeom>
          <a:solidFill>
            <a:srgbClr val="4B85F4">
              <a:alpha val="8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Tree>
    <p:extLst>
      <p:ext uri="{BB962C8B-B14F-4D97-AF65-F5344CB8AC3E}">
        <p14:creationId xmlns:p14="http://schemas.microsoft.com/office/powerpoint/2010/main" val="1282411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FC25E-3B09-1ECC-2A27-92937A9EF66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FR"/>
          </a:p>
        </p:txBody>
      </p:sp>
      <p:sp>
        <p:nvSpPr>
          <p:cNvPr id="3" name="Text Placeholder 2">
            <a:extLst>
              <a:ext uri="{FF2B5EF4-FFF2-40B4-BE49-F238E27FC236}">
                <a16:creationId xmlns:a16="http://schemas.microsoft.com/office/drawing/2014/main" id="{7326D167-D61A-BA68-5AE7-1C1B4CD9DE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5F3F9FA-F413-CC0A-ABD6-B92B39132E9E}"/>
              </a:ext>
            </a:extLst>
          </p:cNvPr>
          <p:cNvSpPr>
            <a:spLocks noGrp="1"/>
          </p:cNvSpPr>
          <p:nvPr>
            <p:ph type="dt" sz="half" idx="10"/>
          </p:nvPr>
        </p:nvSpPr>
        <p:spPr/>
        <p:txBody>
          <a:bodyPr/>
          <a:lstStyle/>
          <a:p>
            <a:fld id="{06E961EC-06BD-6C44-88B6-B92A36195F02}" type="datetime1">
              <a:rPr lang="fr-FR" smtClean="0"/>
              <a:t>03/07/2025</a:t>
            </a:fld>
            <a:endParaRPr lang="en-FR"/>
          </a:p>
        </p:txBody>
      </p:sp>
      <p:sp>
        <p:nvSpPr>
          <p:cNvPr id="5" name="Footer Placeholder 4">
            <a:extLst>
              <a:ext uri="{FF2B5EF4-FFF2-40B4-BE49-F238E27FC236}">
                <a16:creationId xmlns:a16="http://schemas.microsoft.com/office/drawing/2014/main" id="{0FD1F19E-BD39-C682-22AC-24D2B12A6672}"/>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4D9DF2DC-0A81-2194-1AAE-265CE1033E75}"/>
              </a:ext>
            </a:extLst>
          </p:cNvPr>
          <p:cNvSpPr>
            <a:spLocks noGrp="1"/>
          </p:cNvSpPr>
          <p:nvPr>
            <p:ph type="sldNum" sz="quarter" idx="12"/>
          </p:nvPr>
        </p:nvSpPr>
        <p:spPr/>
        <p:txBody>
          <a:bodyPr/>
          <a:lstStyle/>
          <a:p>
            <a:fld id="{E5F55C6F-E9CB-FD42-84D8-36D1ACD9DBA7}" type="slidenum">
              <a:rPr lang="en-FR" smtClean="0"/>
              <a:t>‹#›</a:t>
            </a:fld>
            <a:endParaRPr lang="en-FR"/>
          </a:p>
        </p:txBody>
      </p:sp>
    </p:spTree>
    <p:extLst>
      <p:ext uri="{BB962C8B-B14F-4D97-AF65-F5344CB8AC3E}">
        <p14:creationId xmlns:p14="http://schemas.microsoft.com/office/powerpoint/2010/main" val="1915497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3E1C1-2BD3-9A86-E8EE-9B01C3ADC2A1}"/>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886A0D23-1A85-7461-D6A9-AA4DA17C98D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Content Placeholder 3">
            <a:extLst>
              <a:ext uri="{FF2B5EF4-FFF2-40B4-BE49-F238E27FC236}">
                <a16:creationId xmlns:a16="http://schemas.microsoft.com/office/drawing/2014/main" id="{E3DAE4F6-684C-DF33-DAE6-22978E09351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Date Placeholder 4">
            <a:extLst>
              <a:ext uri="{FF2B5EF4-FFF2-40B4-BE49-F238E27FC236}">
                <a16:creationId xmlns:a16="http://schemas.microsoft.com/office/drawing/2014/main" id="{7907F537-11A3-37DF-AEB5-26B7FAE71CF6}"/>
              </a:ext>
            </a:extLst>
          </p:cNvPr>
          <p:cNvSpPr>
            <a:spLocks noGrp="1"/>
          </p:cNvSpPr>
          <p:nvPr>
            <p:ph type="dt" sz="half" idx="10"/>
          </p:nvPr>
        </p:nvSpPr>
        <p:spPr/>
        <p:txBody>
          <a:bodyPr/>
          <a:lstStyle/>
          <a:p>
            <a:fld id="{E0F50A3B-9A06-4149-9A0C-1D0DFC973E1A}" type="datetime1">
              <a:rPr lang="fr-FR" smtClean="0"/>
              <a:t>03/07/2025</a:t>
            </a:fld>
            <a:endParaRPr lang="en-FR"/>
          </a:p>
        </p:txBody>
      </p:sp>
      <p:sp>
        <p:nvSpPr>
          <p:cNvPr id="6" name="Footer Placeholder 5">
            <a:extLst>
              <a:ext uri="{FF2B5EF4-FFF2-40B4-BE49-F238E27FC236}">
                <a16:creationId xmlns:a16="http://schemas.microsoft.com/office/drawing/2014/main" id="{026456DB-0C42-5D50-84B8-D6808DB85EAA}"/>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AA4FA966-6467-4114-48EF-23CAF2CBF767}"/>
              </a:ext>
            </a:extLst>
          </p:cNvPr>
          <p:cNvSpPr>
            <a:spLocks noGrp="1"/>
          </p:cNvSpPr>
          <p:nvPr>
            <p:ph type="sldNum" sz="quarter" idx="12"/>
          </p:nvPr>
        </p:nvSpPr>
        <p:spPr/>
        <p:txBody>
          <a:bodyPr/>
          <a:lstStyle/>
          <a:p>
            <a:fld id="{E5F55C6F-E9CB-FD42-84D8-36D1ACD9DBA7}" type="slidenum">
              <a:rPr lang="en-FR" smtClean="0"/>
              <a:t>‹#›</a:t>
            </a:fld>
            <a:endParaRPr lang="en-FR"/>
          </a:p>
        </p:txBody>
      </p:sp>
    </p:spTree>
    <p:extLst>
      <p:ext uri="{BB962C8B-B14F-4D97-AF65-F5344CB8AC3E}">
        <p14:creationId xmlns:p14="http://schemas.microsoft.com/office/powerpoint/2010/main" val="3517774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AED6E-D623-AC6F-BB2C-DD3A2C40C26B}"/>
              </a:ext>
            </a:extLst>
          </p:cNvPr>
          <p:cNvSpPr>
            <a:spLocks noGrp="1"/>
          </p:cNvSpPr>
          <p:nvPr>
            <p:ph type="title"/>
          </p:nvPr>
        </p:nvSpPr>
        <p:spPr>
          <a:xfrm>
            <a:off x="839788" y="365125"/>
            <a:ext cx="10515600" cy="1325563"/>
          </a:xfrm>
        </p:spPr>
        <p:txBody>
          <a:bodyPr/>
          <a:lstStyle/>
          <a:p>
            <a:r>
              <a:rPr lang="en-GB"/>
              <a:t>Click to edit Master title style</a:t>
            </a:r>
            <a:endParaRPr lang="en-FR"/>
          </a:p>
        </p:txBody>
      </p:sp>
      <p:sp>
        <p:nvSpPr>
          <p:cNvPr id="3" name="Text Placeholder 2">
            <a:extLst>
              <a:ext uri="{FF2B5EF4-FFF2-40B4-BE49-F238E27FC236}">
                <a16:creationId xmlns:a16="http://schemas.microsoft.com/office/drawing/2014/main" id="{71FE1A72-8B09-0431-AFFB-07A704BBC2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A468540-6750-A50A-46D3-31588E8CC19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Text Placeholder 4">
            <a:extLst>
              <a:ext uri="{FF2B5EF4-FFF2-40B4-BE49-F238E27FC236}">
                <a16:creationId xmlns:a16="http://schemas.microsoft.com/office/drawing/2014/main" id="{A1130AEB-5CB0-B074-075B-14CB7C0C93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61D4F38-61A5-D42B-0368-F00C0B687D3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7" name="Date Placeholder 6">
            <a:extLst>
              <a:ext uri="{FF2B5EF4-FFF2-40B4-BE49-F238E27FC236}">
                <a16:creationId xmlns:a16="http://schemas.microsoft.com/office/drawing/2014/main" id="{D3F8541A-0373-5341-8BFD-97B4BD9583EF}"/>
              </a:ext>
            </a:extLst>
          </p:cNvPr>
          <p:cNvSpPr>
            <a:spLocks noGrp="1"/>
          </p:cNvSpPr>
          <p:nvPr>
            <p:ph type="dt" sz="half" idx="10"/>
          </p:nvPr>
        </p:nvSpPr>
        <p:spPr/>
        <p:txBody>
          <a:bodyPr/>
          <a:lstStyle/>
          <a:p>
            <a:fld id="{28B2EDB1-0E51-524B-A8D7-D64BD1ACC9C8}" type="datetime1">
              <a:rPr lang="fr-FR" smtClean="0"/>
              <a:t>03/07/2025</a:t>
            </a:fld>
            <a:endParaRPr lang="en-FR"/>
          </a:p>
        </p:txBody>
      </p:sp>
      <p:sp>
        <p:nvSpPr>
          <p:cNvPr id="8" name="Footer Placeholder 7">
            <a:extLst>
              <a:ext uri="{FF2B5EF4-FFF2-40B4-BE49-F238E27FC236}">
                <a16:creationId xmlns:a16="http://schemas.microsoft.com/office/drawing/2014/main" id="{800CF526-DFA0-03AB-2F05-9C7A59B7A10E}"/>
              </a:ext>
            </a:extLst>
          </p:cNvPr>
          <p:cNvSpPr>
            <a:spLocks noGrp="1"/>
          </p:cNvSpPr>
          <p:nvPr>
            <p:ph type="ftr" sz="quarter" idx="11"/>
          </p:nvPr>
        </p:nvSpPr>
        <p:spPr/>
        <p:txBody>
          <a:bodyPr/>
          <a:lstStyle/>
          <a:p>
            <a:endParaRPr lang="en-FR"/>
          </a:p>
        </p:txBody>
      </p:sp>
      <p:sp>
        <p:nvSpPr>
          <p:cNvPr id="9" name="Slide Number Placeholder 8">
            <a:extLst>
              <a:ext uri="{FF2B5EF4-FFF2-40B4-BE49-F238E27FC236}">
                <a16:creationId xmlns:a16="http://schemas.microsoft.com/office/drawing/2014/main" id="{9B1165BD-C6D2-9DA2-B546-2BE9D90D732F}"/>
              </a:ext>
            </a:extLst>
          </p:cNvPr>
          <p:cNvSpPr>
            <a:spLocks noGrp="1"/>
          </p:cNvSpPr>
          <p:nvPr>
            <p:ph type="sldNum" sz="quarter" idx="12"/>
          </p:nvPr>
        </p:nvSpPr>
        <p:spPr/>
        <p:txBody>
          <a:bodyPr/>
          <a:lstStyle/>
          <a:p>
            <a:fld id="{E5F55C6F-E9CB-FD42-84D8-36D1ACD9DBA7}" type="slidenum">
              <a:rPr lang="en-FR" smtClean="0"/>
              <a:t>‹#›</a:t>
            </a:fld>
            <a:endParaRPr lang="en-FR"/>
          </a:p>
        </p:txBody>
      </p:sp>
    </p:spTree>
    <p:extLst>
      <p:ext uri="{BB962C8B-B14F-4D97-AF65-F5344CB8AC3E}">
        <p14:creationId xmlns:p14="http://schemas.microsoft.com/office/powerpoint/2010/main" val="3558372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FF779-5EC0-23E8-623E-D29D26FA3DE8}"/>
              </a:ext>
            </a:extLst>
          </p:cNvPr>
          <p:cNvSpPr>
            <a:spLocks noGrp="1"/>
          </p:cNvSpPr>
          <p:nvPr>
            <p:ph type="title"/>
          </p:nvPr>
        </p:nvSpPr>
        <p:spPr/>
        <p:txBody>
          <a:bodyPr/>
          <a:lstStyle/>
          <a:p>
            <a:r>
              <a:rPr lang="en-GB"/>
              <a:t>Click to edit Master title style</a:t>
            </a:r>
            <a:endParaRPr lang="en-FR"/>
          </a:p>
        </p:txBody>
      </p:sp>
      <p:sp>
        <p:nvSpPr>
          <p:cNvPr id="3" name="Date Placeholder 2">
            <a:extLst>
              <a:ext uri="{FF2B5EF4-FFF2-40B4-BE49-F238E27FC236}">
                <a16:creationId xmlns:a16="http://schemas.microsoft.com/office/drawing/2014/main" id="{3FC67EB5-62C2-1501-0F31-B646C65B010E}"/>
              </a:ext>
            </a:extLst>
          </p:cNvPr>
          <p:cNvSpPr>
            <a:spLocks noGrp="1"/>
          </p:cNvSpPr>
          <p:nvPr>
            <p:ph type="dt" sz="half" idx="10"/>
          </p:nvPr>
        </p:nvSpPr>
        <p:spPr/>
        <p:txBody>
          <a:bodyPr/>
          <a:lstStyle/>
          <a:p>
            <a:fld id="{398C3D94-696A-6C4B-B0DB-C33C7858DDFE}" type="datetime1">
              <a:rPr lang="fr-FR" smtClean="0"/>
              <a:t>03/07/2025</a:t>
            </a:fld>
            <a:endParaRPr lang="en-FR"/>
          </a:p>
        </p:txBody>
      </p:sp>
      <p:sp>
        <p:nvSpPr>
          <p:cNvPr id="4" name="Footer Placeholder 3">
            <a:extLst>
              <a:ext uri="{FF2B5EF4-FFF2-40B4-BE49-F238E27FC236}">
                <a16:creationId xmlns:a16="http://schemas.microsoft.com/office/drawing/2014/main" id="{B073A935-8CEA-3A78-8349-DFE5AA51B04D}"/>
              </a:ext>
            </a:extLst>
          </p:cNvPr>
          <p:cNvSpPr>
            <a:spLocks noGrp="1"/>
          </p:cNvSpPr>
          <p:nvPr>
            <p:ph type="ftr" sz="quarter" idx="11"/>
          </p:nvPr>
        </p:nvSpPr>
        <p:spPr/>
        <p:txBody>
          <a:bodyPr/>
          <a:lstStyle/>
          <a:p>
            <a:endParaRPr lang="en-FR"/>
          </a:p>
        </p:txBody>
      </p:sp>
      <p:sp>
        <p:nvSpPr>
          <p:cNvPr id="5" name="Slide Number Placeholder 4">
            <a:extLst>
              <a:ext uri="{FF2B5EF4-FFF2-40B4-BE49-F238E27FC236}">
                <a16:creationId xmlns:a16="http://schemas.microsoft.com/office/drawing/2014/main" id="{3A3B4374-4E3E-9A6C-C877-8332344B3061}"/>
              </a:ext>
            </a:extLst>
          </p:cNvPr>
          <p:cNvSpPr>
            <a:spLocks noGrp="1"/>
          </p:cNvSpPr>
          <p:nvPr>
            <p:ph type="sldNum" sz="quarter" idx="12"/>
          </p:nvPr>
        </p:nvSpPr>
        <p:spPr/>
        <p:txBody>
          <a:bodyPr/>
          <a:lstStyle/>
          <a:p>
            <a:fld id="{E5F55C6F-E9CB-FD42-84D8-36D1ACD9DBA7}" type="slidenum">
              <a:rPr lang="en-FR" smtClean="0"/>
              <a:t>‹#›</a:t>
            </a:fld>
            <a:endParaRPr lang="en-FR"/>
          </a:p>
        </p:txBody>
      </p:sp>
    </p:spTree>
    <p:extLst>
      <p:ext uri="{BB962C8B-B14F-4D97-AF65-F5344CB8AC3E}">
        <p14:creationId xmlns:p14="http://schemas.microsoft.com/office/powerpoint/2010/main" val="1141038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8018A2-0473-8820-ABB6-7063913486A1}"/>
              </a:ext>
            </a:extLst>
          </p:cNvPr>
          <p:cNvSpPr>
            <a:spLocks noGrp="1"/>
          </p:cNvSpPr>
          <p:nvPr>
            <p:ph type="dt" sz="half" idx="10"/>
          </p:nvPr>
        </p:nvSpPr>
        <p:spPr/>
        <p:txBody>
          <a:bodyPr/>
          <a:lstStyle/>
          <a:p>
            <a:fld id="{25CDD3F3-EA47-C344-8EAD-1507E0807737}" type="datetime1">
              <a:rPr lang="fr-FR" smtClean="0"/>
              <a:t>03/07/2025</a:t>
            </a:fld>
            <a:endParaRPr lang="en-FR"/>
          </a:p>
        </p:txBody>
      </p:sp>
      <p:sp>
        <p:nvSpPr>
          <p:cNvPr id="3" name="Footer Placeholder 2">
            <a:extLst>
              <a:ext uri="{FF2B5EF4-FFF2-40B4-BE49-F238E27FC236}">
                <a16:creationId xmlns:a16="http://schemas.microsoft.com/office/drawing/2014/main" id="{8F48B13E-83A0-236B-1BBE-C018BD88039C}"/>
              </a:ext>
            </a:extLst>
          </p:cNvPr>
          <p:cNvSpPr>
            <a:spLocks noGrp="1"/>
          </p:cNvSpPr>
          <p:nvPr>
            <p:ph type="ftr" sz="quarter" idx="11"/>
          </p:nvPr>
        </p:nvSpPr>
        <p:spPr/>
        <p:txBody>
          <a:bodyPr/>
          <a:lstStyle/>
          <a:p>
            <a:endParaRPr lang="en-FR"/>
          </a:p>
        </p:txBody>
      </p:sp>
      <p:sp>
        <p:nvSpPr>
          <p:cNvPr id="4" name="Slide Number Placeholder 3">
            <a:extLst>
              <a:ext uri="{FF2B5EF4-FFF2-40B4-BE49-F238E27FC236}">
                <a16:creationId xmlns:a16="http://schemas.microsoft.com/office/drawing/2014/main" id="{25F7B894-9B76-C1BB-68BE-7CB1B492AB1B}"/>
              </a:ext>
            </a:extLst>
          </p:cNvPr>
          <p:cNvSpPr>
            <a:spLocks noGrp="1"/>
          </p:cNvSpPr>
          <p:nvPr>
            <p:ph type="sldNum" sz="quarter" idx="12"/>
          </p:nvPr>
        </p:nvSpPr>
        <p:spPr/>
        <p:txBody>
          <a:bodyPr/>
          <a:lstStyle/>
          <a:p>
            <a:fld id="{E5F55C6F-E9CB-FD42-84D8-36D1ACD9DBA7}" type="slidenum">
              <a:rPr lang="en-FR" smtClean="0"/>
              <a:t>‹#›</a:t>
            </a:fld>
            <a:endParaRPr lang="en-FR"/>
          </a:p>
        </p:txBody>
      </p:sp>
    </p:spTree>
    <p:extLst>
      <p:ext uri="{BB962C8B-B14F-4D97-AF65-F5344CB8AC3E}">
        <p14:creationId xmlns:p14="http://schemas.microsoft.com/office/powerpoint/2010/main" val="219665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17082-6A46-7D70-285A-6A906B16D7B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Content Placeholder 2">
            <a:extLst>
              <a:ext uri="{FF2B5EF4-FFF2-40B4-BE49-F238E27FC236}">
                <a16:creationId xmlns:a16="http://schemas.microsoft.com/office/drawing/2014/main" id="{5ED9F545-72BE-B627-2EA0-FB20FFD1C0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Text Placeholder 3">
            <a:extLst>
              <a:ext uri="{FF2B5EF4-FFF2-40B4-BE49-F238E27FC236}">
                <a16:creationId xmlns:a16="http://schemas.microsoft.com/office/drawing/2014/main" id="{F8F98CE0-2613-2882-786F-5E8B88E7FD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6783289-8E5D-65DB-52AB-DD3D58AD0E1A}"/>
              </a:ext>
            </a:extLst>
          </p:cNvPr>
          <p:cNvSpPr>
            <a:spLocks noGrp="1"/>
          </p:cNvSpPr>
          <p:nvPr>
            <p:ph type="dt" sz="half" idx="10"/>
          </p:nvPr>
        </p:nvSpPr>
        <p:spPr/>
        <p:txBody>
          <a:bodyPr/>
          <a:lstStyle/>
          <a:p>
            <a:fld id="{ABA90049-4E99-934A-BA30-D88107629327}" type="datetime1">
              <a:rPr lang="fr-FR" smtClean="0"/>
              <a:t>03/07/2025</a:t>
            </a:fld>
            <a:endParaRPr lang="en-FR"/>
          </a:p>
        </p:txBody>
      </p:sp>
      <p:sp>
        <p:nvSpPr>
          <p:cNvPr id="6" name="Footer Placeholder 5">
            <a:extLst>
              <a:ext uri="{FF2B5EF4-FFF2-40B4-BE49-F238E27FC236}">
                <a16:creationId xmlns:a16="http://schemas.microsoft.com/office/drawing/2014/main" id="{55B8D84C-18C1-7DF0-C274-6776F952DEB4}"/>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E75758A4-F9AB-00A7-531F-FDA7A3F67DC5}"/>
              </a:ext>
            </a:extLst>
          </p:cNvPr>
          <p:cNvSpPr>
            <a:spLocks noGrp="1"/>
          </p:cNvSpPr>
          <p:nvPr>
            <p:ph type="sldNum" sz="quarter" idx="12"/>
          </p:nvPr>
        </p:nvSpPr>
        <p:spPr/>
        <p:txBody>
          <a:bodyPr/>
          <a:lstStyle/>
          <a:p>
            <a:fld id="{E5F55C6F-E9CB-FD42-84D8-36D1ACD9DBA7}" type="slidenum">
              <a:rPr lang="en-FR" smtClean="0"/>
              <a:t>‹#›</a:t>
            </a:fld>
            <a:endParaRPr lang="en-FR"/>
          </a:p>
        </p:txBody>
      </p:sp>
    </p:spTree>
    <p:extLst>
      <p:ext uri="{BB962C8B-B14F-4D97-AF65-F5344CB8AC3E}">
        <p14:creationId xmlns:p14="http://schemas.microsoft.com/office/powerpoint/2010/main" val="394636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9E063-66EF-5133-8792-8D3AA00FF45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Picture Placeholder 2">
            <a:extLst>
              <a:ext uri="{FF2B5EF4-FFF2-40B4-BE49-F238E27FC236}">
                <a16:creationId xmlns:a16="http://schemas.microsoft.com/office/drawing/2014/main" id="{41F2B371-F150-BC9B-DF2A-FCCAF86332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R"/>
          </a:p>
        </p:txBody>
      </p:sp>
      <p:sp>
        <p:nvSpPr>
          <p:cNvPr id="4" name="Text Placeholder 3">
            <a:extLst>
              <a:ext uri="{FF2B5EF4-FFF2-40B4-BE49-F238E27FC236}">
                <a16:creationId xmlns:a16="http://schemas.microsoft.com/office/drawing/2014/main" id="{24A44107-2FFB-3906-4494-C7ACE4AC71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1677553-5E76-BCC9-F90C-E25996C2D8D2}"/>
              </a:ext>
            </a:extLst>
          </p:cNvPr>
          <p:cNvSpPr>
            <a:spLocks noGrp="1"/>
          </p:cNvSpPr>
          <p:nvPr>
            <p:ph type="dt" sz="half" idx="10"/>
          </p:nvPr>
        </p:nvSpPr>
        <p:spPr/>
        <p:txBody>
          <a:bodyPr/>
          <a:lstStyle/>
          <a:p>
            <a:fld id="{329B5D43-ACA7-F043-994D-598F8D3FF20A}" type="datetime1">
              <a:rPr lang="fr-FR" smtClean="0"/>
              <a:t>03/07/2025</a:t>
            </a:fld>
            <a:endParaRPr lang="en-FR"/>
          </a:p>
        </p:txBody>
      </p:sp>
      <p:sp>
        <p:nvSpPr>
          <p:cNvPr id="6" name="Footer Placeholder 5">
            <a:extLst>
              <a:ext uri="{FF2B5EF4-FFF2-40B4-BE49-F238E27FC236}">
                <a16:creationId xmlns:a16="http://schemas.microsoft.com/office/drawing/2014/main" id="{F7890BA0-C1F0-9B72-3086-63CC843D5B2B}"/>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76EED07C-73D2-E584-3C14-52EC6C40B43A}"/>
              </a:ext>
            </a:extLst>
          </p:cNvPr>
          <p:cNvSpPr>
            <a:spLocks noGrp="1"/>
          </p:cNvSpPr>
          <p:nvPr>
            <p:ph type="sldNum" sz="quarter" idx="12"/>
          </p:nvPr>
        </p:nvSpPr>
        <p:spPr/>
        <p:txBody>
          <a:bodyPr/>
          <a:lstStyle/>
          <a:p>
            <a:fld id="{E5F55C6F-E9CB-FD42-84D8-36D1ACD9DBA7}" type="slidenum">
              <a:rPr lang="en-FR" smtClean="0"/>
              <a:t>‹#›</a:t>
            </a:fld>
            <a:endParaRPr lang="en-FR"/>
          </a:p>
        </p:txBody>
      </p:sp>
    </p:spTree>
    <p:extLst>
      <p:ext uri="{BB962C8B-B14F-4D97-AF65-F5344CB8AC3E}">
        <p14:creationId xmlns:p14="http://schemas.microsoft.com/office/powerpoint/2010/main" val="3017595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66151-99E3-3750-9FBA-C6B3BFD1AB02}"/>
              </a:ext>
            </a:extLst>
          </p:cNvPr>
          <p:cNvSpPr>
            <a:spLocks noGrp="1"/>
          </p:cNvSpPr>
          <p:nvPr>
            <p:ph type="title"/>
          </p:nvPr>
        </p:nvSpPr>
        <p:spPr/>
        <p:txBody>
          <a:bodyPr/>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C8785088-88C3-BF6A-242E-5155CD40956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55F7D57F-2DD9-BD82-3938-D3696BC7EE4E}"/>
              </a:ext>
            </a:extLst>
          </p:cNvPr>
          <p:cNvSpPr>
            <a:spLocks noGrp="1"/>
          </p:cNvSpPr>
          <p:nvPr>
            <p:ph type="dt" sz="half" idx="10"/>
          </p:nvPr>
        </p:nvSpPr>
        <p:spPr/>
        <p:txBody>
          <a:bodyPr/>
          <a:lstStyle/>
          <a:p>
            <a:fld id="{894D3E1D-C88B-1941-8BCE-2323E1A4413F}" type="datetime1">
              <a:rPr lang="fr-FR" smtClean="0"/>
              <a:t>03/07/2025</a:t>
            </a:fld>
            <a:endParaRPr lang="en-FR"/>
          </a:p>
        </p:txBody>
      </p:sp>
      <p:sp>
        <p:nvSpPr>
          <p:cNvPr id="5" name="Footer Placeholder 4">
            <a:extLst>
              <a:ext uri="{FF2B5EF4-FFF2-40B4-BE49-F238E27FC236}">
                <a16:creationId xmlns:a16="http://schemas.microsoft.com/office/drawing/2014/main" id="{47AE4228-16BF-B770-6BFE-7AE7CDA1F151}"/>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054109C4-DA08-77F2-AC10-71EF35886D52}"/>
              </a:ext>
            </a:extLst>
          </p:cNvPr>
          <p:cNvSpPr>
            <a:spLocks noGrp="1"/>
          </p:cNvSpPr>
          <p:nvPr>
            <p:ph type="sldNum" sz="quarter" idx="12"/>
          </p:nvPr>
        </p:nvSpPr>
        <p:spPr/>
        <p:txBody>
          <a:bodyPr/>
          <a:lstStyle/>
          <a:p>
            <a:fld id="{E5F55C6F-E9CB-FD42-84D8-36D1ACD9DBA7}" type="slidenum">
              <a:rPr lang="en-FR" smtClean="0"/>
              <a:t>‹#›</a:t>
            </a:fld>
            <a:endParaRPr lang="en-FR"/>
          </a:p>
        </p:txBody>
      </p:sp>
    </p:spTree>
    <p:extLst>
      <p:ext uri="{BB962C8B-B14F-4D97-AF65-F5344CB8AC3E}">
        <p14:creationId xmlns:p14="http://schemas.microsoft.com/office/powerpoint/2010/main" val="761092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258EC8-75EE-6092-B434-C010A3F4C74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181E1BE6-D046-764D-AD0E-779AF1A0031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B3DE3F21-E37D-8D2E-B797-D999941341A9}"/>
              </a:ext>
            </a:extLst>
          </p:cNvPr>
          <p:cNvSpPr>
            <a:spLocks noGrp="1"/>
          </p:cNvSpPr>
          <p:nvPr>
            <p:ph type="dt" sz="half" idx="10"/>
          </p:nvPr>
        </p:nvSpPr>
        <p:spPr/>
        <p:txBody>
          <a:bodyPr/>
          <a:lstStyle/>
          <a:p>
            <a:fld id="{BFE113DE-6134-654F-AACC-0F7B3257FD9D}" type="datetime1">
              <a:rPr lang="fr-FR" smtClean="0"/>
              <a:t>03/07/2025</a:t>
            </a:fld>
            <a:endParaRPr lang="en-FR"/>
          </a:p>
        </p:txBody>
      </p:sp>
      <p:sp>
        <p:nvSpPr>
          <p:cNvPr id="5" name="Footer Placeholder 4">
            <a:extLst>
              <a:ext uri="{FF2B5EF4-FFF2-40B4-BE49-F238E27FC236}">
                <a16:creationId xmlns:a16="http://schemas.microsoft.com/office/drawing/2014/main" id="{A8DAB4A8-1C97-0DF5-B679-741B63B288D4}"/>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D07C696B-B48D-C7E1-9E3A-6C5DD2A20852}"/>
              </a:ext>
            </a:extLst>
          </p:cNvPr>
          <p:cNvSpPr>
            <a:spLocks noGrp="1"/>
          </p:cNvSpPr>
          <p:nvPr>
            <p:ph type="sldNum" sz="quarter" idx="12"/>
          </p:nvPr>
        </p:nvSpPr>
        <p:spPr/>
        <p:txBody>
          <a:bodyPr/>
          <a:lstStyle/>
          <a:p>
            <a:fld id="{E5F55C6F-E9CB-FD42-84D8-36D1ACD9DBA7}" type="slidenum">
              <a:rPr lang="en-FR" smtClean="0"/>
              <a:t>‹#›</a:t>
            </a:fld>
            <a:endParaRPr lang="en-FR"/>
          </a:p>
        </p:txBody>
      </p:sp>
    </p:spTree>
    <p:extLst>
      <p:ext uri="{BB962C8B-B14F-4D97-AF65-F5344CB8AC3E}">
        <p14:creationId xmlns:p14="http://schemas.microsoft.com/office/powerpoint/2010/main" val="1371243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9DDF8-974D-2E4C-904B-E6F9FBA56D5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FR"/>
          </a:p>
        </p:txBody>
      </p:sp>
      <p:sp>
        <p:nvSpPr>
          <p:cNvPr id="3" name="Subtitle 2">
            <a:extLst>
              <a:ext uri="{FF2B5EF4-FFF2-40B4-BE49-F238E27FC236}">
                <a16:creationId xmlns:a16="http://schemas.microsoft.com/office/drawing/2014/main" id="{15E2EC52-0686-FE47-AF9C-F59851EE49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FR"/>
          </a:p>
        </p:txBody>
      </p:sp>
      <p:sp>
        <p:nvSpPr>
          <p:cNvPr id="4" name="Date Placeholder 3">
            <a:extLst>
              <a:ext uri="{FF2B5EF4-FFF2-40B4-BE49-F238E27FC236}">
                <a16:creationId xmlns:a16="http://schemas.microsoft.com/office/drawing/2014/main" id="{D8CF3721-3CFA-7745-8A81-0006D71C993A}"/>
              </a:ext>
            </a:extLst>
          </p:cNvPr>
          <p:cNvSpPr>
            <a:spLocks noGrp="1"/>
          </p:cNvSpPr>
          <p:nvPr>
            <p:ph type="dt" sz="half" idx="10"/>
          </p:nvPr>
        </p:nvSpPr>
        <p:spPr/>
        <p:txBody>
          <a:bodyPr/>
          <a:lstStyle/>
          <a:p>
            <a:fld id="{627FF495-0BFD-EC40-ABBF-F46BEA9D85E0}" type="datetimeFigureOut">
              <a:rPr lang="en-FR" smtClean="0"/>
              <a:t>03/07/2025</a:t>
            </a:fld>
            <a:endParaRPr lang="en-FR"/>
          </a:p>
        </p:txBody>
      </p:sp>
      <p:sp>
        <p:nvSpPr>
          <p:cNvPr id="5" name="Footer Placeholder 4">
            <a:extLst>
              <a:ext uri="{FF2B5EF4-FFF2-40B4-BE49-F238E27FC236}">
                <a16:creationId xmlns:a16="http://schemas.microsoft.com/office/drawing/2014/main" id="{ACD9B60F-E0AF-9F4F-A294-CC7F7E60F809}"/>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D0A4293F-D160-BA4D-B192-4AE7607B091D}"/>
              </a:ext>
            </a:extLst>
          </p:cNvPr>
          <p:cNvSpPr>
            <a:spLocks noGrp="1"/>
          </p:cNvSpPr>
          <p:nvPr>
            <p:ph type="sldNum" sz="quarter" idx="12"/>
          </p:nvPr>
        </p:nvSpPr>
        <p:spPr/>
        <p:txBody>
          <a:bodyPr/>
          <a:lstStyle/>
          <a:p>
            <a:fld id="{6059F229-450D-B441-A722-5FC265190D5B}" type="slidenum">
              <a:rPr lang="en-FR" smtClean="0"/>
              <a:t>‹#›</a:t>
            </a:fld>
            <a:endParaRPr lang="en-FR"/>
          </a:p>
        </p:txBody>
      </p:sp>
    </p:spTree>
    <p:extLst>
      <p:ext uri="{BB962C8B-B14F-4D97-AF65-F5344CB8AC3E}">
        <p14:creationId xmlns:p14="http://schemas.microsoft.com/office/powerpoint/2010/main" val="1182114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20C95F-95FB-60BC-5281-A3A24F49BD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FR"/>
          </a:p>
        </p:txBody>
      </p:sp>
      <p:sp>
        <p:nvSpPr>
          <p:cNvPr id="3" name="Text Placeholder 2">
            <a:extLst>
              <a:ext uri="{FF2B5EF4-FFF2-40B4-BE49-F238E27FC236}">
                <a16:creationId xmlns:a16="http://schemas.microsoft.com/office/drawing/2014/main" id="{60D65419-A157-14FD-04C2-7E79750569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AE419F58-CA9E-2236-399A-F97C40DD92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4CD250-4691-3C42-A233-1870B8F95A43}" type="datetime1">
              <a:rPr lang="fr-FR" smtClean="0"/>
              <a:t>03/07/2025</a:t>
            </a:fld>
            <a:endParaRPr lang="en-FR"/>
          </a:p>
        </p:txBody>
      </p:sp>
      <p:sp>
        <p:nvSpPr>
          <p:cNvPr id="5" name="Footer Placeholder 4">
            <a:extLst>
              <a:ext uri="{FF2B5EF4-FFF2-40B4-BE49-F238E27FC236}">
                <a16:creationId xmlns:a16="http://schemas.microsoft.com/office/drawing/2014/main" id="{67105406-8B14-2CB1-5B9C-3F656F38EE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FR"/>
          </a:p>
        </p:txBody>
      </p:sp>
      <p:sp>
        <p:nvSpPr>
          <p:cNvPr id="6" name="Slide Number Placeholder 5">
            <a:extLst>
              <a:ext uri="{FF2B5EF4-FFF2-40B4-BE49-F238E27FC236}">
                <a16:creationId xmlns:a16="http://schemas.microsoft.com/office/drawing/2014/main" id="{9F276ABE-2798-35D6-B88B-FF20FAEB4D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F55C6F-E9CB-FD42-84D8-36D1ACD9DBA7}" type="slidenum">
              <a:rPr lang="en-FR" smtClean="0"/>
              <a:t>‹#›</a:t>
            </a:fld>
            <a:endParaRPr lang="en-FR"/>
          </a:p>
        </p:txBody>
      </p:sp>
    </p:spTree>
    <p:extLst>
      <p:ext uri="{BB962C8B-B14F-4D97-AF65-F5344CB8AC3E}">
        <p14:creationId xmlns:p14="http://schemas.microsoft.com/office/powerpoint/2010/main" val="28530174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07/relationships/hdphoto" Target="../media/hdphoto1.wdp"/><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10" Type="http://schemas.microsoft.com/office/2007/relationships/hdphoto" Target="../media/hdphoto3.wdp"/><Relationship Id="rId4" Type="http://schemas.microsoft.com/office/2007/relationships/hdphoto" Target="../media/hdphoto2.wdp"/><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0.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svg"/><Relationship Id="rId5" Type="http://schemas.openxmlformats.org/officeDocument/2006/relationships/image" Target="../media/image12.png"/><Relationship Id="rId10" Type="http://schemas.microsoft.com/office/2007/relationships/hdphoto" Target="../media/hdphoto1.wdp"/><Relationship Id="rId4" Type="http://schemas.openxmlformats.org/officeDocument/2006/relationships/image" Target="../media/image11.svg"/><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21.svg"/></Relationships>
</file>

<file path=ppt/slides/_rels/slide10.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8.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sv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9.sv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sv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9.sv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9.svg"/></Relationships>
</file>

<file path=ppt/slides/_rels/slide16.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19.svg"/><Relationship Id="rId4" Type="http://schemas.openxmlformats.org/officeDocument/2006/relationships/image" Target="../media/image23.svg"/><Relationship Id="rId9"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19.svg"/></Relationships>
</file>

<file path=ppt/slides/_rels/slide18.xml.rels><?xml version="1.0" encoding="UTF-8" standalone="yes"?>
<Relationships xmlns="http://schemas.openxmlformats.org/package/2006/relationships"><Relationship Id="rId3" Type="http://schemas.openxmlformats.org/officeDocument/2006/relationships/image" Target="../media/image190.png"/><Relationship Id="rId7" Type="http://schemas.openxmlformats.org/officeDocument/2006/relationships/image" Target="../media/image19.sv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80.png"/><Relationship Id="rId4" Type="http://schemas.openxmlformats.org/officeDocument/2006/relationships/image" Target="../media/image200.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microsoft.com/office/2007/relationships/hdphoto" Target="../media/hdphoto3.wdp"/></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microsoft.com/office/2007/relationships/hdphoto" Target="../media/hdphoto3.wdp"/></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microsoft.com/office/2007/relationships/hdphoto" Target="../media/hdphoto3.wdp"/></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microsoft.com/office/2007/relationships/hdphoto" Target="../media/hdphoto3.wdp"/></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00.png"/><Relationship Id="rId5" Type="http://schemas.openxmlformats.org/officeDocument/2006/relationships/image" Target="../media/image30.png"/><Relationship Id="rId4" Type="http://schemas.microsoft.com/office/2007/relationships/hdphoto" Target="../media/hdphoto3.wdp"/></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3.sv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5.sv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5.sv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5.sv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5.sv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5.sv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microsoft.com/office/2007/relationships/hdphoto" Target="../media/hdphoto4.wdp"/></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microsoft.com/office/2007/relationships/hdphoto" Target="../media/hdphoto4.wdp"/><Relationship Id="rId5" Type="http://schemas.openxmlformats.org/officeDocument/2006/relationships/image" Target="../media/image42.png"/><Relationship Id="rId4" Type="http://schemas.openxmlformats.org/officeDocument/2006/relationships/image" Target="../media/image41.svg"/></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44.svg"/><Relationship Id="rId5" Type="http://schemas.openxmlformats.org/officeDocument/2006/relationships/image" Target="../media/image43.png"/><Relationship Id="rId4" Type="http://schemas.microsoft.com/office/2007/relationships/hdphoto" Target="../media/hdphoto4.wdp"/></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46.svg"/><Relationship Id="rId5" Type="http://schemas.openxmlformats.org/officeDocument/2006/relationships/image" Target="../media/image45.png"/><Relationship Id="rId4" Type="http://schemas.microsoft.com/office/2007/relationships/hdphoto" Target="../media/hdphoto4.wdp"/></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48.svg"/><Relationship Id="rId5" Type="http://schemas.openxmlformats.org/officeDocument/2006/relationships/image" Target="../media/image47.png"/><Relationship Id="rId4" Type="http://schemas.microsoft.com/office/2007/relationships/hdphoto" Target="../media/hdphoto4.wdp"/></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0.sv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9.svg"/></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microsoft.com/office/2007/relationships/hdphoto" Target="../media/hdphoto3.wdp"/></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microsoft.com/office/2007/relationships/hdphoto" Target="../media/hdphoto3.wdp"/></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51.png"/><Relationship Id="rId4" Type="http://schemas.microsoft.com/office/2007/relationships/hdphoto" Target="../media/hdphoto3.wdp"/></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52.png"/><Relationship Id="rId4" Type="http://schemas.microsoft.com/office/2007/relationships/hdphoto" Target="../media/hdphoto3.wdp"/></Relationships>
</file>

<file path=ppt/slides/_rels/slide4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53.png"/><Relationship Id="rId7"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11.png"/><Relationship Id="rId4" Type="http://schemas.openxmlformats.org/officeDocument/2006/relationships/image" Target="../media/image510.png"/></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microsoft.com/office/2007/relationships/hdphoto" Target="../media/hdphoto3.wdp"/></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54.png"/><Relationship Id="rId4" Type="http://schemas.microsoft.com/office/2007/relationships/hdphoto" Target="../media/hdphoto3.wdp"/></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55.png"/><Relationship Id="rId4" Type="http://schemas.openxmlformats.org/officeDocument/2006/relationships/image" Target="../media/image35.svg"/></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35.svg"/></Relationships>
</file>

<file path=ppt/slides/_rels/slide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35.svg"/><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35.svg"/></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35.svg"/></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35.svg"/></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35.svg"/></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35.svg"/></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2.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5.svg"/></Relationships>
</file>

<file path=ppt/slides/_rels/slide5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35.svg"/></Relationships>
</file>

<file path=ppt/slides/_rels/slide5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microsoft.com/office/2007/relationships/hdphoto" Target="../media/hdphoto3.wdp"/></Relationships>
</file>

<file path=ppt/slides/_rels/slide56.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Layout" Target="../slideLayouts/slideLayout1.xml"/><Relationship Id="rId5" Type="http://schemas.openxmlformats.org/officeDocument/2006/relationships/image" Target="../media/image61.svg"/><Relationship Id="rId4" Type="http://schemas.openxmlformats.org/officeDocument/2006/relationships/image" Target="../media/image60.png"/></Relationships>
</file>

<file path=ppt/slides/_rels/slide57.xml.rels><?xml version="1.0" encoding="UTF-8" standalone="yes"?>
<Relationships xmlns="http://schemas.openxmlformats.org/package/2006/relationships"><Relationship Id="rId3" Type="http://schemas.openxmlformats.org/officeDocument/2006/relationships/image" Target="../media/image63.svg"/><Relationship Id="rId7" Type="http://schemas.openxmlformats.org/officeDocument/2006/relationships/image" Target="../media/image61.svg"/><Relationship Id="rId2" Type="http://schemas.openxmlformats.org/officeDocument/2006/relationships/image" Target="../media/image62.png"/><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65.svg"/><Relationship Id="rId4" Type="http://schemas.openxmlformats.org/officeDocument/2006/relationships/image" Target="../media/image64.png"/></Relationships>
</file>

<file path=ppt/slides/_rels/slide5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19.svg"/></Relationships>
</file>

<file path=ppt/slides/_rels/slide5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640.png"/><Relationship Id="rId4" Type="http://schemas.openxmlformats.org/officeDocument/2006/relationships/image" Target="../media/image19.svg"/></Relationships>
</file>

<file path=ppt/slides/_rels/slide6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65.png"/><Relationship Id="rId4" Type="http://schemas.openxmlformats.org/officeDocument/2006/relationships/image" Target="../media/image19.svg"/></Relationships>
</file>

<file path=ppt/slides/_rels/slide61.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svg"/><Relationship Id="rId3" Type="http://schemas.openxmlformats.org/officeDocument/2006/relationships/image" Target="../media/image67.svg"/><Relationship Id="rId7" Type="http://schemas.openxmlformats.org/officeDocument/2006/relationships/image" Target="../media/image71.svg"/><Relationship Id="rId12" Type="http://schemas.openxmlformats.org/officeDocument/2006/relationships/image" Target="../media/image76.png"/><Relationship Id="rId2" Type="http://schemas.openxmlformats.org/officeDocument/2006/relationships/image" Target="../media/image66.png"/><Relationship Id="rId1" Type="http://schemas.openxmlformats.org/officeDocument/2006/relationships/slideLayout" Target="../slideLayouts/slideLayout1.xml"/><Relationship Id="rId6" Type="http://schemas.openxmlformats.org/officeDocument/2006/relationships/image" Target="../media/image70.png"/><Relationship Id="rId11" Type="http://schemas.openxmlformats.org/officeDocument/2006/relationships/image" Target="../media/image75.svg"/><Relationship Id="rId5" Type="http://schemas.openxmlformats.org/officeDocument/2006/relationships/image" Target="../media/image69.svg"/><Relationship Id="rId15" Type="http://schemas.openxmlformats.org/officeDocument/2006/relationships/image" Target="../media/image61.sv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svg"/><Relationship Id="rId14" Type="http://schemas.openxmlformats.org/officeDocument/2006/relationships/image" Target="../media/image60.png"/></Relationships>
</file>

<file path=ppt/slides/_rels/slide62.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65.svg"/><Relationship Id="rId18" Type="http://schemas.openxmlformats.org/officeDocument/2006/relationships/image" Target="../media/image60.png"/><Relationship Id="rId3" Type="http://schemas.openxmlformats.org/officeDocument/2006/relationships/image" Target="../media/image67.svg"/><Relationship Id="rId7" Type="http://schemas.openxmlformats.org/officeDocument/2006/relationships/image" Target="../media/image71.svg"/><Relationship Id="rId12" Type="http://schemas.openxmlformats.org/officeDocument/2006/relationships/image" Target="../media/image64.png"/><Relationship Id="rId17" Type="http://schemas.openxmlformats.org/officeDocument/2006/relationships/image" Target="../media/image81.svg"/><Relationship Id="rId2" Type="http://schemas.openxmlformats.org/officeDocument/2006/relationships/image" Target="../media/image66.png"/><Relationship Id="rId16" Type="http://schemas.openxmlformats.org/officeDocument/2006/relationships/image" Target="../media/image80.png"/><Relationship Id="rId1" Type="http://schemas.openxmlformats.org/officeDocument/2006/relationships/slideLayout" Target="../slideLayouts/slideLayout1.xml"/><Relationship Id="rId6" Type="http://schemas.openxmlformats.org/officeDocument/2006/relationships/image" Target="../media/image70.png"/><Relationship Id="rId11" Type="http://schemas.openxmlformats.org/officeDocument/2006/relationships/image" Target="../media/image63.svg"/><Relationship Id="rId5" Type="http://schemas.openxmlformats.org/officeDocument/2006/relationships/image" Target="../media/image69.svg"/><Relationship Id="rId15" Type="http://schemas.openxmlformats.org/officeDocument/2006/relationships/image" Target="../media/image79.svg"/><Relationship Id="rId10" Type="http://schemas.openxmlformats.org/officeDocument/2006/relationships/image" Target="../media/image62.png"/><Relationship Id="rId19" Type="http://schemas.openxmlformats.org/officeDocument/2006/relationships/image" Target="../media/image61.svg"/><Relationship Id="rId4" Type="http://schemas.openxmlformats.org/officeDocument/2006/relationships/image" Target="../media/image68.png"/><Relationship Id="rId9" Type="http://schemas.openxmlformats.org/officeDocument/2006/relationships/image" Target="../media/image75.svg"/><Relationship Id="rId14" Type="http://schemas.openxmlformats.org/officeDocument/2006/relationships/image" Target="../media/image7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D9F8FF-058C-C345-8417-2B63612F331C}"/>
              </a:ext>
            </a:extLst>
          </p:cNvPr>
          <p:cNvSpPr>
            <a:spLocks noGrp="1"/>
          </p:cNvSpPr>
          <p:nvPr>
            <p:ph type="subTitle" idx="4294967295"/>
          </p:nvPr>
        </p:nvSpPr>
        <p:spPr>
          <a:xfrm>
            <a:off x="-1" y="2979545"/>
            <a:ext cx="12192000" cy="622921"/>
          </a:xfrm>
        </p:spPr>
        <p:txBody>
          <a:bodyPr>
            <a:normAutofit/>
          </a:bodyPr>
          <a:lstStyle/>
          <a:p>
            <a:pPr marL="0" indent="0" algn="ctr">
              <a:buNone/>
            </a:pPr>
            <a:r>
              <a:rPr lang="en-FR" sz="2000" i="1" dirty="0"/>
              <a:t>Defended by Lorraine Vanel on July 8th</a:t>
            </a:r>
          </a:p>
        </p:txBody>
      </p:sp>
      <p:sp>
        <p:nvSpPr>
          <p:cNvPr id="6" name="Title 5">
            <a:extLst>
              <a:ext uri="{FF2B5EF4-FFF2-40B4-BE49-F238E27FC236}">
                <a16:creationId xmlns:a16="http://schemas.microsoft.com/office/drawing/2014/main" id="{4B830E64-44FB-1B41-B1C3-441F7240E3E1}"/>
              </a:ext>
            </a:extLst>
          </p:cNvPr>
          <p:cNvSpPr>
            <a:spLocks noGrp="1"/>
          </p:cNvSpPr>
          <p:nvPr>
            <p:ph type="ctrTitle" idx="4294967295"/>
          </p:nvPr>
        </p:nvSpPr>
        <p:spPr>
          <a:xfrm>
            <a:off x="-1" y="1038494"/>
            <a:ext cx="12191999" cy="1957388"/>
          </a:xfrm>
        </p:spPr>
        <p:txBody>
          <a:bodyPr>
            <a:normAutofit/>
          </a:bodyPr>
          <a:lstStyle/>
          <a:p>
            <a:pPr algn="ctr"/>
            <a:r>
              <a:rPr lang="en-GB" sz="3200" dirty="0">
                <a:latin typeface="Poppins"/>
                <a:ea typeface="+mj-lt"/>
                <a:cs typeface="+mj-lt"/>
              </a:rPr>
              <a:t>Planning Socio-Emotional </a:t>
            </a:r>
            <a:br>
              <a:rPr lang="en-GB" sz="3200" dirty="0">
                <a:latin typeface="Poppins"/>
                <a:ea typeface="+mj-lt"/>
                <a:cs typeface="+mj-lt"/>
              </a:rPr>
            </a:br>
            <a:r>
              <a:rPr lang="en-GB" sz="3200" dirty="0">
                <a:latin typeface="Poppins"/>
                <a:ea typeface="+mj-lt"/>
                <a:cs typeface="+mj-lt"/>
              </a:rPr>
              <a:t>Response Generation </a:t>
            </a:r>
            <a:br>
              <a:rPr lang="en-GB" sz="3200" dirty="0">
                <a:latin typeface="Poppins"/>
                <a:ea typeface="+mj-lt"/>
                <a:cs typeface="+mj-lt"/>
              </a:rPr>
            </a:br>
            <a:r>
              <a:rPr lang="en-GB" sz="3200" dirty="0">
                <a:latin typeface="Poppins"/>
                <a:ea typeface="+mj-lt"/>
                <a:cs typeface="+mj-lt"/>
              </a:rPr>
              <a:t>for Conversational Agents</a:t>
            </a:r>
            <a:endParaRPr lang="fr-FR" sz="3200" dirty="0">
              <a:latin typeface="Poppins"/>
            </a:endParaRPr>
          </a:p>
        </p:txBody>
      </p:sp>
      <p:cxnSp>
        <p:nvCxnSpPr>
          <p:cNvPr id="8" name="Straight Connector 7">
            <a:extLst>
              <a:ext uri="{FF2B5EF4-FFF2-40B4-BE49-F238E27FC236}">
                <a16:creationId xmlns:a16="http://schemas.microsoft.com/office/drawing/2014/main" id="{F58FAAB9-1E7A-FB4F-8005-990C9C1AB666}"/>
              </a:ext>
            </a:extLst>
          </p:cNvPr>
          <p:cNvCxnSpPr/>
          <p:nvPr/>
        </p:nvCxnSpPr>
        <p:spPr>
          <a:xfrm>
            <a:off x="2071433" y="2836227"/>
            <a:ext cx="8049127" cy="0"/>
          </a:xfrm>
          <a:prstGeom prst="line">
            <a:avLst/>
          </a:prstGeom>
          <a:ln w="28575">
            <a:solidFill>
              <a:srgbClr val="4B85F4"/>
            </a:solidFill>
          </a:ln>
        </p:spPr>
        <p:style>
          <a:lnRef idx="1">
            <a:schemeClr val="accent1"/>
          </a:lnRef>
          <a:fillRef idx="0">
            <a:schemeClr val="accent1"/>
          </a:fillRef>
          <a:effectRef idx="0">
            <a:schemeClr val="accent1"/>
          </a:effectRef>
          <a:fontRef idx="minor">
            <a:schemeClr val="tx1"/>
          </a:fontRef>
        </p:style>
      </p:cxnSp>
      <p:pic>
        <p:nvPicPr>
          <p:cNvPr id="4" name="Picture 3" descr="Logo&#10;&#10;Description automatically generated">
            <a:extLst>
              <a:ext uri="{FF2B5EF4-FFF2-40B4-BE49-F238E27FC236}">
                <a16:creationId xmlns:a16="http://schemas.microsoft.com/office/drawing/2014/main" id="{D23AE4C0-CA73-7B42-A863-CFA60C2B1A89}"/>
              </a:ext>
            </a:extLst>
          </p:cNvPr>
          <p:cNvPicPr>
            <a:picLocks noChangeAspect="1"/>
          </p:cNvPicPr>
          <p:nvPr/>
        </p:nvPicPr>
        <p:blipFill>
          <a:blip r:embed="rId3"/>
          <a:srcRect l="9984" t="17485" r="7790" b="16667"/>
          <a:stretch>
            <a:fillRect/>
          </a:stretch>
        </p:blipFill>
        <p:spPr>
          <a:xfrm>
            <a:off x="206829" y="184315"/>
            <a:ext cx="2984915" cy="1159328"/>
          </a:xfrm>
          <a:prstGeom prst="rect">
            <a:avLst/>
          </a:prstGeom>
          <a:ln>
            <a:noFill/>
          </a:ln>
        </p:spPr>
      </p:pic>
      <p:pic>
        <p:nvPicPr>
          <p:cNvPr id="1026" name="Picture 2" descr="Télécom Paris — Wikipédia">
            <a:extLst>
              <a:ext uri="{FF2B5EF4-FFF2-40B4-BE49-F238E27FC236}">
                <a16:creationId xmlns:a16="http://schemas.microsoft.com/office/drawing/2014/main" id="{2F341394-9724-1448-8BAA-EE4FDCCAD1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18087" y="184315"/>
            <a:ext cx="1367084" cy="21475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nria - Institut National de Recherche en sciences et technologies du  numérique - Amcsti">
            <a:extLst>
              <a:ext uri="{FF2B5EF4-FFF2-40B4-BE49-F238E27FC236}">
                <a16:creationId xmlns:a16="http://schemas.microsoft.com/office/drawing/2014/main" id="{11E34A1A-D540-E68A-913F-0616BC47F2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6898" y="184315"/>
            <a:ext cx="2283056" cy="80349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Table 9">
            <a:extLst>
              <a:ext uri="{FF2B5EF4-FFF2-40B4-BE49-F238E27FC236}">
                <a16:creationId xmlns:a16="http://schemas.microsoft.com/office/drawing/2014/main" id="{3F222925-E0A5-08EA-0246-C71AE9C84815}"/>
              </a:ext>
            </a:extLst>
          </p:cNvPr>
          <p:cNvGraphicFramePr>
            <a:graphicFrameLocks noGrp="1"/>
          </p:cNvGraphicFramePr>
          <p:nvPr>
            <p:extLst>
              <p:ext uri="{D42A27DB-BD31-4B8C-83A1-F6EECF244321}">
                <p14:modId xmlns:p14="http://schemas.microsoft.com/office/powerpoint/2010/main" val="2140202129"/>
              </p:ext>
            </p:extLst>
          </p:nvPr>
        </p:nvGraphicFramePr>
        <p:xfrm>
          <a:off x="788200" y="3823805"/>
          <a:ext cx="11020453" cy="2849880"/>
        </p:xfrm>
        <a:graphic>
          <a:graphicData uri="http://schemas.openxmlformats.org/drawingml/2006/table">
            <a:tbl>
              <a:tblPr>
                <a:tableStyleId>{5C22544A-7EE6-4342-B048-85BDC9FD1C3A}</a:tableStyleId>
              </a:tblPr>
              <a:tblGrid>
                <a:gridCol w="1678339">
                  <a:extLst>
                    <a:ext uri="{9D8B030D-6E8A-4147-A177-3AD203B41FA5}">
                      <a16:colId xmlns:a16="http://schemas.microsoft.com/office/drawing/2014/main" val="561806802"/>
                    </a:ext>
                  </a:extLst>
                </a:gridCol>
                <a:gridCol w="9342114">
                  <a:extLst>
                    <a:ext uri="{9D8B030D-6E8A-4147-A177-3AD203B41FA5}">
                      <a16:colId xmlns:a16="http://schemas.microsoft.com/office/drawing/2014/main" val="2940642070"/>
                    </a:ext>
                  </a:extLst>
                </a:gridCol>
              </a:tblGrid>
              <a:tr h="370840">
                <a:tc rowSpan="2">
                  <a:txBody>
                    <a:bodyPr/>
                    <a:lstStyle/>
                    <a:p>
                      <a:pPr algn="l"/>
                      <a:r>
                        <a:rPr lang="en-FR" sz="1600" b="1" dirty="0">
                          <a:solidFill>
                            <a:srgbClr val="4B84F4"/>
                          </a:solidFill>
                          <a:latin typeface="Poppins" pitchFamily="2" charset="77"/>
                          <a:cs typeface="Poppins" pitchFamily="2" charset="77"/>
                        </a:rPr>
                        <a:t>Reviewers</a:t>
                      </a:r>
                    </a:p>
                  </a:txBody>
                  <a:tcPr>
                    <a:noFill/>
                  </a:tcPr>
                </a:tc>
                <a:tc>
                  <a:txBody>
                    <a:bodyPr/>
                    <a:lstStyle/>
                    <a:p>
                      <a:pPr algn="l"/>
                      <a:endParaRPr lang="fr-FR" sz="1600" i="1" dirty="0">
                        <a:latin typeface="Poppins" pitchFamily="2" charset="77"/>
                        <a:ea typeface="Calibri"/>
                        <a:cs typeface="Poppins" pitchFamily="2" charset="77"/>
                      </a:endParaRPr>
                    </a:p>
                    <a:p>
                      <a:pPr algn="l"/>
                      <a:r>
                        <a:rPr lang="fr-FR" sz="1600" i="1" dirty="0">
                          <a:latin typeface="Poppins" pitchFamily="2" charset="77"/>
                          <a:ea typeface="Calibri"/>
                          <a:cs typeface="Poppins" pitchFamily="2" charset="77"/>
                        </a:rPr>
                        <a:t>Magalie Ochs ……………………………………………………… Professor at Aix Marseille Université</a:t>
                      </a:r>
                      <a:endParaRPr lang="en-FR" sz="1600" dirty="0">
                        <a:latin typeface="Poppins" pitchFamily="2" charset="77"/>
                        <a:cs typeface="Poppins" pitchFamily="2" charset="77"/>
                      </a:endParaRPr>
                    </a:p>
                  </a:txBody>
                  <a:tcPr anchor="ctr">
                    <a:noFill/>
                  </a:tcPr>
                </a:tc>
                <a:extLst>
                  <a:ext uri="{0D108BD9-81ED-4DB2-BD59-A6C34878D82A}">
                    <a16:rowId xmlns:a16="http://schemas.microsoft.com/office/drawing/2014/main" val="3068132312"/>
                  </a:ext>
                </a:extLst>
              </a:tr>
              <a:tr h="370840">
                <a:tc vMerge="1">
                  <a:txBody>
                    <a:bodyPr/>
                    <a:lstStyle/>
                    <a:p>
                      <a:endParaRPr lang="en-FR" dirty="0"/>
                    </a:p>
                  </a:txBody>
                  <a:tcPr/>
                </a:tc>
                <a:tc>
                  <a:txBody>
                    <a:bodyPr/>
                    <a:lstStyle/>
                    <a:p>
                      <a:pPr marL="0" algn="l" defTabSz="914400" rtl="0" eaLnBrk="1" latinLnBrk="0" hangingPunct="1"/>
                      <a:r>
                        <a:rPr lang="en-FR" sz="1600" i="1" kern="1200" dirty="0">
                          <a:solidFill>
                            <a:schemeClr val="dk1"/>
                          </a:solidFill>
                          <a:latin typeface="Poppins" pitchFamily="2" charset="77"/>
                          <a:cs typeface="Poppins" pitchFamily="2" charset="77"/>
                        </a:rPr>
                        <a:t>Lina Maria Rojas Barahona…………………………. </a:t>
                      </a:r>
                      <a:r>
                        <a:rPr lang="en-GB" sz="1600" i="1" kern="1200" dirty="0">
                          <a:solidFill>
                            <a:schemeClr val="dk1"/>
                          </a:solidFill>
                          <a:latin typeface="Poppins" pitchFamily="2" charset="77"/>
                          <a:cs typeface="Poppins" pitchFamily="2" charset="77"/>
                        </a:rPr>
                        <a:t>Senior Research Scientist at Orange</a:t>
                      </a:r>
                      <a:endParaRPr lang="en-FR" sz="1600" i="1" kern="1200" dirty="0">
                        <a:solidFill>
                          <a:schemeClr val="dk1"/>
                        </a:solidFill>
                        <a:latin typeface="Poppins" pitchFamily="2" charset="77"/>
                        <a:cs typeface="Poppins" pitchFamily="2" charset="77"/>
                      </a:endParaRPr>
                    </a:p>
                  </a:txBody>
                  <a:tcPr anchor="ctr">
                    <a:noFill/>
                  </a:tcPr>
                </a:tc>
                <a:extLst>
                  <a:ext uri="{0D108BD9-81ED-4DB2-BD59-A6C34878D82A}">
                    <a16:rowId xmlns:a16="http://schemas.microsoft.com/office/drawing/2014/main" val="1826611207"/>
                  </a:ext>
                </a:extLst>
              </a:tr>
              <a:tr h="370840">
                <a:tc rowSpan="2">
                  <a:txBody>
                    <a:bodyPr/>
                    <a:lstStyle/>
                    <a:p>
                      <a:pPr algn="l"/>
                      <a:r>
                        <a:rPr lang="en-FR" sz="1600" b="1" i="0" dirty="0">
                          <a:solidFill>
                            <a:srgbClr val="4B84F4"/>
                          </a:solidFill>
                          <a:latin typeface="Poppins" pitchFamily="2" charset="77"/>
                          <a:ea typeface="Calibri"/>
                          <a:cs typeface="Poppins" pitchFamily="2" charset="77"/>
                        </a:rPr>
                        <a:t>Examiners</a:t>
                      </a:r>
                    </a:p>
                  </a:txBody>
                  <a:tcPr>
                    <a:noFill/>
                  </a:tcPr>
                </a:tc>
                <a:tc>
                  <a:txBody>
                    <a:bodyPr/>
                    <a:lstStyle/>
                    <a:p>
                      <a:pPr marL="0" algn="l" defTabSz="914400" rtl="0" eaLnBrk="1" latinLnBrk="0" hangingPunct="1"/>
                      <a:endParaRPr lang="en-FR" sz="1600" i="1" dirty="0">
                        <a:latin typeface="Poppins" pitchFamily="2" charset="77"/>
                        <a:ea typeface="Calibri"/>
                        <a:cs typeface="Poppins" pitchFamily="2" charset="77"/>
                      </a:endParaRPr>
                    </a:p>
                    <a:p>
                      <a:pPr marL="0" algn="l" defTabSz="914400" rtl="0" eaLnBrk="1" latinLnBrk="0" hangingPunct="1"/>
                      <a:r>
                        <a:rPr lang="en-FR" sz="1600" i="1" dirty="0">
                          <a:latin typeface="Poppins" pitchFamily="2" charset="77"/>
                          <a:ea typeface="Calibri"/>
                          <a:cs typeface="Poppins" pitchFamily="2" charset="77"/>
                        </a:rPr>
                        <a:t>Fabrice Lefèvre</a:t>
                      </a:r>
                      <a:r>
                        <a:rPr lang="fr-FR" sz="1600" i="1" dirty="0">
                          <a:latin typeface="Poppins" pitchFamily="2" charset="77"/>
                          <a:ea typeface="Calibri"/>
                          <a:cs typeface="Poppins" pitchFamily="2" charset="77"/>
                        </a:rPr>
                        <a:t> ………………………………………………….. Professor at Avignon Université</a:t>
                      </a:r>
                      <a:endParaRPr lang="en-FR" sz="1600" i="1" kern="1200" dirty="0">
                        <a:solidFill>
                          <a:schemeClr val="dk1"/>
                        </a:solidFill>
                        <a:latin typeface="Poppins" pitchFamily="2" charset="77"/>
                        <a:cs typeface="Poppins" pitchFamily="2" charset="77"/>
                      </a:endParaRPr>
                    </a:p>
                  </a:txBody>
                  <a:tcPr anchor="ctr">
                    <a:noFill/>
                  </a:tcPr>
                </a:tc>
                <a:extLst>
                  <a:ext uri="{0D108BD9-81ED-4DB2-BD59-A6C34878D82A}">
                    <a16:rowId xmlns:a16="http://schemas.microsoft.com/office/drawing/2014/main" val="2771860142"/>
                  </a:ext>
                </a:extLst>
              </a:tr>
              <a:tr h="370840">
                <a:tc vMerge="1">
                  <a:txBody>
                    <a:bodyPr/>
                    <a:lstStyle/>
                    <a:p>
                      <a:endParaRPr lang="en-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FR" sz="1600" i="1" dirty="0">
                          <a:latin typeface="Poppins" pitchFamily="2" charset="77"/>
                          <a:ea typeface="Calibri"/>
                          <a:cs typeface="Poppins" pitchFamily="2" charset="77"/>
                        </a:rPr>
                        <a:t>Jonathan Gratch</a:t>
                      </a:r>
                      <a:r>
                        <a:rPr lang="fr-FR" sz="1600" i="1" dirty="0">
                          <a:latin typeface="Poppins" pitchFamily="2" charset="77"/>
                          <a:ea typeface="Calibri"/>
                          <a:cs typeface="Poppins" pitchFamily="2" charset="77"/>
                        </a:rPr>
                        <a:t> ……………………………………………… Professor at </a:t>
                      </a:r>
                      <a:r>
                        <a:rPr lang="fr-FR" sz="1600" i="1" dirty="0" err="1">
                          <a:latin typeface="Poppins" pitchFamily="2" charset="77"/>
                          <a:ea typeface="Calibri"/>
                          <a:cs typeface="Poppins" pitchFamily="2" charset="77"/>
                        </a:rPr>
                        <a:t>University</a:t>
                      </a:r>
                      <a:r>
                        <a:rPr lang="fr-FR" sz="1600" i="1" dirty="0">
                          <a:latin typeface="Poppins" pitchFamily="2" charset="77"/>
                          <a:ea typeface="Calibri"/>
                          <a:cs typeface="Poppins" pitchFamily="2" charset="77"/>
                        </a:rPr>
                        <a:t> of </a:t>
                      </a:r>
                      <a:r>
                        <a:rPr lang="fr-FR" sz="1600" i="1" dirty="0" err="1">
                          <a:latin typeface="Poppins" pitchFamily="2" charset="77"/>
                          <a:ea typeface="Calibri"/>
                          <a:cs typeface="Poppins" pitchFamily="2" charset="77"/>
                        </a:rPr>
                        <a:t>Southern</a:t>
                      </a:r>
                      <a:r>
                        <a:rPr lang="fr-FR" sz="1600" i="1" dirty="0">
                          <a:latin typeface="Poppins" pitchFamily="2" charset="77"/>
                          <a:ea typeface="Calibri"/>
                          <a:cs typeface="Poppins" pitchFamily="2" charset="77"/>
                        </a:rPr>
                        <a:t> California</a:t>
                      </a:r>
                      <a:endParaRPr lang="en-FR" sz="1600" i="1" dirty="0">
                        <a:latin typeface="Poppins" pitchFamily="2" charset="77"/>
                        <a:ea typeface="Calibri"/>
                        <a:cs typeface="Poppins" pitchFamily="2" charset="77"/>
                      </a:endParaRPr>
                    </a:p>
                  </a:txBody>
                  <a:tcPr anchor="ctr">
                    <a:noFill/>
                  </a:tcPr>
                </a:tc>
                <a:extLst>
                  <a:ext uri="{0D108BD9-81ED-4DB2-BD59-A6C34878D82A}">
                    <a16:rowId xmlns:a16="http://schemas.microsoft.com/office/drawing/2014/main" val="473234955"/>
                  </a:ext>
                </a:extLst>
              </a:tr>
              <a:tr h="370840">
                <a:tc rowSpan="2">
                  <a:txBody>
                    <a:bodyPr/>
                    <a:lstStyle/>
                    <a:p>
                      <a:pPr algn="l"/>
                      <a:r>
                        <a:rPr lang="en-FR" sz="1600" b="1" dirty="0">
                          <a:solidFill>
                            <a:srgbClr val="4B84F4"/>
                          </a:solidFill>
                          <a:latin typeface="Poppins" pitchFamily="2" charset="77"/>
                          <a:cs typeface="Poppins" pitchFamily="2" charset="77"/>
                        </a:rPr>
                        <a:t>PhD Direction</a:t>
                      </a:r>
                    </a:p>
                  </a:txBody>
                  <a:tcPr>
                    <a:noFill/>
                  </a:tcPr>
                </a:tc>
                <a:tc>
                  <a:txBody>
                    <a:bodyPr/>
                    <a:lstStyle/>
                    <a:p>
                      <a:pPr algn="l"/>
                      <a:endParaRPr lang="en-FR" sz="1600" i="1" dirty="0">
                        <a:latin typeface="Poppins" pitchFamily="2" charset="77"/>
                        <a:ea typeface="Calibri"/>
                        <a:cs typeface="Poppins" pitchFamily="2" charset="77"/>
                      </a:endParaRPr>
                    </a:p>
                    <a:p>
                      <a:pPr algn="l"/>
                      <a:r>
                        <a:rPr lang="en-FR" sz="1600" i="1" dirty="0">
                          <a:latin typeface="Poppins" pitchFamily="2" charset="77"/>
                          <a:ea typeface="Calibri"/>
                          <a:cs typeface="Poppins" pitchFamily="2" charset="77"/>
                        </a:rPr>
                        <a:t>Chloé Clavel</a:t>
                      </a:r>
                      <a:r>
                        <a:rPr lang="fr-FR" sz="1600" i="1" dirty="0">
                          <a:latin typeface="Poppins" pitchFamily="2" charset="77"/>
                          <a:ea typeface="Calibri"/>
                          <a:cs typeface="Poppins" pitchFamily="2" charset="77"/>
                        </a:rPr>
                        <a:t> ………………………………………………………… PhD </a:t>
                      </a:r>
                      <a:r>
                        <a:rPr lang="fr-FR" sz="1600" i="1" dirty="0" err="1">
                          <a:latin typeface="Poppins" pitchFamily="2" charset="77"/>
                          <a:ea typeface="Calibri"/>
                          <a:cs typeface="Poppins" pitchFamily="2" charset="77"/>
                        </a:rPr>
                        <a:t>Director</a:t>
                      </a:r>
                      <a:r>
                        <a:rPr lang="fr-FR" sz="1600" i="1" dirty="0">
                          <a:latin typeface="Poppins" pitchFamily="2" charset="77"/>
                          <a:ea typeface="Calibri"/>
                          <a:cs typeface="Poppins" pitchFamily="2" charset="77"/>
                        </a:rPr>
                        <a:t>, </a:t>
                      </a:r>
                      <a:r>
                        <a:rPr lang="en-GB" sz="1600" i="1" kern="1200" dirty="0">
                          <a:solidFill>
                            <a:schemeClr val="dk1"/>
                          </a:solidFill>
                          <a:latin typeface="Poppins" pitchFamily="2" charset="77"/>
                          <a:cs typeface="Poppins" pitchFamily="2" charset="77"/>
                        </a:rPr>
                        <a:t>Senior Researcher</a:t>
                      </a:r>
                      <a:r>
                        <a:rPr lang="fr-FR" sz="1600" i="1" dirty="0">
                          <a:latin typeface="Poppins" pitchFamily="2" charset="77"/>
                          <a:ea typeface="Calibri"/>
                          <a:cs typeface="Poppins" pitchFamily="2" charset="77"/>
                        </a:rPr>
                        <a:t> at Inria Paris </a:t>
                      </a:r>
                      <a:endParaRPr lang="en-FR" sz="1600" i="1" dirty="0">
                        <a:latin typeface="Poppins" pitchFamily="2" charset="77"/>
                        <a:ea typeface="Calibri"/>
                        <a:cs typeface="Poppins" pitchFamily="2" charset="77"/>
                      </a:endParaRPr>
                    </a:p>
                  </a:txBody>
                  <a:tcPr anchor="ctr">
                    <a:noFill/>
                  </a:tcPr>
                </a:tc>
                <a:extLst>
                  <a:ext uri="{0D108BD9-81ED-4DB2-BD59-A6C34878D82A}">
                    <a16:rowId xmlns:a16="http://schemas.microsoft.com/office/drawing/2014/main" val="4105815875"/>
                  </a:ext>
                </a:extLst>
              </a:tr>
              <a:tr h="370840">
                <a:tc vMerge="1">
                  <a:txBody>
                    <a:bodyPr/>
                    <a:lstStyle/>
                    <a:p>
                      <a:endParaRPr lang="en-FR" dirty="0"/>
                    </a:p>
                  </a:txBody>
                  <a:tcPr/>
                </a:tc>
                <a:tc>
                  <a:txBody>
                    <a:bodyPr/>
                    <a:lstStyle/>
                    <a:p>
                      <a:pPr marL="0" algn="l" defTabSz="914400" rtl="0" eaLnBrk="1" latinLnBrk="0" hangingPunct="1"/>
                      <a:r>
                        <a:rPr lang="en-FR" sz="1600" i="1" dirty="0">
                          <a:latin typeface="Poppins" pitchFamily="2" charset="77"/>
                          <a:ea typeface="Calibri"/>
                          <a:cs typeface="Poppins" pitchFamily="2" charset="77"/>
                        </a:rPr>
                        <a:t>Alya Yacoubi</a:t>
                      </a:r>
                      <a:r>
                        <a:rPr lang="fr-FR" sz="1600" i="1" dirty="0">
                          <a:latin typeface="Poppins" pitchFamily="2" charset="77"/>
                          <a:ea typeface="Calibri"/>
                          <a:cs typeface="Poppins" pitchFamily="2" charset="77"/>
                        </a:rPr>
                        <a:t> ……………………………………………………….. PhD Co-</a:t>
                      </a:r>
                      <a:r>
                        <a:rPr lang="fr-FR" sz="1600" i="1" dirty="0" err="1">
                          <a:latin typeface="Poppins" pitchFamily="2" charset="77"/>
                          <a:ea typeface="Calibri"/>
                          <a:cs typeface="Poppins" pitchFamily="2" charset="77"/>
                        </a:rPr>
                        <a:t>Supervisor</a:t>
                      </a:r>
                      <a:r>
                        <a:rPr lang="fr-FR" sz="1600" i="1" dirty="0">
                          <a:latin typeface="Poppins" pitchFamily="2" charset="77"/>
                          <a:ea typeface="Calibri"/>
                          <a:cs typeface="Poppins" pitchFamily="2" charset="77"/>
                        </a:rPr>
                        <a:t>, </a:t>
                      </a:r>
                      <a:r>
                        <a:rPr lang="fr-FR" sz="1600" i="1" dirty="0" err="1">
                          <a:latin typeface="Poppins" pitchFamily="2" charset="77"/>
                          <a:ea typeface="Calibri"/>
                          <a:cs typeface="Poppins" pitchFamily="2" charset="77"/>
                        </a:rPr>
                        <a:t>Zaion</a:t>
                      </a:r>
                      <a:r>
                        <a:rPr lang="fr-FR" sz="1600" i="1" dirty="0">
                          <a:latin typeface="Poppins" pitchFamily="2" charset="77"/>
                          <a:ea typeface="Calibri"/>
                          <a:cs typeface="Poppins" pitchFamily="2" charset="77"/>
                        </a:rPr>
                        <a:t> </a:t>
                      </a:r>
                      <a:r>
                        <a:rPr lang="fr-FR" sz="1600" i="1" dirty="0" err="1">
                          <a:latin typeface="Poppins" pitchFamily="2" charset="77"/>
                          <a:ea typeface="Calibri"/>
                          <a:cs typeface="Poppins" pitchFamily="2" charset="77"/>
                        </a:rPr>
                        <a:t>Lab</a:t>
                      </a:r>
                      <a:endParaRPr lang="en-FR" sz="1600" i="1" kern="1200" dirty="0">
                        <a:solidFill>
                          <a:schemeClr val="dk1"/>
                        </a:solidFill>
                        <a:latin typeface="Poppins" pitchFamily="2" charset="77"/>
                        <a:cs typeface="Poppins" pitchFamily="2" charset="77"/>
                      </a:endParaRPr>
                    </a:p>
                  </a:txBody>
                  <a:tcPr anchor="ctr">
                    <a:noFill/>
                  </a:tcPr>
                </a:tc>
                <a:extLst>
                  <a:ext uri="{0D108BD9-81ED-4DB2-BD59-A6C34878D82A}">
                    <a16:rowId xmlns:a16="http://schemas.microsoft.com/office/drawing/2014/main" val="2628362780"/>
                  </a:ext>
                </a:extLst>
              </a:tr>
            </a:tbl>
          </a:graphicData>
        </a:graphic>
      </p:graphicFrame>
      <p:sp>
        <p:nvSpPr>
          <p:cNvPr id="11" name="TextBox 10">
            <a:extLst>
              <a:ext uri="{FF2B5EF4-FFF2-40B4-BE49-F238E27FC236}">
                <a16:creationId xmlns:a16="http://schemas.microsoft.com/office/drawing/2014/main" id="{5F9274D1-BF86-16CF-4A59-D8E0FF90BC32}"/>
              </a:ext>
            </a:extLst>
          </p:cNvPr>
          <p:cNvSpPr txBox="1"/>
          <p:nvPr/>
        </p:nvSpPr>
        <p:spPr>
          <a:xfrm>
            <a:off x="362442" y="3291005"/>
            <a:ext cx="2635658" cy="400110"/>
          </a:xfrm>
          <a:prstGeom prst="rect">
            <a:avLst/>
          </a:prstGeom>
          <a:noFill/>
        </p:spPr>
        <p:txBody>
          <a:bodyPr wrap="none" rtlCol="0">
            <a:spAutoFit/>
          </a:bodyPr>
          <a:lstStyle/>
          <a:p>
            <a:r>
              <a:rPr lang="en-FR" sz="2000" b="1" dirty="0">
                <a:solidFill>
                  <a:srgbClr val="4B84F4"/>
                </a:solidFill>
                <a:latin typeface="Poppins" pitchFamily="2" charset="77"/>
                <a:cs typeface="Poppins" pitchFamily="2" charset="77"/>
              </a:rPr>
              <a:t>THESIS COMMITTEE</a:t>
            </a:r>
          </a:p>
        </p:txBody>
      </p:sp>
    </p:spTree>
    <p:extLst>
      <p:ext uri="{BB962C8B-B14F-4D97-AF65-F5344CB8AC3E}">
        <p14:creationId xmlns:p14="http://schemas.microsoft.com/office/powerpoint/2010/main" val="4077250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DC62520E-9CE1-C84E-BACA-DAA25D7349C3}"/>
              </a:ext>
            </a:extLst>
          </p:cNvPr>
          <p:cNvSpPr/>
          <p:nvPr/>
        </p:nvSpPr>
        <p:spPr>
          <a:xfrm>
            <a:off x="573249" y="2422762"/>
            <a:ext cx="5066722" cy="3080126"/>
          </a:xfrm>
          <a:prstGeom prst="rect">
            <a:avLst/>
          </a:prstGeom>
          <a:noFill/>
          <a:ln w="28575">
            <a:solidFill>
              <a:srgbClr val="0055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pic>
        <p:nvPicPr>
          <p:cNvPr id="29" name="Picture 28" descr="Logo&#10;&#10;Description automatically generated">
            <a:extLst>
              <a:ext uri="{FF2B5EF4-FFF2-40B4-BE49-F238E27FC236}">
                <a16:creationId xmlns:a16="http://schemas.microsoft.com/office/drawing/2014/main" id="{BE05D9C4-941C-B24D-BF1E-A488E9FBB426}"/>
              </a:ext>
            </a:extLst>
          </p:cNvPr>
          <p:cNvPicPr>
            <a:picLocks noChangeAspect="1"/>
          </p:cNvPicPr>
          <p:nvPr/>
        </p:nvPicPr>
        <p:blipFill>
          <a:blip r:embed="rId3"/>
          <a:stretch>
            <a:fillRect/>
          </a:stretch>
        </p:blipFill>
        <p:spPr>
          <a:xfrm>
            <a:off x="1586756" y="4176444"/>
            <a:ext cx="2734936" cy="1326444"/>
          </a:xfrm>
          <a:prstGeom prst="rect">
            <a:avLst/>
          </a:prstGeom>
          <a:ln>
            <a:noFill/>
          </a:ln>
        </p:spPr>
      </p:pic>
      <p:pic>
        <p:nvPicPr>
          <p:cNvPr id="30" name="Picture 2" descr="Télécom Paris — Wikipédia">
            <a:extLst>
              <a:ext uri="{FF2B5EF4-FFF2-40B4-BE49-F238E27FC236}">
                <a16:creationId xmlns:a16="http://schemas.microsoft.com/office/drawing/2014/main" id="{ADFCFF5F-1759-4F49-9DF3-5B320D50D9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90119" y="3258495"/>
            <a:ext cx="927807" cy="14575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6143C6A-0455-1747-A8D7-352125A33DAA}"/>
              </a:ext>
            </a:extLst>
          </p:cNvPr>
          <p:cNvSpPr txBox="1"/>
          <p:nvPr/>
        </p:nvSpPr>
        <p:spPr>
          <a:xfrm>
            <a:off x="1123855" y="3156711"/>
            <a:ext cx="3965510" cy="1138773"/>
          </a:xfrm>
          <a:prstGeom prst="rect">
            <a:avLst/>
          </a:prstGeom>
          <a:noFill/>
        </p:spPr>
        <p:txBody>
          <a:bodyPr wrap="square" lIns="91440" tIns="45720" rIns="91440" bIns="45720" rtlCol="0" anchor="t">
            <a:spAutoFit/>
          </a:bodyPr>
          <a:lstStyle/>
          <a:p>
            <a:pPr algn="just"/>
            <a:r>
              <a:rPr lang="en-FR" sz="1700" dirty="0">
                <a:latin typeface="Poppins"/>
                <a:cs typeface="Poppins"/>
              </a:rPr>
              <a:t>French Company specialised in the </a:t>
            </a:r>
            <a:r>
              <a:rPr lang="en-GB" sz="1700" dirty="0">
                <a:latin typeface="Poppins"/>
                <a:cs typeface="Poppins"/>
              </a:rPr>
              <a:t>development of phone-based solutions for customer service and call </a:t>
            </a:r>
            <a:r>
              <a:rPr lang="en-GB" sz="1700" dirty="0" err="1">
                <a:latin typeface="Poppins"/>
                <a:cs typeface="Poppins"/>
              </a:rPr>
              <a:t>centers</a:t>
            </a:r>
            <a:r>
              <a:rPr lang="en-GB" sz="1700" dirty="0">
                <a:latin typeface="Poppins"/>
                <a:cs typeface="Poppins"/>
              </a:rPr>
              <a:t>.</a:t>
            </a:r>
          </a:p>
        </p:txBody>
      </p:sp>
      <p:sp>
        <p:nvSpPr>
          <p:cNvPr id="12" name="TextBox 11">
            <a:extLst>
              <a:ext uri="{FF2B5EF4-FFF2-40B4-BE49-F238E27FC236}">
                <a16:creationId xmlns:a16="http://schemas.microsoft.com/office/drawing/2014/main" id="{A7F0F4D0-538F-3445-A1EA-6F123BD7B676}"/>
              </a:ext>
            </a:extLst>
          </p:cNvPr>
          <p:cNvSpPr txBox="1"/>
          <p:nvPr/>
        </p:nvSpPr>
        <p:spPr>
          <a:xfrm>
            <a:off x="6664609" y="5144533"/>
            <a:ext cx="4426023" cy="1138773"/>
          </a:xfrm>
          <a:prstGeom prst="rect">
            <a:avLst/>
          </a:prstGeom>
          <a:noFill/>
        </p:spPr>
        <p:txBody>
          <a:bodyPr wrap="square" lIns="91440" tIns="45720" rIns="91440" bIns="45720" rtlCol="0" anchor="t">
            <a:spAutoFit/>
          </a:bodyPr>
          <a:lstStyle/>
          <a:p>
            <a:r>
              <a:rPr lang="en-GB" sz="1700" dirty="0" err="1">
                <a:latin typeface="Poppins"/>
                <a:cs typeface="Poppins"/>
              </a:rPr>
              <a:t>Institut</a:t>
            </a:r>
            <a:r>
              <a:rPr lang="en-GB" sz="1700" dirty="0">
                <a:latin typeface="Poppins"/>
                <a:cs typeface="Poppins"/>
              </a:rPr>
              <a:t> national de recherche </a:t>
            </a:r>
            <a:r>
              <a:rPr lang="en-GB" sz="1700" dirty="0" err="1">
                <a:latin typeface="Poppins"/>
                <a:cs typeface="Poppins"/>
              </a:rPr>
              <a:t>en</a:t>
            </a:r>
            <a:r>
              <a:rPr lang="en-GB" sz="1700" dirty="0">
                <a:latin typeface="Poppins"/>
                <a:cs typeface="Poppins"/>
              </a:rPr>
              <a:t> </a:t>
            </a:r>
            <a:r>
              <a:rPr lang="en-GB" sz="1700" dirty="0" err="1">
                <a:latin typeface="Poppins"/>
                <a:cs typeface="Poppins"/>
              </a:rPr>
              <a:t>informatique</a:t>
            </a:r>
            <a:r>
              <a:rPr lang="en-GB" sz="1700" dirty="0">
                <a:latin typeface="Poppins"/>
                <a:cs typeface="Poppins"/>
              </a:rPr>
              <a:t> et </a:t>
            </a:r>
            <a:r>
              <a:rPr lang="en-GB" sz="1700" dirty="0" err="1">
                <a:latin typeface="Poppins"/>
                <a:cs typeface="Poppins"/>
              </a:rPr>
              <a:t>en</a:t>
            </a:r>
            <a:r>
              <a:rPr lang="en-GB" sz="1700" dirty="0">
                <a:latin typeface="Poppins"/>
                <a:cs typeface="Poppins"/>
              </a:rPr>
              <a:t> </a:t>
            </a:r>
            <a:r>
              <a:rPr lang="en-GB" sz="1700" dirty="0" err="1">
                <a:latin typeface="Poppins"/>
                <a:cs typeface="Poppins"/>
              </a:rPr>
              <a:t>automatique</a:t>
            </a:r>
            <a:r>
              <a:rPr lang="en-GB" sz="1700" dirty="0">
                <a:latin typeface="Poppins"/>
                <a:cs typeface="Poppins"/>
              </a:rPr>
              <a:t>, </a:t>
            </a:r>
            <a:r>
              <a:rPr lang="en-FR" sz="1700" dirty="0">
                <a:latin typeface="Poppins"/>
                <a:cs typeface="Poppins"/>
              </a:rPr>
              <a:t>French public research institute.</a:t>
            </a:r>
            <a:br>
              <a:rPr lang="en-FR" sz="1700" dirty="0">
                <a:latin typeface="Poppins" pitchFamily="2" charset="77"/>
                <a:cs typeface="Poppins" pitchFamily="2" charset="77"/>
              </a:rPr>
            </a:br>
            <a:r>
              <a:rPr lang="en-FR" sz="1700" b="1" dirty="0">
                <a:latin typeface="Poppins"/>
                <a:cs typeface="Poppins"/>
              </a:rPr>
              <a:t>Laboratory</a:t>
            </a:r>
            <a:r>
              <a:rPr lang="en-FR" sz="1700" dirty="0">
                <a:latin typeface="Poppins"/>
                <a:cs typeface="Poppins"/>
              </a:rPr>
              <a:t>: </a:t>
            </a:r>
            <a:r>
              <a:rPr lang="fr-FR" sz="1700" dirty="0">
                <a:latin typeface="Poppins"/>
                <a:cs typeface="Poppins"/>
              </a:rPr>
              <a:t>Almanach</a:t>
            </a:r>
            <a:endParaRPr lang="en-GB" sz="1700" dirty="0">
              <a:latin typeface="Poppins"/>
              <a:cs typeface="Poppins"/>
            </a:endParaRPr>
          </a:p>
        </p:txBody>
      </p:sp>
      <p:pic>
        <p:nvPicPr>
          <p:cNvPr id="6" name="Picture 2" descr="Inria - Institut National de Recherche en sciences et technologies du  numérique - Amcsti">
            <a:extLst>
              <a:ext uri="{FF2B5EF4-FFF2-40B4-BE49-F238E27FC236}">
                <a16:creationId xmlns:a16="http://schemas.microsoft.com/office/drawing/2014/main" id="{370D0EE6-C8B0-D117-A066-50DF85065C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02906" y="5891496"/>
            <a:ext cx="1473307" cy="54749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DB12752B-DAD0-FEEE-A218-65C3AA79929C}"/>
              </a:ext>
            </a:extLst>
          </p:cNvPr>
          <p:cNvPicPr>
            <a:picLocks noChangeAspect="1"/>
          </p:cNvPicPr>
          <p:nvPr/>
        </p:nvPicPr>
        <p:blipFill>
          <a:blip r:embed="rId6">
            <a:alphaModFix/>
            <a:extLst>
              <a:ext uri="{BEBA8EAE-BF5A-486C-A8C5-ECC9F3942E4B}">
                <a14:imgProps xmlns:a14="http://schemas.microsoft.com/office/drawing/2010/main">
                  <a14:imgLayer r:embed="rId7">
                    <a14:imgEffect>
                      <a14:artisticPhotocopy/>
                    </a14:imgEffect>
                    <a14:imgEffect>
                      <a14:colorTemperature colorTemp="5142"/>
                    </a14:imgEffect>
                    <a14:imgEffect>
                      <a14:saturation sat="400000"/>
                    </a14:imgEffect>
                  </a14:imgLayer>
                </a14:imgProps>
              </a:ext>
            </a:extLst>
          </a:blip>
          <a:stretch>
            <a:fillRect/>
          </a:stretch>
        </p:blipFill>
        <p:spPr>
          <a:xfrm>
            <a:off x="209188" y="354256"/>
            <a:ext cx="764671" cy="764671"/>
          </a:xfrm>
          <a:prstGeom prst="rect">
            <a:avLst/>
          </a:prstGeom>
        </p:spPr>
      </p:pic>
      <p:sp>
        <p:nvSpPr>
          <p:cNvPr id="3" name="Rectangle 2">
            <a:extLst>
              <a:ext uri="{FF2B5EF4-FFF2-40B4-BE49-F238E27FC236}">
                <a16:creationId xmlns:a16="http://schemas.microsoft.com/office/drawing/2014/main" id="{EEBBCA49-81CD-0BB0-63E1-7B16385FBC3B}"/>
              </a:ext>
            </a:extLst>
          </p:cNvPr>
          <p:cNvSpPr/>
          <p:nvPr/>
        </p:nvSpPr>
        <p:spPr>
          <a:xfrm>
            <a:off x="6479028" y="4977266"/>
            <a:ext cx="4846850" cy="1473308"/>
          </a:xfrm>
          <a:prstGeom prst="rect">
            <a:avLst/>
          </a:prstGeom>
          <a:noFill/>
          <a:ln w="28575">
            <a:solidFill>
              <a:srgbClr val="B60C3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FR"/>
          </a:p>
        </p:txBody>
      </p:sp>
      <p:sp>
        <p:nvSpPr>
          <p:cNvPr id="5" name="Rectangle 4">
            <a:extLst>
              <a:ext uri="{FF2B5EF4-FFF2-40B4-BE49-F238E27FC236}">
                <a16:creationId xmlns:a16="http://schemas.microsoft.com/office/drawing/2014/main" id="{A2D58F78-1A2A-98C3-F8A3-D44A9A489AF7}"/>
              </a:ext>
            </a:extLst>
          </p:cNvPr>
          <p:cNvSpPr/>
          <p:nvPr/>
        </p:nvSpPr>
        <p:spPr>
          <a:xfrm>
            <a:off x="6136494" y="2422762"/>
            <a:ext cx="5482257" cy="4247609"/>
          </a:xfrm>
          <a:prstGeom prst="rect">
            <a:avLst/>
          </a:prstGeom>
          <a:noFill/>
          <a:ln w="28575">
            <a:solidFill>
              <a:srgbClr val="B60C3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8" name="TextBox 7">
            <a:extLst>
              <a:ext uri="{FF2B5EF4-FFF2-40B4-BE49-F238E27FC236}">
                <a16:creationId xmlns:a16="http://schemas.microsoft.com/office/drawing/2014/main" id="{B65FD1AF-D8FA-0746-7C08-21D5BFCDD9A1}"/>
              </a:ext>
            </a:extLst>
          </p:cNvPr>
          <p:cNvSpPr txBox="1"/>
          <p:nvPr/>
        </p:nvSpPr>
        <p:spPr>
          <a:xfrm>
            <a:off x="6136494" y="2718889"/>
            <a:ext cx="5482256" cy="369332"/>
          </a:xfrm>
          <a:prstGeom prst="rect">
            <a:avLst/>
          </a:prstGeom>
          <a:noFill/>
        </p:spPr>
        <p:txBody>
          <a:bodyPr wrap="square">
            <a:spAutoFit/>
          </a:bodyPr>
          <a:lstStyle/>
          <a:p>
            <a:pPr algn="ctr"/>
            <a:r>
              <a:rPr lang="en-GB" b="1" dirty="0">
                <a:solidFill>
                  <a:srgbClr val="B60C36"/>
                </a:solidFill>
                <a:latin typeface="Poppins" pitchFamily="2" charset="77"/>
                <a:cs typeface="Poppins" pitchFamily="2" charset="77"/>
              </a:rPr>
              <a:t>Director: prof. Chloé Clavel</a:t>
            </a:r>
            <a:endParaRPr lang="en-FR" b="1" dirty="0">
              <a:solidFill>
                <a:srgbClr val="B60C36"/>
              </a:solidFill>
              <a:latin typeface="Poppins" pitchFamily="2" charset="77"/>
              <a:cs typeface="Poppins" pitchFamily="2" charset="77"/>
            </a:endParaRPr>
          </a:p>
        </p:txBody>
      </p:sp>
      <p:sp>
        <p:nvSpPr>
          <p:cNvPr id="10" name="Rectangle 9">
            <a:extLst>
              <a:ext uri="{FF2B5EF4-FFF2-40B4-BE49-F238E27FC236}">
                <a16:creationId xmlns:a16="http://schemas.microsoft.com/office/drawing/2014/main" id="{32BB9820-0032-A221-778F-11F1383852B5}"/>
              </a:ext>
            </a:extLst>
          </p:cNvPr>
          <p:cNvSpPr/>
          <p:nvPr/>
        </p:nvSpPr>
        <p:spPr>
          <a:xfrm>
            <a:off x="6479028" y="3241651"/>
            <a:ext cx="4846849" cy="1473308"/>
          </a:xfrm>
          <a:prstGeom prst="rect">
            <a:avLst/>
          </a:prstGeom>
          <a:noFill/>
          <a:ln w="28575">
            <a:solidFill>
              <a:srgbClr val="B60C3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FR"/>
          </a:p>
        </p:txBody>
      </p:sp>
      <p:sp>
        <p:nvSpPr>
          <p:cNvPr id="11" name="TextBox 10">
            <a:extLst>
              <a:ext uri="{FF2B5EF4-FFF2-40B4-BE49-F238E27FC236}">
                <a16:creationId xmlns:a16="http://schemas.microsoft.com/office/drawing/2014/main" id="{F3D50E98-54A5-3DF2-D3ED-04E5A8691C74}"/>
              </a:ext>
            </a:extLst>
          </p:cNvPr>
          <p:cNvSpPr txBox="1"/>
          <p:nvPr/>
        </p:nvSpPr>
        <p:spPr>
          <a:xfrm>
            <a:off x="675330" y="2282625"/>
            <a:ext cx="2278894" cy="369332"/>
          </a:xfrm>
          <a:prstGeom prst="rect">
            <a:avLst/>
          </a:prstGeom>
          <a:solidFill>
            <a:schemeClr val="bg1"/>
          </a:solidFill>
        </p:spPr>
        <p:txBody>
          <a:bodyPr wrap="none" rtlCol="0">
            <a:spAutoFit/>
          </a:bodyPr>
          <a:lstStyle/>
          <a:p>
            <a:r>
              <a:rPr lang="en-FR" b="1" dirty="0">
                <a:solidFill>
                  <a:srgbClr val="0055FF"/>
                </a:solidFill>
              </a:rPr>
              <a:t>INDUSTRIAL PARTNER</a:t>
            </a:r>
          </a:p>
        </p:txBody>
      </p:sp>
      <p:sp>
        <p:nvSpPr>
          <p:cNvPr id="14" name="TextBox 13">
            <a:extLst>
              <a:ext uri="{FF2B5EF4-FFF2-40B4-BE49-F238E27FC236}">
                <a16:creationId xmlns:a16="http://schemas.microsoft.com/office/drawing/2014/main" id="{FF47C8CE-8E8F-1CF8-1782-43FDAB6639A4}"/>
              </a:ext>
            </a:extLst>
          </p:cNvPr>
          <p:cNvSpPr txBox="1"/>
          <p:nvPr/>
        </p:nvSpPr>
        <p:spPr>
          <a:xfrm>
            <a:off x="6452270" y="2277260"/>
            <a:ext cx="2268185" cy="369332"/>
          </a:xfrm>
          <a:prstGeom prst="rect">
            <a:avLst/>
          </a:prstGeom>
          <a:solidFill>
            <a:schemeClr val="bg1"/>
          </a:solidFill>
        </p:spPr>
        <p:txBody>
          <a:bodyPr wrap="none" rtlCol="0">
            <a:spAutoFit/>
          </a:bodyPr>
          <a:lstStyle/>
          <a:p>
            <a:r>
              <a:rPr lang="en-FR" b="1" dirty="0">
                <a:solidFill>
                  <a:srgbClr val="B60C36"/>
                </a:solidFill>
              </a:rPr>
              <a:t>ACADEMIC PARTNERS</a:t>
            </a:r>
          </a:p>
        </p:txBody>
      </p:sp>
      <p:sp>
        <p:nvSpPr>
          <p:cNvPr id="15" name="TextBox 14">
            <a:extLst>
              <a:ext uri="{FF2B5EF4-FFF2-40B4-BE49-F238E27FC236}">
                <a16:creationId xmlns:a16="http://schemas.microsoft.com/office/drawing/2014/main" id="{E48B2147-0DB2-8713-42CD-E49D9D0C584D}"/>
              </a:ext>
            </a:extLst>
          </p:cNvPr>
          <p:cNvSpPr txBox="1"/>
          <p:nvPr/>
        </p:nvSpPr>
        <p:spPr>
          <a:xfrm>
            <a:off x="6664611" y="3417858"/>
            <a:ext cx="3725508" cy="1138773"/>
          </a:xfrm>
          <a:prstGeom prst="rect">
            <a:avLst/>
          </a:prstGeom>
          <a:noFill/>
        </p:spPr>
        <p:txBody>
          <a:bodyPr wrap="square" lIns="91440" tIns="45720" rIns="91440" bIns="45720" rtlCol="0" anchor="t">
            <a:spAutoFit/>
          </a:bodyPr>
          <a:lstStyle/>
          <a:p>
            <a:r>
              <a:rPr lang="fr-FR" sz="1700" dirty="0">
                <a:latin typeface="Poppins"/>
                <a:cs typeface="Poppins"/>
              </a:rPr>
              <a:t>Engineering </a:t>
            </a:r>
            <a:r>
              <a:rPr lang="fr-FR" sz="1700" dirty="0" err="1">
                <a:latin typeface="Poppins"/>
                <a:cs typeface="Poppins"/>
              </a:rPr>
              <a:t>school</a:t>
            </a:r>
            <a:r>
              <a:rPr lang="fr-FR" sz="1700" dirty="0">
                <a:latin typeface="Poppins"/>
                <a:cs typeface="Poppins"/>
              </a:rPr>
              <a:t>, </a:t>
            </a:r>
            <a:r>
              <a:rPr lang="fr-FR" sz="1700" dirty="0" err="1">
                <a:latin typeface="Poppins"/>
                <a:cs typeface="Poppins"/>
              </a:rPr>
              <a:t>member</a:t>
            </a:r>
            <a:r>
              <a:rPr lang="fr-FR" sz="1700" dirty="0">
                <a:latin typeface="Poppins"/>
                <a:cs typeface="Poppins"/>
              </a:rPr>
              <a:t> </a:t>
            </a:r>
            <a:br>
              <a:rPr lang="fr-FR" sz="1700" dirty="0">
                <a:latin typeface="Poppins"/>
                <a:cs typeface="Poppins"/>
              </a:rPr>
            </a:br>
            <a:r>
              <a:rPr lang="fr-FR" sz="1700" dirty="0">
                <a:latin typeface="Poppins"/>
                <a:cs typeface="Poppins"/>
              </a:rPr>
              <a:t>of the Institut Polytechnique </a:t>
            </a:r>
            <a:br>
              <a:rPr lang="fr-FR" sz="1700" dirty="0">
                <a:latin typeface="Poppins"/>
                <a:cs typeface="Poppins"/>
              </a:rPr>
            </a:br>
            <a:r>
              <a:rPr lang="fr-FR" sz="1700" dirty="0">
                <a:latin typeface="Poppins"/>
                <a:cs typeface="Poppins"/>
              </a:rPr>
              <a:t>de Paris</a:t>
            </a:r>
          </a:p>
          <a:p>
            <a:r>
              <a:rPr lang="en-FR" sz="1700" b="1" dirty="0">
                <a:latin typeface="Poppins"/>
                <a:cs typeface="Poppins"/>
              </a:rPr>
              <a:t>Laboratory</a:t>
            </a:r>
            <a:r>
              <a:rPr lang="en-FR" sz="1700" dirty="0">
                <a:latin typeface="Poppins"/>
                <a:cs typeface="Poppins"/>
              </a:rPr>
              <a:t>: </a:t>
            </a:r>
            <a:r>
              <a:rPr lang="fr-FR" sz="1700" dirty="0">
                <a:latin typeface="Poppins"/>
                <a:cs typeface="Poppins"/>
              </a:rPr>
              <a:t>LTCI</a:t>
            </a:r>
            <a:endParaRPr lang="en-GB" sz="1700" dirty="0">
              <a:latin typeface="Poppins"/>
              <a:cs typeface="Poppins"/>
            </a:endParaRPr>
          </a:p>
        </p:txBody>
      </p:sp>
      <p:sp>
        <p:nvSpPr>
          <p:cNvPr id="17" name="TextBox 16">
            <a:extLst>
              <a:ext uri="{FF2B5EF4-FFF2-40B4-BE49-F238E27FC236}">
                <a16:creationId xmlns:a16="http://schemas.microsoft.com/office/drawing/2014/main" id="{79B7F811-9A64-28BB-3F49-C2C432643927}"/>
              </a:ext>
            </a:extLst>
          </p:cNvPr>
          <p:cNvSpPr txBox="1"/>
          <p:nvPr/>
        </p:nvSpPr>
        <p:spPr>
          <a:xfrm>
            <a:off x="573249" y="2719668"/>
            <a:ext cx="5066722" cy="369332"/>
          </a:xfrm>
          <a:prstGeom prst="rect">
            <a:avLst/>
          </a:prstGeom>
          <a:noFill/>
        </p:spPr>
        <p:txBody>
          <a:bodyPr wrap="square">
            <a:spAutoFit/>
          </a:bodyPr>
          <a:lstStyle/>
          <a:p>
            <a:pPr algn="ctr"/>
            <a:r>
              <a:rPr lang="en-GB" b="1" dirty="0">
                <a:solidFill>
                  <a:srgbClr val="0055FF"/>
                </a:solidFill>
                <a:latin typeface="Poppins"/>
                <a:cs typeface="Poppins"/>
              </a:rPr>
              <a:t>Co-Supervisor: Alya Yacoubi, PhD</a:t>
            </a:r>
            <a:endParaRPr lang="en-FR" b="1" dirty="0">
              <a:solidFill>
                <a:srgbClr val="0055FF"/>
              </a:solidFill>
              <a:latin typeface="Poppins"/>
              <a:cs typeface="Poppins"/>
            </a:endParaRPr>
          </a:p>
        </p:txBody>
      </p:sp>
      <p:sp>
        <p:nvSpPr>
          <p:cNvPr id="19" name="Title 18">
            <a:extLst>
              <a:ext uri="{FF2B5EF4-FFF2-40B4-BE49-F238E27FC236}">
                <a16:creationId xmlns:a16="http://schemas.microsoft.com/office/drawing/2014/main" id="{1846A86F-F971-B022-44F0-8E0C1A3EB49D}"/>
              </a:ext>
            </a:extLst>
          </p:cNvPr>
          <p:cNvSpPr>
            <a:spLocks noGrp="1"/>
          </p:cNvSpPr>
          <p:nvPr>
            <p:ph type="title"/>
          </p:nvPr>
        </p:nvSpPr>
        <p:spPr/>
        <p:txBody>
          <a:bodyPr/>
          <a:lstStyle/>
          <a:p>
            <a:r>
              <a:rPr lang="en-FR" dirty="0"/>
              <a:t>Research Situation - CIFRE</a:t>
            </a:r>
          </a:p>
        </p:txBody>
      </p:sp>
      <p:sp>
        <p:nvSpPr>
          <p:cNvPr id="4" name="Rectangle 3">
            <a:extLst>
              <a:ext uri="{FF2B5EF4-FFF2-40B4-BE49-F238E27FC236}">
                <a16:creationId xmlns:a16="http://schemas.microsoft.com/office/drawing/2014/main" id="{DDC36B9B-21DB-589E-8DC0-653DB333EC6A}"/>
              </a:ext>
            </a:extLst>
          </p:cNvPr>
          <p:cNvSpPr/>
          <p:nvPr/>
        </p:nvSpPr>
        <p:spPr>
          <a:xfrm rot="10800000" flipH="1" flipV="1">
            <a:off x="573249" y="1355113"/>
            <a:ext cx="11045504" cy="836617"/>
          </a:xfrm>
          <a:prstGeom prst="rect">
            <a:avLst/>
          </a:prstGeom>
          <a:solidFill>
            <a:srgbClr val="D0DBF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200" b="1" dirty="0">
                <a:solidFill>
                  <a:srgbClr val="0055FF"/>
                </a:solidFill>
                <a:latin typeface="Poppins" pitchFamily="2" charset="77"/>
                <a:cs typeface="Poppins" pitchFamily="2" charset="77"/>
              </a:rPr>
              <a:t>Planning Socio-Emotional Response Generation for Conversational Agents</a:t>
            </a:r>
            <a:endParaRPr lang="fr-FR" sz="2200" b="1" dirty="0">
              <a:solidFill>
                <a:srgbClr val="0055FF"/>
              </a:solidFill>
              <a:latin typeface="Poppins" pitchFamily="2" charset="77"/>
              <a:cs typeface="Poppins" pitchFamily="2" charset="77"/>
            </a:endParaRPr>
          </a:p>
        </p:txBody>
      </p:sp>
    </p:spTree>
    <p:extLst>
      <p:ext uri="{BB962C8B-B14F-4D97-AF65-F5344CB8AC3E}">
        <p14:creationId xmlns:p14="http://schemas.microsoft.com/office/powerpoint/2010/main" val="3831932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2" grpId="0"/>
      <p:bldP spid="12" grpId="0"/>
      <p:bldP spid="3" grpId="0" animBg="1"/>
      <p:bldP spid="5" grpId="0" animBg="1"/>
      <p:bldP spid="8" grpId="0"/>
      <p:bldP spid="10" grpId="0" animBg="1"/>
      <p:bldP spid="11" grpId="0" animBg="1"/>
      <p:bldP spid="14" grpId="0" animBg="1"/>
      <p:bldP spid="15"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997EE-03F5-27DF-696A-D75ED85D265E}"/>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2107F5C5-69D8-369B-EFFD-869B3F1ED4F5}"/>
              </a:ext>
            </a:extLst>
          </p:cNvPr>
          <p:cNvSpPr/>
          <p:nvPr/>
        </p:nvSpPr>
        <p:spPr>
          <a:xfrm>
            <a:off x="3708282" y="3213336"/>
            <a:ext cx="3135086" cy="2836525"/>
          </a:xfrm>
          <a:prstGeom prst="rect">
            <a:avLst/>
          </a:prstGeom>
          <a:solidFill>
            <a:schemeClr val="bg1"/>
          </a:solidFill>
          <a:ln w="38100">
            <a:solidFill>
              <a:srgbClr val="4B84F4"/>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pic>
        <p:nvPicPr>
          <p:cNvPr id="13" name="Picture 12">
            <a:extLst>
              <a:ext uri="{FF2B5EF4-FFF2-40B4-BE49-F238E27FC236}">
                <a16:creationId xmlns:a16="http://schemas.microsoft.com/office/drawing/2014/main" id="{17B21B2A-01C9-17EC-DA06-014DDCE8A069}"/>
              </a:ext>
            </a:extLst>
          </p:cNvPr>
          <p:cNvPicPr>
            <a:picLocks noChangeAspect="1"/>
          </p:cNvPicPr>
          <p:nvPr/>
        </p:nvPicPr>
        <p:blipFill>
          <a:blip r:embed="rId3">
            <a:alphaModFix/>
            <a:extLst>
              <a:ext uri="{BEBA8EAE-BF5A-486C-A8C5-ECC9F3942E4B}">
                <a14:imgProps xmlns:a14="http://schemas.microsoft.com/office/drawing/2010/main">
                  <a14:imgLayer r:embed="rId4">
                    <a14:imgEffect>
                      <a14:artisticPhotocopy/>
                    </a14:imgEffect>
                    <a14:imgEffect>
                      <a14:colorTemperature colorTemp="5142"/>
                    </a14:imgEffect>
                    <a14:imgEffect>
                      <a14:saturation sat="400000"/>
                    </a14:imgEffect>
                  </a14:imgLayer>
                </a14:imgProps>
              </a:ext>
            </a:extLst>
          </a:blip>
          <a:stretch>
            <a:fillRect/>
          </a:stretch>
        </p:blipFill>
        <p:spPr>
          <a:xfrm>
            <a:off x="209188" y="354256"/>
            <a:ext cx="764671" cy="764671"/>
          </a:xfrm>
          <a:prstGeom prst="rect">
            <a:avLst/>
          </a:prstGeom>
        </p:spPr>
      </p:pic>
      <p:sp>
        <p:nvSpPr>
          <p:cNvPr id="19" name="Title 18">
            <a:extLst>
              <a:ext uri="{FF2B5EF4-FFF2-40B4-BE49-F238E27FC236}">
                <a16:creationId xmlns:a16="http://schemas.microsoft.com/office/drawing/2014/main" id="{B75B4561-E470-B3DA-DC40-4332826CB738}"/>
              </a:ext>
            </a:extLst>
          </p:cNvPr>
          <p:cNvSpPr>
            <a:spLocks noGrp="1"/>
          </p:cNvSpPr>
          <p:nvPr>
            <p:ph type="title"/>
          </p:nvPr>
        </p:nvSpPr>
        <p:spPr/>
        <p:txBody>
          <a:bodyPr/>
          <a:lstStyle/>
          <a:p>
            <a:r>
              <a:rPr lang="en-FR" dirty="0"/>
              <a:t>Current Industrial Conversational Systems</a:t>
            </a:r>
          </a:p>
        </p:txBody>
      </p:sp>
      <p:sp>
        <p:nvSpPr>
          <p:cNvPr id="37" name="Rectangle 36">
            <a:extLst>
              <a:ext uri="{FF2B5EF4-FFF2-40B4-BE49-F238E27FC236}">
                <a16:creationId xmlns:a16="http://schemas.microsoft.com/office/drawing/2014/main" id="{9149D8BD-F8C1-0A84-C7A7-7F9CE746B2DC}"/>
              </a:ext>
            </a:extLst>
          </p:cNvPr>
          <p:cNvSpPr/>
          <p:nvPr/>
        </p:nvSpPr>
        <p:spPr>
          <a:xfrm rot="10800000" flipH="1" flipV="1">
            <a:off x="573249" y="1355113"/>
            <a:ext cx="11045504" cy="836617"/>
          </a:xfrm>
          <a:prstGeom prst="rect">
            <a:avLst/>
          </a:prstGeom>
          <a:solidFill>
            <a:srgbClr val="D0DBF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200" b="1" dirty="0">
                <a:solidFill>
                  <a:srgbClr val="0055FF"/>
                </a:solidFill>
                <a:latin typeface="Poppins" pitchFamily="2" charset="77"/>
                <a:cs typeface="Poppins" pitchFamily="2" charset="77"/>
              </a:rPr>
              <a:t>Planning Socio-Emotional Response Generation for Conversational Agents</a:t>
            </a:r>
            <a:endParaRPr lang="fr-FR" sz="2200" b="1" dirty="0">
              <a:solidFill>
                <a:srgbClr val="0055FF"/>
              </a:solidFill>
              <a:latin typeface="Poppins" pitchFamily="2" charset="77"/>
              <a:cs typeface="Poppins" pitchFamily="2" charset="77"/>
            </a:endParaRPr>
          </a:p>
        </p:txBody>
      </p:sp>
      <p:sp>
        <p:nvSpPr>
          <p:cNvPr id="5" name="Rectangle 4">
            <a:extLst>
              <a:ext uri="{FF2B5EF4-FFF2-40B4-BE49-F238E27FC236}">
                <a16:creationId xmlns:a16="http://schemas.microsoft.com/office/drawing/2014/main" id="{7C8F1D4C-6548-4CAB-BF27-6456709CBE88}"/>
              </a:ext>
            </a:extLst>
          </p:cNvPr>
          <p:cNvSpPr/>
          <p:nvPr/>
        </p:nvSpPr>
        <p:spPr>
          <a:xfrm>
            <a:off x="793745" y="3968377"/>
            <a:ext cx="2151677" cy="1332059"/>
          </a:xfrm>
          <a:prstGeom prst="rect">
            <a:avLst/>
          </a:prstGeom>
          <a:solidFill>
            <a:srgbClr val="A5AFF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dirty="0">
                <a:latin typeface="Poppins" pitchFamily="2" charset="77"/>
                <a:cs typeface="Poppins" pitchFamily="2" charset="77"/>
              </a:rPr>
              <a:t>Automatically</a:t>
            </a:r>
          </a:p>
          <a:p>
            <a:pPr algn="ctr"/>
            <a:r>
              <a:rPr lang="en-FR" dirty="0">
                <a:latin typeface="Poppins" pitchFamily="2" charset="77"/>
                <a:cs typeface="Poppins" pitchFamily="2" charset="77"/>
              </a:rPr>
              <a:t>transcribed</a:t>
            </a:r>
            <a:br>
              <a:rPr lang="en-FR" dirty="0">
                <a:latin typeface="Poppins" pitchFamily="2" charset="77"/>
                <a:cs typeface="Poppins" pitchFamily="2" charset="77"/>
              </a:rPr>
            </a:br>
            <a:r>
              <a:rPr lang="en-FR" dirty="0">
                <a:latin typeface="Poppins" pitchFamily="2" charset="77"/>
                <a:cs typeface="Poppins" pitchFamily="2" charset="77"/>
              </a:rPr>
              <a:t>customer</a:t>
            </a:r>
            <a:br>
              <a:rPr lang="en-FR" dirty="0">
                <a:latin typeface="Poppins" pitchFamily="2" charset="77"/>
                <a:cs typeface="Poppins" pitchFamily="2" charset="77"/>
              </a:rPr>
            </a:br>
            <a:r>
              <a:rPr lang="en-FR" dirty="0">
                <a:latin typeface="Poppins" pitchFamily="2" charset="77"/>
                <a:cs typeface="Poppins" pitchFamily="2" charset="77"/>
              </a:rPr>
              <a:t>utterance</a:t>
            </a:r>
            <a:endParaRPr lang="fr-FR" dirty="0">
              <a:latin typeface="Poppins" pitchFamily="2" charset="77"/>
              <a:cs typeface="Poppins" pitchFamily="2" charset="77"/>
            </a:endParaRPr>
          </a:p>
        </p:txBody>
      </p:sp>
      <p:sp>
        <p:nvSpPr>
          <p:cNvPr id="7" name="Parallelogram 6">
            <a:extLst>
              <a:ext uri="{FF2B5EF4-FFF2-40B4-BE49-F238E27FC236}">
                <a16:creationId xmlns:a16="http://schemas.microsoft.com/office/drawing/2014/main" id="{DF6634FC-965E-B6FF-6610-AF81007AB3A4}"/>
              </a:ext>
            </a:extLst>
          </p:cNvPr>
          <p:cNvSpPr/>
          <p:nvPr/>
        </p:nvSpPr>
        <p:spPr>
          <a:xfrm>
            <a:off x="3923949" y="3664184"/>
            <a:ext cx="2725270" cy="986118"/>
          </a:xfrm>
          <a:prstGeom prst="parallelogram">
            <a:avLst/>
          </a:prstGeom>
          <a:solidFill>
            <a:srgbClr val="4B8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latin typeface="Poppins" pitchFamily="2" charset="77"/>
                <a:cs typeface="Poppins" pitchFamily="2" charset="77"/>
              </a:rPr>
              <a:t>Intent Classification</a:t>
            </a:r>
          </a:p>
        </p:txBody>
      </p:sp>
      <p:sp>
        <p:nvSpPr>
          <p:cNvPr id="8" name="Parallelogram 7">
            <a:extLst>
              <a:ext uri="{FF2B5EF4-FFF2-40B4-BE49-F238E27FC236}">
                <a16:creationId xmlns:a16="http://schemas.microsoft.com/office/drawing/2014/main" id="{2F7829EF-445C-38AC-D104-F2140178D521}"/>
              </a:ext>
            </a:extLst>
          </p:cNvPr>
          <p:cNvSpPr/>
          <p:nvPr/>
        </p:nvSpPr>
        <p:spPr>
          <a:xfrm>
            <a:off x="3923948" y="4891134"/>
            <a:ext cx="2725270" cy="986118"/>
          </a:xfrm>
          <a:prstGeom prst="parallelogram">
            <a:avLst/>
          </a:prstGeom>
          <a:solidFill>
            <a:srgbClr val="4B8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latin typeface="Poppins" pitchFamily="2" charset="77"/>
                <a:cs typeface="Poppins" pitchFamily="2" charset="77"/>
              </a:rPr>
              <a:t>Entity Recognition</a:t>
            </a:r>
          </a:p>
        </p:txBody>
      </p:sp>
      <p:sp>
        <p:nvSpPr>
          <p:cNvPr id="9" name="TextBox 8">
            <a:extLst>
              <a:ext uri="{FF2B5EF4-FFF2-40B4-BE49-F238E27FC236}">
                <a16:creationId xmlns:a16="http://schemas.microsoft.com/office/drawing/2014/main" id="{302829B9-D14F-C839-ACC4-BBB5E01FC9AF}"/>
              </a:ext>
            </a:extLst>
          </p:cNvPr>
          <p:cNvSpPr txBox="1"/>
          <p:nvPr/>
        </p:nvSpPr>
        <p:spPr>
          <a:xfrm>
            <a:off x="4093633" y="2963742"/>
            <a:ext cx="2311851" cy="646331"/>
          </a:xfrm>
          <a:prstGeom prst="rect">
            <a:avLst/>
          </a:prstGeom>
          <a:solidFill>
            <a:schemeClr val="bg1"/>
          </a:solidFill>
        </p:spPr>
        <p:txBody>
          <a:bodyPr wrap="none" rtlCol="0">
            <a:spAutoFit/>
          </a:bodyPr>
          <a:lstStyle/>
          <a:p>
            <a:pPr algn="ctr"/>
            <a:r>
              <a:rPr lang="en-FR" dirty="0">
                <a:solidFill>
                  <a:srgbClr val="4B84F4"/>
                </a:solidFill>
                <a:latin typeface="Poppins" pitchFamily="2" charset="77"/>
                <a:cs typeface="Poppins" pitchFamily="2" charset="77"/>
              </a:rPr>
              <a:t>Natural Language </a:t>
            </a:r>
            <a:br>
              <a:rPr lang="en-FR" dirty="0">
                <a:solidFill>
                  <a:srgbClr val="4B84F4"/>
                </a:solidFill>
                <a:latin typeface="Poppins" pitchFamily="2" charset="77"/>
                <a:cs typeface="Poppins" pitchFamily="2" charset="77"/>
              </a:rPr>
            </a:br>
            <a:r>
              <a:rPr lang="en-FR" dirty="0">
                <a:solidFill>
                  <a:srgbClr val="4B84F4"/>
                </a:solidFill>
                <a:latin typeface="Poppins" pitchFamily="2" charset="77"/>
                <a:cs typeface="Poppins" pitchFamily="2" charset="77"/>
              </a:rPr>
              <a:t>Understanding</a:t>
            </a:r>
          </a:p>
        </p:txBody>
      </p:sp>
      <p:sp>
        <p:nvSpPr>
          <p:cNvPr id="10" name="TextBox 9">
            <a:extLst>
              <a:ext uri="{FF2B5EF4-FFF2-40B4-BE49-F238E27FC236}">
                <a16:creationId xmlns:a16="http://schemas.microsoft.com/office/drawing/2014/main" id="{865C8A7E-0D87-73D3-95B2-4E512115F0A8}"/>
              </a:ext>
            </a:extLst>
          </p:cNvPr>
          <p:cNvSpPr txBox="1"/>
          <p:nvPr/>
        </p:nvSpPr>
        <p:spPr>
          <a:xfrm>
            <a:off x="8102934" y="3584402"/>
            <a:ext cx="1519968" cy="369332"/>
          </a:xfrm>
          <a:prstGeom prst="rect">
            <a:avLst/>
          </a:prstGeom>
          <a:noFill/>
        </p:spPr>
        <p:txBody>
          <a:bodyPr wrap="none" rtlCol="0">
            <a:spAutoFit/>
          </a:bodyPr>
          <a:lstStyle/>
          <a:p>
            <a:r>
              <a:rPr lang="en-FR" dirty="0">
                <a:solidFill>
                  <a:srgbClr val="4B84F4"/>
                </a:solidFill>
                <a:latin typeface="Poppins" pitchFamily="2" charset="77"/>
                <a:cs typeface="Poppins" pitchFamily="2" charset="77"/>
              </a:rPr>
              <a:t>Condition A</a:t>
            </a:r>
          </a:p>
        </p:txBody>
      </p:sp>
      <p:cxnSp>
        <p:nvCxnSpPr>
          <p:cNvPr id="12" name="Straight Connector 11">
            <a:extLst>
              <a:ext uri="{FF2B5EF4-FFF2-40B4-BE49-F238E27FC236}">
                <a16:creationId xmlns:a16="http://schemas.microsoft.com/office/drawing/2014/main" id="{6477E593-3516-E191-7950-C0D6E14693F2}"/>
              </a:ext>
            </a:extLst>
          </p:cNvPr>
          <p:cNvCxnSpPr/>
          <p:nvPr/>
        </p:nvCxnSpPr>
        <p:spPr>
          <a:xfrm>
            <a:off x="8123085" y="3953734"/>
            <a:ext cx="1479666" cy="0"/>
          </a:xfrm>
          <a:prstGeom prst="line">
            <a:avLst/>
          </a:prstGeom>
          <a:ln w="28575">
            <a:solidFill>
              <a:srgbClr val="6D8EED"/>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49B1C18-BC06-231B-3BD9-561666F06094}"/>
              </a:ext>
            </a:extLst>
          </p:cNvPr>
          <p:cNvSpPr txBox="1"/>
          <p:nvPr/>
        </p:nvSpPr>
        <p:spPr>
          <a:xfrm>
            <a:off x="8102934" y="4338765"/>
            <a:ext cx="1505540" cy="369332"/>
          </a:xfrm>
          <a:prstGeom prst="rect">
            <a:avLst/>
          </a:prstGeom>
          <a:noFill/>
        </p:spPr>
        <p:txBody>
          <a:bodyPr wrap="none" rtlCol="0">
            <a:spAutoFit/>
          </a:bodyPr>
          <a:lstStyle/>
          <a:p>
            <a:r>
              <a:rPr lang="en-FR" dirty="0">
                <a:solidFill>
                  <a:srgbClr val="4B84F4"/>
                </a:solidFill>
                <a:latin typeface="Poppins" pitchFamily="2" charset="77"/>
                <a:cs typeface="Poppins" pitchFamily="2" charset="77"/>
              </a:rPr>
              <a:t>Condition B</a:t>
            </a:r>
          </a:p>
        </p:txBody>
      </p:sp>
      <p:cxnSp>
        <p:nvCxnSpPr>
          <p:cNvPr id="15" name="Straight Connector 14">
            <a:extLst>
              <a:ext uri="{FF2B5EF4-FFF2-40B4-BE49-F238E27FC236}">
                <a16:creationId xmlns:a16="http://schemas.microsoft.com/office/drawing/2014/main" id="{40615243-C409-447C-DDC7-5B96D698C24D}"/>
              </a:ext>
            </a:extLst>
          </p:cNvPr>
          <p:cNvCxnSpPr>
            <a:cxnSpLocks/>
          </p:cNvCxnSpPr>
          <p:nvPr/>
        </p:nvCxnSpPr>
        <p:spPr>
          <a:xfrm>
            <a:off x="8123085" y="4708097"/>
            <a:ext cx="1479666" cy="0"/>
          </a:xfrm>
          <a:prstGeom prst="line">
            <a:avLst/>
          </a:prstGeom>
          <a:ln w="28575">
            <a:solidFill>
              <a:srgbClr val="6D8EED"/>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83B605E-AB8D-7B83-F4C5-A695C8DA3328}"/>
              </a:ext>
            </a:extLst>
          </p:cNvPr>
          <p:cNvSpPr txBox="1"/>
          <p:nvPr/>
        </p:nvSpPr>
        <p:spPr>
          <a:xfrm>
            <a:off x="8123085" y="5171943"/>
            <a:ext cx="1542410" cy="369332"/>
          </a:xfrm>
          <a:prstGeom prst="rect">
            <a:avLst/>
          </a:prstGeom>
          <a:noFill/>
        </p:spPr>
        <p:txBody>
          <a:bodyPr wrap="none" rtlCol="0">
            <a:spAutoFit/>
          </a:bodyPr>
          <a:lstStyle/>
          <a:p>
            <a:r>
              <a:rPr lang="en-FR" dirty="0">
                <a:solidFill>
                  <a:srgbClr val="4B84F4"/>
                </a:solidFill>
                <a:latin typeface="Poppins" pitchFamily="2" charset="77"/>
                <a:cs typeface="Poppins" pitchFamily="2" charset="77"/>
              </a:rPr>
              <a:t>Condition C</a:t>
            </a:r>
          </a:p>
        </p:txBody>
      </p:sp>
      <p:cxnSp>
        <p:nvCxnSpPr>
          <p:cNvPr id="17" name="Straight Connector 16">
            <a:extLst>
              <a:ext uri="{FF2B5EF4-FFF2-40B4-BE49-F238E27FC236}">
                <a16:creationId xmlns:a16="http://schemas.microsoft.com/office/drawing/2014/main" id="{A29A1611-5494-6D11-B2CA-794573BBDF3E}"/>
              </a:ext>
            </a:extLst>
          </p:cNvPr>
          <p:cNvCxnSpPr/>
          <p:nvPr/>
        </p:nvCxnSpPr>
        <p:spPr>
          <a:xfrm>
            <a:off x="8143236" y="5541275"/>
            <a:ext cx="1479666" cy="0"/>
          </a:xfrm>
          <a:prstGeom prst="line">
            <a:avLst/>
          </a:prstGeom>
          <a:ln w="28575">
            <a:solidFill>
              <a:srgbClr val="6D8EED"/>
            </a:solidFill>
          </a:ln>
        </p:spPr>
        <p:style>
          <a:lnRef idx="1">
            <a:schemeClr val="accent1"/>
          </a:lnRef>
          <a:fillRef idx="0">
            <a:schemeClr val="accent1"/>
          </a:fillRef>
          <a:effectRef idx="0">
            <a:schemeClr val="accent1"/>
          </a:effectRef>
          <a:fontRef idx="minor">
            <a:schemeClr val="tx1"/>
          </a:fontRef>
        </p:style>
      </p:cxnSp>
      <p:sp>
        <p:nvSpPr>
          <p:cNvPr id="25" name="Left Brace 24">
            <a:extLst>
              <a:ext uri="{FF2B5EF4-FFF2-40B4-BE49-F238E27FC236}">
                <a16:creationId xmlns:a16="http://schemas.microsoft.com/office/drawing/2014/main" id="{7FA3C216-41DB-9B37-CBF9-0B7C9CE4D676}"/>
              </a:ext>
            </a:extLst>
          </p:cNvPr>
          <p:cNvSpPr/>
          <p:nvPr/>
        </p:nvSpPr>
        <p:spPr>
          <a:xfrm>
            <a:off x="7574998" y="3355872"/>
            <a:ext cx="591670" cy="2506875"/>
          </a:xfrm>
          <a:prstGeom prst="leftBrace">
            <a:avLst>
              <a:gd name="adj1" fmla="val 8333"/>
              <a:gd name="adj2" fmla="val 49628"/>
            </a:avLst>
          </a:prstGeom>
          <a:ln w="28575">
            <a:solidFill>
              <a:srgbClr val="A5B0F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R">
              <a:latin typeface="Poppins" pitchFamily="2" charset="77"/>
              <a:cs typeface="Poppins" pitchFamily="2" charset="77"/>
            </a:endParaRPr>
          </a:p>
        </p:txBody>
      </p:sp>
      <p:cxnSp>
        <p:nvCxnSpPr>
          <p:cNvPr id="28" name="Straight Arrow Connector 27">
            <a:extLst>
              <a:ext uri="{FF2B5EF4-FFF2-40B4-BE49-F238E27FC236}">
                <a16:creationId xmlns:a16="http://schemas.microsoft.com/office/drawing/2014/main" id="{BA6280A4-A068-2A5B-EDC0-39FEFE71DB8B}"/>
              </a:ext>
            </a:extLst>
          </p:cNvPr>
          <p:cNvCxnSpPr>
            <a:cxnSpLocks/>
            <a:stCxn id="5" idx="3"/>
            <a:endCxn id="26" idx="1"/>
          </p:cNvCxnSpPr>
          <p:nvPr/>
        </p:nvCxnSpPr>
        <p:spPr>
          <a:xfrm flipV="1">
            <a:off x="2945422" y="4631599"/>
            <a:ext cx="762860" cy="2808"/>
          </a:xfrm>
          <a:prstGeom prst="straightConnector1">
            <a:avLst/>
          </a:prstGeom>
          <a:ln w="28575">
            <a:solidFill>
              <a:srgbClr val="6D8EED"/>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93A8BFD-4BC3-E517-3070-824D22DBF256}"/>
              </a:ext>
            </a:extLst>
          </p:cNvPr>
          <p:cNvSpPr txBox="1"/>
          <p:nvPr/>
        </p:nvSpPr>
        <p:spPr>
          <a:xfrm>
            <a:off x="2980071" y="4313648"/>
            <a:ext cx="647934" cy="307777"/>
          </a:xfrm>
          <a:prstGeom prst="rect">
            <a:avLst/>
          </a:prstGeom>
          <a:noFill/>
        </p:spPr>
        <p:txBody>
          <a:bodyPr wrap="none" rtlCol="0">
            <a:spAutoFit/>
          </a:bodyPr>
          <a:lstStyle/>
          <a:p>
            <a:r>
              <a:rPr lang="en-FR" sz="1400" i="1" dirty="0">
                <a:solidFill>
                  <a:srgbClr val="4B84F4"/>
                </a:solidFill>
                <a:latin typeface="Poppins" pitchFamily="2" charset="77"/>
                <a:cs typeface="Poppins" pitchFamily="2" charset="77"/>
              </a:rPr>
              <a:t>input</a:t>
            </a:r>
            <a:endParaRPr lang="en-FR" i="1" dirty="0">
              <a:solidFill>
                <a:srgbClr val="4B84F4"/>
              </a:solidFill>
              <a:latin typeface="Poppins" pitchFamily="2" charset="77"/>
              <a:cs typeface="Poppins" pitchFamily="2" charset="77"/>
            </a:endParaRPr>
          </a:p>
        </p:txBody>
      </p:sp>
      <p:cxnSp>
        <p:nvCxnSpPr>
          <p:cNvPr id="33" name="Straight Connector 32">
            <a:extLst>
              <a:ext uri="{FF2B5EF4-FFF2-40B4-BE49-F238E27FC236}">
                <a16:creationId xmlns:a16="http://schemas.microsoft.com/office/drawing/2014/main" id="{F0E11961-948F-E7D1-3293-508CC172853D}"/>
              </a:ext>
            </a:extLst>
          </p:cNvPr>
          <p:cNvCxnSpPr>
            <a:cxnSpLocks/>
            <a:endCxn id="25" idx="1"/>
          </p:cNvCxnSpPr>
          <p:nvPr/>
        </p:nvCxnSpPr>
        <p:spPr>
          <a:xfrm flipV="1">
            <a:off x="6832582" y="4599984"/>
            <a:ext cx="742416" cy="10249"/>
          </a:xfrm>
          <a:prstGeom prst="line">
            <a:avLst/>
          </a:prstGeom>
          <a:ln w="28575">
            <a:solidFill>
              <a:srgbClr val="A5B0F6"/>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CC2CF1A-329B-6F31-70E7-7647009D400D}"/>
              </a:ext>
            </a:extLst>
          </p:cNvPr>
          <p:cNvSpPr txBox="1"/>
          <p:nvPr/>
        </p:nvSpPr>
        <p:spPr>
          <a:xfrm>
            <a:off x="6904066" y="4249413"/>
            <a:ext cx="867545" cy="338554"/>
          </a:xfrm>
          <a:prstGeom prst="rect">
            <a:avLst/>
          </a:prstGeom>
          <a:noFill/>
        </p:spPr>
        <p:txBody>
          <a:bodyPr wrap="none" rtlCol="0">
            <a:spAutoFit/>
          </a:bodyPr>
          <a:lstStyle/>
          <a:p>
            <a:r>
              <a:rPr lang="en-FR" sz="1600" i="1" dirty="0">
                <a:solidFill>
                  <a:srgbClr val="4B84F4"/>
                </a:solidFill>
                <a:latin typeface="Poppins" pitchFamily="2" charset="77"/>
                <a:cs typeface="Poppins" pitchFamily="2" charset="77"/>
              </a:rPr>
              <a:t>match</a:t>
            </a:r>
          </a:p>
        </p:txBody>
      </p:sp>
      <p:sp>
        <p:nvSpPr>
          <p:cNvPr id="38" name="TextBox 37">
            <a:extLst>
              <a:ext uri="{FF2B5EF4-FFF2-40B4-BE49-F238E27FC236}">
                <a16:creationId xmlns:a16="http://schemas.microsoft.com/office/drawing/2014/main" id="{A62EE3C2-22E8-D7B4-5B18-83ED9EB84E78}"/>
              </a:ext>
            </a:extLst>
          </p:cNvPr>
          <p:cNvSpPr txBox="1"/>
          <p:nvPr/>
        </p:nvSpPr>
        <p:spPr>
          <a:xfrm>
            <a:off x="8102934" y="4338765"/>
            <a:ext cx="1505540" cy="369332"/>
          </a:xfrm>
          <a:prstGeom prst="rect">
            <a:avLst/>
          </a:prstGeom>
          <a:noFill/>
        </p:spPr>
        <p:txBody>
          <a:bodyPr wrap="none" rtlCol="0">
            <a:spAutoFit/>
          </a:bodyPr>
          <a:lstStyle/>
          <a:p>
            <a:r>
              <a:rPr lang="en-FR" dirty="0">
                <a:solidFill>
                  <a:srgbClr val="D43F49"/>
                </a:solidFill>
                <a:latin typeface="Poppins" pitchFamily="2" charset="77"/>
                <a:cs typeface="Poppins" pitchFamily="2" charset="77"/>
              </a:rPr>
              <a:t>Condition B</a:t>
            </a:r>
          </a:p>
        </p:txBody>
      </p:sp>
      <p:cxnSp>
        <p:nvCxnSpPr>
          <p:cNvPr id="39" name="Straight Connector 38">
            <a:extLst>
              <a:ext uri="{FF2B5EF4-FFF2-40B4-BE49-F238E27FC236}">
                <a16:creationId xmlns:a16="http://schemas.microsoft.com/office/drawing/2014/main" id="{9D446248-FD8E-59BA-E03B-40BA7B929A15}"/>
              </a:ext>
            </a:extLst>
          </p:cNvPr>
          <p:cNvCxnSpPr>
            <a:cxnSpLocks/>
          </p:cNvCxnSpPr>
          <p:nvPr/>
        </p:nvCxnSpPr>
        <p:spPr>
          <a:xfrm>
            <a:off x="8123085" y="4708097"/>
            <a:ext cx="1479666" cy="0"/>
          </a:xfrm>
          <a:prstGeom prst="line">
            <a:avLst/>
          </a:prstGeom>
          <a:ln w="28575">
            <a:solidFill>
              <a:srgbClr val="D43F49"/>
            </a:solidFill>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017E6569-2D0E-8601-EC8D-CDB31725F15E}"/>
              </a:ext>
            </a:extLst>
          </p:cNvPr>
          <p:cNvSpPr/>
          <p:nvPr/>
        </p:nvSpPr>
        <p:spPr>
          <a:xfrm>
            <a:off x="10197906" y="4313648"/>
            <a:ext cx="1611923" cy="410116"/>
          </a:xfrm>
          <a:prstGeom prst="rect">
            <a:avLst/>
          </a:prstGeom>
          <a:solidFill>
            <a:srgbClr val="D43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solidFill>
                  <a:schemeClr val="bg1"/>
                </a:solidFill>
              </a:rPr>
              <a:t>Response B</a:t>
            </a:r>
          </a:p>
        </p:txBody>
      </p:sp>
      <p:sp>
        <p:nvSpPr>
          <p:cNvPr id="41" name="Chevron 40">
            <a:extLst>
              <a:ext uri="{FF2B5EF4-FFF2-40B4-BE49-F238E27FC236}">
                <a16:creationId xmlns:a16="http://schemas.microsoft.com/office/drawing/2014/main" id="{8CE49B16-4A6E-DC43-AA0D-05CA4AAFD23C}"/>
              </a:ext>
            </a:extLst>
          </p:cNvPr>
          <p:cNvSpPr/>
          <p:nvPr/>
        </p:nvSpPr>
        <p:spPr>
          <a:xfrm>
            <a:off x="9779212" y="4320977"/>
            <a:ext cx="287383" cy="429710"/>
          </a:xfrm>
          <a:prstGeom prst="chevron">
            <a:avLst/>
          </a:prstGeom>
          <a:solidFill>
            <a:srgbClr val="D43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solidFill>
                <a:srgbClr val="D43F49"/>
              </a:solidFill>
            </a:endParaRPr>
          </a:p>
        </p:txBody>
      </p:sp>
      <p:grpSp>
        <p:nvGrpSpPr>
          <p:cNvPr id="24" name="Group 23">
            <a:extLst>
              <a:ext uri="{FF2B5EF4-FFF2-40B4-BE49-F238E27FC236}">
                <a16:creationId xmlns:a16="http://schemas.microsoft.com/office/drawing/2014/main" id="{459E942D-386B-8C8B-1735-6C142F765943}"/>
              </a:ext>
            </a:extLst>
          </p:cNvPr>
          <p:cNvGrpSpPr/>
          <p:nvPr/>
        </p:nvGrpSpPr>
        <p:grpSpPr>
          <a:xfrm>
            <a:off x="6198215" y="3809597"/>
            <a:ext cx="3971981" cy="1713346"/>
            <a:chOff x="5915725" y="4153079"/>
            <a:chExt cx="3971981" cy="1713346"/>
          </a:xfrm>
        </p:grpSpPr>
        <p:sp>
          <p:nvSpPr>
            <p:cNvPr id="27" name="Rectangle 26">
              <a:extLst>
                <a:ext uri="{FF2B5EF4-FFF2-40B4-BE49-F238E27FC236}">
                  <a16:creationId xmlns:a16="http://schemas.microsoft.com/office/drawing/2014/main" id="{58DDCBE7-7A98-5642-DD21-B7EC1F6EB344}"/>
                </a:ext>
              </a:extLst>
            </p:cNvPr>
            <p:cNvSpPr/>
            <p:nvPr/>
          </p:nvSpPr>
          <p:spPr>
            <a:xfrm>
              <a:off x="5915725" y="4153079"/>
              <a:ext cx="1828655" cy="1713346"/>
            </a:xfrm>
            <a:prstGeom prst="rect">
              <a:avLst/>
            </a:prstGeom>
            <a:solidFill>
              <a:srgbClr val="A5AFF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b="1" dirty="0">
                  <a:latin typeface="Poppins" pitchFamily="2" charset="77"/>
                  <a:cs typeface="Poppins" pitchFamily="2" charset="77"/>
                </a:rPr>
                <a:t>GENERATIVE MODEL</a:t>
              </a:r>
              <a:endParaRPr lang="fr-FR" dirty="0">
                <a:latin typeface="Poppins" pitchFamily="2" charset="77"/>
                <a:cs typeface="Poppins" pitchFamily="2" charset="77"/>
              </a:endParaRPr>
            </a:p>
          </p:txBody>
        </p:sp>
        <p:sp>
          <p:nvSpPr>
            <p:cNvPr id="29" name="Folded Corner 28">
              <a:extLst>
                <a:ext uri="{FF2B5EF4-FFF2-40B4-BE49-F238E27FC236}">
                  <a16:creationId xmlns:a16="http://schemas.microsoft.com/office/drawing/2014/main" id="{8DB9A1C5-3C2A-7F4C-6D9C-E88B39271603}"/>
                </a:ext>
              </a:extLst>
            </p:cNvPr>
            <p:cNvSpPr/>
            <p:nvPr/>
          </p:nvSpPr>
          <p:spPr>
            <a:xfrm>
              <a:off x="8369983" y="4659085"/>
              <a:ext cx="1517723" cy="701333"/>
            </a:xfrm>
            <a:prstGeom prst="foldedCorner">
              <a:avLst>
                <a:gd name="adj" fmla="val 0"/>
              </a:avLst>
            </a:prstGeom>
            <a:no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sz="1600" b="1" dirty="0">
                  <a:solidFill>
                    <a:srgbClr val="A5AFF5"/>
                  </a:solidFill>
                  <a:latin typeface="Poppins" pitchFamily="2" charset="77"/>
                  <a:cs typeface="Poppins" pitchFamily="2" charset="77"/>
                </a:rPr>
                <a:t>GENERATED RESPONSE</a:t>
              </a:r>
              <a:endParaRPr lang="fr-FR" dirty="0">
                <a:latin typeface="Poppins" pitchFamily="2" charset="77"/>
                <a:cs typeface="Poppins" pitchFamily="2" charset="77"/>
              </a:endParaRPr>
            </a:p>
          </p:txBody>
        </p:sp>
        <p:cxnSp>
          <p:nvCxnSpPr>
            <p:cNvPr id="30" name="Straight Arrow Connector 29">
              <a:extLst>
                <a:ext uri="{FF2B5EF4-FFF2-40B4-BE49-F238E27FC236}">
                  <a16:creationId xmlns:a16="http://schemas.microsoft.com/office/drawing/2014/main" id="{1C2FBD7F-1D25-55D9-7DAE-E29070CCD63A}"/>
                </a:ext>
              </a:extLst>
            </p:cNvPr>
            <p:cNvCxnSpPr>
              <a:cxnSpLocks/>
              <a:stCxn id="27" idx="3"/>
              <a:endCxn id="29" idx="1"/>
            </p:cNvCxnSpPr>
            <p:nvPr/>
          </p:nvCxnSpPr>
          <p:spPr>
            <a:xfrm>
              <a:off x="7744380" y="5009752"/>
              <a:ext cx="625603" cy="0"/>
            </a:xfrm>
            <a:prstGeom prst="straightConnector1">
              <a:avLst/>
            </a:prstGeom>
            <a:solidFill>
              <a:srgbClr val="B08AB4"/>
            </a:solidFill>
            <a:ln w="38100">
              <a:solidFill>
                <a:srgbClr val="A5AFF5"/>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B308B847-B5E1-3D6C-CECA-3F08E17AB0F7}"/>
              </a:ext>
            </a:extLst>
          </p:cNvPr>
          <p:cNvSpPr/>
          <p:nvPr/>
        </p:nvSpPr>
        <p:spPr>
          <a:xfrm>
            <a:off x="3734880" y="3063745"/>
            <a:ext cx="1466122" cy="2460171"/>
          </a:xfrm>
          <a:prstGeom prst="rect">
            <a:avLst/>
          </a:prstGeom>
          <a:solidFill>
            <a:srgbClr val="A5AFF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b="1" dirty="0">
                <a:latin typeface="Poppins" pitchFamily="2" charset="77"/>
                <a:cs typeface="Poppins" pitchFamily="2" charset="77"/>
              </a:rPr>
              <a:t>Dialogue History</a:t>
            </a:r>
          </a:p>
          <a:p>
            <a:pPr algn="ctr"/>
            <a:r>
              <a:rPr lang="en-FR" b="1" dirty="0">
                <a:latin typeface="Poppins" pitchFamily="2" charset="77"/>
                <a:cs typeface="Poppins" pitchFamily="2" charset="77"/>
              </a:rPr>
              <a:t>/</a:t>
            </a:r>
          </a:p>
          <a:p>
            <a:pPr algn="ctr"/>
            <a:r>
              <a:rPr lang="en-FR" b="1" dirty="0">
                <a:latin typeface="Poppins" pitchFamily="2" charset="77"/>
                <a:cs typeface="Poppins" pitchFamily="2" charset="77"/>
              </a:rPr>
              <a:t>Prompt</a:t>
            </a:r>
            <a:endParaRPr lang="fr-FR" dirty="0">
              <a:latin typeface="Poppins" pitchFamily="2" charset="77"/>
              <a:cs typeface="Poppins" pitchFamily="2" charset="77"/>
            </a:endParaRPr>
          </a:p>
        </p:txBody>
      </p:sp>
      <p:cxnSp>
        <p:nvCxnSpPr>
          <p:cNvPr id="34" name="Straight Arrow Connector 33">
            <a:extLst>
              <a:ext uri="{FF2B5EF4-FFF2-40B4-BE49-F238E27FC236}">
                <a16:creationId xmlns:a16="http://schemas.microsoft.com/office/drawing/2014/main" id="{3ED092A2-3068-D366-A790-53A310C117A1}"/>
              </a:ext>
            </a:extLst>
          </p:cNvPr>
          <p:cNvCxnSpPr>
            <a:cxnSpLocks/>
            <a:endCxn id="27" idx="1"/>
          </p:cNvCxnSpPr>
          <p:nvPr/>
        </p:nvCxnSpPr>
        <p:spPr>
          <a:xfrm>
            <a:off x="5201002" y="4666270"/>
            <a:ext cx="997213" cy="0"/>
          </a:xfrm>
          <a:prstGeom prst="straightConnector1">
            <a:avLst/>
          </a:prstGeom>
          <a:ln w="38100">
            <a:solidFill>
              <a:srgbClr val="A5AFF5"/>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FF402DA7-C61D-609A-FB38-553787AB8F55}"/>
              </a:ext>
            </a:extLst>
          </p:cNvPr>
          <p:cNvSpPr txBox="1"/>
          <p:nvPr/>
        </p:nvSpPr>
        <p:spPr>
          <a:xfrm>
            <a:off x="8158843" y="3014705"/>
            <a:ext cx="1766830" cy="369332"/>
          </a:xfrm>
          <a:prstGeom prst="rect">
            <a:avLst/>
          </a:prstGeom>
          <a:solidFill>
            <a:schemeClr val="bg1"/>
          </a:solidFill>
        </p:spPr>
        <p:txBody>
          <a:bodyPr wrap="none" rtlCol="0">
            <a:spAutoFit/>
          </a:bodyPr>
          <a:lstStyle/>
          <a:p>
            <a:pPr algn="ctr"/>
            <a:r>
              <a:rPr lang="en-FR" dirty="0">
                <a:solidFill>
                  <a:srgbClr val="6D8EED"/>
                </a:solidFill>
                <a:latin typeface="Poppins" pitchFamily="2" charset="77"/>
                <a:cs typeface="Poppins" pitchFamily="2" charset="77"/>
              </a:rPr>
              <a:t>Dialogue Tree</a:t>
            </a:r>
          </a:p>
        </p:txBody>
      </p:sp>
      <p:cxnSp>
        <p:nvCxnSpPr>
          <p:cNvPr id="44" name="Straight Connector 43">
            <a:extLst>
              <a:ext uri="{FF2B5EF4-FFF2-40B4-BE49-F238E27FC236}">
                <a16:creationId xmlns:a16="http://schemas.microsoft.com/office/drawing/2014/main" id="{F38C18EC-3F29-7681-57D3-22B863AC6E23}"/>
              </a:ext>
            </a:extLst>
          </p:cNvPr>
          <p:cNvCxnSpPr>
            <a:cxnSpLocks/>
          </p:cNvCxnSpPr>
          <p:nvPr/>
        </p:nvCxnSpPr>
        <p:spPr>
          <a:xfrm>
            <a:off x="8100185" y="3355872"/>
            <a:ext cx="1817663" cy="0"/>
          </a:xfrm>
          <a:prstGeom prst="line">
            <a:avLst/>
          </a:prstGeom>
          <a:ln w="28575">
            <a:solidFill>
              <a:srgbClr val="A5B0F6"/>
            </a:solidFill>
          </a:ln>
        </p:spPr>
        <p:style>
          <a:lnRef idx="1">
            <a:schemeClr val="accent1"/>
          </a:lnRef>
          <a:fillRef idx="0">
            <a:schemeClr val="accent1"/>
          </a:fillRef>
          <a:effectRef idx="0">
            <a:schemeClr val="accent1"/>
          </a:effectRef>
          <a:fontRef idx="minor">
            <a:schemeClr val="tx1"/>
          </a:fontRef>
        </p:style>
      </p:cxnSp>
      <p:sp>
        <p:nvSpPr>
          <p:cNvPr id="2" name="Rounded Rectangle 1">
            <a:extLst>
              <a:ext uri="{FF2B5EF4-FFF2-40B4-BE49-F238E27FC236}">
                <a16:creationId xmlns:a16="http://schemas.microsoft.com/office/drawing/2014/main" id="{2E048C58-4A40-CA1E-7EBE-CB469CE06188}"/>
              </a:ext>
            </a:extLst>
          </p:cNvPr>
          <p:cNvSpPr/>
          <p:nvPr/>
        </p:nvSpPr>
        <p:spPr>
          <a:xfrm>
            <a:off x="277915" y="3035095"/>
            <a:ext cx="2765606" cy="2776899"/>
          </a:xfrm>
          <a:prstGeom prst="roundRect">
            <a:avLst/>
          </a:prstGeom>
          <a:solidFill>
            <a:schemeClr val="bg1">
              <a:alpha val="83137"/>
            </a:schemeClr>
          </a:solidFill>
          <a:ln>
            <a:solidFill>
              <a:srgbClr val="D43F4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en-GB" sz="1600" dirty="0">
                <a:solidFill>
                  <a:srgbClr val="D43F49"/>
                </a:solidFill>
              </a:rPr>
              <a:t>End-to-end approaches </a:t>
            </a:r>
            <a:r>
              <a:rPr lang="en-GB" sz="1400" dirty="0">
                <a:solidFill>
                  <a:srgbClr val="D43F49"/>
                </a:solidFill>
              </a:rPr>
              <a:t>[Kim et al., 2023] </a:t>
            </a:r>
            <a:r>
              <a:rPr lang="en-GB" sz="1600" dirty="0">
                <a:solidFill>
                  <a:srgbClr val="D43F49"/>
                </a:solidFill>
              </a:rPr>
              <a:t>provides no visibility or control over the socio-emotional strategy underlying the response. This raises the question of industrial viability, as we become unable to control the agent’s potential errors, biases and misconceptions.</a:t>
            </a:r>
            <a:endParaRPr lang="en-FR" sz="1600" dirty="0">
              <a:solidFill>
                <a:srgbClr val="D43F49"/>
              </a:solidFill>
              <a:latin typeface="Poppins" pitchFamily="2" charset="77"/>
              <a:cs typeface="Poppins" pitchFamily="2" charset="77"/>
            </a:endParaRPr>
          </a:p>
        </p:txBody>
      </p:sp>
    </p:spTree>
    <p:extLst>
      <p:ext uri="{BB962C8B-B14F-4D97-AF65-F5344CB8AC3E}">
        <p14:creationId xmlns:p14="http://schemas.microsoft.com/office/powerpoint/2010/main" val="3656911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2"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14"/>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15"/>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3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8"/>
                                        </p:tgtEl>
                                        <p:attrNameLst>
                                          <p:attrName>style.visibility</p:attrName>
                                        </p:attrNameLst>
                                      </p:cBhvr>
                                      <p:to>
                                        <p:strVal val="visible"/>
                                      </p:to>
                                    </p:set>
                                  </p:childTnLst>
                                </p:cTn>
                              </p:par>
                            </p:childTnLst>
                          </p:cTn>
                        </p:par>
                        <p:par>
                          <p:cTn id="65" fill="hold">
                            <p:stCondLst>
                              <p:cond delay="0"/>
                            </p:stCondLst>
                            <p:childTnLst>
                              <p:par>
                                <p:cTn id="66" presetID="1" presetClass="entr" presetSubtype="0" fill="hold" grpId="0" nodeType="afterEffect">
                                  <p:stCondLst>
                                    <p:cond delay="500"/>
                                  </p:stCondLst>
                                  <p:childTnLst>
                                    <p:set>
                                      <p:cBhvr>
                                        <p:cTn id="67" dur="1" fill="hold">
                                          <p:stCondLst>
                                            <p:cond delay="0"/>
                                          </p:stCondLst>
                                        </p:cTn>
                                        <p:tgtEl>
                                          <p:spTgt spid="41"/>
                                        </p:tgtEl>
                                        <p:attrNameLst>
                                          <p:attrName>style.visibility</p:attrName>
                                        </p:attrNameLst>
                                      </p:cBhvr>
                                      <p:to>
                                        <p:strVal val="visible"/>
                                      </p:to>
                                    </p:set>
                                  </p:childTnLst>
                                </p:cTn>
                              </p:par>
                            </p:childTnLst>
                          </p:cTn>
                        </p:par>
                        <p:par>
                          <p:cTn id="68" fill="hold">
                            <p:stCondLst>
                              <p:cond delay="500"/>
                            </p:stCondLst>
                            <p:childTnLst>
                              <p:par>
                                <p:cTn id="69" presetID="1" presetClass="entr" presetSubtype="0" fill="hold" grpId="0" nodeType="afterEffect">
                                  <p:stCondLst>
                                    <p:cond delay="1000"/>
                                  </p:stCondLst>
                                  <p:childTnLst>
                                    <p:set>
                                      <p:cBhvr>
                                        <p:cTn id="70" dur="1" fill="hold">
                                          <p:stCondLst>
                                            <p:cond delay="0"/>
                                          </p:stCondLst>
                                        </p:cTn>
                                        <p:tgtEl>
                                          <p:spTgt spid="4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26"/>
                                        </p:tgtEl>
                                        <p:attrNameLst>
                                          <p:attrName>style.visibility</p:attrName>
                                        </p:attrNameLst>
                                      </p:cBhvr>
                                      <p:to>
                                        <p:strVal val="hidden"/>
                                      </p:to>
                                    </p:set>
                                  </p:childTnLst>
                                </p:cTn>
                              </p:par>
                              <p:par>
                                <p:cTn id="75" presetID="1" presetClass="exit" presetSubtype="0" fill="hold" grpId="1" nodeType="withEffect">
                                  <p:stCondLst>
                                    <p:cond delay="0"/>
                                  </p:stCondLst>
                                  <p:childTnLst>
                                    <p:set>
                                      <p:cBhvr>
                                        <p:cTn id="76" dur="1" fill="hold">
                                          <p:stCondLst>
                                            <p:cond delay="0"/>
                                          </p:stCondLst>
                                        </p:cTn>
                                        <p:tgtEl>
                                          <p:spTgt spid="5"/>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7"/>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8"/>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9"/>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10"/>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12"/>
                                        </p:tgtEl>
                                        <p:attrNameLst>
                                          <p:attrName>style.visibility</p:attrName>
                                        </p:attrNameLst>
                                      </p:cBhvr>
                                      <p:to>
                                        <p:strVal val="hidden"/>
                                      </p:to>
                                    </p:set>
                                  </p:childTnLst>
                                </p:cTn>
                              </p:par>
                              <p:par>
                                <p:cTn id="87" presetID="1" presetClass="exit" presetSubtype="0" fill="hold" grpId="2" nodeType="withEffect">
                                  <p:stCondLst>
                                    <p:cond delay="0"/>
                                  </p:stCondLst>
                                  <p:childTnLst>
                                    <p:set>
                                      <p:cBhvr>
                                        <p:cTn id="88" dur="1" fill="hold">
                                          <p:stCondLst>
                                            <p:cond delay="0"/>
                                          </p:stCondLst>
                                        </p:cTn>
                                        <p:tgtEl>
                                          <p:spTgt spid="14"/>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15"/>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16"/>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17"/>
                                        </p:tgtEl>
                                        <p:attrNameLst>
                                          <p:attrName>style.visibility</p:attrName>
                                        </p:attrNameLst>
                                      </p:cBhvr>
                                      <p:to>
                                        <p:strVal val="hidden"/>
                                      </p:to>
                                    </p:set>
                                  </p:childTnLst>
                                </p:cTn>
                              </p:par>
                              <p:par>
                                <p:cTn id="95" presetID="1" presetClass="exit" presetSubtype="0" fill="hold" grpId="3" nodeType="withEffect">
                                  <p:stCondLst>
                                    <p:cond delay="0"/>
                                  </p:stCondLst>
                                  <p:childTnLst>
                                    <p:set>
                                      <p:cBhvr>
                                        <p:cTn id="96" dur="1" fill="hold">
                                          <p:stCondLst>
                                            <p:cond delay="0"/>
                                          </p:stCondLst>
                                        </p:cTn>
                                        <p:tgtEl>
                                          <p:spTgt spid="36"/>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44"/>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25"/>
                                        </p:tgtEl>
                                        <p:attrNameLst>
                                          <p:attrName>style.visibility</p:attrName>
                                        </p:attrNameLst>
                                      </p:cBhvr>
                                      <p:to>
                                        <p:strVal val="hidden"/>
                                      </p:to>
                                    </p:set>
                                  </p:childTnLst>
                                </p:cTn>
                              </p:par>
                              <p:par>
                                <p:cTn id="101" presetID="1" presetClass="exit" presetSubtype="0" fill="hold" nodeType="withEffect">
                                  <p:stCondLst>
                                    <p:cond delay="0"/>
                                  </p:stCondLst>
                                  <p:childTnLst>
                                    <p:set>
                                      <p:cBhvr>
                                        <p:cTn id="102" dur="1" fill="hold">
                                          <p:stCondLst>
                                            <p:cond delay="0"/>
                                          </p:stCondLst>
                                        </p:cTn>
                                        <p:tgtEl>
                                          <p:spTgt spid="28"/>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31"/>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33"/>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35"/>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38"/>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39"/>
                                        </p:tgtEl>
                                        <p:attrNameLst>
                                          <p:attrName>style.visibility</p:attrName>
                                        </p:attrNameLst>
                                      </p:cBhvr>
                                      <p:to>
                                        <p:strVal val="hidden"/>
                                      </p:to>
                                    </p:set>
                                  </p:childTnLst>
                                </p:cTn>
                              </p:par>
                              <p:par>
                                <p:cTn id="113" presetID="1" presetClass="exit" presetSubtype="0" fill="hold" grpId="1" nodeType="withEffect">
                                  <p:stCondLst>
                                    <p:cond delay="0"/>
                                  </p:stCondLst>
                                  <p:childTnLst>
                                    <p:set>
                                      <p:cBhvr>
                                        <p:cTn id="114" dur="1" fill="hold">
                                          <p:stCondLst>
                                            <p:cond delay="0"/>
                                          </p:stCondLst>
                                        </p:cTn>
                                        <p:tgtEl>
                                          <p:spTgt spid="40"/>
                                        </p:tgtEl>
                                        <p:attrNameLst>
                                          <p:attrName>style.visibility</p:attrName>
                                        </p:attrNameLst>
                                      </p:cBhvr>
                                      <p:to>
                                        <p:strVal val="hidden"/>
                                      </p:to>
                                    </p:set>
                                  </p:childTnLst>
                                </p:cTn>
                              </p:par>
                              <p:par>
                                <p:cTn id="115" presetID="1" presetClass="exit" presetSubtype="0" fill="hold" grpId="1" nodeType="withEffect">
                                  <p:stCondLst>
                                    <p:cond delay="0"/>
                                  </p:stCondLst>
                                  <p:childTnLst>
                                    <p:set>
                                      <p:cBhvr>
                                        <p:cTn id="116" dur="1" fill="hold">
                                          <p:stCondLst>
                                            <p:cond delay="0"/>
                                          </p:stCondLst>
                                        </p:cTn>
                                        <p:tgtEl>
                                          <p:spTgt spid="41"/>
                                        </p:tgtEl>
                                        <p:attrNameLst>
                                          <p:attrName>style.visibility</p:attrName>
                                        </p:attrNameLst>
                                      </p:cBhvr>
                                      <p:to>
                                        <p:strVal val="hidden"/>
                                      </p:to>
                                    </p:set>
                                  </p:childTnLst>
                                </p:cTn>
                              </p:par>
                            </p:childTnLst>
                          </p:cTn>
                        </p:par>
                        <p:par>
                          <p:cTn id="117" fill="hold">
                            <p:stCondLst>
                              <p:cond delay="0"/>
                            </p:stCondLst>
                            <p:childTnLst>
                              <p:par>
                                <p:cTn id="118" presetID="1" presetClass="entr" presetSubtype="0" fill="hold" nodeType="afterEffect">
                                  <p:stCondLst>
                                    <p:cond delay="0"/>
                                  </p:stCondLst>
                                  <p:childTnLst>
                                    <p:set>
                                      <p:cBhvr>
                                        <p:cTn id="119" dur="1" fill="hold">
                                          <p:stCondLst>
                                            <p:cond delay="0"/>
                                          </p:stCondLst>
                                        </p:cTn>
                                        <p:tgtEl>
                                          <p:spTgt spid="24"/>
                                        </p:tgtEl>
                                        <p:attrNameLst>
                                          <p:attrName>style.visibility</p:attrName>
                                        </p:attrNameLst>
                                      </p:cBhvr>
                                      <p:to>
                                        <p:strVal val="visible"/>
                                      </p:to>
                                    </p:set>
                                  </p:childTnLst>
                                </p:cTn>
                              </p:par>
                              <p:par>
                                <p:cTn id="120" presetID="1" presetClass="entr" presetSubtype="0" fill="hold" nodeType="withEffect">
                                  <p:stCondLst>
                                    <p:cond delay="0"/>
                                  </p:stCondLst>
                                  <p:childTnLst>
                                    <p:set>
                                      <p:cBhvr>
                                        <p:cTn id="121" dur="1" fill="hold">
                                          <p:stCondLst>
                                            <p:cond delay="0"/>
                                          </p:stCondLst>
                                        </p:cTn>
                                        <p:tgtEl>
                                          <p:spTgt spid="34"/>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32"/>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36"/>
                                        </p:tgtEl>
                                        <p:attrNameLst>
                                          <p:attrName>style.visibility</p:attrName>
                                        </p:attrNameLst>
                                      </p:cBhvr>
                                      <p:to>
                                        <p:strVal val="visible"/>
                                      </p:to>
                                    </p:set>
                                  </p:childTnLst>
                                </p:cTn>
                              </p:par>
                              <p:par>
                                <p:cTn id="126" presetID="1" presetClass="exit" presetSubtype="0" fill="hold" grpId="1" nodeType="withEffect">
                                  <p:stCondLst>
                                    <p:cond delay="0"/>
                                  </p:stCondLst>
                                  <p:childTnLst>
                                    <p:set>
                                      <p:cBhvr>
                                        <p:cTn id="127" dur="1" fill="hold">
                                          <p:stCondLst>
                                            <p:cond delay="0"/>
                                          </p:stCondLst>
                                        </p:cTn>
                                        <p:tgtEl>
                                          <p:spTgt spid="36"/>
                                        </p:tgtEl>
                                        <p:attrNameLst>
                                          <p:attrName>style.visibility</p:attrName>
                                        </p:attrNameLst>
                                      </p:cBhvr>
                                      <p:to>
                                        <p:strVal val="hidden"/>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6" grpId="1" animBg="1"/>
      <p:bldP spid="5" grpId="0" animBg="1"/>
      <p:bldP spid="5" grpId="1" animBg="1"/>
      <p:bldP spid="7" grpId="0" animBg="1"/>
      <p:bldP spid="7" grpId="1" animBg="1"/>
      <p:bldP spid="8" grpId="0" animBg="1"/>
      <p:bldP spid="8" grpId="1" animBg="1"/>
      <p:bldP spid="9" grpId="0" animBg="1"/>
      <p:bldP spid="9" grpId="1" animBg="1"/>
      <p:bldP spid="10" grpId="0"/>
      <p:bldP spid="10" grpId="1"/>
      <p:bldP spid="14" grpId="0"/>
      <p:bldP spid="14" grpId="1"/>
      <p:bldP spid="14" grpId="2"/>
      <p:bldP spid="16" grpId="0"/>
      <p:bldP spid="16" grpId="1"/>
      <p:bldP spid="25" grpId="0" animBg="1"/>
      <p:bldP spid="25" grpId="1" animBg="1"/>
      <p:bldP spid="31" grpId="0"/>
      <p:bldP spid="31" grpId="1"/>
      <p:bldP spid="35" grpId="0"/>
      <p:bldP spid="35" grpId="1"/>
      <p:bldP spid="38" grpId="0"/>
      <p:bldP spid="38" grpId="1"/>
      <p:bldP spid="40" grpId="0" animBg="1"/>
      <p:bldP spid="40" grpId="1" animBg="1"/>
      <p:bldP spid="41" grpId="0" animBg="1"/>
      <p:bldP spid="41" grpId="1" animBg="1"/>
      <p:bldP spid="32" grpId="0" animBg="1"/>
      <p:bldP spid="36" grpId="0" animBg="1"/>
      <p:bldP spid="36" grpId="1" animBg="1"/>
      <p:bldP spid="36" grpId="2" animBg="1"/>
      <p:bldP spid="36" grpId="3" animBg="1"/>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0AA3B-6C92-883D-4942-7AD353EFFA4A}"/>
            </a:ext>
          </a:extLst>
        </p:cNvPr>
        <p:cNvGrpSpPr/>
        <p:nvPr/>
      </p:nvGrpSpPr>
      <p:grpSpPr>
        <a:xfrm>
          <a:off x="0" y="0"/>
          <a:ext cx="0" cy="0"/>
          <a:chOff x="0" y="0"/>
          <a:chExt cx="0" cy="0"/>
        </a:xfrm>
      </p:grpSpPr>
      <p:sp>
        <p:nvSpPr>
          <p:cNvPr id="7" name="Rounded Rectangle 23">
            <a:extLst>
              <a:ext uri="{FF2B5EF4-FFF2-40B4-BE49-F238E27FC236}">
                <a16:creationId xmlns:a16="http://schemas.microsoft.com/office/drawing/2014/main" id="{C1BCCCD8-8388-6616-1D78-47CB710A42EB}"/>
              </a:ext>
            </a:extLst>
          </p:cNvPr>
          <p:cNvSpPr/>
          <p:nvPr/>
        </p:nvSpPr>
        <p:spPr>
          <a:xfrm>
            <a:off x="616566" y="2565076"/>
            <a:ext cx="3326488" cy="3706185"/>
          </a:xfrm>
          <a:prstGeom prst="roundRect">
            <a:avLst/>
          </a:prstGeom>
          <a:solidFill>
            <a:srgbClr val="D43F4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GB" sz="2400" b="1" dirty="0">
                <a:solidFill>
                  <a:schemeClr val="bg1"/>
                </a:solidFill>
                <a:latin typeface="Poppins" pitchFamily="2" charset="77"/>
                <a:cs typeface="Poppins" pitchFamily="2" charset="77"/>
              </a:rPr>
              <a:t>RQ.1</a:t>
            </a:r>
          </a:p>
          <a:p>
            <a:pPr algn="ctr"/>
            <a:r>
              <a:rPr lang="en-GB" sz="2000" b="1" dirty="0">
                <a:solidFill>
                  <a:schemeClr val="bg1"/>
                </a:solidFill>
                <a:latin typeface="Poppins" pitchFamily="2" charset="77"/>
                <a:cs typeface="Poppins" pitchFamily="2" charset="77"/>
              </a:rPr>
              <a:t>Socio-emotional Response Generation</a:t>
            </a:r>
          </a:p>
          <a:p>
            <a:pPr algn="ctr"/>
            <a:endParaRPr lang="en-GB" sz="1600" dirty="0">
              <a:solidFill>
                <a:schemeClr val="bg1"/>
              </a:solidFill>
              <a:latin typeface="Poppins" pitchFamily="2" charset="77"/>
              <a:cs typeface="Poppins" pitchFamily="2" charset="77"/>
            </a:endParaRPr>
          </a:p>
        </p:txBody>
      </p:sp>
      <p:sp>
        <p:nvSpPr>
          <p:cNvPr id="8" name="Rounded Rectangle 24">
            <a:extLst>
              <a:ext uri="{FF2B5EF4-FFF2-40B4-BE49-F238E27FC236}">
                <a16:creationId xmlns:a16="http://schemas.microsoft.com/office/drawing/2014/main" id="{3936046E-556D-F2CC-44E4-1858B9440F58}"/>
              </a:ext>
            </a:extLst>
          </p:cNvPr>
          <p:cNvSpPr/>
          <p:nvPr/>
        </p:nvSpPr>
        <p:spPr>
          <a:xfrm>
            <a:off x="4416389" y="2565076"/>
            <a:ext cx="3326489" cy="3706184"/>
          </a:xfrm>
          <a:prstGeom prst="roundRect">
            <a:avLst/>
          </a:prstGeom>
          <a:solidFill>
            <a:srgbClr val="B08AB4"/>
          </a:solidFill>
          <a:ln w="381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GB" sz="2400" b="1" dirty="0">
                <a:solidFill>
                  <a:schemeClr val="bg1"/>
                </a:solidFill>
                <a:latin typeface="Poppins" pitchFamily="2" charset="77"/>
                <a:cs typeface="Poppins" pitchFamily="2" charset="77"/>
              </a:rPr>
              <a:t>RQ.2 </a:t>
            </a:r>
          </a:p>
          <a:p>
            <a:pPr algn="ctr"/>
            <a:r>
              <a:rPr lang="en-GB" sz="2000" b="1" dirty="0">
                <a:solidFill>
                  <a:schemeClr val="bg1"/>
                </a:solidFill>
                <a:latin typeface="Poppins" pitchFamily="2" charset="77"/>
                <a:cs typeface="Poppins" pitchFamily="2" charset="77"/>
              </a:rPr>
              <a:t>Adequate</a:t>
            </a:r>
          </a:p>
          <a:p>
            <a:pPr algn="ctr"/>
            <a:r>
              <a:rPr lang="en-GB" sz="2000" b="1" dirty="0">
                <a:solidFill>
                  <a:schemeClr val="bg1"/>
                </a:solidFill>
                <a:latin typeface="Poppins" pitchFamily="2" charset="77"/>
                <a:cs typeface="Poppins" pitchFamily="2" charset="77"/>
              </a:rPr>
              <a:t>Datasets</a:t>
            </a:r>
          </a:p>
        </p:txBody>
      </p:sp>
      <p:sp>
        <p:nvSpPr>
          <p:cNvPr id="9" name="Rounded Rectangle 25">
            <a:extLst>
              <a:ext uri="{FF2B5EF4-FFF2-40B4-BE49-F238E27FC236}">
                <a16:creationId xmlns:a16="http://schemas.microsoft.com/office/drawing/2014/main" id="{2931B315-28B8-2958-0045-93B9603F3477}"/>
              </a:ext>
            </a:extLst>
          </p:cNvPr>
          <p:cNvSpPr/>
          <p:nvPr/>
        </p:nvSpPr>
        <p:spPr>
          <a:xfrm>
            <a:off x="8260340" y="2565076"/>
            <a:ext cx="3326488" cy="3706184"/>
          </a:xfrm>
          <a:prstGeom prst="roundRect">
            <a:avLst/>
          </a:prstGeom>
          <a:solidFill>
            <a:srgbClr val="FFC49B"/>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GB" sz="2400" b="1" dirty="0">
                <a:solidFill>
                  <a:schemeClr val="bg1"/>
                </a:solidFill>
                <a:latin typeface="Poppins" pitchFamily="2" charset="77"/>
                <a:cs typeface="Poppins" pitchFamily="2" charset="77"/>
              </a:rPr>
              <a:t>RQ.3</a:t>
            </a:r>
          </a:p>
          <a:p>
            <a:pPr algn="ctr"/>
            <a:r>
              <a:rPr lang="en-GB" sz="2000" b="1" dirty="0">
                <a:solidFill>
                  <a:schemeClr val="bg1"/>
                </a:solidFill>
                <a:latin typeface="Poppins" pitchFamily="2" charset="77"/>
                <a:cs typeface="Poppins" pitchFamily="2" charset="77"/>
              </a:rPr>
              <a:t>Evaluation</a:t>
            </a:r>
          </a:p>
          <a:p>
            <a:pPr algn="ctr"/>
            <a:r>
              <a:rPr lang="en-GB" sz="2000" b="1" dirty="0">
                <a:solidFill>
                  <a:schemeClr val="bg1"/>
                </a:solidFill>
                <a:latin typeface="Poppins" pitchFamily="2" charset="77"/>
                <a:cs typeface="Poppins" pitchFamily="2" charset="77"/>
              </a:rPr>
              <a:t>Methods</a:t>
            </a:r>
          </a:p>
          <a:p>
            <a:pPr algn="ctr"/>
            <a:endParaRPr lang="en-GB" sz="1600" dirty="0">
              <a:solidFill>
                <a:schemeClr val="bg1"/>
              </a:solidFill>
              <a:latin typeface="Poppins" pitchFamily="2" charset="77"/>
              <a:cs typeface="Poppins" pitchFamily="2" charset="77"/>
            </a:endParaRPr>
          </a:p>
        </p:txBody>
      </p:sp>
      <p:sp>
        <p:nvSpPr>
          <p:cNvPr id="14" name="Title 13">
            <a:extLst>
              <a:ext uri="{FF2B5EF4-FFF2-40B4-BE49-F238E27FC236}">
                <a16:creationId xmlns:a16="http://schemas.microsoft.com/office/drawing/2014/main" id="{BDF1FA38-6CCB-DFBC-6EC1-5B05E56F7CB8}"/>
              </a:ext>
            </a:extLst>
          </p:cNvPr>
          <p:cNvSpPr>
            <a:spLocks noGrp="1"/>
          </p:cNvSpPr>
          <p:nvPr>
            <p:ph type="title"/>
          </p:nvPr>
        </p:nvSpPr>
        <p:spPr/>
        <p:txBody>
          <a:bodyPr/>
          <a:lstStyle/>
          <a:p>
            <a:r>
              <a:rPr lang="en-FR" sz="3200" dirty="0">
                <a:latin typeface="Poppins" pitchFamily="2" charset="77"/>
                <a:cs typeface="Poppins" pitchFamily="2" charset="77"/>
              </a:rPr>
              <a:t>Research Questions</a:t>
            </a:r>
            <a:endParaRPr lang="en-FR" dirty="0"/>
          </a:p>
        </p:txBody>
      </p:sp>
      <p:pic>
        <p:nvPicPr>
          <p:cNvPr id="17" name="Picture 16">
            <a:extLst>
              <a:ext uri="{FF2B5EF4-FFF2-40B4-BE49-F238E27FC236}">
                <a16:creationId xmlns:a16="http://schemas.microsoft.com/office/drawing/2014/main" id="{5A8279B3-135B-9D8E-DC61-F83F5065F11B}"/>
              </a:ext>
            </a:extLst>
          </p:cNvPr>
          <p:cNvPicPr>
            <a:picLocks noChangeAspect="1"/>
          </p:cNvPicPr>
          <p:nvPr/>
        </p:nvPicPr>
        <p:blipFill>
          <a:blip r:embed="rId3">
            <a:alphaModFix/>
            <a:extLst>
              <a:ext uri="{BEBA8EAE-BF5A-486C-A8C5-ECC9F3942E4B}">
                <a14:imgProps xmlns:a14="http://schemas.microsoft.com/office/drawing/2010/main">
                  <a14:imgLayer r:embed="rId4">
                    <a14:imgEffect>
                      <a14:artisticPhotocopy/>
                    </a14:imgEffect>
                    <a14:imgEffect>
                      <a14:colorTemperature colorTemp="5142"/>
                    </a14:imgEffect>
                    <a14:imgEffect>
                      <a14:saturation sat="400000"/>
                    </a14:imgEffect>
                  </a14:imgLayer>
                </a14:imgProps>
              </a:ext>
            </a:extLst>
          </a:blip>
          <a:stretch>
            <a:fillRect/>
          </a:stretch>
        </p:blipFill>
        <p:spPr>
          <a:xfrm>
            <a:off x="209188" y="354256"/>
            <a:ext cx="764671" cy="764671"/>
          </a:xfrm>
          <a:prstGeom prst="rect">
            <a:avLst/>
          </a:prstGeom>
        </p:spPr>
      </p:pic>
      <p:sp>
        <p:nvSpPr>
          <p:cNvPr id="2" name="Rectangle 1">
            <a:extLst>
              <a:ext uri="{FF2B5EF4-FFF2-40B4-BE49-F238E27FC236}">
                <a16:creationId xmlns:a16="http://schemas.microsoft.com/office/drawing/2014/main" id="{86FC7D3E-AAD4-A8D6-78BD-AC3FD43D7BB6}"/>
              </a:ext>
            </a:extLst>
          </p:cNvPr>
          <p:cNvSpPr/>
          <p:nvPr/>
        </p:nvSpPr>
        <p:spPr>
          <a:xfrm rot="10800000" flipH="1" flipV="1">
            <a:off x="573249" y="1355113"/>
            <a:ext cx="11045504" cy="836617"/>
          </a:xfrm>
          <a:prstGeom prst="rect">
            <a:avLst/>
          </a:prstGeom>
          <a:solidFill>
            <a:srgbClr val="D0DBF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200" b="1" dirty="0">
                <a:solidFill>
                  <a:srgbClr val="0055FF"/>
                </a:solidFill>
                <a:latin typeface="Poppins" pitchFamily="2" charset="77"/>
                <a:cs typeface="Poppins" pitchFamily="2" charset="77"/>
              </a:rPr>
              <a:t>Planning Socio-Emotional Response Generation for Conversational Agents</a:t>
            </a:r>
            <a:endParaRPr lang="fr-FR" sz="2200" b="1" dirty="0">
              <a:solidFill>
                <a:srgbClr val="0055FF"/>
              </a:solidFill>
              <a:latin typeface="Poppins" pitchFamily="2" charset="77"/>
              <a:cs typeface="Poppins" pitchFamily="2" charset="77"/>
            </a:endParaRPr>
          </a:p>
        </p:txBody>
      </p:sp>
      <p:pic>
        <p:nvPicPr>
          <p:cNvPr id="3" name="Graphic 2" descr="Blueprint with solid fill">
            <a:extLst>
              <a:ext uri="{FF2B5EF4-FFF2-40B4-BE49-F238E27FC236}">
                <a16:creationId xmlns:a16="http://schemas.microsoft.com/office/drawing/2014/main" id="{80A14E2D-1C27-00F3-737A-B34C638971F3}"/>
              </a:ext>
            </a:extLst>
          </p:cNvPr>
          <p:cNvPicPr>
            <a:picLocks noChangeAspect="1"/>
          </p:cNvPicPr>
          <p:nvPr/>
        </p:nvPicPr>
        <p:blipFill>
          <a:blip r:embed="rId5">
            <a:alphaModFix amt="75000"/>
            <a:extLst>
              <a:ext uri="{96DAC541-7B7A-43D3-8B79-37D633B846F1}">
                <asvg:svgBlip xmlns:asvg="http://schemas.microsoft.com/office/drawing/2016/SVG/main" r:embed="rId6"/>
              </a:ext>
            </a:extLst>
          </a:blip>
          <a:stretch>
            <a:fillRect/>
          </a:stretch>
        </p:blipFill>
        <p:spPr>
          <a:xfrm>
            <a:off x="1071972" y="3879881"/>
            <a:ext cx="2232143" cy="2232143"/>
          </a:xfrm>
          <a:prstGeom prst="rect">
            <a:avLst/>
          </a:prstGeom>
        </p:spPr>
      </p:pic>
      <p:pic>
        <p:nvPicPr>
          <p:cNvPr id="6" name="Graphic 5" descr="Alterations &amp; Tailoring with solid fill">
            <a:extLst>
              <a:ext uri="{FF2B5EF4-FFF2-40B4-BE49-F238E27FC236}">
                <a16:creationId xmlns:a16="http://schemas.microsoft.com/office/drawing/2014/main" id="{7FB87832-372D-1519-32B1-EAFFA46EBBC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9316634">
            <a:off x="8586262" y="3612114"/>
            <a:ext cx="2523039" cy="2523039"/>
          </a:xfrm>
          <a:prstGeom prst="rect">
            <a:avLst/>
          </a:prstGeom>
        </p:spPr>
      </p:pic>
      <p:pic>
        <p:nvPicPr>
          <p:cNvPr id="10" name="Picture 9">
            <a:extLst>
              <a:ext uri="{FF2B5EF4-FFF2-40B4-BE49-F238E27FC236}">
                <a16:creationId xmlns:a16="http://schemas.microsoft.com/office/drawing/2014/main" id="{B1BFE10F-C179-FF2A-BB62-FAC3919B4066}"/>
              </a:ext>
            </a:extLst>
          </p:cNvPr>
          <p:cNvPicPr>
            <a:picLocks noChangeAspect="1"/>
          </p:cNvPicPr>
          <p:nvPr/>
        </p:nvPicPr>
        <p:blipFill>
          <a:blip r:embed="rId9">
            <a:lum bright="70000" contrast="-70000"/>
            <a:alphaModFix amt="80000"/>
            <a:extLst>
              <a:ext uri="{BEBA8EAE-BF5A-486C-A8C5-ECC9F3942E4B}">
                <a14:imgProps xmlns:a14="http://schemas.microsoft.com/office/drawing/2010/main">
                  <a14:imgLayer r:embed="rId10">
                    <a14:imgEffect>
                      <a14:artisticPhotocopy/>
                    </a14:imgEffect>
                  </a14:imgLayer>
                </a14:imgProps>
              </a:ext>
            </a:extLst>
          </a:blip>
          <a:stretch>
            <a:fillRect/>
          </a:stretch>
        </p:blipFill>
        <p:spPr>
          <a:xfrm>
            <a:off x="4997859" y="3996355"/>
            <a:ext cx="1999194" cy="1999194"/>
          </a:xfrm>
          <a:prstGeom prst="rect">
            <a:avLst/>
          </a:prstGeom>
        </p:spPr>
      </p:pic>
    </p:spTree>
    <p:extLst>
      <p:ext uri="{BB962C8B-B14F-4D97-AF65-F5344CB8AC3E}">
        <p14:creationId xmlns:p14="http://schemas.microsoft.com/office/powerpoint/2010/main" val="47067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FC52D-5294-3B9E-1C7F-DA7636517102}"/>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ABA17711-AE14-4626-BAA0-EAF7065B1BE1}"/>
              </a:ext>
            </a:extLst>
          </p:cNvPr>
          <p:cNvPicPr>
            <a:picLocks noChangeAspect="1"/>
          </p:cNvPicPr>
          <p:nvPr/>
        </p:nvPicPr>
        <p:blipFill>
          <a:blip r:embed="rId3">
            <a:alphaModFix/>
            <a:extLst>
              <a:ext uri="{BEBA8EAE-BF5A-486C-A8C5-ECC9F3942E4B}">
                <a14:imgProps xmlns:a14="http://schemas.microsoft.com/office/drawing/2010/main">
                  <a14:imgLayer r:embed="rId4">
                    <a14:imgEffect>
                      <a14:artisticPhotocopy/>
                    </a14:imgEffect>
                    <a14:imgEffect>
                      <a14:colorTemperature colorTemp="5142"/>
                    </a14:imgEffect>
                    <a14:imgEffect>
                      <a14:saturation sat="400000"/>
                    </a14:imgEffect>
                  </a14:imgLayer>
                </a14:imgProps>
              </a:ext>
            </a:extLst>
          </a:blip>
          <a:stretch>
            <a:fillRect/>
          </a:stretch>
        </p:blipFill>
        <p:spPr>
          <a:xfrm>
            <a:off x="209188" y="354256"/>
            <a:ext cx="764671" cy="764671"/>
          </a:xfrm>
          <a:prstGeom prst="rect">
            <a:avLst/>
          </a:prstGeom>
        </p:spPr>
      </p:pic>
      <p:sp>
        <p:nvSpPr>
          <p:cNvPr id="19" name="Title 18">
            <a:extLst>
              <a:ext uri="{FF2B5EF4-FFF2-40B4-BE49-F238E27FC236}">
                <a16:creationId xmlns:a16="http://schemas.microsoft.com/office/drawing/2014/main" id="{CA6F23DD-BADF-2928-4603-F5188555D7E4}"/>
              </a:ext>
            </a:extLst>
          </p:cNvPr>
          <p:cNvSpPr>
            <a:spLocks noGrp="1"/>
          </p:cNvSpPr>
          <p:nvPr>
            <p:ph type="title"/>
          </p:nvPr>
        </p:nvSpPr>
        <p:spPr/>
        <p:txBody>
          <a:bodyPr/>
          <a:lstStyle/>
          <a:p>
            <a:r>
              <a:rPr lang="en-FR" dirty="0"/>
              <a:t>Our proposed Approach</a:t>
            </a:r>
          </a:p>
        </p:txBody>
      </p:sp>
      <p:sp>
        <p:nvSpPr>
          <p:cNvPr id="37" name="Rectangle 36">
            <a:extLst>
              <a:ext uri="{FF2B5EF4-FFF2-40B4-BE49-F238E27FC236}">
                <a16:creationId xmlns:a16="http://schemas.microsoft.com/office/drawing/2014/main" id="{F8CAF032-38C2-A870-B3F8-1AA0D43006E6}"/>
              </a:ext>
            </a:extLst>
          </p:cNvPr>
          <p:cNvSpPr/>
          <p:nvPr/>
        </p:nvSpPr>
        <p:spPr>
          <a:xfrm rot="10800000" flipH="1" flipV="1">
            <a:off x="573249" y="1355113"/>
            <a:ext cx="11045504" cy="836617"/>
          </a:xfrm>
          <a:prstGeom prst="rect">
            <a:avLst/>
          </a:prstGeom>
          <a:solidFill>
            <a:srgbClr val="D0DBF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200" b="1" dirty="0">
                <a:solidFill>
                  <a:srgbClr val="0055FF"/>
                </a:solidFill>
                <a:latin typeface="Poppins" pitchFamily="2" charset="77"/>
                <a:cs typeface="Poppins" pitchFamily="2" charset="77"/>
              </a:rPr>
              <a:t>Planning Socio-Emotional Response Generation for Conversational Agents</a:t>
            </a:r>
            <a:endParaRPr lang="fr-FR" sz="2200" b="1" dirty="0">
              <a:solidFill>
                <a:srgbClr val="0055FF"/>
              </a:solidFill>
              <a:latin typeface="Poppins" pitchFamily="2" charset="77"/>
              <a:cs typeface="Poppins" pitchFamily="2" charset="77"/>
            </a:endParaRPr>
          </a:p>
        </p:txBody>
      </p:sp>
      <p:sp>
        <p:nvSpPr>
          <p:cNvPr id="4" name="Rectangle 3">
            <a:extLst>
              <a:ext uri="{FF2B5EF4-FFF2-40B4-BE49-F238E27FC236}">
                <a16:creationId xmlns:a16="http://schemas.microsoft.com/office/drawing/2014/main" id="{D589DCDA-EA6F-0295-947D-58EBA4419337}"/>
              </a:ext>
            </a:extLst>
          </p:cNvPr>
          <p:cNvSpPr/>
          <p:nvPr/>
        </p:nvSpPr>
        <p:spPr>
          <a:xfrm>
            <a:off x="7789782" y="4182036"/>
            <a:ext cx="1828655" cy="1713346"/>
          </a:xfrm>
          <a:prstGeom prst="rect">
            <a:avLst/>
          </a:prstGeom>
          <a:solidFill>
            <a:srgbClr val="B08AB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b="1" dirty="0">
                <a:latin typeface="Poppins"/>
                <a:cs typeface="Poppins"/>
              </a:rPr>
              <a:t>GENERATIVE</a:t>
            </a:r>
            <a:br>
              <a:rPr lang="en-FR" b="1" dirty="0">
                <a:latin typeface="Poppins"/>
                <a:cs typeface="Poppins"/>
              </a:rPr>
            </a:br>
            <a:r>
              <a:rPr lang="en-FR" b="1" dirty="0">
                <a:latin typeface="Poppins"/>
                <a:cs typeface="Poppins"/>
              </a:rPr>
              <a:t>MODULE</a:t>
            </a:r>
            <a:endParaRPr lang="fr-FR" dirty="0"/>
          </a:p>
        </p:txBody>
      </p:sp>
      <p:sp>
        <p:nvSpPr>
          <p:cNvPr id="5" name="Folded Corner 4">
            <a:extLst>
              <a:ext uri="{FF2B5EF4-FFF2-40B4-BE49-F238E27FC236}">
                <a16:creationId xmlns:a16="http://schemas.microsoft.com/office/drawing/2014/main" id="{22087151-EF56-011C-BF3B-A742DA755E42}"/>
              </a:ext>
            </a:extLst>
          </p:cNvPr>
          <p:cNvSpPr/>
          <p:nvPr/>
        </p:nvSpPr>
        <p:spPr>
          <a:xfrm>
            <a:off x="10244040" y="4688042"/>
            <a:ext cx="1517723" cy="701333"/>
          </a:xfrm>
          <a:prstGeom prst="foldedCorner">
            <a:avLst>
              <a:gd name="adj" fmla="val 0"/>
            </a:avLst>
          </a:prstGeom>
          <a:noFill/>
          <a:ln w="57150">
            <a:solidFill>
              <a:srgbClr val="B08AB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sz="1600" b="1">
                <a:solidFill>
                  <a:srgbClr val="B08AB4"/>
                </a:solidFill>
                <a:latin typeface="Poppins"/>
                <a:cs typeface="Poppins"/>
              </a:rPr>
              <a:t>GENERATED RESPONSE</a:t>
            </a:r>
            <a:endParaRPr lang="fr-FR"/>
          </a:p>
        </p:txBody>
      </p:sp>
      <p:cxnSp>
        <p:nvCxnSpPr>
          <p:cNvPr id="6" name="Straight Arrow Connector 5">
            <a:extLst>
              <a:ext uri="{FF2B5EF4-FFF2-40B4-BE49-F238E27FC236}">
                <a16:creationId xmlns:a16="http://schemas.microsoft.com/office/drawing/2014/main" id="{AFB5EC15-5FCC-D7FF-26EE-CA2D0C8997C7}"/>
              </a:ext>
            </a:extLst>
          </p:cNvPr>
          <p:cNvCxnSpPr>
            <a:cxnSpLocks/>
            <a:stCxn id="4" idx="3"/>
            <a:endCxn id="5" idx="1"/>
          </p:cNvCxnSpPr>
          <p:nvPr/>
        </p:nvCxnSpPr>
        <p:spPr>
          <a:xfrm>
            <a:off x="9618437" y="5038709"/>
            <a:ext cx="625603" cy="0"/>
          </a:xfrm>
          <a:prstGeom prst="straightConnector1">
            <a:avLst/>
          </a:prstGeom>
          <a:solidFill>
            <a:srgbClr val="B08AB4"/>
          </a:solidFill>
          <a:ln w="38100">
            <a:solidFill>
              <a:srgbClr val="B08AB4"/>
            </a:solidFill>
            <a:tailEnd type="triangle"/>
          </a:ln>
        </p:spPr>
        <p:style>
          <a:lnRef idx="1">
            <a:schemeClr val="accent1"/>
          </a:lnRef>
          <a:fillRef idx="0">
            <a:schemeClr val="accent1"/>
          </a:fillRef>
          <a:effectRef idx="0">
            <a:schemeClr val="accent1"/>
          </a:effectRef>
          <a:fontRef idx="minor">
            <a:schemeClr val="tx1"/>
          </a:fontRef>
        </p:style>
      </p:cxnSp>
      <p:sp>
        <p:nvSpPr>
          <p:cNvPr id="7" name="Folded Corner 6">
            <a:extLst>
              <a:ext uri="{FF2B5EF4-FFF2-40B4-BE49-F238E27FC236}">
                <a16:creationId xmlns:a16="http://schemas.microsoft.com/office/drawing/2014/main" id="{0887F5C6-B9AB-21EC-E889-49F235CEB26B}"/>
              </a:ext>
            </a:extLst>
          </p:cNvPr>
          <p:cNvSpPr/>
          <p:nvPr/>
        </p:nvSpPr>
        <p:spPr>
          <a:xfrm>
            <a:off x="5324682" y="4559305"/>
            <a:ext cx="1828655" cy="958808"/>
          </a:xfrm>
          <a:prstGeom prst="foldedCorner">
            <a:avLst>
              <a:gd name="adj" fmla="val 0"/>
            </a:avLst>
          </a:prstGeom>
          <a:noFill/>
          <a:ln w="57150">
            <a:solidFill>
              <a:srgbClr val="D33F49"/>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rgbClr val="D33F49"/>
                </a:solidFill>
                <a:latin typeface="Poppins"/>
                <a:ea typeface="+mn-lt"/>
                <a:cs typeface="+mn-lt"/>
              </a:rPr>
              <a:t>Expected Socio-Emotional Labels</a:t>
            </a:r>
          </a:p>
        </p:txBody>
      </p:sp>
      <p:cxnSp>
        <p:nvCxnSpPr>
          <p:cNvPr id="8" name="Straight Arrow Connector 7">
            <a:extLst>
              <a:ext uri="{FF2B5EF4-FFF2-40B4-BE49-F238E27FC236}">
                <a16:creationId xmlns:a16="http://schemas.microsoft.com/office/drawing/2014/main" id="{26E23741-8902-A7F6-038B-A4A7577BF913}"/>
              </a:ext>
            </a:extLst>
          </p:cNvPr>
          <p:cNvCxnSpPr>
            <a:cxnSpLocks/>
            <a:stCxn id="7" idx="3"/>
            <a:endCxn id="4" idx="1"/>
          </p:cNvCxnSpPr>
          <p:nvPr/>
        </p:nvCxnSpPr>
        <p:spPr>
          <a:xfrm>
            <a:off x="7153337" y="5038709"/>
            <a:ext cx="636445" cy="0"/>
          </a:xfrm>
          <a:prstGeom prst="straightConnector1">
            <a:avLst/>
          </a:prstGeom>
          <a:ln w="38100">
            <a:solidFill>
              <a:srgbClr val="D33F49"/>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BC28A29-8FEA-DA01-EE2B-6B46038095A8}"/>
              </a:ext>
            </a:extLst>
          </p:cNvPr>
          <p:cNvSpPr/>
          <p:nvPr/>
        </p:nvSpPr>
        <p:spPr>
          <a:xfrm>
            <a:off x="2859582" y="4182036"/>
            <a:ext cx="1828655" cy="1713346"/>
          </a:xfrm>
          <a:prstGeom prst="rect">
            <a:avLst/>
          </a:prstGeom>
          <a:solidFill>
            <a:srgbClr val="D33F49"/>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latin typeface="Poppins"/>
                <a:cs typeface="Poppins"/>
              </a:rPr>
              <a:t>PLANNING MODULE</a:t>
            </a:r>
            <a:endParaRPr lang="fr-FR" b="1" dirty="0">
              <a:latin typeface="Poppins"/>
              <a:cs typeface="Poppins"/>
            </a:endParaRPr>
          </a:p>
        </p:txBody>
      </p:sp>
      <p:cxnSp>
        <p:nvCxnSpPr>
          <p:cNvPr id="10" name="Straight Arrow Connector 9">
            <a:extLst>
              <a:ext uri="{FF2B5EF4-FFF2-40B4-BE49-F238E27FC236}">
                <a16:creationId xmlns:a16="http://schemas.microsoft.com/office/drawing/2014/main" id="{852C8226-4E47-E46A-867A-347DF93E61DC}"/>
              </a:ext>
            </a:extLst>
          </p:cNvPr>
          <p:cNvCxnSpPr>
            <a:cxnSpLocks/>
            <a:stCxn id="9" idx="3"/>
            <a:endCxn id="7" idx="1"/>
          </p:cNvCxnSpPr>
          <p:nvPr/>
        </p:nvCxnSpPr>
        <p:spPr>
          <a:xfrm>
            <a:off x="4688237" y="5038709"/>
            <a:ext cx="636445" cy="0"/>
          </a:xfrm>
          <a:prstGeom prst="straightConnector1">
            <a:avLst/>
          </a:prstGeom>
          <a:ln w="38100">
            <a:solidFill>
              <a:srgbClr val="D33F49"/>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118412B8-19E5-5AE7-E79E-C03F1D6DFBFA}"/>
              </a:ext>
            </a:extLst>
          </p:cNvPr>
          <p:cNvSpPr/>
          <p:nvPr/>
        </p:nvSpPr>
        <p:spPr>
          <a:xfrm>
            <a:off x="727362" y="3436184"/>
            <a:ext cx="1466122" cy="2460171"/>
          </a:xfrm>
          <a:prstGeom prst="rect">
            <a:avLst/>
          </a:prstGeom>
          <a:solidFill>
            <a:srgbClr val="FFC49B"/>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b="1">
                <a:latin typeface="Poppins"/>
                <a:cs typeface="Poppins"/>
              </a:rPr>
              <a:t>Dialogue </a:t>
            </a:r>
            <a:r>
              <a:rPr lang="en-FR" b="1" err="1">
                <a:latin typeface="Poppins"/>
                <a:cs typeface="Poppins"/>
              </a:rPr>
              <a:t>History</a:t>
            </a:r>
            <a:endParaRPr lang="fr-FR" err="1"/>
          </a:p>
        </p:txBody>
      </p:sp>
      <p:cxnSp>
        <p:nvCxnSpPr>
          <p:cNvPr id="12" name="Straight Arrow Connector 11">
            <a:extLst>
              <a:ext uri="{FF2B5EF4-FFF2-40B4-BE49-F238E27FC236}">
                <a16:creationId xmlns:a16="http://schemas.microsoft.com/office/drawing/2014/main" id="{0BEE9CBB-8341-758E-2A8A-EE9C718A678C}"/>
              </a:ext>
            </a:extLst>
          </p:cNvPr>
          <p:cNvCxnSpPr>
            <a:cxnSpLocks/>
            <a:endCxn id="9" idx="1"/>
          </p:cNvCxnSpPr>
          <p:nvPr/>
        </p:nvCxnSpPr>
        <p:spPr>
          <a:xfrm>
            <a:off x="2173235" y="5038709"/>
            <a:ext cx="686347" cy="0"/>
          </a:xfrm>
          <a:prstGeom prst="straightConnector1">
            <a:avLst/>
          </a:prstGeom>
          <a:ln w="38100">
            <a:solidFill>
              <a:srgbClr val="FFC49B"/>
            </a:solidFill>
            <a:tailEnd type="triangle"/>
          </a:ln>
        </p:spPr>
        <p:style>
          <a:lnRef idx="1">
            <a:schemeClr val="accent1"/>
          </a:lnRef>
          <a:fillRef idx="0">
            <a:schemeClr val="accent1"/>
          </a:fillRef>
          <a:effectRef idx="0">
            <a:schemeClr val="accent1"/>
          </a:effectRef>
          <a:fontRef idx="minor">
            <a:schemeClr val="tx1"/>
          </a:fontRef>
        </p:style>
      </p:cxnSp>
      <p:cxnSp>
        <p:nvCxnSpPr>
          <p:cNvPr id="14" name="Elbow Connector 13">
            <a:extLst>
              <a:ext uri="{FF2B5EF4-FFF2-40B4-BE49-F238E27FC236}">
                <a16:creationId xmlns:a16="http://schemas.microsoft.com/office/drawing/2014/main" id="{1D6AC0AA-78F6-8B57-2A0E-C57685BD171F}"/>
              </a:ext>
            </a:extLst>
          </p:cNvPr>
          <p:cNvCxnSpPr>
            <a:cxnSpLocks/>
            <a:stCxn id="11" idx="3"/>
            <a:endCxn id="4" idx="0"/>
          </p:cNvCxnSpPr>
          <p:nvPr/>
        </p:nvCxnSpPr>
        <p:spPr>
          <a:xfrm flipV="1">
            <a:off x="2193484" y="4182036"/>
            <a:ext cx="6510626" cy="484234"/>
          </a:xfrm>
          <a:prstGeom prst="bentConnector4">
            <a:avLst>
              <a:gd name="adj1" fmla="val -1163"/>
              <a:gd name="adj2" fmla="val 179843"/>
            </a:avLst>
          </a:prstGeom>
          <a:ln w="38100">
            <a:solidFill>
              <a:srgbClr val="FFC49B"/>
            </a:solidFill>
            <a:tailEnd type="triangl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C136B364-FE7E-9C88-7B88-9F7F2CACB4BA}"/>
              </a:ext>
            </a:extLst>
          </p:cNvPr>
          <p:cNvGrpSpPr/>
          <p:nvPr/>
        </p:nvGrpSpPr>
        <p:grpSpPr>
          <a:xfrm>
            <a:off x="6069839" y="4182036"/>
            <a:ext cx="3971981" cy="1713346"/>
            <a:chOff x="5915725" y="4153079"/>
            <a:chExt cx="3971981" cy="1713346"/>
          </a:xfrm>
        </p:grpSpPr>
        <p:sp>
          <p:nvSpPr>
            <p:cNvPr id="16" name="Rectangle 15">
              <a:extLst>
                <a:ext uri="{FF2B5EF4-FFF2-40B4-BE49-F238E27FC236}">
                  <a16:creationId xmlns:a16="http://schemas.microsoft.com/office/drawing/2014/main" id="{0F862F8B-CD70-50B5-A747-1B208FBBB99B}"/>
                </a:ext>
              </a:extLst>
            </p:cNvPr>
            <p:cNvSpPr/>
            <p:nvPr/>
          </p:nvSpPr>
          <p:spPr>
            <a:xfrm>
              <a:off x="5915725" y="4153079"/>
              <a:ext cx="1828655" cy="1713346"/>
            </a:xfrm>
            <a:prstGeom prst="rect">
              <a:avLst/>
            </a:prstGeom>
            <a:solidFill>
              <a:srgbClr val="A5AFF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b="1" dirty="0">
                  <a:latin typeface="Poppins"/>
                  <a:cs typeface="Poppins"/>
                </a:rPr>
                <a:t>GENERATIVE MODULE</a:t>
              </a:r>
              <a:endParaRPr lang="fr-FR" dirty="0"/>
            </a:p>
          </p:txBody>
        </p:sp>
        <p:sp>
          <p:nvSpPr>
            <p:cNvPr id="17" name="Folded Corner 16">
              <a:extLst>
                <a:ext uri="{FF2B5EF4-FFF2-40B4-BE49-F238E27FC236}">
                  <a16:creationId xmlns:a16="http://schemas.microsoft.com/office/drawing/2014/main" id="{DDE79998-AB63-FBCE-14D7-D7025890C04A}"/>
                </a:ext>
              </a:extLst>
            </p:cNvPr>
            <p:cNvSpPr/>
            <p:nvPr/>
          </p:nvSpPr>
          <p:spPr>
            <a:xfrm>
              <a:off x="8369983" y="4659085"/>
              <a:ext cx="1517723" cy="701333"/>
            </a:xfrm>
            <a:prstGeom prst="foldedCorner">
              <a:avLst>
                <a:gd name="adj" fmla="val 0"/>
              </a:avLst>
            </a:prstGeom>
            <a:no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sz="1600" b="1">
                  <a:solidFill>
                    <a:srgbClr val="A5AFF5"/>
                  </a:solidFill>
                  <a:latin typeface="Poppins"/>
                  <a:cs typeface="Poppins"/>
                </a:rPr>
                <a:t>GENERATED RESPONSE</a:t>
              </a:r>
              <a:endParaRPr lang="fr-FR"/>
            </a:p>
          </p:txBody>
        </p:sp>
        <p:cxnSp>
          <p:nvCxnSpPr>
            <p:cNvPr id="18" name="Straight Arrow Connector 17">
              <a:extLst>
                <a:ext uri="{FF2B5EF4-FFF2-40B4-BE49-F238E27FC236}">
                  <a16:creationId xmlns:a16="http://schemas.microsoft.com/office/drawing/2014/main" id="{00109D04-2FB4-76E4-B706-45E385FD2951}"/>
                </a:ext>
              </a:extLst>
            </p:cNvPr>
            <p:cNvCxnSpPr>
              <a:cxnSpLocks/>
              <a:stCxn id="16" idx="3"/>
              <a:endCxn id="17" idx="1"/>
            </p:cNvCxnSpPr>
            <p:nvPr/>
          </p:nvCxnSpPr>
          <p:spPr>
            <a:xfrm>
              <a:off x="7744380" y="5009752"/>
              <a:ext cx="625603" cy="0"/>
            </a:xfrm>
            <a:prstGeom prst="straightConnector1">
              <a:avLst/>
            </a:prstGeom>
            <a:solidFill>
              <a:srgbClr val="B08AB4"/>
            </a:solidFill>
            <a:ln w="38100">
              <a:solidFill>
                <a:srgbClr val="A5AFF5"/>
              </a:solidFill>
              <a:tailEnd type="triangle"/>
            </a:ln>
          </p:spPr>
          <p:style>
            <a:lnRef idx="1">
              <a:schemeClr val="accent1"/>
            </a:lnRef>
            <a:fillRef idx="0">
              <a:schemeClr val="accent1"/>
            </a:fillRef>
            <a:effectRef idx="0">
              <a:schemeClr val="accent1"/>
            </a:effectRef>
            <a:fontRef idx="minor">
              <a:schemeClr val="tx1"/>
            </a:fontRef>
          </p:style>
        </p:cxnSp>
      </p:grpSp>
      <p:sp>
        <p:nvSpPr>
          <p:cNvPr id="20" name="Rectangle 19">
            <a:extLst>
              <a:ext uri="{FF2B5EF4-FFF2-40B4-BE49-F238E27FC236}">
                <a16:creationId xmlns:a16="http://schemas.microsoft.com/office/drawing/2014/main" id="{5DE7806E-42D2-5E20-D911-0C82BFA03E9D}"/>
              </a:ext>
            </a:extLst>
          </p:cNvPr>
          <p:cNvSpPr/>
          <p:nvPr/>
        </p:nvSpPr>
        <p:spPr>
          <a:xfrm>
            <a:off x="3606504" y="3436184"/>
            <a:ext cx="1466122" cy="2460171"/>
          </a:xfrm>
          <a:prstGeom prst="rect">
            <a:avLst/>
          </a:prstGeom>
          <a:solidFill>
            <a:srgbClr val="A5AFF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b="1">
                <a:latin typeface="Poppins"/>
                <a:cs typeface="Poppins"/>
              </a:rPr>
              <a:t>Dialogue History</a:t>
            </a:r>
            <a:endParaRPr lang="fr-FR"/>
          </a:p>
        </p:txBody>
      </p:sp>
      <p:cxnSp>
        <p:nvCxnSpPr>
          <p:cNvPr id="21" name="Straight Arrow Connector 20">
            <a:extLst>
              <a:ext uri="{FF2B5EF4-FFF2-40B4-BE49-F238E27FC236}">
                <a16:creationId xmlns:a16="http://schemas.microsoft.com/office/drawing/2014/main" id="{DE52C2F5-0989-C31D-3B3E-E5DAC3F5E6F2}"/>
              </a:ext>
            </a:extLst>
          </p:cNvPr>
          <p:cNvCxnSpPr>
            <a:cxnSpLocks/>
            <a:endCxn id="16" idx="1"/>
          </p:cNvCxnSpPr>
          <p:nvPr/>
        </p:nvCxnSpPr>
        <p:spPr>
          <a:xfrm>
            <a:off x="5072626" y="5038709"/>
            <a:ext cx="997213" cy="0"/>
          </a:xfrm>
          <a:prstGeom prst="straightConnector1">
            <a:avLst/>
          </a:prstGeom>
          <a:ln w="38100">
            <a:solidFill>
              <a:srgbClr val="A5AFF5"/>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DFFD902-DB02-42A8-3892-9578C21EBA86}"/>
              </a:ext>
            </a:extLst>
          </p:cNvPr>
          <p:cNvSpPr txBox="1"/>
          <p:nvPr/>
        </p:nvSpPr>
        <p:spPr>
          <a:xfrm>
            <a:off x="2513979" y="6268795"/>
            <a:ext cx="5275803" cy="430887"/>
          </a:xfrm>
          <a:prstGeom prst="rect">
            <a:avLst/>
          </a:prstGeom>
          <a:noFill/>
          <a:ln w="19050">
            <a:noFill/>
            <a:prstDash val="sysDash"/>
          </a:ln>
        </p:spPr>
        <p:txBody>
          <a:bodyPr wrap="none" rtlCol="0">
            <a:spAutoFit/>
          </a:bodyPr>
          <a:lstStyle>
            <a:defPPr>
              <a:defRPr lang="en-FR"/>
            </a:defPPr>
            <a:lvl1pPr algn="ctr">
              <a:defRPr sz="1050">
                <a:solidFill>
                  <a:srgbClr val="A5AFF5"/>
                </a:solidFill>
                <a:latin typeface="Poppins" pitchFamily="2" charset="77"/>
                <a:cs typeface="Poppins" pitchFamily="2" charset="77"/>
              </a:defRPr>
            </a:lvl1pPr>
          </a:lstStyle>
          <a:p>
            <a:pPr algn="l"/>
            <a:r>
              <a:rPr lang="en-GB" sz="1100" dirty="0"/>
              <a:t>[</a:t>
            </a:r>
            <a:r>
              <a:rPr lang="en-GB" sz="1100" b="1" dirty="0"/>
              <a:t>Émile: Marshalling Passions in Training and Education</a:t>
            </a:r>
            <a:r>
              <a:rPr lang="en-GB" sz="1100" dirty="0"/>
              <a:t>, Gratch (2000)]</a:t>
            </a:r>
          </a:p>
          <a:p>
            <a:pPr algn="l"/>
            <a:r>
              <a:rPr lang="en-FR" sz="1100" dirty="0"/>
              <a:t>[</a:t>
            </a:r>
            <a:r>
              <a:rPr lang="en-GB" b="1" dirty="0"/>
              <a:t>An empathic rational dialog agent</a:t>
            </a:r>
            <a:r>
              <a:rPr lang="en-GB" dirty="0"/>
              <a:t>, Ochs</a:t>
            </a:r>
            <a:r>
              <a:rPr lang="en-FR" sz="1100" dirty="0"/>
              <a:t> (2007)</a:t>
            </a:r>
            <a:endParaRPr lang="en-GB" dirty="0"/>
          </a:p>
        </p:txBody>
      </p:sp>
      <p:sp>
        <p:nvSpPr>
          <p:cNvPr id="2" name="Rounded Rectangle 1">
            <a:extLst>
              <a:ext uri="{FF2B5EF4-FFF2-40B4-BE49-F238E27FC236}">
                <a16:creationId xmlns:a16="http://schemas.microsoft.com/office/drawing/2014/main" id="{32FD9F52-3298-392D-0616-C10AC5DE3883}"/>
              </a:ext>
            </a:extLst>
          </p:cNvPr>
          <p:cNvSpPr/>
          <p:nvPr/>
        </p:nvSpPr>
        <p:spPr>
          <a:xfrm>
            <a:off x="6421067" y="2366647"/>
            <a:ext cx="5200446" cy="1171580"/>
          </a:xfrm>
          <a:prstGeom prst="roundRect">
            <a:avLst/>
          </a:prstGeom>
          <a:solidFill>
            <a:schemeClr val="bg1">
              <a:alpha val="83137"/>
            </a:schemeClr>
          </a:solidFill>
          <a:ln>
            <a:solidFill>
              <a:srgbClr val="D43F4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en-GB" sz="1600" dirty="0">
                <a:solidFill>
                  <a:srgbClr val="D43F49"/>
                </a:solidFill>
              </a:rPr>
              <a:t>Inspired from the literature of modular architectures, we add a planning step. </a:t>
            </a:r>
            <a:r>
              <a:rPr lang="en-US" sz="1600" dirty="0">
                <a:solidFill>
                  <a:srgbClr val="D43F49"/>
                </a:solidFill>
              </a:rPr>
              <a:t>To capture the dynamic evolution of a user's social and emotional state, we decide to plan a sequence of multiple socio-emotional labels</a:t>
            </a:r>
            <a:endParaRPr lang="en-GB" sz="1600" dirty="0">
              <a:solidFill>
                <a:srgbClr val="D43F49"/>
              </a:solidFill>
            </a:endParaRPr>
          </a:p>
        </p:txBody>
      </p:sp>
    </p:spTree>
    <p:extLst>
      <p:ext uri="{BB962C8B-B14F-4D97-AF65-F5344CB8AC3E}">
        <p14:creationId xmlns:p14="http://schemas.microsoft.com/office/powerpoint/2010/main" val="3011745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1"/>
                                        </p:tgtEl>
                                        <p:attrNameLst>
                                          <p:attrName>style.visibility</p:attrName>
                                        </p:attrNameLst>
                                      </p:cBhvr>
                                      <p:to>
                                        <p:strVal val="hidden"/>
                                      </p:to>
                                    </p:set>
                                  </p:childTnLst>
                                </p:cTn>
                              </p:par>
                              <p:par>
                                <p:cTn id="7" presetID="0" presetClass="path" presetSubtype="0" accel="50000" decel="50000" fill="hold" grpId="0" nodeType="withEffect">
                                  <p:stCondLst>
                                    <p:cond delay="0"/>
                                  </p:stCondLst>
                                  <p:childTnLst>
                                    <p:animMotion origin="layout" path="M 6.25E-7 -4.07407E-6 L -0.23607 -4.07407E-6 " pathEditMode="relative" rAng="0" ptsTypes="AA">
                                      <p:cBhvr>
                                        <p:cTn id="8" dur="2000" fill="hold"/>
                                        <p:tgtEl>
                                          <p:spTgt spid="20"/>
                                        </p:tgtEl>
                                        <p:attrNameLst>
                                          <p:attrName>ppt_x</p:attrName>
                                          <p:attrName>ppt_y</p:attrName>
                                        </p:attrNameLst>
                                      </p:cBhvr>
                                      <p:rCtr x="-11810" y="0"/>
                                    </p:animMotion>
                                  </p:childTnLst>
                                </p:cTn>
                              </p:par>
                              <p:par>
                                <p:cTn id="9" presetID="0" presetClass="path" presetSubtype="0" accel="50000" decel="50000" fill="hold" nodeType="withEffect">
                                  <p:stCondLst>
                                    <p:cond delay="0"/>
                                  </p:stCondLst>
                                  <p:childTnLst>
                                    <p:animMotion origin="layout" path="M 2.70833E-6 -2.22222E-6 L 0.14127 0.00023 " pathEditMode="relative" rAng="0" ptsTypes="AA">
                                      <p:cBhvr>
                                        <p:cTn id="10" dur="2000" fill="hold"/>
                                        <p:tgtEl>
                                          <p:spTgt spid="15"/>
                                        </p:tgtEl>
                                        <p:attrNameLst>
                                          <p:attrName>ppt_x</p:attrName>
                                          <p:attrName>ppt_y</p:attrName>
                                        </p:attrNameLst>
                                      </p:cBhvr>
                                      <p:rCtr x="7057" y="0"/>
                                    </p:animMotion>
                                  </p:childTnLst>
                                </p:cTn>
                              </p:par>
                            </p:childTnLst>
                          </p:cTn>
                        </p:par>
                        <p:par>
                          <p:cTn id="11" fill="hold">
                            <p:stCondLst>
                              <p:cond delay="2000"/>
                            </p:stCondLst>
                            <p:childTnLst>
                              <p:par>
                                <p:cTn id="12" presetID="1" presetClass="entr" presetSubtype="0" fill="hold" nodeType="after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par>
                          <p:cTn id="22" fill="hold">
                            <p:stCondLst>
                              <p:cond delay="2000"/>
                            </p:stCondLst>
                            <p:childTnLst>
                              <p:par>
                                <p:cTn id="23" presetID="10" presetClass="exit" presetSubtype="0" fill="hold" grpId="1" nodeType="afterEffect">
                                  <p:stCondLst>
                                    <p:cond delay="0"/>
                                  </p:stCondLst>
                                  <p:childTnLst>
                                    <p:animEffect transition="out" filter="fade">
                                      <p:cBhvr>
                                        <p:cTn id="24" dur="500"/>
                                        <p:tgtEl>
                                          <p:spTgt spid="20"/>
                                        </p:tgtEl>
                                      </p:cBhvr>
                                    </p:animEffect>
                                    <p:set>
                                      <p:cBhvr>
                                        <p:cTn id="25" dur="1" fill="hold">
                                          <p:stCondLst>
                                            <p:cond delay="499"/>
                                          </p:stCondLst>
                                        </p:cTn>
                                        <p:tgtEl>
                                          <p:spTgt spid="20"/>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500"/>
                                        <p:tgtEl>
                                          <p:spTgt spid="15"/>
                                        </p:tgtEl>
                                      </p:cBhvr>
                                    </p:animEffect>
                                    <p:set>
                                      <p:cBhvr>
                                        <p:cTn id="28" dur="1" fill="hold">
                                          <p:stCondLst>
                                            <p:cond delay="499"/>
                                          </p:stCondLst>
                                        </p:cTn>
                                        <p:tgtEl>
                                          <p:spTgt spid="15"/>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11" grpId="0" animBg="1"/>
      <p:bldP spid="20" grpId="0" animBg="1"/>
      <p:bldP spid="20" grpId="1" animBg="1"/>
      <p:bldP spid="23" grpId="0"/>
      <p:bldP spid="23" grpId="1"/>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E46FE-0B54-010C-49F9-769E1081CF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D08E13-6875-7659-3059-40738EC9205F}"/>
              </a:ext>
            </a:extLst>
          </p:cNvPr>
          <p:cNvSpPr>
            <a:spLocks noGrp="1"/>
          </p:cNvSpPr>
          <p:nvPr>
            <p:ph type="title"/>
          </p:nvPr>
        </p:nvSpPr>
        <p:spPr>
          <a:xfrm>
            <a:off x="1246163" y="58998"/>
            <a:ext cx="10447400" cy="1325563"/>
          </a:xfrm>
        </p:spPr>
        <p:txBody>
          <a:bodyPr>
            <a:normAutofit/>
          </a:bodyPr>
          <a:lstStyle/>
          <a:p>
            <a:r>
              <a:rPr lang="en-GB" dirty="0"/>
              <a:t>Contributions of this thesis</a:t>
            </a:r>
            <a:endParaRPr lang="en-FR" sz="2400" dirty="0"/>
          </a:p>
        </p:txBody>
      </p:sp>
      <p:sp>
        <p:nvSpPr>
          <p:cNvPr id="3" name="Rounded Rectangle 23">
            <a:extLst>
              <a:ext uri="{FF2B5EF4-FFF2-40B4-BE49-F238E27FC236}">
                <a16:creationId xmlns:a16="http://schemas.microsoft.com/office/drawing/2014/main" id="{2A9D116B-4A05-DAD2-F90E-8B3D931E4F37}"/>
              </a:ext>
            </a:extLst>
          </p:cNvPr>
          <p:cNvSpPr/>
          <p:nvPr/>
        </p:nvSpPr>
        <p:spPr>
          <a:xfrm>
            <a:off x="666277" y="2558755"/>
            <a:ext cx="3243752" cy="3575346"/>
          </a:xfrm>
          <a:prstGeom prst="roundRect">
            <a:avLst/>
          </a:prstGeom>
          <a:solidFill>
            <a:schemeClr val="bg1"/>
          </a:solidFill>
          <a:ln w="38100">
            <a:solidFill>
              <a:srgbClr val="A5AFF5"/>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endParaRPr lang="en-GB" sz="2400" b="1" dirty="0">
              <a:solidFill>
                <a:srgbClr val="A5AFF5"/>
              </a:solidFill>
              <a:latin typeface="Poppins" pitchFamily="2" charset="77"/>
              <a:cs typeface="Poppins" pitchFamily="2" charset="77"/>
            </a:endParaRPr>
          </a:p>
          <a:p>
            <a:pPr algn="ctr"/>
            <a:r>
              <a:rPr lang="en-GB" sz="2400" b="1" dirty="0">
                <a:solidFill>
                  <a:srgbClr val="A5AFF5"/>
                </a:solidFill>
                <a:latin typeface="Poppins" pitchFamily="2" charset="77"/>
                <a:cs typeface="Poppins" pitchFamily="2" charset="77"/>
              </a:rPr>
              <a:t>Two-Module Architecture</a:t>
            </a:r>
          </a:p>
        </p:txBody>
      </p:sp>
      <p:sp>
        <p:nvSpPr>
          <p:cNvPr id="4" name="Rounded Rectangle 24">
            <a:extLst>
              <a:ext uri="{FF2B5EF4-FFF2-40B4-BE49-F238E27FC236}">
                <a16:creationId xmlns:a16="http://schemas.microsoft.com/office/drawing/2014/main" id="{DB940E27-BE33-7686-D606-32DEDB332EAF}"/>
              </a:ext>
            </a:extLst>
          </p:cNvPr>
          <p:cNvSpPr/>
          <p:nvPr/>
        </p:nvSpPr>
        <p:spPr>
          <a:xfrm>
            <a:off x="4474123" y="2558754"/>
            <a:ext cx="3243753" cy="3575345"/>
          </a:xfrm>
          <a:prstGeom prst="roundRect">
            <a:avLst/>
          </a:prstGeom>
          <a:solidFill>
            <a:srgbClr val="A5AFF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endParaRPr lang="en-GB" sz="2400" dirty="0">
              <a:solidFill>
                <a:schemeClr val="bg1"/>
              </a:solidFill>
              <a:latin typeface="Poppins" pitchFamily="2" charset="77"/>
              <a:cs typeface="Poppins" pitchFamily="2" charset="77"/>
            </a:endParaRPr>
          </a:p>
          <a:p>
            <a:pPr algn="ctr"/>
            <a:r>
              <a:rPr lang="en-GB" sz="2400" b="1" dirty="0">
                <a:solidFill>
                  <a:schemeClr val="bg1"/>
                </a:solidFill>
                <a:latin typeface="Poppins" pitchFamily="2" charset="77"/>
                <a:cs typeface="Poppins" pitchFamily="2" charset="77"/>
              </a:rPr>
              <a:t>A Novel </a:t>
            </a:r>
            <a:br>
              <a:rPr lang="en-GB" sz="2400" b="1" dirty="0">
                <a:solidFill>
                  <a:schemeClr val="bg1"/>
                </a:solidFill>
                <a:latin typeface="Poppins" pitchFamily="2" charset="77"/>
                <a:cs typeface="Poppins" pitchFamily="2" charset="77"/>
              </a:rPr>
            </a:br>
            <a:r>
              <a:rPr lang="en-GB" sz="2400" b="1" dirty="0">
                <a:solidFill>
                  <a:schemeClr val="bg1"/>
                </a:solidFill>
                <a:latin typeface="Poppins" pitchFamily="2" charset="77"/>
                <a:cs typeface="Poppins" pitchFamily="2" charset="77"/>
              </a:rPr>
              <a:t>Dataset</a:t>
            </a:r>
          </a:p>
          <a:p>
            <a:pPr algn="ctr"/>
            <a:endParaRPr lang="en-GB" sz="2400" dirty="0">
              <a:solidFill>
                <a:schemeClr val="bg1"/>
              </a:solidFill>
              <a:latin typeface="Poppins" pitchFamily="2" charset="77"/>
              <a:cs typeface="Poppins" pitchFamily="2" charset="77"/>
            </a:endParaRPr>
          </a:p>
        </p:txBody>
      </p:sp>
      <p:sp>
        <p:nvSpPr>
          <p:cNvPr id="5" name="Rounded Rectangle 25">
            <a:extLst>
              <a:ext uri="{FF2B5EF4-FFF2-40B4-BE49-F238E27FC236}">
                <a16:creationId xmlns:a16="http://schemas.microsoft.com/office/drawing/2014/main" id="{5C39C593-F9A8-6A24-DA20-6F056342EC4B}"/>
              </a:ext>
            </a:extLst>
          </p:cNvPr>
          <p:cNvSpPr/>
          <p:nvPr/>
        </p:nvSpPr>
        <p:spPr>
          <a:xfrm>
            <a:off x="8281972" y="2558754"/>
            <a:ext cx="3243752" cy="3575345"/>
          </a:xfrm>
          <a:prstGeom prst="roundRect">
            <a:avLst/>
          </a:prstGeom>
          <a:solidFill>
            <a:schemeClr val="bg1"/>
          </a:solidFill>
          <a:ln w="38100">
            <a:solidFill>
              <a:srgbClr val="A5AFF5"/>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endParaRPr lang="en-GB" sz="2400" b="1" dirty="0">
              <a:solidFill>
                <a:srgbClr val="A5AFF5"/>
              </a:solidFill>
              <a:latin typeface="Poppins" pitchFamily="2" charset="77"/>
              <a:cs typeface="Poppins" pitchFamily="2" charset="77"/>
            </a:endParaRPr>
          </a:p>
          <a:p>
            <a:pPr algn="ctr"/>
            <a:r>
              <a:rPr lang="en-GB" sz="2400" b="1" dirty="0">
                <a:solidFill>
                  <a:srgbClr val="A5AFF5"/>
                </a:solidFill>
                <a:latin typeface="Poppins" pitchFamily="2" charset="77"/>
                <a:cs typeface="Poppins" pitchFamily="2" charset="77"/>
              </a:rPr>
              <a:t>Evaluation Benchmark</a:t>
            </a:r>
          </a:p>
          <a:p>
            <a:pPr algn="ctr"/>
            <a:endParaRPr lang="en-GB" sz="2400" b="1" dirty="0">
              <a:solidFill>
                <a:srgbClr val="A5AFF5"/>
              </a:solidFill>
              <a:latin typeface="Poppins" pitchFamily="2" charset="77"/>
              <a:cs typeface="Poppins" pitchFamily="2" charset="77"/>
            </a:endParaRPr>
          </a:p>
        </p:txBody>
      </p:sp>
      <p:pic>
        <p:nvPicPr>
          <p:cNvPr id="7" name="Graphic 6" descr="Blueprint with solid fill">
            <a:extLst>
              <a:ext uri="{FF2B5EF4-FFF2-40B4-BE49-F238E27FC236}">
                <a16:creationId xmlns:a16="http://schemas.microsoft.com/office/drawing/2014/main" id="{1F61E747-C94C-76BE-7C1B-CE1D93C397D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2742" y="3638060"/>
            <a:ext cx="2248255" cy="2248255"/>
          </a:xfrm>
          <a:prstGeom prst="rect">
            <a:avLst/>
          </a:prstGeom>
        </p:spPr>
      </p:pic>
      <p:pic>
        <p:nvPicPr>
          <p:cNvPr id="9" name="Graphic 8" descr="Alterations &amp; Tailoring with solid fill">
            <a:extLst>
              <a:ext uri="{FF2B5EF4-FFF2-40B4-BE49-F238E27FC236}">
                <a16:creationId xmlns:a16="http://schemas.microsoft.com/office/drawing/2014/main" id="{C051B166-F891-F60E-6EC4-6BD150A340B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9432537">
            <a:off x="8904576" y="3762915"/>
            <a:ext cx="1998543" cy="1998543"/>
          </a:xfrm>
          <a:prstGeom prst="rect">
            <a:avLst/>
          </a:prstGeom>
        </p:spPr>
      </p:pic>
      <p:pic>
        <p:nvPicPr>
          <p:cNvPr id="11" name="Picture 10">
            <a:extLst>
              <a:ext uri="{FF2B5EF4-FFF2-40B4-BE49-F238E27FC236}">
                <a16:creationId xmlns:a16="http://schemas.microsoft.com/office/drawing/2014/main" id="{0B738ECB-CD90-075D-006E-8813FF13DCE1}"/>
              </a:ext>
            </a:extLst>
          </p:cNvPr>
          <p:cNvPicPr>
            <a:picLocks noChangeAspect="1"/>
          </p:cNvPicPr>
          <p:nvPr/>
        </p:nvPicPr>
        <p:blipFill>
          <a:blip r:embed="rId7">
            <a:lum bright="70000" contrast="-70000"/>
            <a:alphaModFix amt="80000"/>
            <a:extLst>
              <a:ext uri="{BEBA8EAE-BF5A-486C-A8C5-ECC9F3942E4B}">
                <a14:imgProps xmlns:a14="http://schemas.microsoft.com/office/drawing/2010/main">
                  <a14:imgLayer r:embed="rId8">
                    <a14:imgEffect>
                      <a14:artisticPhotocopy/>
                    </a14:imgEffect>
                  </a14:imgLayer>
                </a14:imgProps>
              </a:ext>
            </a:extLst>
          </a:blip>
          <a:stretch>
            <a:fillRect/>
          </a:stretch>
        </p:blipFill>
        <p:spPr>
          <a:xfrm>
            <a:off x="5183039" y="3908535"/>
            <a:ext cx="1825922" cy="1825922"/>
          </a:xfrm>
          <a:prstGeom prst="rect">
            <a:avLst/>
          </a:prstGeom>
        </p:spPr>
      </p:pic>
      <p:sp>
        <p:nvSpPr>
          <p:cNvPr id="6" name="Rectangle 5">
            <a:extLst>
              <a:ext uri="{FF2B5EF4-FFF2-40B4-BE49-F238E27FC236}">
                <a16:creationId xmlns:a16="http://schemas.microsoft.com/office/drawing/2014/main" id="{08BECDF5-695F-9EE1-E256-AA83F427B2AA}"/>
              </a:ext>
            </a:extLst>
          </p:cNvPr>
          <p:cNvSpPr/>
          <p:nvPr/>
        </p:nvSpPr>
        <p:spPr>
          <a:xfrm rot="10800000" flipH="1" flipV="1">
            <a:off x="573249" y="1355113"/>
            <a:ext cx="11045504" cy="836617"/>
          </a:xfrm>
          <a:prstGeom prst="rect">
            <a:avLst/>
          </a:prstGeom>
          <a:solidFill>
            <a:srgbClr val="D0DBF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200" b="1" dirty="0">
                <a:solidFill>
                  <a:srgbClr val="0055FF"/>
                </a:solidFill>
                <a:latin typeface="Poppins" pitchFamily="2" charset="77"/>
                <a:cs typeface="Poppins" pitchFamily="2" charset="77"/>
              </a:rPr>
              <a:t>Planning Socio-Emotional Response Generation for Conversational Agents</a:t>
            </a:r>
            <a:endParaRPr lang="fr-FR" sz="2200" b="1" dirty="0">
              <a:solidFill>
                <a:srgbClr val="0055FF"/>
              </a:solidFill>
              <a:latin typeface="Poppins" pitchFamily="2" charset="77"/>
              <a:cs typeface="Poppins" pitchFamily="2" charset="77"/>
            </a:endParaRPr>
          </a:p>
        </p:txBody>
      </p:sp>
      <p:pic>
        <p:nvPicPr>
          <p:cNvPr id="8" name="Picture 7">
            <a:extLst>
              <a:ext uri="{FF2B5EF4-FFF2-40B4-BE49-F238E27FC236}">
                <a16:creationId xmlns:a16="http://schemas.microsoft.com/office/drawing/2014/main" id="{929075B9-93AF-BB7F-67D8-E4A1808D0770}"/>
              </a:ext>
            </a:extLst>
          </p:cNvPr>
          <p:cNvPicPr>
            <a:picLocks noChangeAspect="1"/>
          </p:cNvPicPr>
          <p:nvPr/>
        </p:nvPicPr>
        <p:blipFill>
          <a:blip r:embed="rId9">
            <a:alphaModFix/>
            <a:extLst>
              <a:ext uri="{BEBA8EAE-BF5A-486C-A8C5-ECC9F3942E4B}">
                <a14:imgProps xmlns:a14="http://schemas.microsoft.com/office/drawing/2010/main">
                  <a14:imgLayer r:embed="rId10">
                    <a14:imgEffect>
                      <a14:artisticPhotocopy/>
                    </a14:imgEffect>
                    <a14:imgEffect>
                      <a14:colorTemperature colorTemp="5142"/>
                    </a14:imgEffect>
                    <a14:imgEffect>
                      <a14:saturation sat="400000"/>
                    </a14:imgEffect>
                  </a14:imgLayer>
                </a14:imgProps>
              </a:ext>
            </a:extLst>
          </a:blip>
          <a:stretch>
            <a:fillRect/>
          </a:stretch>
        </p:blipFill>
        <p:spPr>
          <a:xfrm>
            <a:off x="209188" y="354256"/>
            <a:ext cx="764671" cy="764671"/>
          </a:xfrm>
          <a:prstGeom prst="rect">
            <a:avLst/>
          </a:prstGeom>
        </p:spPr>
      </p:pic>
    </p:spTree>
    <p:extLst>
      <p:ext uri="{BB962C8B-B14F-4D97-AF65-F5344CB8AC3E}">
        <p14:creationId xmlns:p14="http://schemas.microsoft.com/office/powerpoint/2010/main" val="4114735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Lightbulb and gear with solid fill">
            <a:extLst>
              <a:ext uri="{FF2B5EF4-FFF2-40B4-BE49-F238E27FC236}">
                <a16:creationId xmlns:a16="http://schemas.microsoft.com/office/drawing/2014/main" id="{248C4F0B-12AB-45F3-CAF6-250363779B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127" y="1319234"/>
            <a:ext cx="5334049" cy="5334049"/>
          </a:xfrm>
          <a:prstGeom prst="rect">
            <a:avLst/>
          </a:prstGeom>
        </p:spPr>
      </p:pic>
      <p:sp>
        <p:nvSpPr>
          <p:cNvPr id="4" name="TextBox 3">
            <a:extLst>
              <a:ext uri="{FF2B5EF4-FFF2-40B4-BE49-F238E27FC236}">
                <a16:creationId xmlns:a16="http://schemas.microsoft.com/office/drawing/2014/main" id="{13A89145-40F6-386C-1C99-174FA0D915B0}"/>
              </a:ext>
            </a:extLst>
          </p:cNvPr>
          <p:cNvSpPr txBox="1"/>
          <p:nvPr/>
        </p:nvSpPr>
        <p:spPr>
          <a:xfrm>
            <a:off x="8437806" y="-587586"/>
            <a:ext cx="3059185" cy="7786747"/>
          </a:xfrm>
          <a:prstGeom prst="rect">
            <a:avLst/>
          </a:prstGeom>
          <a:noFill/>
        </p:spPr>
        <p:txBody>
          <a:bodyPr wrap="square" rtlCol="0">
            <a:spAutoFit/>
          </a:bodyPr>
          <a:lstStyle/>
          <a:p>
            <a:r>
              <a:rPr lang="en-FR" sz="50000" dirty="0">
                <a:solidFill>
                  <a:srgbClr val="AEC8FB"/>
                </a:solidFill>
                <a:latin typeface="Cambria" panose="02040503050406030204" pitchFamily="18" charset="0"/>
                <a:cs typeface="Poppins" pitchFamily="2" charset="77"/>
              </a:rPr>
              <a:t>1</a:t>
            </a:r>
          </a:p>
        </p:txBody>
      </p:sp>
      <p:sp>
        <p:nvSpPr>
          <p:cNvPr id="9" name="TextBox 8">
            <a:extLst>
              <a:ext uri="{FF2B5EF4-FFF2-40B4-BE49-F238E27FC236}">
                <a16:creationId xmlns:a16="http://schemas.microsoft.com/office/drawing/2014/main" id="{F61055BC-507B-9878-192B-D5C31CA00CFC}"/>
              </a:ext>
            </a:extLst>
          </p:cNvPr>
          <p:cNvSpPr txBox="1"/>
          <p:nvPr/>
        </p:nvSpPr>
        <p:spPr>
          <a:xfrm>
            <a:off x="5146354" y="3118106"/>
            <a:ext cx="6631867" cy="1107996"/>
          </a:xfrm>
          <a:prstGeom prst="rect">
            <a:avLst/>
          </a:prstGeom>
          <a:noFill/>
        </p:spPr>
        <p:txBody>
          <a:bodyPr wrap="square" lIns="91440" tIns="45720" rIns="91440" bIns="45720" anchor="t">
            <a:spAutoFit/>
          </a:bodyPr>
          <a:lstStyle/>
          <a:p>
            <a:pPr algn="ctr"/>
            <a:r>
              <a:rPr lang="en-FR" sz="6600" dirty="0">
                <a:ln>
                  <a:solidFill>
                    <a:srgbClr val="4B85F4">
                      <a:alpha val="10000"/>
                    </a:srgbClr>
                  </a:solidFill>
                </a:ln>
                <a:solidFill>
                  <a:schemeClr val="bg1"/>
                </a:solidFill>
                <a:latin typeface="Poppins"/>
                <a:cs typeface="Poppins"/>
              </a:rPr>
              <a:t>Approach</a:t>
            </a:r>
          </a:p>
        </p:txBody>
      </p:sp>
      <p:sp>
        <p:nvSpPr>
          <p:cNvPr id="2" name="Chevron 1">
            <a:extLst>
              <a:ext uri="{FF2B5EF4-FFF2-40B4-BE49-F238E27FC236}">
                <a16:creationId xmlns:a16="http://schemas.microsoft.com/office/drawing/2014/main" id="{6E144D0F-2282-93E8-923B-B699D7ED22DF}"/>
              </a:ext>
            </a:extLst>
          </p:cNvPr>
          <p:cNvSpPr/>
          <p:nvPr/>
        </p:nvSpPr>
        <p:spPr>
          <a:xfrm>
            <a:off x="3124871" y="204719"/>
            <a:ext cx="2932625" cy="595085"/>
          </a:xfrm>
          <a:prstGeom prst="chevron">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4B84F4"/>
                </a:solidFill>
                <a:latin typeface="Poppins" pitchFamily="2" charset="77"/>
                <a:cs typeface="Poppins" pitchFamily="2" charset="77"/>
              </a:rPr>
              <a:t>DATA-SERGe</a:t>
            </a:r>
          </a:p>
        </p:txBody>
      </p:sp>
      <p:sp>
        <p:nvSpPr>
          <p:cNvPr id="5" name="Chevron 4">
            <a:extLst>
              <a:ext uri="{FF2B5EF4-FFF2-40B4-BE49-F238E27FC236}">
                <a16:creationId xmlns:a16="http://schemas.microsoft.com/office/drawing/2014/main" id="{E9B03415-6FDB-D636-3091-A87643A9F49A}"/>
              </a:ext>
            </a:extLst>
          </p:cNvPr>
          <p:cNvSpPr/>
          <p:nvPr/>
        </p:nvSpPr>
        <p:spPr>
          <a:xfrm>
            <a:off x="6130778" y="204718"/>
            <a:ext cx="2932624" cy="595085"/>
          </a:xfrm>
          <a:prstGeom prst="chevron">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4B84F4"/>
                </a:solidFill>
                <a:latin typeface="Poppins" pitchFamily="2" charset="77"/>
                <a:cs typeface="Poppins" pitchFamily="2" charset="77"/>
              </a:rPr>
              <a:t>Experiments</a:t>
            </a:r>
          </a:p>
        </p:txBody>
      </p:sp>
      <p:sp>
        <p:nvSpPr>
          <p:cNvPr id="6" name="Chevron 5">
            <a:extLst>
              <a:ext uri="{FF2B5EF4-FFF2-40B4-BE49-F238E27FC236}">
                <a16:creationId xmlns:a16="http://schemas.microsoft.com/office/drawing/2014/main" id="{0D21FC93-2D53-868D-5CDC-168C2B8903B7}"/>
              </a:ext>
            </a:extLst>
          </p:cNvPr>
          <p:cNvSpPr/>
          <p:nvPr/>
        </p:nvSpPr>
        <p:spPr>
          <a:xfrm>
            <a:off x="9136683" y="204715"/>
            <a:ext cx="2932624" cy="595085"/>
          </a:xfrm>
          <a:prstGeom prst="chevron">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4B84F4"/>
                </a:solidFill>
                <a:latin typeface="Poppins" pitchFamily="2" charset="77"/>
                <a:cs typeface="Poppins" pitchFamily="2" charset="77"/>
              </a:rPr>
              <a:t>Conclusions</a:t>
            </a:r>
          </a:p>
        </p:txBody>
      </p:sp>
      <p:sp>
        <p:nvSpPr>
          <p:cNvPr id="7" name="Pentagon 6">
            <a:extLst>
              <a:ext uri="{FF2B5EF4-FFF2-40B4-BE49-F238E27FC236}">
                <a16:creationId xmlns:a16="http://schemas.microsoft.com/office/drawing/2014/main" id="{277E318A-5A63-8CDA-9B49-E6BC0B3510CD}"/>
              </a:ext>
            </a:extLst>
          </p:cNvPr>
          <p:cNvSpPr/>
          <p:nvPr/>
        </p:nvSpPr>
        <p:spPr>
          <a:xfrm>
            <a:off x="122693" y="204714"/>
            <a:ext cx="2928896" cy="595085"/>
          </a:xfrm>
          <a:prstGeom prst="homePlate">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4B84F4"/>
                </a:solidFill>
                <a:latin typeface="Poppins" pitchFamily="2" charset="77"/>
                <a:cs typeface="Poppins" pitchFamily="2" charset="77"/>
              </a:rPr>
              <a:t>Approach</a:t>
            </a:r>
          </a:p>
        </p:txBody>
      </p:sp>
      <p:sp>
        <p:nvSpPr>
          <p:cNvPr id="8" name="Chevron 7">
            <a:extLst>
              <a:ext uri="{FF2B5EF4-FFF2-40B4-BE49-F238E27FC236}">
                <a16:creationId xmlns:a16="http://schemas.microsoft.com/office/drawing/2014/main" id="{03E9C86F-9731-BD35-4219-A052E12CDCCD}"/>
              </a:ext>
            </a:extLst>
          </p:cNvPr>
          <p:cNvSpPr/>
          <p:nvPr/>
        </p:nvSpPr>
        <p:spPr>
          <a:xfrm>
            <a:off x="3124871" y="204714"/>
            <a:ext cx="2932625" cy="595085"/>
          </a:xfrm>
          <a:prstGeom prst="chevron">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6D8EED"/>
                </a:solidFill>
                <a:latin typeface="Poppins" pitchFamily="2" charset="77"/>
                <a:cs typeface="Poppins" pitchFamily="2" charset="77"/>
              </a:rPr>
              <a:t>DATA-SERGe</a:t>
            </a:r>
          </a:p>
        </p:txBody>
      </p:sp>
      <p:sp>
        <p:nvSpPr>
          <p:cNvPr id="10" name="Chevron 9">
            <a:extLst>
              <a:ext uri="{FF2B5EF4-FFF2-40B4-BE49-F238E27FC236}">
                <a16:creationId xmlns:a16="http://schemas.microsoft.com/office/drawing/2014/main" id="{FAC1BFDB-0DF6-EB1F-4E80-D0BBB847906C}"/>
              </a:ext>
            </a:extLst>
          </p:cNvPr>
          <p:cNvSpPr/>
          <p:nvPr/>
        </p:nvSpPr>
        <p:spPr>
          <a:xfrm>
            <a:off x="6130778" y="204713"/>
            <a:ext cx="2932624" cy="595085"/>
          </a:xfrm>
          <a:prstGeom prst="chevron">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6D8EED"/>
                </a:solidFill>
                <a:latin typeface="Poppins" pitchFamily="2" charset="77"/>
                <a:cs typeface="Poppins" pitchFamily="2" charset="77"/>
              </a:rPr>
              <a:t>Experiments</a:t>
            </a:r>
          </a:p>
        </p:txBody>
      </p:sp>
      <p:sp>
        <p:nvSpPr>
          <p:cNvPr id="11" name="Chevron 10">
            <a:extLst>
              <a:ext uri="{FF2B5EF4-FFF2-40B4-BE49-F238E27FC236}">
                <a16:creationId xmlns:a16="http://schemas.microsoft.com/office/drawing/2014/main" id="{C252919E-3FB1-FB4B-7FF3-91DE9748117B}"/>
              </a:ext>
            </a:extLst>
          </p:cNvPr>
          <p:cNvSpPr/>
          <p:nvPr/>
        </p:nvSpPr>
        <p:spPr>
          <a:xfrm>
            <a:off x="9136683" y="204710"/>
            <a:ext cx="2932624" cy="595085"/>
          </a:xfrm>
          <a:prstGeom prst="chevron">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6D8EED"/>
                </a:solidFill>
                <a:latin typeface="Poppins" pitchFamily="2" charset="77"/>
                <a:cs typeface="Poppins" pitchFamily="2" charset="77"/>
              </a:rPr>
              <a:t>Conclusions</a:t>
            </a:r>
          </a:p>
        </p:txBody>
      </p:sp>
    </p:spTree>
    <p:extLst>
      <p:ext uri="{BB962C8B-B14F-4D97-AF65-F5344CB8AC3E}">
        <p14:creationId xmlns:p14="http://schemas.microsoft.com/office/powerpoint/2010/main" val="1632293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2"/>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5"/>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6"/>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2" grpId="0" animBg="1"/>
      <p:bldP spid="2" grpId="1" animBg="1"/>
      <p:bldP spid="5" grpId="0" animBg="1"/>
      <p:bldP spid="5" grpId="1" animBg="1"/>
      <p:bldP spid="6" grpId="0" animBg="1"/>
      <p:bldP spid="6" grpId="1" animBg="1"/>
      <p:bldP spid="7" grpId="0" animBg="1"/>
      <p:bldP spid="8" grpId="0" animBg="1"/>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A5B57-1E9C-B466-2AE4-28693099A9F7}"/>
            </a:ext>
          </a:extLst>
        </p:cNvPr>
        <p:cNvGrpSpPr/>
        <p:nvPr/>
      </p:nvGrpSpPr>
      <p:grpSpPr>
        <a:xfrm>
          <a:off x="0" y="0"/>
          <a:ext cx="0" cy="0"/>
          <a:chOff x="0" y="0"/>
          <a:chExt cx="0" cy="0"/>
        </a:xfrm>
      </p:grpSpPr>
      <p:pic>
        <p:nvPicPr>
          <p:cNvPr id="18" name="Graphic 17" descr="Smiling face with solid fill with solid fill">
            <a:extLst>
              <a:ext uri="{FF2B5EF4-FFF2-40B4-BE49-F238E27FC236}">
                <a16:creationId xmlns:a16="http://schemas.microsoft.com/office/drawing/2014/main" id="{750C87E2-8938-F8BE-27F7-DA1EC13F49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0411194">
            <a:off x="-79995" y="2277056"/>
            <a:ext cx="4343839" cy="4343839"/>
          </a:xfrm>
          <a:prstGeom prst="rect">
            <a:avLst/>
          </a:prstGeom>
        </p:spPr>
      </p:pic>
      <p:sp>
        <p:nvSpPr>
          <p:cNvPr id="2" name="Title 1">
            <a:extLst>
              <a:ext uri="{FF2B5EF4-FFF2-40B4-BE49-F238E27FC236}">
                <a16:creationId xmlns:a16="http://schemas.microsoft.com/office/drawing/2014/main" id="{051D6057-8A46-918D-15EA-A30CF36894DB}"/>
              </a:ext>
            </a:extLst>
          </p:cNvPr>
          <p:cNvSpPr>
            <a:spLocks noGrp="1"/>
          </p:cNvSpPr>
          <p:nvPr>
            <p:ph type="title"/>
          </p:nvPr>
        </p:nvSpPr>
        <p:spPr>
          <a:xfrm>
            <a:off x="1246162" y="58998"/>
            <a:ext cx="9877245" cy="1325563"/>
          </a:xfrm>
        </p:spPr>
        <p:txBody>
          <a:bodyPr>
            <a:normAutofit/>
          </a:bodyPr>
          <a:lstStyle/>
          <a:p>
            <a:r>
              <a:rPr lang="en-GB" dirty="0"/>
              <a:t>Socio-Emotional Labels</a:t>
            </a:r>
            <a:endParaRPr lang="en-FR" dirty="0"/>
          </a:p>
        </p:txBody>
      </p:sp>
      <p:sp>
        <p:nvSpPr>
          <p:cNvPr id="13" name="TextBox 12">
            <a:extLst>
              <a:ext uri="{FF2B5EF4-FFF2-40B4-BE49-F238E27FC236}">
                <a16:creationId xmlns:a16="http://schemas.microsoft.com/office/drawing/2014/main" id="{4F8BA254-8D64-BF98-790B-E8212A83A038}"/>
              </a:ext>
            </a:extLst>
          </p:cNvPr>
          <p:cNvSpPr txBox="1"/>
          <p:nvPr/>
        </p:nvSpPr>
        <p:spPr>
          <a:xfrm>
            <a:off x="6467467" y="2584898"/>
            <a:ext cx="5278645" cy="1015663"/>
          </a:xfrm>
          <a:prstGeom prst="rect">
            <a:avLst/>
          </a:prstGeom>
          <a:noFill/>
        </p:spPr>
        <p:txBody>
          <a:bodyPr wrap="square" rtlCol="0">
            <a:spAutoFit/>
          </a:bodyPr>
          <a:lstStyle/>
          <a:p>
            <a:r>
              <a:rPr lang="en-FR" sz="2000" dirty="0">
                <a:solidFill>
                  <a:srgbClr val="D33F49"/>
                </a:solidFill>
                <a:latin typeface="Poppins" pitchFamily="2" charset="77"/>
                <a:cs typeface="Poppins" pitchFamily="2" charset="77"/>
              </a:rPr>
              <a:t>Detection, processing, or expression of emotions to efficiently respond to an emotional state</a:t>
            </a:r>
          </a:p>
        </p:txBody>
      </p:sp>
      <p:sp>
        <p:nvSpPr>
          <p:cNvPr id="6" name="TextBox 5">
            <a:extLst>
              <a:ext uri="{FF2B5EF4-FFF2-40B4-BE49-F238E27FC236}">
                <a16:creationId xmlns:a16="http://schemas.microsoft.com/office/drawing/2014/main" id="{BB744B04-8D98-133D-2521-E7547D99CF4D}"/>
              </a:ext>
            </a:extLst>
          </p:cNvPr>
          <p:cNvSpPr txBox="1"/>
          <p:nvPr/>
        </p:nvSpPr>
        <p:spPr>
          <a:xfrm>
            <a:off x="509936" y="2554120"/>
            <a:ext cx="3599126" cy="1077218"/>
          </a:xfrm>
          <a:prstGeom prst="rect">
            <a:avLst/>
          </a:prstGeom>
          <a:noFill/>
        </p:spPr>
        <p:txBody>
          <a:bodyPr wrap="none" rtlCol="0">
            <a:spAutoFit/>
          </a:bodyPr>
          <a:lstStyle/>
          <a:p>
            <a:pPr algn="r"/>
            <a:r>
              <a:rPr lang="en-FR" sz="3200" dirty="0">
                <a:solidFill>
                  <a:srgbClr val="D33F49"/>
                </a:solidFill>
                <a:latin typeface="Poppins" pitchFamily="2" charset="77"/>
                <a:cs typeface="Poppins" pitchFamily="2" charset="77"/>
              </a:rPr>
              <a:t>Emotions-based</a:t>
            </a:r>
            <a:br>
              <a:rPr lang="en-FR" sz="3200" dirty="0">
                <a:solidFill>
                  <a:srgbClr val="D33F49"/>
                </a:solidFill>
                <a:latin typeface="Poppins" pitchFamily="2" charset="77"/>
                <a:cs typeface="Poppins" pitchFamily="2" charset="77"/>
              </a:rPr>
            </a:br>
            <a:r>
              <a:rPr lang="en-FR" sz="3200" dirty="0">
                <a:solidFill>
                  <a:srgbClr val="D33F49"/>
                </a:solidFill>
                <a:latin typeface="Poppins" pitchFamily="2" charset="77"/>
                <a:cs typeface="Poppins" pitchFamily="2" charset="77"/>
              </a:rPr>
              <a:t>Strategies</a:t>
            </a:r>
          </a:p>
        </p:txBody>
      </p:sp>
      <p:sp>
        <p:nvSpPr>
          <p:cNvPr id="9" name="Rectangle 8">
            <a:extLst>
              <a:ext uri="{FF2B5EF4-FFF2-40B4-BE49-F238E27FC236}">
                <a16:creationId xmlns:a16="http://schemas.microsoft.com/office/drawing/2014/main" id="{09E0B445-E3BA-16B4-88A2-78EDE1C6E749}"/>
              </a:ext>
            </a:extLst>
          </p:cNvPr>
          <p:cNvSpPr/>
          <p:nvPr/>
        </p:nvSpPr>
        <p:spPr>
          <a:xfrm>
            <a:off x="4871460" y="4800898"/>
            <a:ext cx="6684186" cy="1264920"/>
          </a:xfrm>
          <a:prstGeom prst="rect">
            <a:avLst/>
          </a:prstGeom>
          <a:noFill/>
          <a:ln w="57150">
            <a:solidFill>
              <a:srgbClr val="D33F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42950" lvl="1" indent="-285750">
              <a:buFontTx/>
              <a:buChar char="-"/>
            </a:pPr>
            <a:r>
              <a:rPr lang="en-FR" sz="2000" dirty="0">
                <a:solidFill>
                  <a:srgbClr val="D33F49"/>
                </a:solidFill>
                <a:latin typeface="Poppins" pitchFamily="2" charset="77"/>
                <a:cs typeface="Poppins" pitchFamily="2" charset="77"/>
              </a:rPr>
              <a:t>Sentiment </a:t>
            </a:r>
            <a:r>
              <a:rPr lang="en-FR" sz="1200" i="1" dirty="0">
                <a:solidFill>
                  <a:srgbClr val="D33F49"/>
                </a:solidFill>
                <a:latin typeface="Poppins" pitchFamily="2" charset="77"/>
                <a:cs typeface="Poppins" pitchFamily="2" charset="77"/>
              </a:rPr>
              <a:t>(</a:t>
            </a:r>
            <a:r>
              <a:rPr lang="en-GB" sz="1200" i="1" dirty="0">
                <a:solidFill>
                  <a:srgbClr val="D33F49"/>
                </a:solidFill>
                <a:latin typeface="Poppins" pitchFamily="2" charset="77"/>
                <a:cs typeface="Poppins" pitchFamily="2" charset="77"/>
              </a:rPr>
              <a:t>Lu et al., 2021)</a:t>
            </a:r>
            <a:endParaRPr lang="en-FR" sz="2000" dirty="0">
              <a:solidFill>
                <a:srgbClr val="D33F49"/>
              </a:solidFill>
              <a:latin typeface="Poppins" pitchFamily="2" charset="77"/>
              <a:cs typeface="Poppins" pitchFamily="2" charset="77"/>
            </a:endParaRPr>
          </a:p>
          <a:p>
            <a:pPr marL="742950" lvl="1" indent="-285750">
              <a:buFontTx/>
              <a:buChar char="-"/>
            </a:pPr>
            <a:r>
              <a:rPr lang="en-FR" sz="2000" dirty="0">
                <a:solidFill>
                  <a:srgbClr val="D33F49"/>
                </a:solidFill>
                <a:latin typeface="Poppins" pitchFamily="2" charset="77"/>
                <a:cs typeface="Poppins" pitchFamily="2" charset="77"/>
              </a:rPr>
              <a:t>Biological emotions </a:t>
            </a:r>
            <a:r>
              <a:rPr lang="en-FR" sz="1200" i="1" dirty="0">
                <a:solidFill>
                  <a:srgbClr val="D33F49"/>
                </a:solidFill>
                <a:latin typeface="Poppins" pitchFamily="2" charset="77"/>
                <a:cs typeface="Poppins" pitchFamily="2" charset="77"/>
              </a:rPr>
              <a:t>(</a:t>
            </a:r>
            <a:r>
              <a:rPr lang="en-GB" sz="1200" i="1" dirty="0">
                <a:solidFill>
                  <a:srgbClr val="D33F49"/>
                </a:solidFill>
                <a:latin typeface="Poppins" pitchFamily="2" charset="77"/>
                <a:cs typeface="Poppins" pitchFamily="2" charset="77"/>
              </a:rPr>
              <a:t>Ekman, 1999, Liu et al., 2021)</a:t>
            </a:r>
            <a:endParaRPr lang="en-FR" sz="2000" dirty="0">
              <a:solidFill>
                <a:srgbClr val="D33F49"/>
              </a:solidFill>
              <a:latin typeface="Poppins" pitchFamily="2" charset="77"/>
              <a:cs typeface="Poppins" pitchFamily="2" charset="77"/>
            </a:endParaRPr>
          </a:p>
          <a:p>
            <a:pPr marL="742950" lvl="1" indent="-285750">
              <a:buFontTx/>
              <a:buChar char="-"/>
            </a:pPr>
            <a:r>
              <a:rPr lang="en-FR" sz="2000" dirty="0">
                <a:solidFill>
                  <a:srgbClr val="D33F49"/>
                </a:solidFill>
                <a:latin typeface="Poppins" pitchFamily="2" charset="77"/>
                <a:cs typeface="Poppins" pitchFamily="2" charset="77"/>
              </a:rPr>
              <a:t>Task-oriented emotional states </a:t>
            </a:r>
            <a:r>
              <a:rPr lang="en-FR" sz="1200" i="1" dirty="0">
                <a:solidFill>
                  <a:srgbClr val="D33F49"/>
                </a:solidFill>
                <a:latin typeface="Poppins" pitchFamily="2" charset="77"/>
                <a:cs typeface="Poppins" pitchFamily="2" charset="77"/>
              </a:rPr>
              <a:t>(</a:t>
            </a:r>
            <a:r>
              <a:rPr lang="en-GB" sz="1200" i="1" dirty="0">
                <a:solidFill>
                  <a:srgbClr val="D33F49"/>
                </a:solidFill>
                <a:latin typeface="Poppins" pitchFamily="2" charset="77"/>
                <a:cs typeface="Poppins" pitchFamily="2" charset="77"/>
              </a:rPr>
              <a:t>Feng et al., 2021)</a:t>
            </a:r>
            <a:endParaRPr lang="en-FR" sz="2000" dirty="0">
              <a:solidFill>
                <a:srgbClr val="D33F49"/>
              </a:solidFill>
              <a:latin typeface="Poppins" pitchFamily="2" charset="77"/>
              <a:cs typeface="Poppins" pitchFamily="2" charset="77"/>
            </a:endParaRPr>
          </a:p>
        </p:txBody>
      </p:sp>
      <p:pic>
        <p:nvPicPr>
          <p:cNvPr id="11" name="Graphic 10" descr="Lightbulb and gear with solid fill">
            <a:extLst>
              <a:ext uri="{FF2B5EF4-FFF2-40B4-BE49-F238E27FC236}">
                <a16:creationId xmlns:a16="http://schemas.microsoft.com/office/drawing/2014/main" id="{3DE14509-DAC9-00B5-46E3-D7B9521DA2E5}"/>
              </a:ext>
            </a:extLst>
          </p:cNvPr>
          <p:cNvPicPr>
            <a:picLocks noChangeAspect="1"/>
          </p:cNvPicPr>
          <p:nvPr/>
        </p:nvPicPr>
        <p:blipFill>
          <a:blip r:embed="rId5">
            <a:alphaModFix/>
            <a:extLst>
              <a:ext uri="{96DAC541-7B7A-43D3-8B79-37D633B846F1}">
                <asvg:svgBlip xmlns:asvg="http://schemas.microsoft.com/office/drawing/2016/SVG/main" r:embed="rId6"/>
              </a:ext>
            </a:extLst>
          </a:blip>
          <a:stretch>
            <a:fillRect/>
          </a:stretch>
        </p:blipFill>
        <p:spPr>
          <a:xfrm>
            <a:off x="155142" y="260967"/>
            <a:ext cx="844390" cy="844390"/>
          </a:xfrm>
          <a:prstGeom prst="rect">
            <a:avLst/>
          </a:prstGeom>
        </p:spPr>
      </p:pic>
      <p:sp>
        <p:nvSpPr>
          <p:cNvPr id="4" name="Rectangle 3">
            <a:extLst>
              <a:ext uri="{FF2B5EF4-FFF2-40B4-BE49-F238E27FC236}">
                <a16:creationId xmlns:a16="http://schemas.microsoft.com/office/drawing/2014/main" id="{34EC88E8-DE57-69DF-CBE8-5870CFFC4856}"/>
              </a:ext>
            </a:extLst>
          </p:cNvPr>
          <p:cNvSpPr/>
          <p:nvPr/>
        </p:nvSpPr>
        <p:spPr>
          <a:xfrm>
            <a:off x="7789782" y="3809597"/>
            <a:ext cx="1828655" cy="1713346"/>
          </a:xfrm>
          <a:prstGeom prst="rect">
            <a:avLst/>
          </a:prstGeom>
          <a:solidFill>
            <a:srgbClr val="B08AB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b="1" dirty="0">
                <a:latin typeface="Poppins"/>
                <a:cs typeface="Poppins"/>
              </a:rPr>
              <a:t>GENERATIVE</a:t>
            </a:r>
            <a:br>
              <a:rPr lang="en-FR" b="1" dirty="0">
                <a:latin typeface="Poppins"/>
                <a:cs typeface="Poppins"/>
              </a:rPr>
            </a:br>
            <a:r>
              <a:rPr lang="en-FR" b="1" dirty="0">
                <a:latin typeface="Poppins"/>
                <a:cs typeface="Poppins"/>
              </a:rPr>
              <a:t>MODULE</a:t>
            </a:r>
            <a:endParaRPr lang="fr-FR" dirty="0"/>
          </a:p>
        </p:txBody>
      </p:sp>
      <p:sp>
        <p:nvSpPr>
          <p:cNvPr id="5" name="Folded Corner 4">
            <a:extLst>
              <a:ext uri="{FF2B5EF4-FFF2-40B4-BE49-F238E27FC236}">
                <a16:creationId xmlns:a16="http://schemas.microsoft.com/office/drawing/2014/main" id="{EE0546FF-925A-CB34-5CBB-924F33D8C60C}"/>
              </a:ext>
            </a:extLst>
          </p:cNvPr>
          <p:cNvSpPr/>
          <p:nvPr/>
        </p:nvSpPr>
        <p:spPr>
          <a:xfrm>
            <a:off x="10244040" y="4315603"/>
            <a:ext cx="1517723" cy="701333"/>
          </a:xfrm>
          <a:prstGeom prst="foldedCorner">
            <a:avLst>
              <a:gd name="adj" fmla="val 0"/>
            </a:avLst>
          </a:prstGeom>
          <a:noFill/>
          <a:ln w="57150">
            <a:solidFill>
              <a:srgbClr val="B08AB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sz="1600" b="1">
                <a:solidFill>
                  <a:srgbClr val="B08AB4"/>
                </a:solidFill>
                <a:latin typeface="Poppins"/>
                <a:cs typeface="Poppins"/>
              </a:rPr>
              <a:t>GENERATED RESPONSE</a:t>
            </a:r>
            <a:endParaRPr lang="fr-FR"/>
          </a:p>
        </p:txBody>
      </p:sp>
      <p:cxnSp>
        <p:nvCxnSpPr>
          <p:cNvPr id="7" name="Straight Arrow Connector 6">
            <a:extLst>
              <a:ext uri="{FF2B5EF4-FFF2-40B4-BE49-F238E27FC236}">
                <a16:creationId xmlns:a16="http://schemas.microsoft.com/office/drawing/2014/main" id="{3DE978AC-187D-DCF0-56A7-59381F195285}"/>
              </a:ext>
            </a:extLst>
          </p:cNvPr>
          <p:cNvCxnSpPr>
            <a:cxnSpLocks/>
            <a:stCxn id="4" idx="3"/>
            <a:endCxn id="5" idx="1"/>
          </p:cNvCxnSpPr>
          <p:nvPr/>
        </p:nvCxnSpPr>
        <p:spPr>
          <a:xfrm>
            <a:off x="9618437" y="4666270"/>
            <a:ext cx="625603" cy="0"/>
          </a:xfrm>
          <a:prstGeom prst="straightConnector1">
            <a:avLst/>
          </a:prstGeom>
          <a:solidFill>
            <a:srgbClr val="B08AB4"/>
          </a:solidFill>
          <a:ln w="38100">
            <a:solidFill>
              <a:srgbClr val="B08AB4"/>
            </a:solidFill>
            <a:tailEnd type="triangle"/>
          </a:ln>
        </p:spPr>
        <p:style>
          <a:lnRef idx="1">
            <a:schemeClr val="accent1"/>
          </a:lnRef>
          <a:fillRef idx="0">
            <a:schemeClr val="accent1"/>
          </a:fillRef>
          <a:effectRef idx="0">
            <a:schemeClr val="accent1"/>
          </a:effectRef>
          <a:fontRef idx="minor">
            <a:schemeClr val="tx1"/>
          </a:fontRef>
        </p:style>
      </p:cxnSp>
      <p:sp>
        <p:nvSpPr>
          <p:cNvPr id="8" name="Folded Corner 7">
            <a:extLst>
              <a:ext uri="{FF2B5EF4-FFF2-40B4-BE49-F238E27FC236}">
                <a16:creationId xmlns:a16="http://schemas.microsoft.com/office/drawing/2014/main" id="{9EC86F74-635B-6CFB-6E4C-D47F30AE98BC}"/>
              </a:ext>
            </a:extLst>
          </p:cNvPr>
          <p:cNvSpPr/>
          <p:nvPr/>
        </p:nvSpPr>
        <p:spPr>
          <a:xfrm>
            <a:off x="5324682" y="4186866"/>
            <a:ext cx="1828655" cy="958808"/>
          </a:xfrm>
          <a:prstGeom prst="foldedCorner">
            <a:avLst>
              <a:gd name="adj" fmla="val 0"/>
            </a:avLst>
          </a:prstGeom>
          <a:noFill/>
          <a:ln w="57150">
            <a:solidFill>
              <a:srgbClr val="D33F49"/>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rgbClr val="D33F49"/>
                </a:solidFill>
                <a:latin typeface="Poppins"/>
                <a:ea typeface="+mn-lt"/>
                <a:cs typeface="+mn-lt"/>
              </a:rPr>
              <a:t>Expected Socio-Emotional Labels</a:t>
            </a:r>
          </a:p>
        </p:txBody>
      </p:sp>
      <p:cxnSp>
        <p:nvCxnSpPr>
          <p:cNvPr id="10" name="Straight Arrow Connector 9">
            <a:extLst>
              <a:ext uri="{FF2B5EF4-FFF2-40B4-BE49-F238E27FC236}">
                <a16:creationId xmlns:a16="http://schemas.microsoft.com/office/drawing/2014/main" id="{D2AC95B0-A7A4-6CB3-0061-CBA524400ED3}"/>
              </a:ext>
            </a:extLst>
          </p:cNvPr>
          <p:cNvCxnSpPr>
            <a:cxnSpLocks/>
            <a:stCxn id="8" idx="3"/>
            <a:endCxn id="4" idx="1"/>
          </p:cNvCxnSpPr>
          <p:nvPr/>
        </p:nvCxnSpPr>
        <p:spPr>
          <a:xfrm>
            <a:off x="7153337" y="4666270"/>
            <a:ext cx="636445" cy="0"/>
          </a:xfrm>
          <a:prstGeom prst="straightConnector1">
            <a:avLst/>
          </a:prstGeom>
          <a:ln w="38100">
            <a:solidFill>
              <a:srgbClr val="D33F49"/>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57264DF-A858-81E6-6F5B-E8F38C551799}"/>
              </a:ext>
            </a:extLst>
          </p:cNvPr>
          <p:cNvSpPr/>
          <p:nvPr/>
        </p:nvSpPr>
        <p:spPr>
          <a:xfrm>
            <a:off x="2859582" y="3809597"/>
            <a:ext cx="1828655" cy="1713346"/>
          </a:xfrm>
          <a:prstGeom prst="rect">
            <a:avLst/>
          </a:prstGeom>
          <a:solidFill>
            <a:srgbClr val="D33F49"/>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latin typeface="Poppins"/>
                <a:cs typeface="Poppins"/>
              </a:rPr>
              <a:t>PLANNING MODULE</a:t>
            </a:r>
            <a:endParaRPr lang="fr-FR" b="1" dirty="0">
              <a:latin typeface="Poppins"/>
              <a:cs typeface="Poppins"/>
            </a:endParaRPr>
          </a:p>
        </p:txBody>
      </p:sp>
      <p:cxnSp>
        <p:nvCxnSpPr>
          <p:cNvPr id="14" name="Straight Arrow Connector 13">
            <a:extLst>
              <a:ext uri="{FF2B5EF4-FFF2-40B4-BE49-F238E27FC236}">
                <a16:creationId xmlns:a16="http://schemas.microsoft.com/office/drawing/2014/main" id="{7A7CDF62-CD63-537F-F461-8D0FA1F891F6}"/>
              </a:ext>
            </a:extLst>
          </p:cNvPr>
          <p:cNvCxnSpPr>
            <a:cxnSpLocks/>
            <a:stCxn id="12" idx="3"/>
            <a:endCxn id="8" idx="1"/>
          </p:cNvCxnSpPr>
          <p:nvPr/>
        </p:nvCxnSpPr>
        <p:spPr>
          <a:xfrm>
            <a:off x="4688237" y="4666270"/>
            <a:ext cx="636445" cy="0"/>
          </a:xfrm>
          <a:prstGeom prst="straightConnector1">
            <a:avLst/>
          </a:prstGeom>
          <a:ln w="38100">
            <a:solidFill>
              <a:srgbClr val="D33F49"/>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6C7BCD4-B71F-A75F-980F-96710D12BA6C}"/>
              </a:ext>
            </a:extLst>
          </p:cNvPr>
          <p:cNvSpPr/>
          <p:nvPr/>
        </p:nvSpPr>
        <p:spPr>
          <a:xfrm>
            <a:off x="727362" y="3063745"/>
            <a:ext cx="1466122" cy="2460171"/>
          </a:xfrm>
          <a:prstGeom prst="rect">
            <a:avLst/>
          </a:prstGeom>
          <a:solidFill>
            <a:srgbClr val="FFC49B"/>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b="1">
                <a:latin typeface="Poppins"/>
                <a:cs typeface="Poppins"/>
              </a:rPr>
              <a:t>Dialogue </a:t>
            </a:r>
            <a:r>
              <a:rPr lang="en-FR" b="1" err="1">
                <a:latin typeface="Poppins"/>
                <a:cs typeface="Poppins"/>
              </a:rPr>
              <a:t>History</a:t>
            </a:r>
            <a:endParaRPr lang="fr-FR" err="1"/>
          </a:p>
        </p:txBody>
      </p:sp>
      <p:cxnSp>
        <p:nvCxnSpPr>
          <p:cNvPr id="16" name="Straight Arrow Connector 15">
            <a:extLst>
              <a:ext uri="{FF2B5EF4-FFF2-40B4-BE49-F238E27FC236}">
                <a16:creationId xmlns:a16="http://schemas.microsoft.com/office/drawing/2014/main" id="{3F8461FB-73CB-C619-5CB9-B0AC1E89408D}"/>
              </a:ext>
            </a:extLst>
          </p:cNvPr>
          <p:cNvCxnSpPr>
            <a:cxnSpLocks/>
            <a:endCxn id="12" idx="1"/>
          </p:cNvCxnSpPr>
          <p:nvPr/>
        </p:nvCxnSpPr>
        <p:spPr>
          <a:xfrm>
            <a:off x="2173235" y="4666270"/>
            <a:ext cx="686347" cy="0"/>
          </a:xfrm>
          <a:prstGeom prst="straightConnector1">
            <a:avLst/>
          </a:prstGeom>
          <a:ln w="38100">
            <a:solidFill>
              <a:srgbClr val="FFC49B"/>
            </a:solidFill>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6">
            <a:extLst>
              <a:ext uri="{FF2B5EF4-FFF2-40B4-BE49-F238E27FC236}">
                <a16:creationId xmlns:a16="http://schemas.microsoft.com/office/drawing/2014/main" id="{E7C2F887-0C31-3720-0F45-89E3D74B1703}"/>
              </a:ext>
            </a:extLst>
          </p:cNvPr>
          <p:cNvCxnSpPr>
            <a:cxnSpLocks/>
            <a:stCxn id="15" idx="3"/>
            <a:endCxn id="4" idx="0"/>
          </p:cNvCxnSpPr>
          <p:nvPr/>
        </p:nvCxnSpPr>
        <p:spPr>
          <a:xfrm flipV="1">
            <a:off x="2193484" y="3809597"/>
            <a:ext cx="6510626" cy="484234"/>
          </a:xfrm>
          <a:prstGeom prst="bentConnector4">
            <a:avLst>
              <a:gd name="adj1" fmla="val -1163"/>
              <a:gd name="adj2" fmla="val 179843"/>
            </a:avLst>
          </a:prstGeom>
          <a:ln w="38100">
            <a:solidFill>
              <a:srgbClr val="FFC49B"/>
            </a:solidFill>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a:extLst>
              <a:ext uri="{FF2B5EF4-FFF2-40B4-BE49-F238E27FC236}">
                <a16:creationId xmlns:a16="http://schemas.microsoft.com/office/drawing/2014/main" id="{C08055DF-B2A1-383F-6F0A-F881E7E4DC8B}"/>
              </a:ext>
            </a:extLst>
          </p:cNvPr>
          <p:cNvSpPr/>
          <p:nvPr/>
        </p:nvSpPr>
        <p:spPr>
          <a:xfrm>
            <a:off x="6945790" y="749783"/>
            <a:ext cx="5091068" cy="1141845"/>
          </a:xfrm>
          <a:prstGeom prst="roundRect">
            <a:avLst/>
          </a:prstGeom>
          <a:solidFill>
            <a:schemeClr val="bg1">
              <a:alpha val="83137"/>
            </a:schemeClr>
          </a:solidFill>
          <a:ln>
            <a:solidFill>
              <a:srgbClr val="D43F4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sz="1600" dirty="0">
                <a:solidFill>
                  <a:srgbClr val="D43F49"/>
                </a:solidFill>
                <a:latin typeface="Poppins" pitchFamily="2" charset="77"/>
                <a:cs typeface="Poppins" pitchFamily="2" charset="77"/>
              </a:rPr>
              <a:t>While various emotion-based strategies exist, we decide to focus on emotions </a:t>
            </a:r>
            <a:r>
              <a:rPr lang="en-FR" sz="1600" dirty="0">
                <a:solidFill>
                  <a:srgbClr val="D43F49"/>
                </a:solidFill>
                <a:latin typeface="Poppins" pitchFamily="2" charset="77"/>
                <a:cs typeface="Poppins" pitchFamily="2" charset="77"/>
              </a:rPr>
              <a:t>to study the emotional dynamics between agent and customer. </a:t>
            </a:r>
            <a:endParaRPr lang="en-FR" sz="1400" dirty="0">
              <a:solidFill>
                <a:srgbClr val="D43F49"/>
              </a:solidFill>
              <a:latin typeface="Poppins" pitchFamily="2" charset="77"/>
              <a:cs typeface="Poppins" pitchFamily="2" charset="77"/>
            </a:endParaRPr>
          </a:p>
        </p:txBody>
      </p:sp>
    </p:spTree>
    <p:extLst>
      <p:ext uri="{BB962C8B-B14F-4D97-AF65-F5344CB8AC3E}">
        <p14:creationId xmlns:p14="http://schemas.microsoft.com/office/powerpoint/2010/main" val="447661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0"/>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4"/>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6"/>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6" grpId="0"/>
      <p:bldP spid="9" grpId="0" animBg="1"/>
      <p:bldP spid="4" grpId="0" animBg="1"/>
      <p:bldP spid="5" grpId="0" animBg="1"/>
      <p:bldP spid="8" grpId="0" animBg="1"/>
      <p:bldP spid="12" grpId="0" animBg="1"/>
      <p:bldP spid="15"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F0FB6-44CC-5589-5705-C931346A1EE6}"/>
            </a:ext>
          </a:extLst>
        </p:cNvPr>
        <p:cNvGrpSpPr/>
        <p:nvPr/>
      </p:nvGrpSpPr>
      <p:grpSpPr>
        <a:xfrm>
          <a:off x="0" y="0"/>
          <a:ext cx="0" cy="0"/>
          <a:chOff x="0" y="0"/>
          <a:chExt cx="0" cy="0"/>
        </a:xfrm>
      </p:grpSpPr>
      <p:pic>
        <p:nvPicPr>
          <p:cNvPr id="23" name="Graphic 22" descr="Puzzle with solid fill">
            <a:extLst>
              <a:ext uri="{FF2B5EF4-FFF2-40B4-BE49-F238E27FC236}">
                <a16:creationId xmlns:a16="http://schemas.microsoft.com/office/drawing/2014/main" id="{8C6A9867-D176-8BE9-1C28-861E9B8AB1D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04559" y="1787219"/>
            <a:ext cx="4975321" cy="4975321"/>
          </a:xfrm>
          <a:prstGeom prst="rect">
            <a:avLst/>
          </a:prstGeom>
        </p:spPr>
      </p:pic>
      <p:sp>
        <p:nvSpPr>
          <p:cNvPr id="2" name="Title 1">
            <a:extLst>
              <a:ext uri="{FF2B5EF4-FFF2-40B4-BE49-F238E27FC236}">
                <a16:creationId xmlns:a16="http://schemas.microsoft.com/office/drawing/2014/main" id="{0EB84C53-D1E4-0707-DF2A-B1FF763D491F}"/>
              </a:ext>
            </a:extLst>
          </p:cNvPr>
          <p:cNvSpPr>
            <a:spLocks noGrp="1"/>
          </p:cNvSpPr>
          <p:nvPr>
            <p:ph type="title"/>
          </p:nvPr>
        </p:nvSpPr>
        <p:spPr>
          <a:xfrm>
            <a:off x="1246162" y="58998"/>
            <a:ext cx="9877245" cy="1325563"/>
          </a:xfrm>
        </p:spPr>
        <p:txBody>
          <a:bodyPr>
            <a:normAutofit/>
          </a:bodyPr>
          <a:lstStyle/>
          <a:p>
            <a:r>
              <a:rPr lang="en-GB" dirty="0"/>
              <a:t>Socio-Emotional Labels</a:t>
            </a:r>
            <a:endParaRPr lang="en-FR" sz="2200" dirty="0"/>
          </a:p>
        </p:txBody>
      </p:sp>
      <p:sp>
        <p:nvSpPr>
          <p:cNvPr id="8" name="TextBox 7">
            <a:extLst>
              <a:ext uri="{FF2B5EF4-FFF2-40B4-BE49-F238E27FC236}">
                <a16:creationId xmlns:a16="http://schemas.microsoft.com/office/drawing/2014/main" id="{149D6C41-AB15-46F9-2A54-8D70C5BA4B1B}"/>
              </a:ext>
            </a:extLst>
          </p:cNvPr>
          <p:cNvSpPr txBox="1"/>
          <p:nvPr/>
        </p:nvSpPr>
        <p:spPr>
          <a:xfrm>
            <a:off x="8867660" y="2465739"/>
            <a:ext cx="2255747" cy="1077218"/>
          </a:xfrm>
          <a:prstGeom prst="rect">
            <a:avLst/>
          </a:prstGeom>
          <a:noFill/>
        </p:spPr>
        <p:txBody>
          <a:bodyPr wrap="none" rtlCol="0">
            <a:spAutoFit/>
          </a:bodyPr>
          <a:lstStyle/>
          <a:p>
            <a:pPr algn="r"/>
            <a:r>
              <a:rPr lang="en-FR" sz="3200" dirty="0">
                <a:solidFill>
                  <a:srgbClr val="FCB48D"/>
                </a:solidFill>
                <a:latin typeface="Poppins" pitchFamily="2" charset="77"/>
                <a:cs typeface="Poppins" pitchFamily="2" charset="77"/>
              </a:rPr>
              <a:t>Dialogue</a:t>
            </a:r>
            <a:br>
              <a:rPr lang="en-FR" sz="3200" dirty="0">
                <a:solidFill>
                  <a:srgbClr val="FCB48D"/>
                </a:solidFill>
                <a:latin typeface="Poppins" pitchFamily="2" charset="77"/>
                <a:cs typeface="Poppins" pitchFamily="2" charset="77"/>
              </a:rPr>
            </a:br>
            <a:r>
              <a:rPr lang="en-FR" sz="3200" dirty="0">
                <a:solidFill>
                  <a:srgbClr val="FCB48D"/>
                </a:solidFill>
                <a:latin typeface="Poppins" pitchFamily="2" charset="77"/>
                <a:cs typeface="Poppins" pitchFamily="2" charset="77"/>
              </a:rPr>
              <a:t>Strategies</a:t>
            </a:r>
          </a:p>
        </p:txBody>
      </p:sp>
      <p:sp>
        <p:nvSpPr>
          <p:cNvPr id="12" name="TextBox 11">
            <a:extLst>
              <a:ext uri="{FF2B5EF4-FFF2-40B4-BE49-F238E27FC236}">
                <a16:creationId xmlns:a16="http://schemas.microsoft.com/office/drawing/2014/main" id="{8C5F1194-938A-A8D1-441F-9CD5B89AAAC2}"/>
              </a:ext>
            </a:extLst>
          </p:cNvPr>
          <p:cNvSpPr txBox="1"/>
          <p:nvPr/>
        </p:nvSpPr>
        <p:spPr>
          <a:xfrm>
            <a:off x="481784" y="2599130"/>
            <a:ext cx="5666302" cy="1015663"/>
          </a:xfrm>
          <a:prstGeom prst="rect">
            <a:avLst/>
          </a:prstGeom>
          <a:noFill/>
        </p:spPr>
        <p:txBody>
          <a:bodyPr wrap="square" rtlCol="0">
            <a:spAutoFit/>
          </a:bodyPr>
          <a:lstStyle/>
          <a:p>
            <a:r>
              <a:rPr lang="en-FR" sz="2000" dirty="0">
                <a:solidFill>
                  <a:srgbClr val="FCB48D"/>
                </a:solidFill>
                <a:latin typeface="Poppins" pitchFamily="2" charset="77"/>
                <a:cs typeface="Poppins" pitchFamily="2" charset="77"/>
              </a:rPr>
              <a:t>Emotion can be combined with conversational moves to generate a more natural, consistent social behaviour.</a:t>
            </a:r>
          </a:p>
        </p:txBody>
      </p:sp>
      <p:sp>
        <p:nvSpPr>
          <p:cNvPr id="5" name="Rectangle 4">
            <a:extLst>
              <a:ext uri="{FF2B5EF4-FFF2-40B4-BE49-F238E27FC236}">
                <a16:creationId xmlns:a16="http://schemas.microsoft.com/office/drawing/2014/main" id="{762B5654-FEEA-4A7C-C141-1245E851B789}"/>
              </a:ext>
            </a:extLst>
          </p:cNvPr>
          <p:cNvSpPr/>
          <p:nvPr/>
        </p:nvSpPr>
        <p:spPr>
          <a:xfrm>
            <a:off x="429530" y="4829362"/>
            <a:ext cx="7237361" cy="1264920"/>
          </a:xfrm>
          <a:prstGeom prst="rect">
            <a:avLst/>
          </a:prstGeom>
          <a:noFill/>
          <a:ln w="57150">
            <a:solidFill>
              <a:srgbClr val="FFC49B"/>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marL="742950" lvl="1" indent="-285750">
              <a:buFontTx/>
              <a:buChar char="-"/>
            </a:pPr>
            <a:r>
              <a:rPr lang="en-FR" sz="2000" dirty="0">
                <a:solidFill>
                  <a:srgbClr val="FCB48D"/>
                </a:solidFill>
                <a:latin typeface="Poppins" pitchFamily="2" charset="77"/>
                <a:cs typeface="Poppins" pitchFamily="2" charset="77"/>
              </a:rPr>
              <a:t>Dialogue/support strategies </a:t>
            </a:r>
            <a:r>
              <a:rPr lang="en-GB" sz="1050" i="1" dirty="0">
                <a:solidFill>
                  <a:srgbClr val="FFAC6B"/>
                </a:solidFill>
                <a:latin typeface="Poppins" pitchFamily="2" charset="77"/>
                <a:cs typeface="Poppins" pitchFamily="2" charset="77"/>
              </a:rPr>
              <a:t>(</a:t>
            </a:r>
            <a:r>
              <a:rPr lang="en-GB" sz="1050" i="1" dirty="0" err="1">
                <a:solidFill>
                  <a:srgbClr val="FFAC6B"/>
                </a:solidFill>
                <a:latin typeface="Poppins" pitchFamily="2" charset="77"/>
                <a:cs typeface="Poppins" pitchFamily="2" charset="77"/>
              </a:rPr>
              <a:t>Amgoud</a:t>
            </a:r>
            <a:r>
              <a:rPr lang="en-GB" sz="1050" i="1" dirty="0">
                <a:solidFill>
                  <a:srgbClr val="FFAC6B"/>
                </a:solidFill>
                <a:latin typeface="Poppins" pitchFamily="2" charset="77"/>
                <a:cs typeface="Poppins" pitchFamily="2" charset="77"/>
              </a:rPr>
              <a:t> et al., 2006, Liu et al., 2021)</a:t>
            </a:r>
            <a:endParaRPr lang="en-FR" sz="1200" i="1" dirty="0">
              <a:solidFill>
                <a:srgbClr val="FFAC6B"/>
              </a:solidFill>
              <a:latin typeface="Poppins" pitchFamily="2" charset="77"/>
              <a:cs typeface="Poppins" pitchFamily="2" charset="77"/>
            </a:endParaRPr>
          </a:p>
          <a:p>
            <a:pPr marL="742950" lvl="1" indent="-285750">
              <a:buFontTx/>
              <a:buChar char="-"/>
            </a:pPr>
            <a:r>
              <a:rPr lang="en-FR" sz="2000" dirty="0">
                <a:solidFill>
                  <a:srgbClr val="FCB48D"/>
                </a:solidFill>
                <a:latin typeface="Poppins" pitchFamily="2" charset="77"/>
                <a:cs typeface="Poppins" pitchFamily="2" charset="77"/>
              </a:rPr>
              <a:t>Response Intents </a:t>
            </a:r>
            <a:r>
              <a:rPr lang="en-FR" sz="1200" i="1" dirty="0">
                <a:solidFill>
                  <a:srgbClr val="FFAC6B"/>
                </a:solidFill>
                <a:latin typeface="Poppins" pitchFamily="2" charset="77"/>
                <a:cs typeface="Poppins" pitchFamily="2" charset="77"/>
              </a:rPr>
              <a:t>(</a:t>
            </a:r>
            <a:r>
              <a:rPr lang="en-GB" sz="1200" i="1" dirty="0" err="1">
                <a:solidFill>
                  <a:srgbClr val="FFAC6B"/>
                </a:solidFill>
                <a:latin typeface="Poppins" pitchFamily="2" charset="77"/>
                <a:cs typeface="Poppins" pitchFamily="2" charset="77"/>
              </a:rPr>
              <a:t>Welivita</a:t>
            </a:r>
            <a:r>
              <a:rPr lang="en-GB" sz="1200" i="1" dirty="0">
                <a:solidFill>
                  <a:srgbClr val="FFAC6B"/>
                </a:solidFill>
                <a:latin typeface="Poppins" pitchFamily="2" charset="77"/>
                <a:cs typeface="Poppins" pitchFamily="2" charset="77"/>
              </a:rPr>
              <a:t> et al., 2021)</a:t>
            </a:r>
            <a:endParaRPr lang="en-FR" sz="1200" i="1" dirty="0">
              <a:solidFill>
                <a:srgbClr val="FFAC6B"/>
              </a:solidFill>
              <a:latin typeface="Poppins" pitchFamily="2" charset="77"/>
              <a:cs typeface="Poppins" pitchFamily="2" charset="77"/>
            </a:endParaRPr>
          </a:p>
          <a:p>
            <a:pPr marL="742950" lvl="1" indent="-285750">
              <a:buFontTx/>
              <a:buChar char="-"/>
            </a:pPr>
            <a:r>
              <a:rPr lang="en-FR" sz="2000" dirty="0">
                <a:solidFill>
                  <a:srgbClr val="FCB48D"/>
                </a:solidFill>
                <a:latin typeface="Poppins" pitchFamily="2" charset="77"/>
                <a:cs typeface="Poppins" pitchFamily="2" charset="77"/>
              </a:rPr>
              <a:t>Dialogue Acts </a:t>
            </a:r>
            <a:r>
              <a:rPr lang="en-FR" sz="1200" i="1" dirty="0">
                <a:solidFill>
                  <a:srgbClr val="FFAC6B"/>
                </a:solidFill>
                <a:latin typeface="Poppins" pitchFamily="2" charset="77"/>
                <a:cs typeface="Poppins" pitchFamily="2" charset="77"/>
              </a:rPr>
              <a:t>(</a:t>
            </a:r>
            <a:r>
              <a:rPr lang="en-GB" sz="1200" i="1" dirty="0">
                <a:solidFill>
                  <a:srgbClr val="FFAC6B"/>
                </a:solidFill>
                <a:latin typeface="Poppins" pitchFamily="2" charset="77"/>
                <a:cs typeface="Poppins" pitchFamily="2" charset="77"/>
              </a:rPr>
              <a:t>Bunt, 2006, Li et al., 2017)</a:t>
            </a:r>
            <a:endParaRPr lang="en-FR" sz="2000" dirty="0">
              <a:solidFill>
                <a:srgbClr val="FCB48D"/>
              </a:solidFill>
              <a:latin typeface="Poppins" pitchFamily="2" charset="77"/>
              <a:cs typeface="Poppins" pitchFamily="2" charset="77"/>
            </a:endParaRPr>
          </a:p>
        </p:txBody>
      </p:sp>
      <p:pic>
        <p:nvPicPr>
          <p:cNvPr id="21" name="Graphic 20" descr="Lightbulb and gear with solid fill">
            <a:extLst>
              <a:ext uri="{FF2B5EF4-FFF2-40B4-BE49-F238E27FC236}">
                <a16:creationId xmlns:a16="http://schemas.microsoft.com/office/drawing/2014/main" id="{71FF35D0-2DCC-47F1-8652-1A8C48E8C9CF}"/>
              </a:ext>
            </a:extLst>
          </p:cNvPr>
          <p:cNvPicPr>
            <a:picLocks noChangeAspect="1"/>
          </p:cNvPicPr>
          <p:nvPr/>
        </p:nvPicPr>
        <p:blipFill>
          <a:blip r:embed="rId5">
            <a:alphaModFix/>
            <a:extLst>
              <a:ext uri="{96DAC541-7B7A-43D3-8B79-37D633B846F1}">
                <asvg:svgBlip xmlns:asvg="http://schemas.microsoft.com/office/drawing/2016/SVG/main" r:embed="rId6"/>
              </a:ext>
            </a:extLst>
          </a:blip>
          <a:stretch>
            <a:fillRect/>
          </a:stretch>
        </p:blipFill>
        <p:spPr>
          <a:xfrm>
            <a:off x="155142" y="260967"/>
            <a:ext cx="844390" cy="844390"/>
          </a:xfrm>
          <a:prstGeom prst="rect">
            <a:avLst/>
          </a:prstGeom>
        </p:spPr>
      </p:pic>
      <p:sp>
        <p:nvSpPr>
          <p:cNvPr id="3" name="TextBox 2">
            <a:extLst>
              <a:ext uri="{FF2B5EF4-FFF2-40B4-BE49-F238E27FC236}">
                <a16:creationId xmlns:a16="http://schemas.microsoft.com/office/drawing/2014/main" id="{3E833B79-C00A-F56A-50F2-333C0ACE0F13}"/>
              </a:ext>
            </a:extLst>
          </p:cNvPr>
          <p:cNvSpPr txBox="1"/>
          <p:nvPr/>
        </p:nvSpPr>
        <p:spPr>
          <a:xfrm>
            <a:off x="3083659" y="6365548"/>
            <a:ext cx="6920484" cy="430887"/>
          </a:xfrm>
          <a:prstGeom prst="rect">
            <a:avLst/>
          </a:prstGeom>
          <a:noFill/>
          <a:ln w="19050">
            <a:noFill/>
            <a:prstDash val="sysDash"/>
          </a:ln>
        </p:spPr>
        <p:txBody>
          <a:bodyPr wrap="none" rtlCol="0">
            <a:spAutoFit/>
          </a:bodyPr>
          <a:lstStyle>
            <a:defPPr>
              <a:defRPr lang="en-FR"/>
            </a:defPPr>
            <a:lvl1pPr algn="ctr">
              <a:defRPr sz="1050">
                <a:solidFill>
                  <a:srgbClr val="A5AFF5"/>
                </a:solidFill>
                <a:latin typeface="Poppins" pitchFamily="2" charset="77"/>
                <a:cs typeface="Poppins" pitchFamily="2" charset="77"/>
              </a:defRPr>
            </a:lvl1pPr>
          </a:lstStyle>
          <a:p>
            <a:pPr algn="l"/>
            <a:r>
              <a:rPr lang="en-GB" sz="1100" dirty="0"/>
              <a:t>[</a:t>
            </a:r>
            <a:r>
              <a:rPr lang="en-FR" sz="1100" b="1" dirty="0"/>
              <a:t>An argumentation-based framework for designing dialogue strategies</a:t>
            </a:r>
            <a:r>
              <a:rPr lang="en-FR" sz="1100" dirty="0"/>
              <a:t>, Amgoud et al., 2006]</a:t>
            </a:r>
            <a:br>
              <a:rPr lang="en-GB" sz="1100" dirty="0"/>
            </a:br>
            <a:r>
              <a:rPr lang="en-GB" sz="1100" dirty="0"/>
              <a:t>[</a:t>
            </a:r>
            <a:r>
              <a:rPr lang="en-GB" sz="1100" b="1" dirty="0"/>
              <a:t>Towards Emotional Support Dialog Systems</a:t>
            </a:r>
            <a:r>
              <a:rPr lang="en-GB" sz="1100" dirty="0"/>
              <a:t>, Liu et al. (2021)]</a:t>
            </a:r>
            <a:endParaRPr lang="en-FR" sz="1100" dirty="0"/>
          </a:p>
        </p:txBody>
      </p:sp>
      <p:sp>
        <p:nvSpPr>
          <p:cNvPr id="7" name="Rounded Rectangle 6">
            <a:extLst>
              <a:ext uri="{FF2B5EF4-FFF2-40B4-BE49-F238E27FC236}">
                <a16:creationId xmlns:a16="http://schemas.microsoft.com/office/drawing/2014/main" id="{78905037-47A7-F788-1651-5F22A49CB461}"/>
              </a:ext>
            </a:extLst>
          </p:cNvPr>
          <p:cNvSpPr/>
          <p:nvPr/>
        </p:nvSpPr>
        <p:spPr>
          <a:xfrm>
            <a:off x="6804559" y="477240"/>
            <a:ext cx="4975321" cy="1514605"/>
          </a:xfrm>
          <a:prstGeom prst="roundRect">
            <a:avLst/>
          </a:prstGeom>
          <a:solidFill>
            <a:schemeClr val="bg1">
              <a:alpha val="83137"/>
            </a:schemeClr>
          </a:solidFill>
          <a:ln>
            <a:solidFill>
              <a:srgbClr val="D43F4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sz="1600" b="1" dirty="0" err="1">
                <a:solidFill>
                  <a:srgbClr val="D43F49"/>
                </a:solidFill>
                <a:latin typeface="Poppins" pitchFamily="2" charset="77"/>
                <a:cs typeface="Poppins" pitchFamily="2" charset="77"/>
              </a:rPr>
              <a:t>Amgoud</a:t>
            </a:r>
            <a:r>
              <a:rPr lang="en-GB" sz="1600" b="1" dirty="0">
                <a:solidFill>
                  <a:srgbClr val="D43F49"/>
                </a:solidFill>
                <a:latin typeface="Poppins" pitchFamily="2" charset="77"/>
                <a:cs typeface="Poppins" pitchFamily="2" charset="77"/>
              </a:rPr>
              <a:t> et al. (2006) </a:t>
            </a:r>
            <a:r>
              <a:rPr lang="en-GB" sz="1600" dirty="0">
                <a:solidFill>
                  <a:srgbClr val="D43F49"/>
                </a:solidFill>
                <a:latin typeface="Poppins" pitchFamily="2" charset="77"/>
                <a:cs typeface="Poppins" pitchFamily="2" charset="77"/>
              </a:rPr>
              <a:t>defines a dialogue strategy as </a:t>
            </a:r>
            <a:r>
              <a:rPr lang="en-GB" sz="1600" i="1" dirty="0">
                <a:solidFill>
                  <a:srgbClr val="D43F49"/>
                </a:solidFill>
                <a:latin typeface="Poppins" pitchFamily="2" charset="77"/>
                <a:cs typeface="Poppins" pitchFamily="2" charset="77"/>
              </a:rPr>
              <a:t>“a two-step decision process that involves selecting the type of act to utter at a given step of a dialogue and selecting the content that will accompany the act.”</a:t>
            </a:r>
          </a:p>
        </p:txBody>
      </p:sp>
    </p:spTree>
    <p:extLst>
      <p:ext uri="{BB962C8B-B14F-4D97-AF65-F5344CB8AC3E}">
        <p14:creationId xmlns:p14="http://schemas.microsoft.com/office/powerpoint/2010/main" val="201863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animBg="1"/>
      <p:bldP spid="3" grpId="0"/>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8F7E1-F097-2622-7C9F-678859D88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5B5A7-E1E6-D04C-BF27-F19A1ED06645}"/>
              </a:ext>
            </a:extLst>
          </p:cNvPr>
          <p:cNvSpPr>
            <a:spLocks noGrp="1"/>
          </p:cNvSpPr>
          <p:nvPr>
            <p:ph type="title"/>
          </p:nvPr>
        </p:nvSpPr>
        <p:spPr>
          <a:xfrm>
            <a:off x="1246162" y="58998"/>
            <a:ext cx="9877245" cy="1325563"/>
          </a:xfrm>
        </p:spPr>
        <p:txBody>
          <a:bodyPr>
            <a:normAutofit/>
          </a:bodyPr>
          <a:lstStyle/>
          <a:p>
            <a:r>
              <a:rPr lang="en-GB" dirty="0"/>
              <a:t>Socio-Emotional Labels</a:t>
            </a:r>
            <a:endParaRPr lang="en-FR" sz="2400" dirty="0"/>
          </a:p>
        </p:txBody>
      </p:sp>
      <p:pic>
        <p:nvPicPr>
          <p:cNvPr id="4" name="Graphic 3" descr="Lightbulb and gear with solid fill">
            <a:extLst>
              <a:ext uri="{FF2B5EF4-FFF2-40B4-BE49-F238E27FC236}">
                <a16:creationId xmlns:a16="http://schemas.microsoft.com/office/drawing/2014/main" id="{762D9005-84F9-D61D-C1A3-E503C95547C3}"/>
              </a:ext>
            </a:extLst>
          </p:cNvPr>
          <p:cNvPicPr>
            <a:picLocks noChangeAspect="1"/>
          </p:cNvPicPr>
          <p:nvPr/>
        </p:nvPicPr>
        <p:blipFill>
          <a:blip r:embed="rId3">
            <a:alphaModFix/>
            <a:extLst>
              <a:ext uri="{96DAC541-7B7A-43D3-8B79-37D633B846F1}">
                <asvg:svgBlip xmlns:asvg="http://schemas.microsoft.com/office/drawing/2016/SVG/main" r:embed="rId4"/>
              </a:ext>
            </a:extLst>
          </a:blip>
          <a:stretch>
            <a:fillRect/>
          </a:stretch>
        </p:blipFill>
        <p:spPr>
          <a:xfrm>
            <a:off x="155142" y="260967"/>
            <a:ext cx="844390" cy="844390"/>
          </a:xfrm>
          <a:prstGeom prst="rect">
            <a:avLst/>
          </a:prstGeom>
        </p:spPr>
      </p:pic>
      <p:pic>
        <p:nvPicPr>
          <p:cNvPr id="8" name="Graphic 7" descr="Puzzle with solid fill">
            <a:extLst>
              <a:ext uri="{FF2B5EF4-FFF2-40B4-BE49-F238E27FC236}">
                <a16:creationId xmlns:a16="http://schemas.microsoft.com/office/drawing/2014/main" id="{8BB8FA00-7531-4DDB-F0F7-C124C9FFB8F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04559" y="1787219"/>
            <a:ext cx="4975321" cy="4975321"/>
          </a:xfrm>
          <a:prstGeom prst="rect">
            <a:avLst/>
          </a:prstGeom>
        </p:spPr>
      </p:pic>
      <p:pic>
        <p:nvPicPr>
          <p:cNvPr id="9" name="Graphic 8" descr="Smiling face with solid fill with solid fill">
            <a:extLst>
              <a:ext uri="{FF2B5EF4-FFF2-40B4-BE49-F238E27FC236}">
                <a16:creationId xmlns:a16="http://schemas.microsoft.com/office/drawing/2014/main" id="{92DBB340-91F7-AB07-CF3F-11EE14A8CB7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20411194">
            <a:off x="-79995" y="2277056"/>
            <a:ext cx="4343839" cy="4343839"/>
          </a:xfrm>
          <a:prstGeom prst="rect">
            <a:avLst/>
          </a:prstGeom>
        </p:spPr>
      </p:pic>
      <p:graphicFrame>
        <p:nvGraphicFramePr>
          <p:cNvPr id="21" name="Table 20">
            <a:extLst>
              <a:ext uri="{FF2B5EF4-FFF2-40B4-BE49-F238E27FC236}">
                <a16:creationId xmlns:a16="http://schemas.microsoft.com/office/drawing/2014/main" id="{5EB6314F-21AE-0A87-CF68-A5CE38A6DD7B}"/>
              </a:ext>
            </a:extLst>
          </p:cNvPr>
          <p:cNvGraphicFramePr>
            <a:graphicFrameLocks noGrp="1"/>
          </p:cNvGraphicFramePr>
          <p:nvPr>
            <p:extLst>
              <p:ext uri="{D42A27DB-BD31-4B8C-83A1-F6EECF244321}">
                <p14:modId xmlns:p14="http://schemas.microsoft.com/office/powerpoint/2010/main" val="2934386182"/>
              </p:ext>
            </p:extLst>
          </p:nvPr>
        </p:nvGraphicFramePr>
        <p:xfrm>
          <a:off x="6326561" y="1072008"/>
          <a:ext cx="2586296" cy="5726992"/>
        </p:xfrm>
        <a:graphic>
          <a:graphicData uri="http://schemas.openxmlformats.org/drawingml/2006/table">
            <a:tbl>
              <a:tblPr firstRow="1" bandRow="1">
                <a:tableStyleId>{5C22544A-7EE6-4342-B048-85BDC9FD1C3A}</a:tableStyleId>
              </a:tblPr>
              <a:tblGrid>
                <a:gridCol w="2586296">
                  <a:extLst>
                    <a:ext uri="{9D8B030D-6E8A-4147-A177-3AD203B41FA5}">
                      <a16:colId xmlns:a16="http://schemas.microsoft.com/office/drawing/2014/main" val="3112039447"/>
                    </a:ext>
                  </a:extLst>
                </a:gridCol>
              </a:tblGrid>
              <a:tr h="357937">
                <a:tc>
                  <a:txBody>
                    <a:bodyPr/>
                    <a:lstStyle/>
                    <a:p>
                      <a:pPr algn="ctr"/>
                      <a:r>
                        <a:rPr lang="en-FR" sz="1600" dirty="0">
                          <a:solidFill>
                            <a:schemeClr val="tx1">
                              <a:lumMod val="85000"/>
                              <a:lumOff val="15000"/>
                            </a:schemeClr>
                          </a:solidFill>
                        </a:rPr>
                        <a:t>Dialogue Strategies</a:t>
                      </a:r>
                    </a:p>
                  </a:txBody>
                  <a:tcPr>
                    <a:lnL w="28575" cap="flat" cmpd="sng" algn="ctr">
                      <a:solidFill>
                        <a:srgbClr val="F2B781"/>
                      </a:solidFill>
                      <a:prstDash val="solid"/>
                      <a:round/>
                      <a:headEnd type="none" w="med" len="med"/>
                      <a:tailEnd type="none" w="med" len="med"/>
                    </a:lnL>
                    <a:lnR w="28575" cap="flat" cmpd="sng" algn="ctr">
                      <a:solidFill>
                        <a:srgbClr val="F2B781"/>
                      </a:solidFill>
                      <a:prstDash val="solid"/>
                      <a:round/>
                      <a:headEnd type="none" w="med" len="med"/>
                      <a:tailEnd type="none" w="med" len="med"/>
                    </a:lnR>
                    <a:lnT w="28575" cap="flat" cmpd="sng" algn="ctr">
                      <a:solidFill>
                        <a:srgbClr val="F2B781"/>
                      </a:solidFill>
                      <a:prstDash val="solid"/>
                      <a:round/>
                      <a:headEnd type="none" w="med" len="med"/>
                      <a:tailEnd type="none" w="med" len="med"/>
                    </a:lnT>
                    <a:lnB w="28575" cap="flat" cmpd="sng" algn="ctr">
                      <a:solidFill>
                        <a:srgbClr val="F2B781"/>
                      </a:solidFill>
                      <a:prstDash val="solid"/>
                      <a:round/>
                      <a:headEnd type="none" w="med" len="med"/>
                      <a:tailEnd type="none" w="med" len="med"/>
                    </a:lnB>
                    <a:lnTlToBr w="12700" cmpd="sng">
                      <a:noFill/>
                      <a:prstDash val="solid"/>
                    </a:lnTlToBr>
                    <a:lnBlToTr w="12700" cmpd="sng">
                      <a:noFill/>
                      <a:prstDash val="solid"/>
                    </a:lnBlToTr>
                    <a:solidFill>
                      <a:srgbClr val="FFC49B"/>
                    </a:solidFill>
                  </a:tcPr>
                </a:tc>
                <a:extLst>
                  <a:ext uri="{0D108BD9-81ED-4DB2-BD59-A6C34878D82A}">
                    <a16:rowId xmlns:a16="http://schemas.microsoft.com/office/drawing/2014/main" val="4232807512"/>
                  </a:ext>
                </a:extLst>
              </a:tr>
              <a:tr h="357937">
                <a:tc>
                  <a:txBody>
                    <a:bodyPr/>
                    <a:lstStyle/>
                    <a:p>
                      <a:pPr algn="ctr"/>
                      <a:r>
                        <a:rPr lang="en-FR" sz="1600" dirty="0"/>
                        <a:t>Disagreeing</a:t>
                      </a:r>
                    </a:p>
                  </a:txBody>
                  <a:tcPr>
                    <a:lnL w="28575" cap="flat" cmpd="sng" algn="ctr">
                      <a:solidFill>
                        <a:srgbClr val="F2B781"/>
                      </a:solidFill>
                      <a:prstDash val="solid"/>
                      <a:round/>
                      <a:headEnd type="none" w="med" len="med"/>
                      <a:tailEnd type="none" w="med" len="med"/>
                    </a:lnL>
                    <a:lnR w="28575" cap="flat" cmpd="sng" algn="ctr">
                      <a:solidFill>
                        <a:srgbClr val="F2B781"/>
                      </a:solidFill>
                      <a:prstDash val="solid"/>
                      <a:round/>
                      <a:headEnd type="none" w="med" len="med"/>
                      <a:tailEnd type="none" w="med" len="med"/>
                    </a:lnR>
                    <a:lnT w="28575" cap="flat" cmpd="sng" algn="ctr">
                      <a:solidFill>
                        <a:srgbClr val="F2B781"/>
                      </a:solidFill>
                      <a:prstDash val="solid"/>
                      <a:round/>
                      <a:headEnd type="none" w="med" len="med"/>
                      <a:tailEnd type="none" w="med" len="med"/>
                    </a:lnT>
                    <a:lnB w="28575" cap="flat" cmpd="sng" algn="ctr">
                      <a:solidFill>
                        <a:srgbClr val="F2B7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0906398"/>
                  </a:ext>
                </a:extLst>
              </a:tr>
              <a:tr h="357937">
                <a:tc>
                  <a:txBody>
                    <a:bodyPr/>
                    <a:lstStyle/>
                    <a:p>
                      <a:pPr algn="ctr"/>
                      <a:r>
                        <a:rPr lang="en-FR" sz="1600" dirty="0"/>
                        <a:t>Agreeing</a:t>
                      </a:r>
                    </a:p>
                  </a:txBody>
                  <a:tcPr>
                    <a:lnL w="28575" cap="flat" cmpd="sng" algn="ctr">
                      <a:solidFill>
                        <a:srgbClr val="F2B781"/>
                      </a:solidFill>
                      <a:prstDash val="solid"/>
                      <a:round/>
                      <a:headEnd type="none" w="med" len="med"/>
                      <a:tailEnd type="none" w="med" len="med"/>
                    </a:lnL>
                    <a:lnR w="28575" cap="flat" cmpd="sng" algn="ctr">
                      <a:solidFill>
                        <a:srgbClr val="F2B781"/>
                      </a:solidFill>
                      <a:prstDash val="solid"/>
                      <a:round/>
                      <a:headEnd type="none" w="med" len="med"/>
                      <a:tailEnd type="none" w="med" len="med"/>
                    </a:lnR>
                    <a:lnT w="28575" cap="flat" cmpd="sng" algn="ctr">
                      <a:solidFill>
                        <a:srgbClr val="F2B781"/>
                      </a:solidFill>
                      <a:prstDash val="solid"/>
                      <a:round/>
                      <a:headEnd type="none" w="med" len="med"/>
                      <a:tailEnd type="none" w="med" len="med"/>
                    </a:lnT>
                    <a:lnB w="28575" cap="flat" cmpd="sng" algn="ctr">
                      <a:solidFill>
                        <a:srgbClr val="F2B7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7951404"/>
                  </a:ext>
                </a:extLst>
              </a:tr>
              <a:tr h="357937">
                <a:tc>
                  <a:txBody>
                    <a:bodyPr/>
                    <a:lstStyle/>
                    <a:p>
                      <a:pPr algn="ctr"/>
                      <a:r>
                        <a:rPr lang="en-FR" sz="1600" dirty="0"/>
                        <a:t>Back-Chanelling</a:t>
                      </a:r>
                    </a:p>
                  </a:txBody>
                  <a:tcPr>
                    <a:lnL w="28575" cap="flat" cmpd="sng" algn="ctr">
                      <a:solidFill>
                        <a:srgbClr val="F2B781"/>
                      </a:solidFill>
                      <a:prstDash val="solid"/>
                      <a:round/>
                      <a:headEnd type="none" w="med" len="med"/>
                      <a:tailEnd type="none" w="med" len="med"/>
                    </a:lnL>
                    <a:lnR w="28575" cap="flat" cmpd="sng" algn="ctr">
                      <a:solidFill>
                        <a:srgbClr val="F2B781"/>
                      </a:solidFill>
                      <a:prstDash val="solid"/>
                      <a:round/>
                      <a:headEnd type="none" w="med" len="med"/>
                      <a:tailEnd type="none" w="med" len="med"/>
                    </a:lnR>
                    <a:lnT w="28575" cap="flat" cmpd="sng" algn="ctr">
                      <a:solidFill>
                        <a:srgbClr val="F2B781"/>
                      </a:solidFill>
                      <a:prstDash val="solid"/>
                      <a:round/>
                      <a:headEnd type="none" w="med" len="med"/>
                      <a:tailEnd type="none" w="med" len="med"/>
                    </a:lnT>
                    <a:lnB w="28575" cap="flat" cmpd="sng" algn="ctr">
                      <a:solidFill>
                        <a:srgbClr val="F2B7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93393501"/>
                  </a:ext>
                </a:extLst>
              </a:tr>
              <a:tr h="357937">
                <a:tc>
                  <a:txBody>
                    <a:bodyPr/>
                    <a:lstStyle/>
                    <a:p>
                      <a:pPr algn="ctr"/>
                      <a:r>
                        <a:rPr lang="en-FR" sz="1600" dirty="0"/>
                        <a:t>Encouraging</a:t>
                      </a:r>
                    </a:p>
                  </a:txBody>
                  <a:tcPr>
                    <a:lnL w="28575" cap="flat" cmpd="sng" algn="ctr">
                      <a:solidFill>
                        <a:srgbClr val="F2B781"/>
                      </a:solidFill>
                      <a:prstDash val="solid"/>
                      <a:round/>
                      <a:headEnd type="none" w="med" len="med"/>
                      <a:tailEnd type="none" w="med" len="med"/>
                    </a:lnL>
                    <a:lnR w="28575" cap="flat" cmpd="sng" algn="ctr">
                      <a:solidFill>
                        <a:srgbClr val="F2B781"/>
                      </a:solidFill>
                      <a:prstDash val="solid"/>
                      <a:round/>
                      <a:headEnd type="none" w="med" len="med"/>
                      <a:tailEnd type="none" w="med" len="med"/>
                    </a:lnR>
                    <a:lnT w="28575" cap="flat" cmpd="sng" algn="ctr">
                      <a:solidFill>
                        <a:srgbClr val="F2B781"/>
                      </a:solidFill>
                      <a:prstDash val="solid"/>
                      <a:round/>
                      <a:headEnd type="none" w="med" len="med"/>
                      <a:tailEnd type="none" w="med" len="med"/>
                    </a:lnT>
                    <a:lnB w="28575" cap="flat" cmpd="sng" algn="ctr">
                      <a:solidFill>
                        <a:srgbClr val="F2B7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18168"/>
                  </a:ext>
                </a:extLst>
              </a:tr>
              <a:tr h="357937">
                <a:tc>
                  <a:txBody>
                    <a:bodyPr/>
                    <a:lstStyle/>
                    <a:p>
                      <a:pPr algn="ctr"/>
                      <a:r>
                        <a:rPr lang="en-FR" sz="1600" dirty="0"/>
                        <a:t>Sympathising</a:t>
                      </a:r>
                    </a:p>
                  </a:txBody>
                  <a:tcPr>
                    <a:lnL w="28575" cap="flat" cmpd="sng" algn="ctr">
                      <a:solidFill>
                        <a:srgbClr val="F2B781"/>
                      </a:solidFill>
                      <a:prstDash val="solid"/>
                      <a:round/>
                      <a:headEnd type="none" w="med" len="med"/>
                      <a:tailEnd type="none" w="med" len="med"/>
                    </a:lnL>
                    <a:lnR w="28575" cap="flat" cmpd="sng" algn="ctr">
                      <a:solidFill>
                        <a:srgbClr val="F2B781"/>
                      </a:solidFill>
                      <a:prstDash val="solid"/>
                      <a:round/>
                      <a:headEnd type="none" w="med" len="med"/>
                      <a:tailEnd type="none" w="med" len="med"/>
                    </a:lnR>
                    <a:lnT w="28575" cap="flat" cmpd="sng" algn="ctr">
                      <a:solidFill>
                        <a:srgbClr val="F2B781"/>
                      </a:solidFill>
                      <a:prstDash val="solid"/>
                      <a:round/>
                      <a:headEnd type="none" w="med" len="med"/>
                      <a:tailEnd type="none" w="med" len="med"/>
                    </a:lnT>
                    <a:lnB w="28575" cap="flat" cmpd="sng" algn="ctr">
                      <a:solidFill>
                        <a:srgbClr val="F2B7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24688"/>
                  </a:ext>
                </a:extLst>
              </a:tr>
              <a:tr h="357937">
                <a:tc>
                  <a:txBody>
                    <a:bodyPr/>
                    <a:lstStyle/>
                    <a:p>
                      <a:pPr algn="ctr"/>
                      <a:r>
                        <a:rPr lang="en-FR" sz="1600" dirty="0"/>
                        <a:t>Restating</a:t>
                      </a:r>
                    </a:p>
                  </a:txBody>
                  <a:tcPr>
                    <a:lnL w="28575" cap="flat" cmpd="sng" algn="ctr">
                      <a:solidFill>
                        <a:srgbClr val="F2B781"/>
                      </a:solidFill>
                      <a:prstDash val="solid"/>
                      <a:round/>
                      <a:headEnd type="none" w="med" len="med"/>
                      <a:tailEnd type="none" w="med" len="med"/>
                    </a:lnL>
                    <a:lnR w="28575" cap="flat" cmpd="sng" algn="ctr">
                      <a:solidFill>
                        <a:srgbClr val="F2B781"/>
                      </a:solidFill>
                      <a:prstDash val="solid"/>
                      <a:round/>
                      <a:headEnd type="none" w="med" len="med"/>
                      <a:tailEnd type="none" w="med" len="med"/>
                    </a:lnR>
                    <a:lnT w="28575" cap="flat" cmpd="sng" algn="ctr">
                      <a:solidFill>
                        <a:srgbClr val="F2B781"/>
                      </a:solidFill>
                      <a:prstDash val="solid"/>
                      <a:round/>
                      <a:headEnd type="none" w="med" len="med"/>
                      <a:tailEnd type="none" w="med" len="med"/>
                    </a:lnT>
                    <a:lnB w="28575" cap="flat" cmpd="sng" algn="ctr">
                      <a:solidFill>
                        <a:srgbClr val="F2B7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01126886"/>
                  </a:ext>
                </a:extLst>
              </a:tr>
              <a:tr h="357937">
                <a:tc>
                  <a:txBody>
                    <a:bodyPr/>
                    <a:lstStyle/>
                    <a:p>
                      <a:pPr algn="ctr"/>
                      <a:r>
                        <a:rPr lang="en-FR" sz="1600" dirty="0"/>
                        <a:t>Informing</a:t>
                      </a:r>
                    </a:p>
                  </a:txBody>
                  <a:tcPr>
                    <a:lnL w="28575" cap="flat" cmpd="sng" algn="ctr">
                      <a:solidFill>
                        <a:srgbClr val="F2B781"/>
                      </a:solidFill>
                      <a:prstDash val="solid"/>
                      <a:round/>
                      <a:headEnd type="none" w="med" len="med"/>
                      <a:tailEnd type="none" w="med" len="med"/>
                    </a:lnL>
                    <a:lnR w="28575" cap="flat" cmpd="sng" algn="ctr">
                      <a:solidFill>
                        <a:srgbClr val="F2B781"/>
                      </a:solidFill>
                      <a:prstDash val="solid"/>
                      <a:round/>
                      <a:headEnd type="none" w="med" len="med"/>
                      <a:tailEnd type="none" w="med" len="med"/>
                    </a:lnR>
                    <a:lnT w="28575" cap="flat" cmpd="sng" algn="ctr">
                      <a:solidFill>
                        <a:srgbClr val="F2B781"/>
                      </a:solidFill>
                      <a:prstDash val="solid"/>
                      <a:round/>
                      <a:headEnd type="none" w="med" len="med"/>
                      <a:tailEnd type="none" w="med" len="med"/>
                    </a:lnT>
                    <a:lnB w="28575" cap="flat" cmpd="sng" algn="ctr">
                      <a:solidFill>
                        <a:srgbClr val="F2B7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43914048"/>
                  </a:ext>
                </a:extLst>
              </a:tr>
              <a:tr h="357937">
                <a:tc>
                  <a:txBody>
                    <a:bodyPr/>
                    <a:lstStyle/>
                    <a:p>
                      <a:pPr algn="ctr"/>
                      <a:r>
                        <a:rPr lang="en-FR" sz="1600" dirty="0"/>
                        <a:t>Questioning</a:t>
                      </a:r>
                    </a:p>
                  </a:txBody>
                  <a:tcPr>
                    <a:lnL w="28575" cap="flat" cmpd="sng" algn="ctr">
                      <a:solidFill>
                        <a:srgbClr val="F2B781"/>
                      </a:solidFill>
                      <a:prstDash val="solid"/>
                      <a:round/>
                      <a:headEnd type="none" w="med" len="med"/>
                      <a:tailEnd type="none" w="med" len="med"/>
                    </a:lnL>
                    <a:lnR w="28575" cap="flat" cmpd="sng" algn="ctr">
                      <a:solidFill>
                        <a:srgbClr val="F2B781"/>
                      </a:solidFill>
                      <a:prstDash val="solid"/>
                      <a:round/>
                      <a:headEnd type="none" w="med" len="med"/>
                      <a:tailEnd type="none" w="med" len="med"/>
                    </a:lnR>
                    <a:lnT w="28575" cap="flat" cmpd="sng" algn="ctr">
                      <a:solidFill>
                        <a:srgbClr val="F2B781"/>
                      </a:solidFill>
                      <a:prstDash val="solid"/>
                      <a:round/>
                      <a:headEnd type="none" w="med" len="med"/>
                      <a:tailEnd type="none" w="med" len="med"/>
                    </a:lnT>
                    <a:lnB w="28575" cap="flat" cmpd="sng" algn="ctr">
                      <a:solidFill>
                        <a:srgbClr val="F2B7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0174540"/>
                  </a:ext>
                </a:extLst>
              </a:tr>
              <a:tr h="357937">
                <a:tc>
                  <a:txBody>
                    <a:bodyPr/>
                    <a:lstStyle/>
                    <a:p>
                      <a:pPr algn="ctr"/>
                      <a:r>
                        <a:rPr lang="en-FR" sz="1600" dirty="0"/>
                        <a:t>Providing Suggestions</a:t>
                      </a:r>
                    </a:p>
                  </a:txBody>
                  <a:tcPr>
                    <a:lnL w="28575" cap="flat" cmpd="sng" algn="ctr">
                      <a:solidFill>
                        <a:srgbClr val="F2B781"/>
                      </a:solidFill>
                      <a:prstDash val="solid"/>
                      <a:round/>
                      <a:headEnd type="none" w="med" len="med"/>
                      <a:tailEnd type="none" w="med" len="med"/>
                    </a:lnL>
                    <a:lnR w="28575" cap="flat" cmpd="sng" algn="ctr">
                      <a:solidFill>
                        <a:srgbClr val="F2B781"/>
                      </a:solidFill>
                      <a:prstDash val="solid"/>
                      <a:round/>
                      <a:headEnd type="none" w="med" len="med"/>
                      <a:tailEnd type="none" w="med" len="med"/>
                    </a:lnR>
                    <a:lnT w="28575" cap="flat" cmpd="sng" algn="ctr">
                      <a:solidFill>
                        <a:srgbClr val="F2B781"/>
                      </a:solidFill>
                      <a:prstDash val="solid"/>
                      <a:round/>
                      <a:headEnd type="none" w="med" len="med"/>
                      <a:tailEnd type="none" w="med" len="med"/>
                    </a:lnT>
                    <a:lnB w="28575" cap="flat" cmpd="sng" algn="ctr">
                      <a:solidFill>
                        <a:srgbClr val="F2B7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52662271"/>
                  </a:ext>
                </a:extLst>
              </a:tr>
              <a:tr h="357937">
                <a:tc>
                  <a:txBody>
                    <a:bodyPr/>
                    <a:lstStyle/>
                    <a:p>
                      <a:pPr algn="ctr"/>
                      <a:r>
                        <a:rPr lang="en-FR" sz="1600" dirty="0"/>
                        <a:t>Self-Disclosing</a:t>
                      </a:r>
                    </a:p>
                  </a:txBody>
                  <a:tcPr>
                    <a:lnL w="28575" cap="flat" cmpd="sng" algn="ctr">
                      <a:solidFill>
                        <a:srgbClr val="F2B781"/>
                      </a:solidFill>
                      <a:prstDash val="solid"/>
                      <a:round/>
                      <a:headEnd type="none" w="med" len="med"/>
                      <a:tailEnd type="none" w="med" len="med"/>
                    </a:lnL>
                    <a:lnR w="28575" cap="flat" cmpd="sng" algn="ctr">
                      <a:solidFill>
                        <a:srgbClr val="F2B781"/>
                      </a:solidFill>
                      <a:prstDash val="solid"/>
                      <a:round/>
                      <a:headEnd type="none" w="med" len="med"/>
                      <a:tailEnd type="none" w="med" len="med"/>
                    </a:lnR>
                    <a:lnT w="28575" cap="flat" cmpd="sng" algn="ctr">
                      <a:solidFill>
                        <a:srgbClr val="F2B781"/>
                      </a:solidFill>
                      <a:prstDash val="solid"/>
                      <a:round/>
                      <a:headEnd type="none" w="med" len="med"/>
                      <a:tailEnd type="none" w="med" len="med"/>
                    </a:lnT>
                    <a:lnB w="28575" cap="flat" cmpd="sng" algn="ctr">
                      <a:solidFill>
                        <a:srgbClr val="F2B7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15972700"/>
                  </a:ext>
                </a:extLst>
              </a:tr>
              <a:tr h="357937">
                <a:tc>
                  <a:txBody>
                    <a:bodyPr/>
                    <a:lstStyle/>
                    <a:p>
                      <a:pPr algn="ctr"/>
                      <a:r>
                        <a:rPr lang="en-FR" sz="1600" dirty="0"/>
                        <a:t>Social/Politeness</a:t>
                      </a:r>
                    </a:p>
                  </a:txBody>
                  <a:tcPr>
                    <a:lnL w="28575" cap="flat" cmpd="sng" algn="ctr">
                      <a:solidFill>
                        <a:srgbClr val="F2B781"/>
                      </a:solidFill>
                      <a:prstDash val="solid"/>
                      <a:round/>
                      <a:headEnd type="none" w="med" len="med"/>
                      <a:tailEnd type="none" w="med" len="med"/>
                    </a:lnL>
                    <a:lnR w="28575" cap="flat" cmpd="sng" algn="ctr">
                      <a:solidFill>
                        <a:srgbClr val="F2B781"/>
                      </a:solidFill>
                      <a:prstDash val="solid"/>
                      <a:round/>
                      <a:headEnd type="none" w="med" len="med"/>
                      <a:tailEnd type="none" w="med" len="med"/>
                    </a:lnR>
                    <a:lnT w="28575" cap="flat" cmpd="sng" algn="ctr">
                      <a:solidFill>
                        <a:srgbClr val="F2B781"/>
                      </a:solidFill>
                      <a:prstDash val="solid"/>
                      <a:round/>
                      <a:headEnd type="none" w="med" len="med"/>
                      <a:tailEnd type="none" w="med" len="med"/>
                    </a:lnT>
                    <a:lnB w="28575" cap="flat" cmpd="sng" algn="ctr">
                      <a:solidFill>
                        <a:srgbClr val="F2B7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5933291"/>
                  </a:ext>
                </a:extLst>
              </a:tr>
              <a:tr h="357937">
                <a:tc>
                  <a:txBody>
                    <a:bodyPr/>
                    <a:lstStyle/>
                    <a:p>
                      <a:pPr algn="ctr"/>
                      <a:r>
                        <a:rPr lang="en-FR" sz="1600" dirty="0"/>
                        <a:t>Correction</a:t>
                      </a:r>
                    </a:p>
                  </a:txBody>
                  <a:tcPr>
                    <a:lnL w="28575" cap="flat" cmpd="sng" algn="ctr">
                      <a:solidFill>
                        <a:srgbClr val="F2B781"/>
                      </a:solidFill>
                      <a:prstDash val="solid"/>
                      <a:round/>
                      <a:headEnd type="none" w="med" len="med"/>
                      <a:tailEnd type="none" w="med" len="med"/>
                    </a:lnL>
                    <a:lnR w="28575" cap="flat" cmpd="sng" algn="ctr">
                      <a:solidFill>
                        <a:srgbClr val="F2B781"/>
                      </a:solidFill>
                      <a:prstDash val="solid"/>
                      <a:round/>
                      <a:headEnd type="none" w="med" len="med"/>
                      <a:tailEnd type="none" w="med" len="med"/>
                    </a:lnR>
                    <a:lnT w="28575" cap="flat" cmpd="sng" algn="ctr">
                      <a:solidFill>
                        <a:srgbClr val="F2B781"/>
                      </a:solidFill>
                      <a:prstDash val="solid"/>
                      <a:round/>
                      <a:headEnd type="none" w="med" len="med"/>
                      <a:tailEnd type="none" w="med" len="med"/>
                    </a:lnT>
                    <a:lnB w="28575" cap="flat" cmpd="sng" algn="ctr">
                      <a:solidFill>
                        <a:srgbClr val="F2B7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3419594"/>
                  </a:ext>
                </a:extLst>
              </a:tr>
              <a:tr h="357937">
                <a:tc>
                  <a:txBody>
                    <a:bodyPr/>
                    <a:lstStyle/>
                    <a:p>
                      <a:pPr algn="ctr"/>
                      <a:r>
                        <a:rPr lang="en-FR" sz="1600" dirty="0"/>
                        <a:t>Bot / Nonsense</a:t>
                      </a:r>
                    </a:p>
                  </a:txBody>
                  <a:tcPr>
                    <a:lnL w="28575" cap="flat" cmpd="sng" algn="ctr">
                      <a:solidFill>
                        <a:srgbClr val="F2B781"/>
                      </a:solidFill>
                      <a:prstDash val="solid"/>
                      <a:round/>
                      <a:headEnd type="none" w="med" len="med"/>
                      <a:tailEnd type="none" w="med" len="med"/>
                    </a:lnL>
                    <a:lnR w="28575" cap="flat" cmpd="sng" algn="ctr">
                      <a:solidFill>
                        <a:srgbClr val="F2B781"/>
                      </a:solidFill>
                      <a:prstDash val="solid"/>
                      <a:round/>
                      <a:headEnd type="none" w="med" len="med"/>
                      <a:tailEnd type="none" w="med" len="med"/>
                    </a:lnR>
                    <a:lnT w="28575" cap="flat" cmpd="sng" algn="ctr">
                      <a:solidFill>
                        <a:srgbClr val="F2B781"/>
                      </a:solidFill>
                      <a:prstDash val="solid"/>
                      <a:round/>
                      <a:headEnd type="none" w="med" len="med"/>
                      <a:tailEnd type="none" w="med" len="med"/>
                    </a:lnT>
                    <a:lnB w="28575" cap="flat" cmpd="sng" algn="ctr">
                      <a:solidFill>
                        <a:srgbClr val="F2B7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94315230"/>
                  </a:ext>
                </a:extLst>
              </a:tr>
              <a:tr h="357937">
                <a:tc>
                  <a:txBody>
                    <a:bodyPr/>
                    <a:lstStyle/>
                    <a:p>
                      <a:pPr algn="ctr"/>
                      <a:r>
                        <a:rPr lang="en-FR" sz="1600" dirty="0"/>
                        <a:t>Agression</a:t>
                      </a:r>
                    </a:p>
                  </a:txBody>
                  <a:tcPr>
                    <a:lnL w="28575" cap="flat" cmpd="sng" algn="ctr">
                      <a:solidFill>
                        <a:srgbClr val="F2B781"/>
                      </a:solidFill>
                      <a:prstDash val="solid"/>
                      <a:round/>
                      <a:headEnd type="none" w="med" len="med"/>
                      <a:tailEnd type="none" w="med" len="med"/>
                    </a:lnL>
                    <a:lnR w="28575" cap="flat" cmpd="sng" algn="ctr">
                      <a:solidFill>
                        <a:srgbClr val="F2B781"/>
                      </a:solidFill>
                      <a:prstDash val="solid"/>
                      <a:round/>
                      <a:headEnd type="none" w="med" len="med"/>
                      <a:tailEnd type="none" w="med" len="med"/>
                    </a:lnR>
                    <a:lnT w="28575" cap="flat" cmpd="sng" algn="ctr">
                      <a:solidFill>
                        <a:srgbClr val="F2B781"/>
                      </a:solidFill>
                      <a:prstDash val="solid"/>
                      <a:round/>
                      <a:headEnd type="none" w="med" len="med"/>
                      <a:tailEnd type="none" w="med" len="med"/>
                    </a:lnT>
                    <a:lnB w="28575" cap="flat" cmpd="sng" algn="ctr">
                      <a:solidFill>
                        <a:srgbClr val="F2B7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1858515"/>
                  </a:ext>
                </a:extLst>
              </a:tr>
              <a:tr h="357937">
                <a:tc>
                  <a:txBody>
                    <a:bodyPr/>
                    <a:lstStyle/>
                    <a:p>
                      <a:pPr algn="ctr"/>
                      <a:r>
                        <a:rPr lang="en-FR" sz="1600" dirty="0"/>
                        <a:t>Other</a:t>
                      </a:r>
                    </a:p>
                  </a:txBody>
                  <a:tcPr>
                    <a:lnL w="28575" cap="flat" cmpd="sng" algn="ctr">
                      <a:solidFill>
                        <a:srgbClr val="F2B781"/>
                      </a:solidFill>
                      <a:prstDash val="solid"/>
                      <a:round/>
                      <a:headEnd type="none" w="med" len="med"/>
                      <a:tailEnd type="none" w="med" len="med"/>
                    </a:lnL>
                    <a:lnR w="28575" cap="flat" cmpd="sng" algn="ctr">
                      <a:solidFill>
                        <a:srgbClr val="F2B781"/>
                      </a:solidFill>
                      <a:prstDash val="solid"/>
                      <a:round/>
                      <a:headEnd type="none" w="med" len="med"/>
                      <a:tailEnd type="none" w="med" len="med"/>
                    </a:lnR>
                    <a:lnT w="28575" cap="flat" cmpd="sng" algn="ctr">
                      <a:solidFill>
                        <a:srgbClr val="F2B781"/>
                      </a:solidFill>
                      <a:prstDash val="solid"/>
                      <a:round/>
                      <a:headEnd type="none" w="med" len="med"/>
                      <a:tailEnd type="none" w="med" len="med"/>
                    </a:lnT>
                    <a:lnB w="28575" cap="flat" cmpd="sng" algn="ctr">
                      <a:solidFill>
                        <a:srgbClr val="F2B7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4277875"/>
                  </a:ext>
                </a:extLst>
              </a:tr>
            </a:tbl>
          </a:graphicData>
        </a:graphic>
      </p:graphicFrame>
      <p:sp>
        <p:nvSpPr>
          <p:cNvPr id="3" name="Rectangle 2">
            <a:extLst>
              <a:ext uri="{FF2B5EF4-FFF2-40B4-BE49-F238E27FC236}">
                <a16:creationId xmlns:a16="http://schemas.microsoft.com/office/drawing/2014/main" id="{4AAAA8C9-5A75-7D94-FCF6-1C9BB37BBE03}"/>
              </a:ext>
            </a:extLst>
          </p:cNvPr>
          <p:cNvSpPr/>
          <p:nvPr/>
        </p:nvSpPr>
        <p:spPr>
          <a:xfrm>
            <a:off x="476279" y="2006209"/>
            <a:ext cx="1567047" cy="1609329"/>
          </a:xfrm>
          <a:prstGeom prst="rect">
            <a:avLst/>
          </a:prstGeom>
          <a:noFill/>
          <a:ln w="57150">
            <a:solidFill>
              <a:srgbClr val="D33F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600" b="1" dirty="0">
                <a:solidFill>
                  <a:srgbClr val="D33F49"/>
                </a:solidFill>
                <a:latin typeface="Poppins" pitchFamily="2" charset="77"/>
                <a:cs typeface="Poppins" pitchFamily="2" charset="77"/>
              </a:rPr>
              <a:t>20 fine-grained emotions</a:t>
            </a:r>
          </a:p>
        </p:txBody>
      </p:sp>
      <p:sp>
        <p:nvSpPr>
          <p:cNvPr id="6" name="Rectangle 5">
            <a:extLst>
              <a:ext uri="{FF2B5EF4-FFF2-40B4-BE49-F238E27FC236}">
                <a16:creationId xmlns:a16="http://schemas.microsoft.com/office/drawing/2014/main" id="{3D55A45E-FBCF-4C66-8F5E-93058F679511}"/>
              </a:ext>
            </a:extLst>
          </p:cNvPr>
          <p:cNvSpPr/>
          <p:nvPr/>
        </p:nvSpPr>
        <p:spPr>
          <a:xfrm>
            <a:off x="9749402" y="2006208"/>
            <a:ext cx="1567047" cy="1609329"/>
          </a:xfrm>
          <a:prstGeom prst="rect">
            <a:avLst/>
          </a:prstGeom>
          <a:noFill/>
          <a:ln w="57150">
            <a:solidFill>
              <a:srgbClr val="FFC4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b="1" dirty="0">
                <a:solidFill>
                  <a:srgbClr val="F2B781"/>
                </a:solidFill>
                <a:latin typeface="Poppins" pitchFamily="2" charset="77"/>
                <a:cs typeface="Poppins" pitchFamily="2" charset="77"/>
              </a:rPr>
              <a:t>15 dialogue strategies</a:t>
            </a:r>
          </a:p>
        </p:txBody>
      </p:sp>
      <p:graphicFrame>
        <p:nvGraphicFramePr>
          <p:cNvPr id="7" name="Table 6">
            <a:extLst>
              <a:ext uri="{FF2B5EF4-FFF2-40B4-BE49-F238E27FC236}">
                <a16:creationId xmlns:a16="http://schemas.microsoft.com/office/drawing/2014/main" id="{51BB03BF-7468-3A85-B230-2D403AC63BD6}"/>
              </a:ext>
            </a:extLst>
          </p:cNvPr>
          <p:cNvGraphicFramePr>
            <a:graphicFrameLocks noGrp="1"/>
          </p:cNvGraphicFramePr>
          <p:nvPr>
            <p:extLst>
              <p:ext uri="{D42A27DB-BD31-4B8C-83A1-F6EECF244321}">
                <p14:modId xmlns:p14="http://schemas.microsoft.com/office/powerpoint/2010/main" val="171850459"/>
              </p:ext>
            </p:extLst>
          </p:nvPr>
        </p:nvGraphicFramePr>
        <p:xfrm>
          <a:off x="2725207" y="1072008"/>
          <a:ext cx="2146253" cy="5726994"/>
        </p:xfrm>
        <a:graphic>
          <a:graphicData uri="http://schemas.openxmlformats.org/drawingml/2006/table">
            <a:tbl>
              <a:tblPr/>
              <a:tblGrid>
                <a:gridCol w="2146253">
                  <a:extLst>
                    <a:ext uri="{9D8B030D-6E8A-4147-A177-3AD203B41FA5}">
                      <a16:colId xmlns:a16="http://schemas.microsoft.com/office/drawing/2014/main" val="2714529629"/>
                    </a:ext>
                  </a:extLst>
                </a:gridCol>
              </a:tblGrid>
              <a:tr h="199184">
                <a:tc>
                  <a:txBody>
                    <a:bodyPr/>
                    <a:lstStyle/>
                    <a:p>
                      <a:pPr lvl="0" algn="ctr" fontAlgn="b"/>
                      <a:r>
                        <a:rPr lang="en-GB" sz="1200" b="1" i="0" u="none" strike="noStrike" dirty="0">
                          <a:solidFill>
                            <a:srgbClr val="000000"/>
                          </a:solidFill>
                          <a:effectLst/>
                          <a:latin typeface="Poppins" pitchFamily="2" charset="77"/>
                          <a:cs typeface="Poppins" pitchFamily="2" charset="77"/>
                        </a:rPr>
                        <a:t>ANGER</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6E6"/>
                    </a:solidFill>
                  </a:tcPr>
                </a:tc>
                <a:extLst>
                  <a:ext uri="{0D108BD9-81ED-4DB2-BD59-A6C34878D82A}">
                    <a16:rowId xmlns:a16="http://schemas.microsoft.com/office/drawing/2014/main" val="776929098"/>
                  </a:ext>
                </a:extLst>
              </a:tr>
              <a:tr h="199184">
                <a:tc>
                  <a:txBody>
                    <a:bodyPr/>
                    <a:lstStyle/>
                    <a:p>
                      <a:pPr lvl="1" algn="l" fontAlgn="b"/>
                      <a:r>
                        <a:rPr lang="en-GB" sz="1200" b="0" i="0" u="none" strike="noStrike">
                          <a:solidFill>
                            <a:srgbClr val="000000"/>
                          </a:solidFill>
                          <a:effectLst/>
                          <a:latin typeface="Poppins" pitchFamily="2" charset="77"/>
                          <a:cs typeface="Poppins" pitchFamily="2" charset="77"/>
                        </a:rPr>
                        <a:t>Rage</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0AFAF"/>
                    </a:solidFill>
                  </a:tcPr>
                </a:tc>
                <a:extLst>
                  <a:ext uri="{0D108BD9-81ED-4DB2-BD59-A6C34878D82A}">
                    <a16:rowId xmlns:a16="http://schemas.microsoft.com/office/drawing/2014/main" val="2349110887"/>
                  </a:ext>
                </a:extLst>
              </a:tr>
              <a:tr h="199184">
                <a:tc>
                  <a:txBody>
                    <a:bodyPr/>
                    <a:lstStyle/>
                    <a:p>
                      <a:pPr lvl="1" algn="l" fontAlgn="b"/>
                      <a:r>
                        <a:rPr lang="en-GB" sz="1200" b="0" i="0" u="none" strike="noStrike">
                          <a:solidFill>
                            <a:srgbClr val="000000"/>
                          </a:solidFill>
                          <a:effectLst/>
                          <a:latin typeface="Poppins" pitchFamily="2" charset="77"/>
                          <a:cs typeface="Poppins" pitchFamily="2" charset="77"/>
                        </a:rPr>
                        <a:t>Exasperation</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0AFAF"/>
                    </a:solidFill>
                  </a:tcPr>
                </a:tc>
                <a:extLst>
                  <a:ext uri="{0D108BD9-81ED-4DB2-BD59-A6C34878D82A}">
                    <a16:rowId xmlns:a16="http://schemas.microsoft.com/office/drawing/2014/main" val="2966669745"/>
                  </a:ext>
                </a:extLst>
              </a:tr>
              <a:tr h="199184">
                <a:tc>
                  <a:txBody>
                    <a:bodyPr/>
                    <a:lstStyle/>
                    <a:p>
                      <a:pPr lvl="1" algn="l" fontAlgn="b"/>
                      <a:r>
                        <a:rPr lang="en-GB" sz="1200" b="0" i="0" u="none" strike="noStrike">
                          <a:solidFill>
                            <a:srgbClr val="000000"/>
                          </a:solidFill>
                          <a:effectLst/>
                          <a:latin typeface="Poppins" pitchFamily="2" charset="77"/>
                          <a:cs typeface="Poppins" pitchFamily="2" charset="77"/>
                        </a:rPr>
                        <a:t>Irritation</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6E6"/>
                    </a:solidFill>
                  </a:tcPr>
                </a:tc>
                <a:extLst>
                  <a:ext uri="{0D108BD9-81ED-4DB2-BD59-A6C34878D82A}">
                    <a16:rowId xmlns:a16="http://schemas.microsoft.com/office/drawing/2014/main" val="592331117"/>
                  </a:ext>
                </a:extLst>
              </a:tr>
              <a:tr h="199184">
                <a:tc>
                  <a:txBody>
                    <a:bodyPr/>
                    <a:lstStyle/>
                    <a:p>
                      <a:pPr lvl="1" algn="l" fontAlgn="b"/>
                      <a:r>
                        <a:rPr lang="en-GB" sz="1200" b="0" i="0" u="none" strike="noStrike">
                          <a:solidFill>
                            <a:srgbClr val="000000"/>
                          </a:solidFill>
                          <a:effectLst/>
                          <a:latin typeface="Poppins" pitchFamily="2" charset="77"/>
                          <a:cs typeface="Poppins" pitchFamily="2" charset="77"/>
                        </a:rPr>
                        <a:t>Annoyance</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6E6"/>
                    </a:solidFill>
                  </a:tcPr>
                </a:tc>
                <a:extLst>
                  <a:ext uri="{0D108BD9-81ED-4DB2-BD59-A6C34878D82A}">
                    <a16:rowId xmlns:a16="http://schemas.microsoft.com/office/drawing/2014/main" val="1699196337"/>
                  </a:ext>
                </a:extLst>
              </a:tr>
              <a:tr h="199184">
                <a:tc>
                  <a:txBody>
                    <a:bodyPr/>
                    <a:lstStyle/>
                    <a:p>
                      <a:pPr lvl="1" algn="l" fontAlgn="b"/>
                      <a:r>
                        <a:rPr lang="en-GB" sz="1200" b="0" i="0" u="none" strike="noStrike">
                          <a:solidFill>
                            <a:srgbClr val="000000"/>
                          </a:solidFill>
                          <a:effectLst/>
                          <a:latin typeface="Poppins" pitchFamily="2" charset="77"/>
                          <a:cs typeface="Poppins" pitchFamily="2" charset="77"/>
                        </a:rPr>
                        <a:t>Impatience</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6E6"/>
                    </a:solidFill>
                  </a:tcPr>
                </a:tc>
                <a:extLst>
                  <a:ext uri="{0D108BD9-81ED-4DB2-BD59-A6C34878D82A}">
                    <a16:rowId xmlns:a16="http://schemas.microsoft.com/office/drawing/2014/main" val="1219455128"/>
                  </a:ext>
                </a:extLst>
              </a:tr>
              <a:tr h="199184">
                <a:tc>
                  <a:txBody>
                    <a:bodyPr/>
                    <a:lstStyle/>
                    <a:p>
                      <a:pPr lvl="1" algn="l" fontAlgn="b"/>
                      <a:r>
                        <a:rPr lang="en-GB" sz="1200" b="0" i="0" u="none" strike="noStrike">
                          <a:solidFill>
                            <a:srgbClr val="000000"/>
                          </a:solidFill>
                          <a:effectLst/>
                          <a:latin typeface="Poppins" pitchFamily="2" charset="77"/>
                          <a:cs typeface="Poppins" pitchFamily="2" charset="77"/>
                        </a:rPr>
                        <a:t>Lassitude</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6E6"/>
                    </a:solidFill>
                  </a:tcPr>
                </a:tc>
                <a:extLst>
                  <a:ext uri="{0D108BD9-81ED-4DB2-BD59-A6C34878D82A}">
                    <a16:rowId xmlns:a16="http://schemas.microsoft.com/office/drawing/2014/main" val="2532270961"/>
                  </a:ext>
                </a:extLst>
              </a:tr>
              <a:tr h="199184">
                <a:tc>
                  <a:txBody>
                    <a:bodyPr/>
                    <a:lstStyle/>
                    <a:p>
                      <a:pPr lvl="0" algn="ctr" fontAlgn="ctr"/>
                      <a:r>
                        <a:rPr lang="en-GB" sz="1200" b="1" i="0" u="none" strike="noStrike" dirty="0">
                          <a:solidFill>
                            <a:srgbClr val="000000"/>
                          </a:solidFill>
                          <a:effectLst/>
                          <a:latin typeface="Poppins" pitchFamily="2" charset="77"/>
                          <a:cs typeface="Poppins" pitchFamily="2" charset="77"/>
                        </a:rPr>
                        <a:t>SURPRISE</a:t>
                      </a:r>
                    </a:p>
                  </a:txBody>
                  <a:tcPr marL="6446" marR="6446" marT="6446" marB="309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E8FF"/>
                    </a:solidFill>
                  </a:tcPr>
                </a:tc>
                <a:extLst>
                  <a:ext uri="{0D108BD9-81ED-4DB2-BD59-A6C34878D82A}">
                    <a16:rowId xmlns:a16="http://schemas.microsoft.com/office/drawing/2014/main" val="369595499"/>
                  </a:ext>
                </a:extLst>
              </a:tr>
              <a:tr h="199184">
                <a:tc>
                  <a:txBody>
                    <a:bodyPr/>
                    <a:lstStyle/>
                    <a:p>
                      <a:pPr lvl="0" algn="ctr" fontAlgn="b"/>
                      <a:r>
                        <a:rPr lang="en-GB" sz="1200" b="1" i="0" u="none" strike="noStrike" dirty="0">
                          <a:solidFill>
                            <a:srgbClr val="000000"/>
                          </a:solidFill>
                          <a:effectLst/>
                          <a:latin typeface="Poppins" pitchFamily="2" charset="77"/>
                          <a:cs typeface="Poppins" pitchFamily="2" charset="77"/>
                        </a:rPr>
                        <a:t>FEAR</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2CC"/>
                    </a:solidFill>
                  </a:tcPr>
                </a:tc>
                <a:extLst>
                  <a:ext uri="{0D108BD9-81ED-4DB2-BD59-A6C34878D82A}">
                    <a16:rowId xmlns:a16="http://schemas.microsoft.com/office/drawing/2014/main" val="331776065"/>
                  </a:ext>
                </a:extLst>
              </a:tr>
              <a:tr h="199184">
                <a:tc>
                  <a:txBody>
                    <a:bodyPr/>
                    <a:lstStyle/>
                    <a:p>
                      <a:pPr lvl="1" algn="l" fontAlgn="b"/>
                      <a:r>
                        <a:rPr lang="en-GB" sz="1200" b="0" i="0" u="none" strike="noStrike">
                          <a:solidFill>
                            <a:srgbClr val="000000"/>
                          </a:solidFill>
                          <a:effectLst/>
                          <a:latin typeface="Poppins" pitchFamily="2" charset="77"/>
                          <a:cs typeface="Poppins" pitchFamily="2" charset="77"/>
                        </a:rPr>
                        <a:t>Panic</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699"/>
                    </a:solidFill>
                  </a:tcPr>
                </a:tc>
                <a:extLst>
                  <a:ext uri="{0D108BD9-81ED-4DB2-BD59-A6C34878D82A}">
                    <a16:rowId xmlns:a16="http://schemas.microsoft.com/office/drawing/2014/main" val="376938072"/>
                  </a:ext>
                </a:extLst>
              </a:tr>
              <a:tr h="199184">
                <a:tc>
                  <a:txBody>
                    <a:bodyPr/>
                    <a:lstStyle/>
                    <a:p>
                      <a:pPr lvl="1" algn="l" fontAlgn="b"/>
                      <a:r>
                        <a:rPr lang="en-GB" sz="1200" b="0" i="0" u="none" strike="noStrike">
                          <a:solidFill>
                            <a:srgbClr val="000000"/>
                          </a:solidFill>
                          <a:effectLst/>
                          <a:latin typeface="Poppins" pitchFamily="2" charset="77"/>
                          <a:cs typeface="Poppins" pitchFamily="2" charset="77"/>
                        </a:rPr>
                        <a:t>Stress</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699"/>
                    </a:solidFill>
                  </a:tcPr>
                </a:tc>
                <a:extLst>
                  <a:ext uri="{0D108BD9-81ED-4DB2-BD59-A6C34878D82A}">
                    <a16:rowId xmlns:a16="http://schemas.microsoft.com/office/drawing/2014/main" val="4242464395"/>
                  </a:ext>
                </a:extLst>
              </a:tr>
              <a:tr h="199184">
                <a:tc>
                  <a:txBody>
                    <a:bodyPr/>
                    <a:lstStyle/>
                    <a:p>
                      <a:pPr lvl="1" algn="l" fontAlgn="b"/>
                      <a:r>
                        <a:rPr lang="en-GB" sz="1200" b="0" i="0" u="none" strike="noStrike">
                          <a:solidFill>
                            <a:srgbClr val="000000"/>
                          </a:solidFill>
                          <a:effectLst/>
                          <a:latin typeface="Poppins" pitchFamily="2" charset="77"/>
                          <a:cs typeface="Poppins" pitchFamily="2" charset="77"/>
                        </a:rPr>
                        <a:t>Confusion</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2CC"/>
                    </a:solidFill>
                  </a:tcPr>
                </a:tc>
                <a:extLst>
                  <a:ext uri="{0D108BD9-81ED-4DB2-BD59-A6C34878D82A}">
                    <a16:rowId xmlns:a16="http://schemas.microsoft.com/office/drawing/2014/main" val="3907131428"/>
                  </a:ext>
                </a:extLst>
              </a:tr>
              <a:tr h="199184">
                <a:tc>
                  <a:txBody>
                    <a:bodyPr/>
                    <a:lstStyle/>
                    <a:p>
                      <a:pPr lvl="1" algn="l" fontAlgn="b"/>
                      <a:r>
                        <a:rPr lang="en-GB" sz="1200" b="0" i="0" u="none" strike="noStrike">
                          <a:solidFill>
                            <a:srgbClr val="000000"/>
                          </a:solidFill>
                          <a:effectLst/>
                          <a:latin typeface="Poppins" pitchFamily="2" charset="77"/>
                          <a:cs typeface="Poppins" pitchFamily="2" charset="77"/>
                        </a:rPr>
                        <a:t>Worry</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2CC"/>
                    </a:solidFill>
                  </a:tcPr>
                </a:tc>
                <a:extLst>
                  <a:ext uri="{0D108BD9-81ED-4DB2-BD59-A6C34878D82A}">
                    <a16:rowId xmlns:a16="http://schemas.microsoft.com/office/drawing/2014/main" val="4188073794"/>
                  </a:ext>
                </a:extLst>
              </a:tr>
              <a:tr h="199184">
                <a:tc>
                  <a:txBody>
                    <a:bodyPr/>
                    <a:lstStyle/>
                    <a:p>
                      <a:pPr lvl="1" algn="l" fontAlgn="b"/>
                      <a:r>
                        <a:rPr lang="en-GB" sz="1200" b="0" i="0" u="none" strike="noStrike">
                          <a:solidFill>
                            <a:srgbClr val="000000"/>
                          </a:solidFill>
                          <a:effectLst/>
                          <a:latin typeface="Poppins" pitchFamily="2" charset="77"/>
                          <a:cs typeface="Poppins" pitchFamily="2" charset="77"/>
                        </a:rPr>
                        <a:t>Caution</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2CC"/>
                    </a:solidFill>
                  </a:tcPr>
                </a:tc>
                <a:extLst>
                  <a:ext uri="{0D108BD9-81ED-4DB2-BD59-A6C34878D82A}">
                    <a16:rowId xmlns:a16="http://schemas.microsoft.com/office/drawing/2014/main" val="678964897"/>
                  </a:ext>
                </a:extLst>
              </a:tr>
              <a:tr h="199184">
                <a:tc>
                  <a:txBody>
                    <a:bodyPr/>
                    <a:lstStyle/>
                    <a:p>
                      <a:pPr lvl="0" algn="ctr" fontAlgn="b"/>
                      <a:r>
                        <a:rPr lang="en-GB" sz="1200" b="1" i="0" u="none" strike="noStrike" dirty="0">
                          <a:solidFill>
                            <a:srgbClr val="000000"/>
                          </a:solidFill>
                          <a:effectLst/>
                          <a:latin typeface="Poppins" pitchFamily="2" charset="77"/>
                          <a:cs typeface="Poppins" pitchFamily="2" charset="77"/>
                        </a:rPr>
                        <a:t>SADNESS</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1F2"/>
                    </a:solidFill>
                  </a:tcPr>
                </a:tc>
                <a:extLst>
                  <a:ext uri="{0D108BD9-81ED-4DB2-BD59-A6C34878D82A}">
                    <a16:rowId xmlns:a16="http://schemas.microsoft.com/office/drawing/2014/main" val="3682314561"/>
                  </a:ext>
                </a:extLst>
              </a:tr>
              <a:tr h="199184">
                <a:tc>
                  <a:txBody>
                    <a:bodyPr/>
                    <a:lstStyle/>
                    <a:p>
                      <a:pPr lvl="1" algn="l" fontAlgn="b"/>
                      <a:r>
                        <a:rPr lang="en-GB" sz="1200" b="0" i="0" u="none" strike="noStrike" dirty="0">
                          <a:solidFill>
                            <a:srgbClr val="000000"/>
                          </a:solidFill>
                          <a:effectLst/>
                          <a:latin typeface="Poppins" pitchFamily="2" charset="77"/>
                          <a:cs typeface="Poppins" pitchFamily="2" charset="77"/>
                        </a:rPr>
                        <a:t>Distress</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4C6E7"/>
                    </a:solidFill>
                  </a:tcPr>
                </a:tc>
                <a:extLst>
                  <a:ext uri="{0D108BD9-81ED-4DB2-BD59-A6C34878D82A}">
                    <a16:rowId xmlns:a16="http://schemas.microsoft.com/office/drawing/2014/main" val="3557972442"/>
                  </a:ext>
                </a:extLst>
              </a:tr>
              <a:tr h="199184">
                <a:tc>
                  <a:txBody>
                    <a:bodyPr/>
                    <a:lstStyle/>
                    <a:p>
                      <a:pPr lvl="1" algn="l" fontAlgn="b"/>
                      <a:r>
                        <a:rPr lang="en-GB" sz="1200" b="0" i="0" u="none" strike="noStrike">
                          <a:solidFill>
                            <a:srgbClr val="000000"/>
                          </a:solidFill>
                          <a:effectLst/>
                          <a:latin typeface="Poppins" pitchFamily="2" charset="77"/>
                          <a:cs typeface="Poppins" pitchFamily="2" charset="77"/>
                        </a:rPr>
                        <a:t>Resignation</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1F2"/>
                    </a:solidFill>
                  </a:tcPr>
                </a:tc>
                <a:extLst>
                  <a:ext uri="{0D108BD9-81ED-4DB2-BD59-A6C34878D82A}">
                    <a16:rowId xmlns:a16="http://schemas.microsoft.com/office/drawing/2014/main" val="991815689"/>
                  </a:ext>
                </a:extLst>
              </a:tr>
              <a:tr h="199184">
                <a:tc>
                  <a:txBody>
                    <a:bodyPr/>
                    <a:lstStyle/>
                    <a:p>
                      <a:pPr lvl="1" algn="l" fontAlgn="b"/>
                      <a:r>
                        <a:rPr lang="en-GB" sz="1200" b="0" i="0" u="none" strike="noStrike">
                          <a:solidFill>
                            <a:srgbClr val="000000"/>
                          </a:solidFill>
                          <a:effectLst/>
                          <a:latin typeface="Poppins" pitchFamily="2" charset="77"/>
                          <a:cs typeface="Poppins" pitchFamily="2" charset="77"/>
                        </a:rPr>
                        <a:t>Disappointment</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1F2"/>
                    </a:solidFill>
                  </a:tcPr>
                </a:tc>
                <a:extLst>
                  <a:ext uri="{0D108BD9-81ED-4DB2-BD59-A6C34878D82A}">
                    <a16:rowId xmlns:a16="http://schemas.microsoft.com/office/drawing/2014/main" val="2462317480"/>
                  </a:ext>
                </a:extLst>
              </a:tr>
              <a:tr h="199184">
                <a:tc>
                  <a:txBody>
                    <a:bodyPr/>
                    <a:lstStyle/>
                    <a:p>
                      <a:pPr lvl="0" algn="ctr" fontAlgn="b"/>
                      <a:r>
                        <a:rPr lang="en-GB" sz="1200" b="1" i="0" u="none" strike="noStrike" dirty="0">
                          <a:solidFill>
                            <a:srgbClr val="000000"/>
                          </a:solidFill>
                          <a:effectLst/>
                          <a:latin typeface="Poppins" pitchFamily="2" charset="77"/>
                          <a:cs typeface="Poppins" pitchFamily="2" charset="77"/>
                        </a:rPr>
                        <a:t>JOY</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E4D6"/>
                    </a:solidFill>
                  </a:tcPr>
                </a:tc>
                <a:extLst>
                  <a:ext uri="{0D108BD9-81ED-4DB2-BD59-A6C34878D82A}">
                    <a16:rowId xmlns:a16="http://schemas.microsoft.com/office/drawing/2014/main" val="643172230"/>
                  </a:ext>
                </a:extLst>
              </a:tr>
              <a:tr h="199184">
                <a:tc>
                  <a:txBody>
                    <a:bodyPr/>
                    <a:lstStyle/>
                    <a:p>
                      <a:pPr lvl="1" algn="l" fontAlgn="b"/>
                      <a:r>
                        <a:rPr lang="en-GB" sz="1200" b="0" i="0" u="none" strike="noStrike">
                          <a:solidFill>
                            <a:srgbClr val="000000"/>
                          </a:solidFill>
                          <a:effectLst/>
                          <a:latin typeface="Poppins" pitchFamily="2" charset="77"/>
                          <a:cs typeface="Poppins" pitchFamily="2" charset="77"/>
                        </a:rPr>
                        <a:t>Satisfaction</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E4D6"/>
                    </a:solidFill>
                  </a:tcPr>
                </a:tc>
                <a:extLst>
                  <a:ext uri="{0D108BD9-81ED-4DB2-BD59-A6C34878D82A}">
                    <a16:rowId xmlns:a16="http://schemas.microsoft.com/office/drawing/2014/main" val="4129086448"/>
                  </a:ext>
                </a:extLst>
              </a:tr>
              <a:tr h="199184">
                <a:tc>
                  <a:txBody>
                    <a:bodyPr/>
                    <a:lstStyle/>
                    <a:p>
                      <a:pPr lvl="1" algn="l" fontAlgn="b"/>
                      <a:r>
                        <a:rPr lang="en-GB" sz="1200" b="0" i="0" u="none" strike="noStrike">
                          <a:solidFill>
                            <a:srgbClr val="000000"/>
                          </a:solidFill>
                          <a:effectLst/>
                          <a:latin typeface="Poppins" pitchFamily="2" charset="77"/>
                          <a:cs typeface="Poppins" pitchFamily="2" charset="77"/>
                        </a:rPr>
                        <a:t>Relief</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E4D6"/>
                    </a:solidFill>
                  </a:tcPr>
                </a:tc>
                <a:extLst>
                  <a:ext uri="{0D108BD9-81ED-4DB2-BD59-A6C34878D82A}">
                    <a16:rowId xmlns:a16="http://schemas.microsoft.com/office/drawing/2014/main" val="2732047954"/>
                  </a:ext>
                </a:extLst>
              </a:tr>
              <a:tr h="199184">
                <a:tc>
                  <a:txBody>
                    <a:bodyPr/>
                    <a:lstStyle/>
                    <a:p>
                      <a:pPr lvl="1" algn="l" fontAlgn="b"/>
                      <a:r>
                        <a:rPr lang="en-GB" sz="1200" b="0" i="0" u="none" strike="noStrike">
                          <a:solidFill>
                            <a:srgbClr val="000000"/>
                          </a:solidFill>
                          <a:effectLst/>
                          <a:latin typeface="Poppins" pitchFamily="2" charset="77"/>
                          <a:cs typeface="Poppins" pitchFamily="2" charset="77"/>
                        </a:rPr>
                        <a:t>Interest</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E4D6"/>
                    </a:solidFill>
                  </a:tcPr>
                </a:tc>
                <a:extLst>
                  <a:ext uri="{0D108BD9-81ED-4DB2-BD59-A6C34878D82A}">
                    <a16:rowId xmlns:a16="http://schemas.microsoft.com/office/drawing/2014/main" val="4148511263"/>
                  </a:ext>
                </a:extLst>
              </a:tr>
              <a:tr h="199184">
                <a:tc>
                  <a:txBody>
                    <a:bodyPr/>
                    <a:lstStyle/>
                    <a:p>
                      <a:pPr lvl="0" algn="ctr" fontAlgn="b"/>
                      <a:r>
                        <a:rPr lang="en-GB" sz="1200" b="1" i="0" u="none" strike="noStrike" dirty="0">
                          <a:solidFill>
                            <a:srgbClr val="000000"/>
                          </a:solidFill>
                          <a:effectLst/>
                          <a:latin typeface="Poppins" pitchFamily="2" charset="77"/>
                          <a:cs typeface="Poppins" pitchFamily="2" charset="77"/>
                        </a:rPr>
                        <a:t>DISGUST</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EFDA"/>
                    </a:solidFill>
                  </a:tcPr>
                </a:tc>
                <a:extLst>
                  <a:ext uri="{0D108BD9-81ED-4DB2-BD59-A6C34878D82A}">
                    <a16:rowId xmlns:a16="http://schemas.microsoft.com/office/drawing/2014/main" val="1453495706"/>
                  </a:ext>
                </a:extLst>
              </a:tr>
              <a:tr h="199184">
                <a:tc>
                  <a:txBody>
                    <a:bodyPr/>
                    <a:lstStyle/>
                    <a:p>
                      <a:pPr lvl="1" algn="l" fontAlgn="b"/>
                      <a:r>
                        <a:rPr lang="en-GB" sz="1200" b="0" i="0" u="none" strike="noStrike">
                          <a:solidFill>
                            <a:srgbClr val="000000"/>
                          </a:solidFill>
                          <a:effectLst/>
                          <a:latin typeface="Poppins" pitchFamily="2" charset="77"/>
                          <a:cs typeface="Poppins" pitchFamily="2" charset="77"/>
                        </a:rPr>
                        <a:t>Contempt</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E0B4"/>
                    </a:solidFill>
                  </a:tcPr>
                </a:tc>
                <a:extLst>
                  <a:ext uri="{0D108BD9-81ED-4DB2-BD59-A6C34878D82A}">
                    <a16:rowId xmlns:a16="http://schemas.microsoft.com/office/drawing/2014/main" val="1465133815"/>
                  </a:ext>
                </a:extLst>
              </a:tr>
              <a:tr h="0">
                <a:tc>
                  <a:txBody>
                    <a:bodyPr/>
                    <a:lstStyle/>
                    <a:p>
                      <a:pPr lvl="1" algn="l" fontAlgn="b"/>
                      <a:r>
                        <a:rPr lang="en-GB" sz="1200" b="0" i="0" u="none" strike="noStrike">
                          <a:solidFill>
                            <a:srgbClr val="000000"/>
                          </a:solidFill>
                          <a:effectLst/>
                          <a:latin typeface="Poppins" pitchFamily="2" charset="77"/>
                          <a:cs typeface="Poppins" pitchFamily="2" charset="77"/>
                        </a:rPr>
                        <a:t>Mockery</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EFDA"/>
                    </a:solidFill>
                  </a:tcPr>
                </a:tc>
                <a:extLst>
                  <a:ext uri="{0D108BD9-81ED-4DB2-BD59-A6C34878D82A}">
                    <a16:rowId xmlns:a16="http://schemas.microsoft.com/office/drawing/2014/main" val="3114312390"/>
                  </a:ext>
                </a:extLst>
              </a:tr>
              <a:tr h="199184">
                <a:tc>
                  <a:txBody>
                    <a:bodyPr/>
                    <a:lstStyle/>
                    <a:p>
                      <a:pPr lvl="1" algn="l" fontAlgn="b"/>
                      <a:r>
                        <a:rPr lang="en-GB" sz="1200" b="0" i="0" u="none" strike="noStrike" dirty="0">
                          <a:solidFill>
                            <a:srgbClr val="000000"/>
                          </a:solidFill>
                          <a:effectLst/>
                          <a:latin typeface="Poppins" pitchFamily="2" charset="77"/>
                          <a:cs typeface="Poppins" pitchFamily="2" charset="77"/>
                        </a:rPr>
                        <a:t>Coldness</a:t>
                      </a:r>
                    </a:p>
                  </a:txBody>
                  <a:tcPr marL="6446" marR="6446" marT="6446" marB="30943"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2EFDA"/>
                    </a:solidFill>
                  </a:tcPr>
                </a:tc>
                <a:extLst>
                  <a:ext uri="{0D108BD9-81ED-4DB2-BD59-A6C34878D82A}">
                    <a16:rowId xmlns:a16="http://schemas.microsoft.com/office/drawing/2014/main" val="414389424"/>
                  </a:ext>
                </a:extLst>
              </a:tr>
            </a:tbl>
          </a:graphicData>
        </a:graphic>
      </p:graphicFrame>
      <p:sp>
        <p:nvSpPr>
          <p:cNvPr id="5" name="TextBox 4">
            <a:extLst>
              <a:ext uri="{FF2B5EF4-FFF2-40B4-BE49-F238E27FC236}">
                <a16:creationId xmlns:a16="http://schemas.microsoft.com/office/drawing/2014/main" id="{6DAF50E6-4F32-CDB2-7C9C-D3644A0226F9}"/>
              </a:ext>
            </a:extLst>
          </p:cNvPr>
          <p:cNvSpPr txBox="1"/>
          <p:nvPr/>
        </p:nvSpPr>
        <p:spPr>
          <a:xfrm>
            <a:off x="155143" y="3702567"/>
            <a:ext cx="1974478" cy="954107"/>
          </a:xfrm>
          <a:prstGeom prst="rect">
            <a:avLst/>
          </a:prstGeom>
          <a:noFill/>
        </p:spPr>
        <p:txBody>
          <a:bodyPr wrap="square">
            <a:spAutoFit/>
          </a:bodyPr>
          <a:lstStyle/>
          <a:p>
            <a:pPr algn="r"/>
            <a:r>
              <a:rPr lang="en-GB" sz="1400" b="0" i="1" dirty="0">
                <a:solidFill>
                  <a:srgbClr val="D33F49"/>
                </a:solidFill>
                <a:effectLst/>
                <a:latin typeface="Arial" panose="020B0604020202020204" pitchFamily="34" charset="0"/>
              </a:rPr>
              <a:t>(Ekman et al.,1999</a:t>
            </a:r>
            <a:r>
              <a:rPr lang="en-GB" sz="1400" i="1" dirty="0">
                <a:solidFill>
                  <a:srgbClr val="D33F49"/>
                </a:solidFill>
                <a:latin typeface="Arial" panose="020B0604020202020204" pitchFamily="34" charset="0"/>
              </a:rPr>
              <a:t>,</a:t>
            </a:r>
            <a:r>
              <a:rPr lang="en-GB" sz="1400" b="0" i="1" dirty="0">
                <a:solidFill>
                  <a:srgbClr val="D33F49"/>
                </a:solidFill>
                <a:effectLst/>
                <a:latin typeface="Arial" panose="020B0604020202020204" pitchFamily="34" charset="0"/>
              </a:rPr>
              <a:t> Izard et al., 2013</a:t>
            </a:r>
            <a:r>
              <a:rPr lang="en-GB" sz="1400" i="1" dirty="0">
                <a:solidFill>
                  <a:srgbClr val="D33F49"/>
                </a:solidFill>
                <a:latin typeface="Arial" panose="020B0604020202020204" pitchFamily="34" charset="0"/>
              </a:rPr>
              <a:t>, Devillers and </a:t>
            </a:r>
            <a:r>
              <a:rPr lang="en-GB" sz="1400" i="1" dirty="0" err="1">
                <a:solidFill>
                  <a:srgbClr val="D33F49"/>
                </a:solidFill>
                <a:latin typeface="Arial" panose="020B0604020202020204" pitchFamily="34" charset="0"/>
              </a:rPr>
              <a:t>Vidrascu</a:t>
            </a:r>
            <a:r>
              <a:rPr lang="en-GB" sz="1400" i="1" dirty="0">
                <a:solidFill>
                  <a:srgbClr val="D33F49"/>
                </a:solidFill>
                <a:latin typeface="Arial" panose="020B0604020202020204" pitchFamily="34" charset="0"/>
              </a:rPr>
              <a:t>, 2006</a:t>
            </a:r>
            <a:r>
              <a:rPr lang="en-GB" sz="1400" b="0" i="1" dirty="0">
                <a:solidFill>
                  <a:srgbClr val="D33F49"/>
                </a:solidFill>
                <a:effectLst/>
                <a:latin typeface="Arial" panose="020B0604020202020204" pitchFamily="34" charset="0"/>
              </a:rPr>
              <a:t>)</a:t>
            </a:r>
            <a:endParaRPr lang="en-FR" sz="1400" i="1" dirty="0">
              <a:solidFill>
                <a:srgbClr val="D33F49"/>
              </a:solidFill>
            </a:endParaRPr>
          </a:p>
        </p:txBody>
      </p:sp>
      <p:sp>
        <p:nvSpPr>
          <p:cNvPr id="11" name="TextBox 10">
            <a:extLst>
              <a:ext uri="{FF2B5EF4-FFF2-40B4-BE49-F238E27FC236}">
                <a16:creationId xmlns:a16="http://schemas.microsoft.com/office/drawing/2014/main" id="{51A87099-53AE-7140-3C76-272F6DDF7E2F}"/>
              </a:ext>
            </a:extLst>
          </p:cNvPr>
          <p:cNvSpPr txBox="1"/>
          <p:nvPr/>
        </p:nvSpPr>
        <p:spPr>
          <a:xfrm>
            <a:off x="9595761" y="3702567"/>
            <a:ext cx="1874327" cy="738664"/>
          </a:xfrm>
          <a:prstGeom prst="rect">
            <a:avLst/>
          </a:prstGeom>
          <a:noFill/>
        </p:spPr>
        <p:txBody>
          <a:bodyPr wrap="square">
            <a:spAutoFit/>
          </a:bodyPr>
          <a:lstStyle/>
          <a:p>
            <a:pPr algn="r"/>
            <a:r>
              <a:rPr lang="en-FR" sz="1400" i="1" dirty="0">
                <a:solidFill>
                  <a:srgbClr val="FFAC6B"/>
                </a:solidFill>
                <a:latin typeface="Arial" panose="020B0604020202020204" pitchFamily="34" charset="0"/>
              </a:rPr>
              <a:t>(Liu et al., 2021,</a:t>
            </a:r>
            <a:br>
              <a:rPr lang="en-FR" sz="1400" i="1" dirty="0">
                <a:solidFill>
                  <a:srgbClr val="FFAC6B"/>
                </a:solidFill>
                <a:latin typeface="Arial" panose="020B0604020202020204" pitchFamily="34" charset="0"/>
              </a:rPr>
            </a:br>
            <a:r>
              <a:rPr lang="en-FR" sz="1400" i="1" dirty="0">
                <a:solidFill>
                  <a:srgbClr val="FFAC6B"/>
                </a:solidFill>
                <a:latin typeface="Arial" panose="020B0604020202020204" pitchFamily="34" charset="0"/>
              </a:rPr>
              <a:t>Rashkin et al., 2018,</a:t>
            </a:r>
            <a:br>
              <a:rPr lang="en-FR" sz="1400" i="1" dirty="0">
                <a:solidFill>
                  <a:srgbClr val="FFAC6B"/>
                </a:solidFill>
                <a:latin typeface="Arial" panose="020B0604020202020204" pitchFamily="34" charset="0"/>
              </a:rPr>
            </a:br>
            <a:r>
              <a:rPr lang="en-FR" sz="1400" i="1" dirty="0">
                <a:solidFill>
                  <a:srgbClr val="FFAC6B"/>
                </a:solidFill>
                <a:latin typeface="Arial" panose="020B0604020202020204" pitchFamily="34" charset="0"/>
              </a:rPr>
              <a:t>Welivita et al., 2021)</a:t>
            </a:r>
          </a:p>
        </p:txBody>
      </p:sp>
    </p:spTree>
    <p:extLst>
      <p:ext uri="{BB962C8B-B14F-4D97-AF65-F5344CB8AC3E}">
        <p14:creationId xmlns:p14="http://schemas.microsoft.com/office/powerpoint/2010/main" val="3972144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5"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EF0F4BA-D925-71EB-DBEE-C9D1BF85B28F}"/>
              </a:ext>
            </a:extLst>
          </p:cNvPr>
          <p:cNvSpPr/>
          <p:nvPr/>
        </p:nvSpPr>
        <p:spPr>
          <a:xfrm>
            <a:off x="3554275" y="5377199"/>
            <a:ext cx="2869705" cy="660029"/>
          </a:xfrm>
          <a:prstGeom prst="round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dirty="0">
                <a:solidFill>
                  <a:srgbClr val="4B85F4"/>
                </a:solidFill>
              </a:rPr>
              <a:t>?</a:t>
            </a:r>
            <a:endParaRPr lang="en-FR" sz="1400" b="1" dirty="0">
              <a:solidFill>
                <a:srgbClr val="4B85F4"/>
              </a:solidFill>
            </a:endParaRPr>
          </a:p>
        </p:txBody>
      </p:sp>
      <p:sp>
        <p:nvSpPr>
          <p:cNvPr id="5" name="Rounded Rectangle 4">
            <a:extLst>
              <a:ext uri="{FF2B5EF4-FFF2-40B4-BE49-F238E27FC236}">
                <a16:creationId xmlns:a16="http://schemas.microsoft.com/office/drawing/2014/main" id="{5EF78AC1-C9BB-E3BC-B8BE-6509A075140C}"/>
              </a:ext>
            </a:extLst>
          </p:cNvPr>
          <p:cNvSpPr/>
          <p:nvPr/>
        </p:nvSpPr>
        <p:spPr>
          <a:xfrm>
            <a:off x="1769885" y="1701034"/>
            <a:ext cx="2600325" cy="583189"/>
          </a:xfrm>
          <a:prstGeom prst="roundRect">
            <a:avLst/>
          </a:prstGeom>
          <a:solidFill>
            <a:srgbClr val="4B85F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Y</a:t>
            </a:r>
            <a:r>
              <a:rPr lang="en-FR" sz="1400" dirty="0"/>
              <a:t>es. </a:t>
            </a:r>
            <a:r>
              <a:rPr lang="en-GB" sz="1400" dirty="0"/>
              <a:t>F</a:t>
            </a:r>
            <a:r>
              <a:rPr lang="en-FR" sz="1400" dirty="0"/>
              <a:t>ive pm.</a:t>
            </a:r>
          </a:p>
          <a:p>
            <a:pPr algn="ctr"/>
            <a:r>
              <a:rPr lang="en-GB" sz="1400" dirty="0"/>
              <a:t>O</a:t>
            </a:r>
            <a:r>
              <a:rPr lang="en-FR" sz="1400" dirty="0"/>
              <a:t>k, perfect! thank you.</a:t>
            </a:r>
          </a:p>
        </p:txBody>
      </p:sp>
      <p:sp>
        <p:nvSpPr>
          <p:cNvPr id="6" name="Rounded Rectangle 5">
            <a:extLst>
              <a:ext uri="{FF2B5EF4-FFF2-40B4-BE49-F238E27FC236}">
                <a16:creationId xmlns:a16="http://schemas.microsoft.com/office/drawing/2014/main" id="{E816A994-E2EE-FEC5-D47A-4AFB7F02BA73}"/>
              </a:ext>
            </a:extLst>
          </p:cNvPr>
          <p:cNvSpPr/>
          <p:nvPr/>
        </p:nvSpPr>
        <p:spPr>
          <a:xfrm>
            <a:off x="3571630" y="2421086"/>
            <a:ext cx="2869705" cy="1226435"/>
          </a:xfrm>
          <a:prstGeom prst="round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rgbClr val="4B85F4"/>
                </a:solidFill>
              </a:rPr>
              <a:t>Yes, </a:t>
            </a:r>
            <a:r>
              <a:rPr lang="fr-FR" sz="1400" dirty="0" err="1">
                <a:solidFill>
                  <a:srgbClr val="4B85F4"/>
                </a:solidFill>
              </a:rPr>
              <a:t>they</a:t>
            </a:r>
            <a:r>
              <a:rPr lang="fr-FR" sz="1400" dirty="0">
                <a:solidFill>
                  <a:srgbClr val="4B85F4"/>
                </a:solidFill>
              </a:rPr>
              <a:t> </a:t>
            </a:r>
            <a:r>
              <a:rPr lang="fr-FR" sz="1400" dirty="0" err="1">
                <a:solidFill>
                  <a:srgbClr val="4B85F4"/>
                </a:solidFill>
              </a:rPr>
              <a:t>just</a:t>
            </a:r>
            <a:r>
              <a:rPr lang="fr-FR" sz="1400" dirty="0">
                <a:solidFill>
                  <a:srgbClr val="4B85F4"/>
                </a:solidFill>
              </a:rPr>
              <a:t> </a:t>
            </a:r>
            <a:r>
              <a:rPr lang="fr-FR" sz="1400" dirty="0" err="1">
                <a:solidFill>
                  <a:srgbClr val="4B85F4"/>
                </a:solidFill>
              </a:rPr>
              <a:t>told</a:t>
            </a:r>
            <a:r>
              <a:rPr lang="fr-FR" sz="1400" dirty="0">
                <a:solidFill>
                  <a:srgbClr val="4B85F4"/>
                </a:solidFill>
              </a:rPr>
              <a:t> me </a:t>
            </a:r>
            <a:r>
              <a:rPr lang="fr-FR" sz="1400" dirty="0" err="1">
                <a:solidFill>
                  <a:srgbClr val="4B85F4"/>
                </a:solidFill>
              </a:rPr>
              <a:t>that</a:t>
            </a:r>
            <a:r>
              <a:rPr lang="fr-FR" sz="1400" dirty="0">
                <a:solidFill>
                  <a:srgbClr val="4B85F4"/>
                </a:solidFill>
              </a:rPr>
              <a:t> </a:t>
            </a:r>
            <a:r>
              <a:rPr lang="fr-FR" sz="1400" dirty="0" err="1">
                <a:solidFill>
                  <a:srgbClr val="4B85F4"/>
                </a:solidFill>
              </a:rPr>
              <a:t>they</a:t>
            </a:r>
            <a:r>
              <a:rPr lang="fr-FR" sz="1400" dirty="0">
                <a:solidFill>
                  <a:srgbClr val="4B85F4"/>
                </a:solidFill>
              </a:rPr>
              <a:t> </a:t>
            </a:r>
            <a:r>
              <a:rPr lang="fr-FR" sz="1400" dirty="0" err="1">
                <a:solidFill>
                  <a:srgbClr val="4B85F4"/>
                </a:solidFill>
              </a:rPr>
              <a:t>were</a:t>
            </a:r>
            <a:r>
              <a:rPr lang="fr-FR" sz="1400" dirty="0">
                <a:solidFill>
                  <a:srgbClr val="4B85F4"/>
                </a:solidFill>
              </a:rPr>
              <a:t> </a:t>
            </a:r>
            <a:r>
              <a:rPr lang="fr-FR" sz="1400" dirty="0" err="1">
                <a:solidFill>
                  <a:srgbClr val="4B85F4"/>
                </a:solidFill>
              </a:rPr>
              <a:t>still</a:t>
            </a:r>
            <a:r>
              <a:rPr lang="fr-FR" sz="1400" dirty="0">
                <a:solidFill>
                  <a:srgbClr val="4B85F4"/>
                </a:solidFill>
              </a:rPr>
              <a:t> </a:t>
            </a:r>
            <a:r>
              <a:rPr lang="fr-FR" sz="1400" dirty="0" err="1">
                <a:solidFill>
                  <a:srgbClr val="4B85F4"/>
                </a:solidFill>
              </a:rPr>
              <a:t>working</a:t>
            </a:r>
            <a:r>
              <a:rPr lang="fr-FR" sz="1400" dirty="0">
                <a:solidFill>
                  <a:srgbClr val="4B85F4"/>
                </a:solidFill>
              </a:rPr>
              <a:t> on </a:t>
            </a:r>
            <a:r>
              <a:rPr lang="fr-FR" sz="1400" dirty="0" err="1">
                <a:solidFill>
                  <a:srgbClr val="4B85F4"/>
                </a:solidFill>
              </a:rPr>
              <a:t>your</a:t>
            </a:r>
            <a:r>
              <a:rPr lang="fr-FR" sz="1400" dirty="0">
                <a:solidFill>
                  <a:srgbClr val="4B85F4"/>
                </a:solidFill>
              </a:rPr>
              <a:t> </a:t>
            </a:r>
            <a:r>
              <a:rPr lang="fr-FR" sz="1400" dirty="0" err="1">
                <a:solidFill>
                  <a:srgbClr val="4B85F4"/>
                </a:solidFill>
              </a:rPr>
              <a:t>vehicle</a:t>
            </a:r>
            <a:r>
              <a:rPr lang="fr-FR" sz="1400" dirty="0">
                <a:solidFill>
                  <a:srgbClr val="4B85F4"/>
                </a:solidFill>
              </a:rPr>
              <a:t>, and </a:t>
            </a:r>
            <a:r>
              <a:rPr lang="fr-FR" sz="1400" dirty="0" err="1">
                <a:solidFill>
                  <a:srgbClr val="4B85F4"/>
                </a:solidFill>
              </a:rPr>
              <a:t>that</a:t>
            </a:r>
            <a:r>
              <a:rPr lang="fr-FR" sz="1400" dirty="0">
                <a:solidFill>
                  <a:srgbClr val="4B85F4"/>
                </a:solidFill>
              </a:rPr>
              <a:t> </a:t>
            </a:r>
            <a:r>
              <a:rPr lang="fr-FR" sz="1400" dirty="0" err="1">
                <a:solidFill>
                  <a:srgbClr val="4B85F4"/>
                </a:solidFill>
              </a:rPr>
              <a:t>it</a:t>
            </a:r>
            <a:r>
              <a:rPr lang="fr-FR" sz="1400" dirty="0">
                <a:solidFill>
                  <a:srgbClr val="4B85F4"/>
                </a:solidFill>
              </a:rPr>
              <a:t> </a:t>
            </a:r>
            <a:r>
              <a:rPr lang="fr-FR" sz="1400" dirty="0" err="1">
                <a:solidFill>
                  <a:srgbClr val="4B85F4"/>
                </a:solidFill>
              </a:rPr>
              <a:t>should</a:t>
            </a:r>
            <a:r>
              <a:rPr lang="fr-FR" sz="1400" dirty="0">
                <a:solidFill>
                  <a:srgbClr val="4B85F4"/>
                </a:solidFill>
              </a:rPr>
              <a:t> </a:t>
            </a:r>
            <a:r>
              <a:rPr lang="fr-FR" sz="1400" dirty="0" err="1">
                <a:solidFill>
                  <a:srgbClr val="4B85F4"/>
                </a:solidFill>
              </a:rPr>
              <a:t>be</a:t>
            </a:r>
            <a:r>
              <a:rPr lang="fr-FR" sz="1400" dirty="0">
                <a:solidFill>
                  <a:srgbClr val="4B85F4"/>
                </a:solidFill>
              </a:rPr>
              <a:t> good to go in about an </a:t>
            </a:r>
            <a:r>
              <a:rPr lang="fr-FR" sz="1400" dirty="0" err="1">
                <a:solidFill>
                  <a:srgbClr val="4B85F4"/>
                </a:solidFill>
              </a:rPr>
              <a:t>hour</a:t>
            </a:r>
            <a:r>
              <a:rPr lang="fr-FR" sz="1400" dirty="0">
                <a:solidFill>
                  <a:srgbClr val="4B85F4"/>
                </a:solidFill>
              </a:rPr>
              <a:t> and a </a:t>
            </a:r>
            <a:r>
              <a:rPr lang="fr-FR" sz="1400" dirty="0" err="1">
                <a:solidFill>
                  <a:srgbClr val="4B85F4"/>
                </a:solidFill>
              </a:rPr>
              <a:t>half</a:t>
            </a:r>
            <a:r>
              <a:rPr lang="fr-FR" sz="1400" dirty="0">
                <a:solidFill>
                  <a:srgbClr val="4B85F4"/>
                </a:solidFill>
              </a:rPr>
              <a:t>.</a:t>
            </a:r>
            <a:endParaRPr lang="en-FR" sz="1400" dirty="0">
              <a:solidFill>
                <a:srgbClr val="4B85F4"/>
              </a:solidFill>
            </a:endParaRPr>
          </a:p>
        </p:txBody>
      </p:sp>
      <p:sp>
        <p:nvSpPr>
          <p:cNvPr id="7" name="Rounded Rectangle 6">
            <a:extLst>
              <a:ext uri="{FF2B5EF4-FFF2-40B4-BE49-F238E27FC236}">
                <a16:creationId xmlns:a16="http://schemas.microsoft.com/office/drawing/2014/main" id="{38449BB8-ACD0-28B1-ADBF-4EF9AC55A869}"/>
              </a:ext>
            </a:extLst>
          </p:cNvPr>
          <p:cNvSpPr/>
          <p:nvPr/>
        </p:nvSpPr>
        <p:spPr>
          <a:xfrm>
            <a:off x="1769885" y="3801583"/>
            <a:ext cx="2600325" cy="821067"/>
          </a:xfrm>
          <a:prstGeom prst="roundRect">
            <a:avLst/>
          </a:prstGeom>
          <a:solidFill>
            <a:srgbClr val="4B85F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t>Right, </a:t>
            </a:r>
            <a:r>
              <a:rPr lang="fr-FR" sz="1400" dirty="0" err="1"/>
              <a:t>so</a:t>
            </a:r>
            <a:r>
              <a:rPr lang="fr-FR" sz="1400" dirty="0"/>
              <a:t> I </a:t>
            </a:r>
            <a:r>
              <a:rPr lang="fr-FR" sz="1400" dirty="0" err="1"/>
              <a:t>should</a:t>
            </a:r>
            <a:r>
              <a:rPr lang="fr-FR" sz="1400" dirty="0"/>
              <a:t> </a:t>
            </a:r>
            <a:r>
              <a:rPr lang="fr-FR" sz="1400" dirty="0" err="1"/>
              <a:t>get</a:t>
            </a:r>
            <a:r>
              <a:rPr lang="fr-FR" sz="1400" dirty="0"/>
              <a:t> </a:t>
            </a:r>
            <a:r>
              <a:rPr lang="fr-FR" sz="1400" dirty="0" err="1"/>
              <a:t>there</a:t>
            </a:r>
            <a:r>
              <a:rPr lang="fr-FR" sz="1400" dirty="0"/>
              <a:t> </a:t>
            </a:r>
            <a:r>
              <a:rPr lang="fr-FR" sz="1400" dirty="0" err="1"/>
              <a:t>around</a:t>
            </a:r>
            <a:r>
              <a:rPr lang="fr-FR" sz="1400" dirty="0"/>
              <a:t> five pm. </a:t>
            </a:r>
            <a:r>
              <a:rPr lang="fr-FR" sz="1400" dirty="0" err="1"/>
              <a:t>Thank</a:t>
            </a:r>
            <a:r>
              <a:rPr lang="fr-FR" sz="1400" dirty="0"/>
              <a:t> </a:t>
            </a:r>
            <a:r>
              <a:rPr lang="fr-FR" sz="1400" dirty="0" err="1"/>
              <a:t>you</a:t>
            </a:r>
            <a:r>
              <a:rPr lang="fr-FR" sz="1400" dirty="0"/>
              <a:t>, </a:t>
            </a:r>
            <a:r>
              <a:rPr lang="fr-FR" sz="1400" dirty="0" err="1"/>
              <a:t>madam</a:t>
            </a:r>
            <a:r>
              <a:rPr lang="fr-FR" sz="1400" dirty="0"/>
              <a:t>, have a </a:t>
            </a:r>
            <a:r>
              <a:rPr lang="fr-FR" sz="1400" dirty="0" err="1"/>
              <a:t>nice</a:t>
            </a:r>
            <a:r>
              <a:rPr lang="fr-FR" sz="1400" dirty="0"/>
              <a:t> </a:t>
            </a:r>
            <a:r>
              <a:rPr lang="fr-FR" sz="1400" dirty="0" err="1"/>
              <a:t>day</a:t>
            </a:r>
            <a:r>
              <a:rPr lang="fr-FR" sz="1400" dirty="0"/>
              <a:t>.</a:t>
            </a:r>
            <a:endParaRPr lang="en-FR" sz="1400" dirty="0"/>
          </a:p>
        </p:txBody>
      </p:sp>
      <p:sp>
        <p:nvSpPr>
          <p:cNvPr id="8" name="Rectangle 7">
            <a:extLst>
              <a:ext uri="{FF2B5EF4-FFF2-40B4-BE49-F238E27FC236}">
                <a16:creationId xmlns:a16="http://schemas.microsoft.com/office/drawing/2014/main" id="{D2D5D1CB-4347-2BCB-F19B-513B01D93819}"/>
              </a:ext>
            </a:extLst>
          </p:cNvPr>
          <p:cNvSpPr/>
          <p:nvPr/>
        </p:nvSpPr>
        <p:spPr>
          <a:xfrm>
            <a:off x="1607877" y="1381929"/>
            <a:ext cx="5003556" cy="3554435"/>
          </a:xfrm>
          <a:prstGeom prst="rect">
            <a:avLst/>
          </a:prstGeom>
          <a:noFill/>
          <a:ln w="38100">
            <a:solidFill>
              <a:srgbClr val="4B85F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9" name="Rectangle 8">
            <a:extLst>
              <a:ext uri="{FF2B5EF4-FFF2-40B4-BE49-F238E27FC236}">
                <a16:creationId xmlns:a16="http://schemas.microsoft.com/office/drawing/2014/main" id="{6349C52C-D0DC-DB9E-DD99-C6648AF15CE8}"/>
              </a:ext>
            </a:extLst>
          </p:cNvPr>
          <p:cNvSpPr/>
          <p:nvPr/>
        </p:nvSpPr>
        <p:spPr>
          <a:xfrm>
            <a:off x="3146640" y="1143400"/>
            <a:ext cx="1926030" cy="4136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000" b="1" dirty="0">
                <a:solidFill>
                  <a:srgbClr val="4B85F4"/>
                </a:solidFill>
              </a:rPr>
              <a:t>Context History</a:t>
            </a:r>
          </a:p>
        </p:txBody>
      </p:sp>
      <p:cxnSp>
        <p:nvCxnSpPr>
          <p:cNvPr id="10" name="Straight Arrow Connector 9">
            <a:extLst>
              <a:ext uri="{FF2B5EF4-FFF2-40B4-BE49-F238E27FC236}">
                <a16:creationId xmlns:a16="http://schemas.microsoft.com/office/drawing/2014/main" id="{1D8324BD-C70F-74FD-D280-F636DA231C84}"/>
              </a:ext>
            </a:extLst>
          </p:cNvPr>
          <p:cNvCxnSpPr>
            <a:cxnSpLocks/>
            <a:endCxn id="2" idx="0"/>
          </p:cNvCxnSpPr>
          <p:nvPr/>
        </p:nvCxnSpPr>
        <p:spPr>
          <a:xfrm>
            <a:off x="4989127" y="4936364"/>
            <a:ext cx="0" cy="440835"/>
          </a:xfrm>
          <a:prstGeom prst="straightConnector1">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5DED5B5-1F0D-5063-5EB4-3B953D05235C}"/>
              </a:ext>
            </a:extLst>
          </p:cNvPr>
          <p:cNvCxnSpPr>
            <a:cxnSpLocks/>
            <a:stCxn id="17" idx="2"/>
            <a:endCxn id="14" idx="0"/>
          </p:cNvCxnSpPr>
          <p:nvPr/>
        </p:nvCxnSpPr>
        <p:spPr>
          <a:xfrm>
            <a:off x="10422113" y="3245815"/>
            <a:ext cx="0" cy="1923751"/>
          </a:xfrm>
          <a:prstGeom prst="straightConnector1">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B626121-2DF3-297B-3B04-264BE73D9302}"/>
              </a:ext>
            </a:extLst>
          </p:cNvPr>
          <p:cNvSpPr txBox="1"/>
          <p:nvPr/>
        </p:nvSpPr>
        <p:spPr>
          <a:xfrm>
            <a:off x="9098514" y="3573992"/>
            <a:ext cx="2249570" cy="1077218"/>
          </a:xfrm>
          <a:prstGeom prst="rect">
            <a:avLst/>
          </a:prstGeom>
          <a:solidFill>
            <a:schemeClr val="bg1"/>
          </a:solidFill>
        </p:spPr>
        <p:txBody>
          <a:bodyPr wrap="square" rtlCol="0">
            <a:spAutoFit/>
          </a:bodyPr>
          <a:lstStyle/>
          <a:p>
            <a:pPr algn="ctr"/>
            <a:r>
              <a:rPr lang="en-FR" sz="1600" b="1" u="sng" dirty="0">
                <a:solidFill>
                  <a:srgbClr val="4B85F4"/>
                </a:solidFill>
              </a:rPr>
              <a:t>STEP 2</a:t>
            </a:r>
            <a:r>
              <a:rPr lang="en-FR" sz="1600" b="1" dirty="0">
                <a:solidFill>
                  <a:srgbClr val="4B85F4"/>
                </a:solidFill>
              </a:rPr>
              <a:t>: Using context history and the list of expected labels, generate the response</a:t>
            </a:r>
          </a:p>
        </p:txBody>
      </p:sp>
      <p:grpSp>
        <p:nvGrpSpPr>
          <p:cNvPr id="13" name="Group 12">
            <a:extLst>
              <a:ext uri="{FF2B5EF4-FFF2-40B4-BE49-F238E27FC236}">
                <a16:creationId xmlns:a16="http://schemas.microsoft.com/office/drawing/2014/main" id="{50BA5FBA-57E7-D743-C310-AA3574C112D1}"/>
              </a:ext>
            </a:extLst>
          </p:cNvPr>
          <p:cNvGrpSpPr/>
          <p:nvPr/>
        </p:nvGrpSpPr>
        <p:grpSpPr>
          <a:xfrm>
            <a:off x="8226791" y="4986315"/>
            <a:ext cx="3630174" cy="843280"/>
            <a:chOff x="8301858" y="4772376"/>
            <a:chExt cx="3630174" cy="843280"/>
          </a:xfrm>
        </p:grpSpPr>
        <p:sp>
          <p:nvSpPr>
            <p:cNvPr id="14" name="Rounded Rectangle 13">
              <a:extLst>
                <a:ext uri="{FF2B5EF4-FFF2-40B4-BE49-F238E27FC236}">
                  <a16:creationId xmlns:a16="http://schemas.microsoft.com/office/drawing/2014/main" id="{1710B6C3-6E7B-AFDB-0E6D-FA25581BF5F0}"/>
                </a:ext>
              </a:extLst>
            </p:cNvPr>
            <p:cNvSpPr/>
            <p:nvPr/>
          </p:nvSpPr>
          <p:spPr>
            <a:xfrm>
              <a:off x="9062327" y="4955627"/>
              <a:ext cx="2869705" cy="660029"/>
            </a:xfrm>
            <a:prstGeom prst="round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u="sng" dirty="0">
                  <a:solidFill>
                    <a:srgbClr val="4B85F4"/>
                  </a:solidFill>
                </a:rPr>
                <a:t>Yes, </a:t>
              </a:r>
              <a:r>
                <a:rPr lang="fr-FR" sz="1400" u="sng" dirty="0" err="1">
                  <a:solidFill>
                    <a:srgbClr val="4B85F4"/>
                  </a:solidFill>
                </a:rPr>
                <a:t>you</a:t>
              </a:r>
              <a:r>
                <a:rPr lang="fr-FR" sz="1400" u="sng" dirty="0">
                  <a:solidFill>
                    <a:srgbClr val="4B85F4"/>
                  </a:solidFill>
                </a:rPr>
                <a:t> can go </a:t>
              </a:r>
              <a:r>
                <a:rPr lang="fr-FR" sz="1400" u="sng" dirty="0" err="1">
                  <a:solidFill>
                    <a:srgbClr val="4B85F4"/>
                  </a:solidFill>
                </a:rPr>
                <a:t>there</a:t>
              </a:r>
              <a:r>
                <a:rPr lang="fr-FR" sz="1400" u="sng" dirty="0">
                  <a:solidFill>
                    <a:srgbClr val="4B85F4"/>
                  </a:solidFill>
                </a:rPr>
                <a:t> at five pm. </a:t>
              </a:r>
              <a:r>
                <a:rPr lang="fr-FR" sz="1400" b="1" i="1" dirty="0" err="1">
                  <a:solidFill>
                    <a:srgbClr val="4B85F4"/>
                  </a:solidFill>
                </a:rPr>
                <a:t>You’re</a:t>
              </a:r>
              <a:r>
                <a:rPr lang="fr-FR" sz="1400" b="1" i="1" dirty="0">
                  <a:solidFill>
                    <a:srgbClr val="4B85F4"/>
                  </a:solidFill>
                </a:rPr>
                <a:t> </a:t>
              </a:r>
              <a:r>
                <a:rPr lang="fr-FR" sz="1400" b="1" i="1" dirty="0" err="1">
                  <a:solidFill>
                    <a:srgbClr val="4B85F4"/>
                  </a:solidFill>
                </a:rPr>
                <a:t>welcome</a:t>
              </a:r>
              <a:r>
                <a:rPr lang="fr-FR" sz="1400" b="1" i="1" dirty="0">
                  <a:solidFill>
                    <a:srgbClr val="4B85F4"/>
                  </a:solidFill>
                </a:rPr>
                <a:t>, </a:t>
              </a:r>
              <a:r>
                <a:rPr lang="fr-FR" sz="1400" b="1" i="1" dirty="0" err="1">
                  <a:solidFill>
                    <a:srgbClr val="4B85F4"/>
                  </a:solidFill>
                </a:rPr>
                <a:t>goodbye</a:t>
              </a:r>
              <a:r>
                <a:rPr lang="fr-FR" sz="1400" b="1" i="1" dirty="0">
                  <a:solidFill>
                    <a:srgbClr val="4B85F4"/>
                  </a:solidFill>
                </a:rPr>
                <a:t>.</a:t>
              </a:r>
              <a:endParaRPr lang="en-FR" b="1" i="1" dirty="0">
                <a:solidFill>
                  <a:srgbClr val="4B85F4"/>
                </a:solidFill>
              </a:endParaRPr>
            </a:p>
          </p:txBody>
        </p:sp>
        <p:sp>
          <p:nvSpPr>
            <p:cNvPr id="15" name="Rectangle 14">
              <a:extLst>
                <a:ext uri="{FF2B5EF4-FFF2-40B4-BE49-F238E27FC236}">
                  <a16:creationId xmlns:a16="http://schemas.microsoft.com/office/drawing/2014/main" id="{3FDB4236-6BE7-34AF-814C-485D865CBD5F}"/>
                </a:ext>
              </a:extLst>
            </p:cNvPr>
            <p:cNvSpPr/>
            <p:nvPr/>
          </p:nvSpPr>
          <p:spPr>
            <a:xfrm>
              <a:off x="8301858" y="4772376"/>
              <a:ext cx="1998037" cy="273132"/>
            </a:xfrm>
            <a:prstGeom prst="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1200" b="1" dirty="0">
                  <a:solidFill>
                    <a:srgbClr val="E93F31"/>
                  </a:solidFill>
                </a:rPr>
                <a:t>“</a:t>
              </a:r>
              <a:r>
                <a:rPr lang="en-FR" sz="1200" u="sng" dirty="0">
                  <a:solidFill>
                    <a:srgbClr val="E93F31"/>
                  </a:solidFill>
                </a:rPr>
                <a:t>Information</a:t>
              </a:r>
              <a:r>
                <a:rPr lang="en-FR" sz="1200" b="1" dirty="0">
                  <a:solidFill>
                    <a:srgbClr val="E93F31"/>
                  </a:solidFill>
                </a:rPr>
                <a:t>”, “</a:t>
              </a:r>
              <a:r>
                <a:rPr lang="en-FR" sz="1200" b="1" i="1" dirty="0">
                  <a:solidFill>
                    <a:srgbClr val="E93F31"/>
                  </a:solidFill>
                </a:rPr>
                <a:t>Politeness</a:t>
              </a:r>
              <a:r>
                <a:rPr lang="en-FR" sz="1200" b="1" dirty="0">
                  <a:solidFill>
                    <a:srgbClr val="E93F31"/>
                  </a:solidFill>
                </a:rPr>
                <a:t>”</a:t>
              </a:r>
            </a:p>
          </p:txBody>
        </p:sp>
      </p:grpSp>
      <p:grpSp>
        <p:nvGrpSpPr>
          <p:cNvPr id="16" name="Group 15">
            <a:extLst>
              <a:ext uri="{FF2B5EF4-FFF2-40B4-BE49-F238E27FC236}">
                <a16:creationId xmlns:a16="http://schemas.microsoft.com/office/drawing/2014/main" id="{4E1C3F2E-AA1B-A79B-2C4F-2AE95D2FA32D}"/>
              </a:ext>
            </a:extLst>
          </p:cNvPr>
          <p:cNvGrpSpPr/>
          <p:nvPr/>
        </p:nvGrpSpPr>
        <p:grpSpPr>
          <a:xfrm>
            <a:off x="8848452" y="2408328"/>
            <a:ext cx="3008513" cy="837487"/>
            <a:chOff x="8941464" y="1469517"/>
            <a:chExt cx="3008513" cy="837487"/>
          </a:xfrm>
        </p:grpSpPr>
        <p:sp>
          <p:nvSpPr>
            <p:cNvPr id="17" name="Rounded Rectangle 16">
              <a:extLst>
                <a:ext uri="{FF2B5EF4-FFF2-40B4-BE49-F238E27FC236}">
                  <a16:creationId xmlns:a16="http://schemas.microsoft.com/office/drawing/2014/main" id="{F7FCAE57-7CB9-499C-0B86-CBC352B4C726}"/>
                </a:ext>
              </a:extLst>
            </p:cNvPr>
            <p:cNvSpPr/>
            <p:nvPr/>
          </p:nvSpPr>
          <p:spPr>
            <a:xfrm>
              <a:off x="9080272" y="1646975"/>
              <a:ext cx="2869705" cy="660029"/>
            </a:xfrm>
            <a:prstGeom prst="round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dirty="0">
                  <a:solidFill>
                    <a:srgbClr val="4B85F4"/>
                  </a:solidFill>
                </a:rPr>
                <a:t>?</a:t>
              </a:r>
              <a:endParaRPr lang="en-FR" sz="1400" b="1" dirty="0">
                <a:solidFill>
                  <a:srgbClr val="4B85F4"/>
                </a:solidFill>
              </a:endParaRPr>
            </a:p>
          </p:txBody>
        </p:sp>
        <p:sp>
          <p:nvSpPr>
            <p:cNvPr id="18" name="Rectangle 17">
              <a:extLst>
                <a:ext uri="{FF2B5EF4-FFF2-40B4-BE49-F238E27FC236}">
                  <a16:creationId xmlns:a16="http://schemas.microsoft.com/office/drawing/2014/main" id="{C09F7C61-8218-97E4-1AA6-C358F3E47C47}"/>
                </a:ext>
              </a:extLst>
            </p:cNvPr>
            <p:cNvSpPr/>
            <p:nvPr/>
          </p:nvSpPr>
          <p:spPr>
            <a:xfrm>
              <a:off x="8941464" y="1469517"/>
              <a:ext cx="1998037" cy="273132"/>
            </a:xfrm>
            <a:prstGeom prst="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1200" dirty="0">
                  <a:solidFill>
                    <a:srgbClr val="E93F31"/>
                  </a:solidFill>
                </a:rPr>
                <a:t>“Information”, “Politeness”</a:t>
              </a:r>
            </a:p>
          </p:txBody>
        </p:sp>
      </p:grpSp>
      <p:sp>
        <p:nvSpPr>
          <p:cNvPr id="19" name="Rectangle 18">
            <a:extLst>
              <a:ext uri="{FF2B5EF4-FFF2-40B4-BE49-F238E27FC236}">
                <a16:creationId xmlns:a16="http://schemas.microsoft.com/office/drawing/2014/main" id="{D10303E0-7CCF-82AE-F7A0-41B5A50870FC}"/>
              </a:ext>
            </a:extLst>
          </p:cNvPr>
          <p:cNvSpPr/>
          <p:nvPr/>
        </p:nvSpPr>
        <p:spPr>
          <a:xfrm>
            <a:off x="6935524" y="2180319"/>
            <a:ext cx="5102901" cy="4057647"/>
          </a:xfrm>
          <a:prstGeom prst="rect">
            <a:avLst/>
          </a:prstGeom>
          <a:noFill/>
          <a:ln w="38100">
            <a:solidFill>
              <a:schemeClr val="accent2">
                <a:lumMod val="40000"/>
                <a:lumOff val="6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0" name="TextBox 19">
            <a:extLst>
              <a:ext uri="{FF2B5EF4-FFF2-40B4-BE49-F238E27FC236}">
                <a16:creationId xmlns:a16="http://schemas.microsoft.com/office/drawing/2014/main" id="{57B9067A-E686-D54F-3E6F-3C156FEC21BC}"/>
              </a:ext>
            </a:extLst>
          </p:cNvPr>
          <p:cNvSpPr txBox="1"/>
          <p:nvPr/>
        </p:nvSpPr>
        <p:spPr>
          <a:xfrm>
            <a:off x="7157154" y="1983994"/>
            <a:ext cx="482824" cy="400110"/>
          </a:xfrm>
          <a:prstGeom prst="rect">
            <a:avLst/>
          </a:prstGeom>
          <a:solidFill>
            <a:schemeClr val="bg1"/>
          </a:solidFill>
        </p:spPr>
        <p:txBody>
          <a:bodyPr wrap="none" rtlCol="0">
            <a:spAutoFit/>
          </a:bodyPr>
          <a:lstStyle/>
          <a:p>
            <a:r>
              <a:rPr lang="en-FR" sz="2000" b="1" dirty="0">
                <a:solidFill>
                  <a:schemeClr val="accent2">
                    <a:lumMod val="75000"/>
                  </a:schemeClr>
                </a:solidFill>
              </a:rPr>
              <a:t>CD</a:t>
            </a:r>
            <a:endParaRPr lang="en-FR" b="1" dirty="0">
              <a:solidFill>
                <a:schemeClr val="accent2">
                  <a:lumMod val="75000"/>
                </a:schemeClr>
              </a:solidFill>
            </a:endParaRPr>
          </a:p>
        </p:txBody>
      </p:sp>
      <p:cxnSp>
        <p:nvCxnSpPr>
          <p:cNvPr id="21" name="Elbow Connector 20">
            <a:extLst>
              <a:ext uri="{FF2B5EF4-FFF2-40B4-BE49-F238E27FC236}">
                <a16:creationId xmlns:a16="http://schemas.microsoft.com/office/drawing/2014/main" id="{269BC7F4-A29A-BB0E-5739-A515356B3845}"/>
              </a:ext>
            </a:extLst>
          </p:cNvPr>
          <p:cNvCxnSpPr>
            <a:cxnSpLocks/>
            <a:stCxn id="2" idx="3"/>
          </p:cNvCxnSpPr>
          <p:nvPr/>
        </p:nvCxnSpPr>
        <p:spPr>
          <a:xfrm flipV="1">
            <a:off x="6423980" y="2915800"/>
            <a:ext cx="946969" cy="2791414"/>
          </a:xfrm>
          <a:prstGeom prst="bentConnector2">
            <a:avLst/>
          </a:prstGeom>
          <a:ln w="28575">
            <a:solidFill>
              <a:srgbClr val="4B85F4"/>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687AABD-D957-8AFA-448D-615AC87D8F38}"/>
              </a:ext>
            </a:extLst>
          </p:cNvPr>
          <p:cNvSpPr txBox="1"/>
          <p:nvPr/>
        </p:nvSpPr>
        <p:spPr>
          <a:xfrm>
            <a:off x="7004648" y="3579083"/>
            <a:ext cx="2054246" cy="1077218"/>
          </a:xfrm>
          <a:prstGeom prst="rect">
            <a:avLst/>
          </a:prstGeom>
          <a:solidFill>
            <a:schemeClr val="bg1"/>
          </a:solidFill>
        </p:spPr>
        <p:txBody>
          <a:bodyPr wrap="square" rtlCol="0">
            <a:spAutoFit/>
          </a:bodyPr>
          <a:lstStyle/>
          <a:p>
            <a:pPr algn="ctr"/>
            <a:r>
              <a:rPr lang="en-FR" sz="1600" b="1" u="sng" dirty="0">
                <a:solidFill>
                  <a:srgbClr val="4B85F4"/>
                </a:solidFill>
              </a:rPr>
              <a:t>STEP 1</a:t>
            </a:r>
            <a:r>
              <a:rPr lang="en-FR" sz="1600" b="1" dirty="0">
                <a:solidFill>
                  <a:srgbClr val="4B85F4"/>
                </a:solidFill>
              </a:rPr>
              <a:t>: From context history, predict the labels expected in the next response</a:t>
            </a:r>
          </a:p>
        </p:txBody>
      </p:sp>
      <p:cxnSp>
        <p:nvCxnSpPr>
          <p:cNvPr id="23" name="Straight Arrow Connector 22">
            <a:extLst>
              <a:ext uri="{FF2B5EF4-FFF2-40B4-BE49-F238E27FC236}">
                <a16:creationId xmlns:a16="http://schemas.microsoft.com/office/drawing/2014/main" id="{BD81EB6A-C3BD-3A17-7C21-8EE2759A538D}"/>
              </a:ext>
            </a:extLst>
          </p:cNvPr>
          <p:cNvCxnSpPr>
            <a:cxnSpLocks/>
          </p:cNvCxnSpPr>
          <p:nvPr/>
        </p:nvCxnSpPr>
        <p:spPr>
          <a:xfrm>
            <a:off x="7356201" y="2915801"/>
            <a:ext cx="1616311" cy="0"/>
          </a:xfrm>
          <a:prstGeom prst="straightConnector1">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DAB30F98-E8B7-A64A-D614-D1FCDDEA1A49}"/>
              </a:ext>
            </a:extLst>
          </p:cNvPr>
          <p:cNvSpPr/>
          <p:nvPr/>
        </p:nvSpPr>
        <p:spPr>
          <a:xfrm>
            <a:off x="153575" y="5169567"/>
            <a:ext cx="2384033" cy="1068399"/>
          </a:xfrm>
          <a:prstGeom prst="rect">
            <a:avLst/>
          </a:prstGeom>
          <a:noFill/>
          <a:ln w="38100">
            <a:solidFill>
              <a:schemeClr val="accent6">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5" name="TextBox 24">
            <a:extLst>
              <a:ext uri="{FF2B5EF4-FFF2-40B4-BE49-F238E27FC236}">
                <a16:creationId xmlns:a16="http://schemas.microsoft.com/office/drawing/2014/main" id="{1F8796A1-E7D8-004F-2849-512B22556ADD}"/>
              </a:ext>
            </a:extLst>
          </p:cNvPr>
          <p:cNvSpPr txBox="1"/>
          <p:nvPr/>
        </p:nvSpPr>
        <p:spPr>
          <a:xfrm>
            <a:off x="266709" y="4950297"/>
            <a:ext cx="960934" cy="400110"/>
          </a:xfrm>
          <a:prstGeom prst="rect">
            <a:avLst/>
          </a:prstGeom>
          <a:solidFill>
            <a:schemeClr val="bg1"/>
          </a:solidFill>
        </p:spPr>
        <p:txBody>
          <a:bodyPr wrap="square" rtlCol="0">
            <a:spAutoFit/>
          </a:bodyPr>
          <a:lstStyle/>
          <a:p>
            <a:pPr algn="ctr"/>
            <a:r>
              <a:rPr lang="en-FR" sz="2000" b="1" dirty="0">
                <a:solidFill>
                  <a:schemeClr val="accent6">
                    <a:lumMod val="75000"/>
                  </a:schemeClr>
                </a:solidFill>
              </a:rPr>
              <a:t>NO-CD</a:t>
            </a:r>
            <a:endParaRPr lang="en-FR" b="1" dirty="0">
              <a:solidFill>
                <a:schemeClr val="accent6">
                  <a:lumMod val="75000"/>
                </a:schemeClr>
              </a:solidFill>
            </a:endParaRPr>
          </a:p>
        </p:txBody>
      </p:sp>
      <p:sp>
        <p:nvSpPr>
          <p:cNvPr id="26" name="Rounded Rectangle 25">
            <a:extLst>
              <a:ext uri="{FF2B5EF4-FFF2-40B4-BE49-F238E27FC236}">
                <a16:creationId xmlns:a16="http://schemas.microsoft.com/office/drawing/2014/main" id="{4DD79C61-86D5-E4D0-4F87-98309BD80CA4}"/>
              </a:ext>
            </a:extLst>
          </p:cNvPr>
          <p:cNvSpPr/>
          <p:nvPr/>
        </p:nvSpPr>
        <p:spPr>
          <a:xfrm>
            <a:off x="538815" y="5375857"/>
            <a:ext cx="1733932" cy="660029"/>
          </a:xfrm>
          <a:prstGeom prst="round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solidFill>
                  <a:srgbClr val="4B85F4"/>
                </a:solidFill>
              </a:rPr>
              <a:t>Have a </a:t>
            </a:r>
            <a:r>
              <a:rPr lang="fr-FR" sz="1600" dirty="0" err="1">
                <a:solidFill>
                  <a:srgbClr val="4B85F4"/>
                </a:solidFill>
              </a:rPr>
              <a:t>nice</a:t>
            </a:r>
            <a:r>
              <a:rPr lang="fr-FR" sz="1600" dirty="0">
                <a:solidFill>
                  <a:srgbClr val="4B85F4"/>
                </a:solidFill>
              </a:rPr>
              <a:t> </a:t>
            </a:r>
            <a:r>
              <a:rPr lang="fr-FR" sz="1600" dirty="0" err="1">
                <a:solidFill>
                  <a:srgbClr val="4B85F4"/>
                </a:solidFill>
              </a:rPr>
              <a:t>day</a:t>
            </a:r>
            <a:r>
              <a:rPr lang="fr-FR" sz="1600" dirty="0">
                <a:solidFill>
                  <a:srgbClr val="4B85F4"/>
                </a:solidFill>
              </a:rPr>
              <a:t>.</a:t>
            </a:r>
            <a:endParaRPr lang="en-FR" sz="1600" dirty="0">
              <a:solidFill>
                <a:srgbClr val="4B85F4"/>
              </a:solidFill>
            </a:endParaRPr>
          </a:p>
        </p:txBody>
      </p:sp>
      <p:cxnSp>
        <p:nvCxnSpPr>
          <p:cNvPr id="27" name="Straight Arrow Connector 26">
            <a:extLst>
              <a:ext uri="{FF2B5EF4-FFF2-40B4-BE49-F238E27FC236}">
                <a16:creationId xmlns:a16="http://schemas.microsoft.com/office/drawing/2014/main" id="{E4BD29F7-7BB1-75CC-C677-46423B2FC669}"/>
              </a:ext>
            </a:extLst>
          </p:cNvPr>
          <p:cNvCxnSpPr>
            <a:cxnSpLocks/>
            <a:stCxn id="2" idx="1"/>
            <a:endCxn id="26" idx="3"/>
          </p:cNvCxnSpPr>
          <p:nvPr/>
        </p:nvCxnSpPr>
        <p:spPr>
          <a:xfrm flipH="1" flipV="1">
            <a:off x="2272747" y="5705872"/>
            <a:ext cx="1281528" cy="1342"/>
          </a:xfrm>
          <a:prstGeom prst="straightConnector1">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cxnSp>
      <p:sp>
        <p:nvSpPr>
          <p:cNvPr id="41" name="Rounded Rectangle 40">
            <a:extLst>
              <a:ext uri="{FF2B5EF4-FFF2-40B4-BE49-F238E27FC236}">
                <a16:creationId xmlns:a16="http://schemas.microsoft.com/office/drawing/2014/main" id="{6EF502AE-23E0-5683-F638-BBCE37DD4435}"/>
              </a:ext>
            </a:extLst>
          </p:cNvPr>
          <p:cNvSpPr/>
          <p:nvPr/>
        </p:nvSpPr>
        <p:spPr>
          <a:xfrm>
            <a:off x="1769885" y="1701034"/>
            <a:ext cx="2600325" cy="583189"/>
          </a:xfrm>
          <a:prstGeom prst="roundRect">
            <a:avLst/>
          </a:prstGeom>
          <a:solidFill>
            <a:srgbClr val="4B85F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FFD2B2"/>
                </a:solidFill>
              </a:rPr>
              <a:t>Y</a:t>
            </a:r>
            <a:r>
              <a:rPr lang="en-FR" sz="1400" dirty="0">
                <a:solidFill>
                  <a:srgbClr val="FFD2B2"/>
                </a:solidFill>
              </a:rPr>
              <a:t>es.</a:t>
            </a:r>
            <a:r>
              <a:rPr lang="en-FR" sz="1400" dirty="0"/>
              <a:t> </a:t>
            </a:r>
            <a:r>
              <a:rPr lang="en-GB" sz="1400" dirty="0">
                <a:solidFill>
                  <a:srgbClr val="E3ABCC"/>
                </a:solidFill>
              </a:rPr>
              <a:t>F</a:t>
            </a:r>
            <a:r>
              <a:rPr lang="en-FR" sz="1400" dirty="0">
                <a:solidFill>
                  <a:srgbClr val="E3ABCC"/>
                </a:solidFill>
              </a:rPr>
              <a:t>ive pm.</a:t>
            </a:r>
          </a:p>
          <a:p>
            <a:pPr algn="ctr"/>
            <a:r>
              <a:rPr lang="en-GB" sz="1400" dirty="0">
                <a:solidFill>
                  <a:srgbClr val="FFD2B2"/>
                </a:solidFill>
              </a:rPr>
              <a:t>O</a:t>
            </a:r>
            <a:r>
              <a:rPr lang="en-FR" sz="1400" dirty="0">
                <a:solidFill>
                  <a:srgbClr val="FFD2B2"/>
                </a:solidFill>
              </a:rPr>
              <a:t>k, </a:t>
            </a:r>
            <a:r>
              <a:rPr lang="en-FR" sz="1400" u="sng" dirty="0">
                <a:solidFill>
                  <a:srgbClr val="FFD2B2"/>
                </a:solidFill>
              </a:rPr>
              <a:t>perfect!</a:t>
            </a:r>
            <a:r>
              <a:rPr lang="en-FR" sz="1400" dirty="0"/>
              <a:t> </a:t>
            </a:r>
            <a:r>
              <a:rPr lang="en-FR" sz="1400" dirty="0">
                <a:solidFill>
                  <a:srgbClr val="70D141"/>
                </a:solidFill>
              </a:rPr>
              <a:t>thank you.</a:t>
            </a:r>
          </a:p>
        </p:txBody>
      </p:sp>
      <p:sp>
        <p:nvSpPr>
          <p:cNvPr id="40" name="TextBox 39">
            <a:extLst>
              <a:ext uri="{FF2B5EF4-FFF2-40B4-BE49-F238E27FC236}">
                <a16:creationId xmlns:a16="http://schemas.microsoft.com/office/drawing/2014/main" id="{21E49C74-5B08-932F-6F45-21873B794D50}"/>
              </a:ext>
            </a:extLst>
          </p:cNvPr>
          <p:cNvSpPr txBox="1"/>
          <p:nvPr/>
        </p:nvSpPr>
        <p:spPr>
          <a:xfrm>
            <a:off x="1893664" y="2251196"/>
            <a:ext cx="1473611" cy="415498"/>
          </a:xfrm>
          <a:prstGeom prst="rect">
            <a:avLst/>
          </a:prstGeom>
          <a:solidFill>
            <a:schemeClr val="bg1"/>
          </a:solidFill>
          <a:ln w="28575">
            <a:solidFill>
              <a:srgbClr val="4B85F4"/>
            </a:solidFill>
          </a:ln>
        </p:spPr>
        <p:txBody>
          <a:bodyPr wrap="square" lIns="91440" tIns="45720" rIns="91440" bIns="45720" anchor="t">
            <a:spAutoFit/>
          </a:bodyPr>
          <a:lstStyle/>
          <a:p>
            <a:pPr algn="ctr"/>
            <a:r>
              <a:rPr lang="en-FR" sz="700" dirty="0">
                <a:solidFill>
                  <a:srgbClr val="4D8AE7"/>
                </a:solidFill>
                <a:latin typeface="Poppins"/>
                <a:cs typeface="Poppins"/>
              </a:rPr>
              <a:t>[</a:t>
            </a:r>
            <a:r>
              <a:rPr lang="en-FR" sz="700" dirty="0">
                <a:solidFill>
                  <a:srgbClr val="DF6245"/>
                </a:solidFill>
                <a:latin typeface="Poppins"/>
                <a:cs typeface="Poppins"/>
              </a:rPr>
              <a:t>Information</a:t>
            </a:r>
            <a:r>
              <a:rPr lang="en-FR" sz="700" dirty="0">
                <a:solidFill>
                  <a:srgbClr val="4D8AE7"/>
                </a:solidFill>
                <a:latin typeface="Poppins"/>
                <a:cs typeface="Poppins"/>
              </a:rPr>
              <a:t>, </a:t>
            </a:r>
            <a:r>
              <a:rPr lang="en-FR" sz="700" dirty="0">
                <a:solidFill>
                  <a:srgbClr val="EC4DCE"/>
                </a:solidFill>
                <a:latin typeface="Poppins"/>
                <a:cs typeface="Poppins"/>
              </a:rPr>
              <a:t>Restating</a:t>
            </a:r>
            <a:r>
              <a:rPr lang="en-FR" sz="700" dirty="0">
                <a:solidFill>
                  <a:srgbClr val="4D8AE7"/>
                </a:solidFill>
                <a:latin typeface="Poppins"/>
                <a:cs typeface="Poppins"/>
              </a:rPr>
              <a:t>, </a:t>
            </a:r>
            <a:br>
              <a:rPr lang="en-FR" sz="700" dirty="0">
                <a:latin typeface="Poppins"/>
                <a:cs typeface="Poppins"/>
              </a:rPr>
            </a:br>
            <a:r>
              <a:rPr lang="en-FR" sz="700" dirty="0">
                <a:solidFill>
                  <a:srgbClr val="DF6245"/>
                </a:solidFill>
                <a:latin typeface="Poppins"/>
                <a:cs typeface="Poppins"/>
              </a:rPr>
              <a:t>Information</a:t>
            </a:r>
            <a:r>
              <a:rPr lang="en-FR" sz="700" dirty="0">
                <a:solidFill>
                  <a:srgbClr val="4D8AE7"/>
                </a:solidFill>
                <a:latin typeface="Poppins"/>
                <a:cs typeface="Poppins"/>
              </a:rPr>
              <a:t>, </a:t>
            </a:r>
            <a:r>
              <a:rPr lang="en-FR" sz="700" dirty="0">
                <a:solidFill>
                  <a:srgbClr val="00B26D"/>
                </a:solidFill>
                <a:latin typeface="Poppins"/>
                <a:cs typeface="Poppins"/>
              </a:rPr>
              <a:t>Politeness</a:t>
            </a:r>
            <a:r>
              <a:rPr lang="en-FR" sz="700" dirty="0">
                <a:solidFill>
                  <a:srgbClr val="4D8AE7"/>
                </a:solidFill>
                <a:latin typeface="Poppins"/>
                <a:cs typeface="Poppins"/>
              </a:rPr>
              <a:t>]</a:t>
            </a:r>
          </a:p>
          <a:p>
            <a:pPr algn="ctr"/>
            <a:r>
              <a:rPr lang="en-FR" sz="700" b="1" u="sng" dirty="0">
                <a:solidFill>
                  <a:srgbClr val="4D8AE7"/>
                </a:solidFill>
                <a:latin typeface="Poppins"/>
                <a:cs typeface="Poppins"/>
              </a:rPr>
              <a:t>Satisfaction</a:t>
            </a:r>
            <a:endParaRPr lang="fr-FR" sz="700" b="1" u="sng" dirty="0">
              <a:solidFill>
                <a:srgbClr val="4D8AE7"/>
              </a:solidFill>
              <a:latin typeface="Poppins"/>
              <a:cs typeface="Poppins"/>
            </a:endParaRPr>
          </a:p>
        </p:txBody>
      </p:sp>
      <p:sp>
        <p:nvSpPr>
          <p:cNvPr id="42" name="TextBox 41">
            <a:extLst>
              <a:ext uri="{FF2B5EF4-FFF2-40B4-BE49-F238E27FC236}">
                <a16:creationId xmlns:a16="http://schemas.microsoft.com/office/drawing/2014/main" id="{FE9F48DF-8D83-B206-A9A0-1774BAFBB564}"/>
              </a:ext>
            </a:extLst>
          </p:cNvPr>
          <p:cNvSpPr txBox="1"/>
          <p:nvPr/>
        </p:nvSpPr>
        <p:spPr>
          <a:xfrm>
            <a:off x="1893663" y="4572477"/>
            <a:ext cx="1473611" cy="200055"/>
          </a:xfrm>
          <a:prstGeom prst="rect">
            <a:avLst/>
          </a:prstGeom>
          <a:solidFill>
            <a:schemeClr val="bg1"/>
          </a:solidFill>
          <a:ln w="28575">
            <a:solidFill>
              <a:srgbClr val="4B85F4"/>
            </a:solidFill>
          </a:ln>
        </p:spPr>
        <p:txBody>
          <a:bodyPr wrap="square" lIns="91440" tIns="45720" rIns="91440" bIns="45720" anchor="t">
            <a:spAutoFit/>
          </a:bodyPr>
          <a:lstStyle/>
          <a:p>
            <a:pPr algn="ctr"/>
            <a:r>
              <a:rPr lang="en-FR" sz="700" dirty="0">
                <a:solidFill>
                  <a:srgbClr val="4B84F4"/>
                </a:solidFill>
                <a:latin typeface="Poppins"/>
                <a:cs typeface="Poppins"/>
              </a:rPr>
              <a:t>[Information, Politeness]</a:t>
            </a:r>
            <a:endParaRPr lang="fr-FR" sz="700" dirty="0">
              <a:solidFill>
                <a:srgbClr val="4B84F4"/>
              </a:solidFill>
              <a:latin typeface="Poppins"/>
              <a:cs typeface="Poppins"/>
            </a:endParaRPr>
          </a:p>
        </p:txBody>
      </p:sp>
      <p:sp>
        <p:nvSpPr>
          <p:cNvPr id="43" name="TextBox 42">
            <a:extLst>
              <a:ext uri="{FF2B5EF4-FFF2-40B4-BE49-F238E27FC236}">
                <a16:creationId xmlns:a16="http://schemas.microsoft.com/office/drawing/2014/main" id="{82536554-223E-AB6C-BF31-D271EC74B8E8}"/>
              </a:ext>
            </a:extLst>
          </p:cNvPr>
          <p:cNvSpPr txBox="1"/>
          <p:nvPr/>
        </p:nvSpPr>
        <p:spPr>
          <a:xfrm>
            <a:off x="4773020" y="3542385"/>
            <a:ext cx="1473611" cy="200055"/>
          </a:xfrm>
          <a:prstGeom prst="rect">
            <a:avLst/>
          </a:prstGeom>
          <a:solidFill>
            <a:schemeClr val="bg1"/>
          </a:solidFill>
          <a:ln w="28575">
            <a:solidFill>
              <a:srgbClr val="4B85F4"/>
            </a:solidFill>
          </a:ln>
        </p:spPr>
        <p:txBody>
          <a:bodyPr wrap="square" lIns="91440" tIns="45720" rIns="91440" bIns="45720" anchor="t">
            <a:spAutoFit/>
          </a:bodyPr>
          <a:lstStyle/>
          <a:p>
            <a:pPr algn="ctr"/>
            <a:r>
              <a:rPr lang="en-FR" sz="700" dirty="0">
                <a:solidFill>
                  <a:srgbClr val="4B84F4"/>
                </a:solidFill>
                <a:latin typeface="Poppins"/>
                <a:cs typeface="Poppins"/>
              </a:rPr>
              <a:t>[Information]</a:t>
            </a:r>
            <a:endParaRPr lang="fr-FR" sz="700" dirty="0">
              <a:solidFill>
                <a:srgbClr val="4B84F4"/>
              </a:solidFill>
              <a:latin typeface="Poppins"/>
              <a:cs typeface="Poppins"/>
            </a:endParaRPr>
          </a:p>
        </p:txBody>
      </p:sp>
      <p:pic>
        <p:nvPicPr>
          <p:cNvPr id="45" name="Graphic 44" descr="Lightbulb and gear with solid fill">
            <a:extLst>
              <a:ext uri="{FF2B5EF4-FFF2-40B4-BE49-F238E27FC236}">
                <a16:creationId xmlns:a16="http://schemas.microsoft.com/office/drawing/2014/main" id="{7A1D90C1-7F95-FF61-9423-1C0258EE969F}"/>
              </a:ext>
            </a:extLst>
          </p:cNvPr>
          <p:cNvPicPr>
            <a:picLocks noChangeAspect="1"/>
          </p:cNvPicPr>
          <p:nvPr/>
        </p:nvPicPr>
        <p:blipFill>
          <a:blip r:embed="rId3">
            <a:alphaModFix/>
            <a:extLst>
              <a:ext uri="{96DAC541-7B7A-43D3-8B79-37D633B846F1}">
                <asvg:svgBlip xmlns:asvg="http://schemas.microsoft.com/office/drawing/2016/SVG/main" r:embed="rId4"/>
              </a:ext>
            </a:extLst>
          </a:blip>
          <a:stretch>
            <a:fillRect/>
          </a:stretch>
        </p:blipFill>
        <p:spPr>
          <a:xfrm>
            <a:off x="155142" y="260967"/>
            <a:ext cx="844390" cy="844390"/>
          </a:xfrm>
          <a:prstGeom prst="rect">
            <a:avLst/>
          </a:prstGeom>
        </p:spPr>
      </p:pic>
      <p:sp>
        <p:nvSpPr>
          <p:cNvPr id="46" name="Title 45">
            <a:extLst>
              <a:ext uri="{FF2B5EF4-FFF2-40B4-BE49-F238E27FC236}">
                <a16:creationId xmlns:a16="http://schemas.microsoft.com/office/drawing/2014/main" id="{033F308F-2C93-28EC-1AB3-482DE9A5B5AC}"/>
              </a:ext>
            </a:extLst>
          </p:cNvPr>
          <p:cNvSpPr>
            <a:spLocks noGrp="1"/>
          </p:cNvSpPr>
          <p:nvPr>
            <p:ph type="title"/>
          </p:nvPr>
        </p:nvSpPr>
        <p:spPr>
          <a:xfrm>
            <a:off x="1246162" y="58998"/>
            <a:ext cx="10945837" cy="1325563"/>
          </a:xfrm>
        </p:spPr>
        <p:txBody>
          <a:bodyPr>
            <a:normAutofit/>
          </a:bodyPr>
          <a:lstStyle/>
          <a:p>
            <a:r>
              <a:rPr lang="en-FR" dirty="0">
                <a:latin typeface="Poppins"/>
                <a:cs typeface="Poppins"/>
              </a:rPr>
              <a:t>E2E Generation </a:t>
            </a:r>
            <a:r>
              <a:rPr lang="en-FR" sz="2000" dirty="0">
                <a:solidFill>
                  <a:srgbClr val="00B26D"/>
                </a:solidFill>
                <a:latin typeface="Poppins"/>
                <a:cs typeface="Poppins"/>
              </a:rPr>
              <a:t>(NO-CD) </a:t>
            </a:r>
            <a:r>
              <a:rPr lang="en-FR" dirty="0">
                <a:latin typeface="Poppins"/>
                <a:cs typeface="Poppins"/>
              </a:rPr>
              <a:t>VS </a:t>
            </a:r>
            <a:r>
              <a:rPr lang="en-FR" b="1" dirty="0">
                <a:latin typeface="Poppins"/>
                <a:cs typeface="Poppins"/>
              </a:rPr>
              <a:t>C</a:t>
            </a:r>
            <a:r>
              <a:rPr lang="en-GB" dirty="0">
                <a:latin typeface="Poppins"/>
                <a:cs typeface="Poppins"/>
              </a:rPr>
              <a:t>o</a:t>
            </a:r>
            <a:r>
              <a:rPr lang="en-FR" dirty="0">
                <a:latin typeface="Poppins"/>
                <a:cs typeface="Poppins"/>
              </a:rPr>
              <a:t>n</a:t>
            </a:r>
            <a:r>
              <a:rPr lang="en-FR" b="1" u="sng" dirty="0">
                <a:latin typeface="Poppins"/>
                <a:cs typeface="Poppins"/>
              </a:rPr>
              <a:t>D</a:t>
            </a:r>
            <a:r>
              <a:rPr lang="en-FR" dirty="0">
                <a:latin typeface="Poppins"/>
                <a:cs typeface="Poppins"/>
              </a:rPr>
              <a:t>itional Generation </a:t>
            </a:r>
            <a:r>
              <a:rPr lang="en-FR" sz="2000" dirty="0">
                <a:solidFill>
                  <a:srgbClr val="DF6245"/>
                </a:solidFill>
                <a:latin typeface="Poppins"/>
                <a:cs typeface="Poppins"/>
              </a:rPr>
              <a:t>(CD) </a:t>
            </a:r>
            <a:endParaRPr lang="en-FR" sz="3600" dirty="0"/>
          </a:p>
        </p:txBody>
      </p:sp>
      <p:sp>
        <p:nvSpPr>
          <p:cNvPr id="3" name="TextBox 2">
            <a:extLst>
              <a:ext uri="{FF2B5EF4-FFF2-40B4-BE49-F238E27FC236}">
                <a16:creationId xmlns:a16="http://schemas.microsoft.com/office/drawing/2014/main" id="{C5B24415-6117-E14E-295F-9938AAF263FA}"/>
              </a:ext>
            </a:extLst>
          </p:cNvPr>
          <p:cNvSpPr txBox="1"/>
          <p:nvPr/>
        </p:nvSpPr>
        <p:spPr>
          <a:xfrm>
            <a:off x="2425479" y="1332309"/>
            <a:ext cx="1289135" cy="369332"/>
          </a:xfrm>
          <a:prstGeom prst="rect">
            <a:avLst/>
          </a:prstGeom>
          <a:noFill/>
        </p:spPr>
        <p:txBody>
          <a:bodyPr wrap="none" rtlCol="0">
            <a:spAutoFit/>
          </a:bodyPr>
          <a:lstStyle/>
          <a:p>
            <a:r>
              <a:rPr lang="en-FR" dirty="0">
                <a:solidFill>
                  <a:srgbClr val="4B84F4"/>
                </a:solidFill>
                <a:latin typeface="Poppins" pitchFamily="2" charset="77"/>
                <a:cs typeface="Poppins" pitchFamily="2" charset="77"/>
              </a:rPr>
              <a:t>customer</a:t>
            </a:r>
          </a:p>
        </p:txBody>
      </p:sp>
      <p:sp>
        <p:nvSpPr>
          <p:cNvPr id="4" name="TextBox 3">
            <a:extLst>
              <a:ext uri="{FF2B5EF4-FFF2-40B4-BE49-F238E27FC236}">
                <a16:creationId xmlns:a16="http://schemas.microsoft.com/office/drawing/2014/main" id="{1358A23A-CFD4-6778-705D-0E305A4D009D}"/>
              </a:ext>
            </a:extLst>
          </p:cNvPr>
          <p:cNvSpPr txBox="1"/>
          <p:nvPr/>
        </p:nvSpPr>
        <p:spPr>
          <a:xfrm>
            <a:off x="4571907" y="1329053"/>
            <a:ext cx="869149" cy="369332"/>
          </a:xfrm>
          <a:prstGeom prst="rect">
            <a:avLst/>
          </a:prstGeom>
          <a:noFill/>
        </p:spPr>
        <p:txBody>
          <a:bodyPr wrap="none" rtlCol="0">
            <a:spAutoFit/>
          </a:bodyPr>
          <a:lstStyle/>
          <a:p>
            <a:r>
              <a:rPr lang="en-FR" dirty="0">
                <a:solidFill>
                  <a:srgbClr val="4B84F4"/>
                </a:solidFill>
                <a:latin typeface="Poppins" pitchFamily="2" charset="77"/>
                <a:cs typeface="Poppins" pitchFamily="2" charset="77"/>
              </a:rPr>
              <a:t>agent</a:t>
            </a:r>
          </a:p>
        </p:txBody>
      </p:sp>
      <p:sp>
        <p:nvSpPr>
          <p:cNvPr id="30" name="TextBox 29">
            <a:extLst>
              <a:ext uri="{FF2B5EF4-FFF2-40B4-BE49-F238E27FC236}">
                <a16:creationId xmlns:a16="http://schemas.microsoft.com/office/drawing/2014/main" id="{9312B100-D529-FD2B-14C7-4E7BA2F160F1}"/>
              </a:ext>
            </a:extLst>
          </p:cNvPr>
          <p:cNvSpPr txBox="1"/>
          <p:nvPr/>
        </p:nvSpPr>
        <p:spPr>
          <a:xfrm>
            <a:off x="3118210" y="6400006"/>
            <a:ext cx="6256841" cy="415498"/>
          </a:xfrm>
          <a:prstGeom prst="rect">
            <a:avLst/>
          </a:prstGeom>
          <a:noFill/>
          <a:ln w="19050">
            <a:solidFill>
              <a:srgbClr val="A5AFF5"/>
            </a:solidFill>
            <a:prstDash val="sysDash"/>
          </a:ln>
        </p:spPr>
        <p:txBody>
          <a:bodyPr wrap="none" rtlCol="0">
            <a:spAutoFit/>
          </a:bodyPr>
          <a:lstStyle/>
          <a:p>
            <a:pPr algn="ctr"/>
            <a:r>
              <a:rPr lang="en-GB" sz="1050" dirty="0">
                <a:solidFill>
                  <a:srgbClr val="A5AFF5"/>
                </a:solidFill>
                <a:latin typeface="Poppins" pitchFamily="2" charset="77"/>
                <a:cs typeface="Poppins" pitchFamily="2" charset="77"/>
              </a:rPr>
              <a:t>[</a:t>
            </a:r>
            <a:r>
              <a:rPr lang="en-GB" sz="1050" b="1" dirty="0">
                <a:solidFill>
                  <a:srgbClr val="A5AFF5"/>
                </a:solidFill>
                <a:latin typeface="Poppins" pitchFamily="2" charset="77"/>
                <a:cs typeface="Poppins" pitchFamily="2" charset="77"/>
              </a:rPr>
              <a:t>A New Task for Predicting Emotions and Dialogue Strategies in Task-Oriented Dialogue </a:t>
            </a:r>
            <a:br>
              <a:rPr lang="en-GB" sz="1050" dirty="0">
                <a:solidFill>
                  <a:srgbClr val="A5AFF5"/>
                </a:solidFill>
                <a:latin typeface="Poppins" pitchFamily="2" charset="77"/>
                <a:cs typeface="Poppins" pitchFamily="2" charset="77"/>
              </a:rPr>
            </a:br>
            <a:r>
              <a:rPr lang="en-GB" sz="1050" dirty="0">
                <a:solidFill>
                  <a:srgbClr val="A5AFF5"/>
                </a:solidFill>
                <a:latin typeface="Poppins" pitchFamily="2" charset="77"/>
                <a:cs typeface="Poppins" pitchFamily="2" charset="77"/>
              </a:rPr>
              <a:t>Vanel, Yacoubi and Clavel, ACII 2023</a:t>
            </a:r>
            <a:r>
              <a:rPr lang="en-FR" sz="1050" dirty="0">
                <a:solidFill>
                  <a:srgbClr val="A5AFF5"/>
                </a:solidFill>
                <a:latin typeface="Poppins" pitchFamily="2" charset="77"/>
                <a:cs typeface="Poppins" pitchFamily="2" charset="77"/>
              </a:rPr>
              <a:t>]</a:t>
            </a:r>
            <a:endParaRPr lang="en-GB" sz="1050" dirty="0">
              <a:solidFill>
                <a:srgbClr val="A5AFF5"/>
              </a:solidFill>
              <a:latin typeface="Poppins" pitchFamily="2" charset="77"/>
              <a:cs typeface="Poppins" pitchFamily="2" charset="77"/>
            </a:endParaRPr>
          </a:p>
        </p:txBody>
      </p:sp>
    </p:spTree>
    <p:extLst>
      <p:ext uri="{BB962C8B-B14F-4D97-AF65-F5344CB8AC3E}">
        <p14:creationId xmlns:p14="http://schemas.microsoft.com/office/powerpoint/2010/main" val="1796182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4"/>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3"/>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P spid="9" grpId="0" animBg="1"/>
      <p:bldP spid="12" grpId="0" animBg="1"/>
      <p:bldP spid="19" grpId="0" animBg="1"/>
      <p:bldP spid="20" grpId="0" animBg="1"/>
      <p:bldP spid="22" grpId="0" animBg="1"/>
      <p:bldP spid="24" grpId="0" animBg="1"/>
      <p:bldP spid="25" grpId="0" animBg="1"/>
      <p:bldP spid="26" grpId="0" animBg="1"/>
      <p:bldP spid="41" grpId="0" animBg="1"/>
      <p:bldP spid="40" grpId="0" animBg="1"/>
      <p:bldP spid="42" grpId="0" animBg="1"/>
      <p:bldP spid="43" grpId="0" animBg="1"/>
      <p:bldP spid="3" grpId="0"/>
      <p:bldP spid="3" grpId="1"/>
      <p:bldP spid="4" grpId="0"/>
      <p:bldP spid="4" grpId="1"/>
      <p:bldP spid="3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FF53D-0783-2624-2B44-A64483AB7BFA}"/>
            </a:ext>
          </a:extLst>
        </p:cNvPr>
        <p:cNvGrpSpPr/>
        <p:nvPr/>
      </p:nvGrpSpPr>
      <p:grpSpPr>
        <a:xfrm>
          <a:off x="0" y="0"/>
          <a:ext cx="0" cy="0"/>
          <a:chOff x="0" y="0"/>
          <a:chExt cx="0" cy="0"/>
        </a:xfrm>
      </p:grpSpPr>
      <p:sp>
        <p:nvSpPr>
          <p:cNvPr id="28" name="Rounded Rectangle 27">
            <a:extLst>
              <a:ext uri="{FF2B5EF4-FFF2-40B4-BE49-F238E27FC236}">
                <a16:creationId xmlns:a16="http://schemas.microsoft.com/office/drawing/2014/main" id="{29ED9222-747B-226E-3345-2018E7CF1942}"/>
              </a:ext>
            </a:extLst>
          </p:cNvPr>
          <p:cNvSpPr/>
          <p:nvPr/>
        </p:nvSpPr>
        <p:spPr>
          <a:xfrm>
            <a:off x="456734" y="1817020"/>
            <a:ext cx="2600325" cy="583189"/>
          </a:xfrm>
          <a:prstGeom prst="roundRect">
            <a:avLst/>
          </a:prstGeom>
          <a:solidFill>
            <a:srgbClr val="4B85F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FFD2B2"/>
                </a:solidFill>
              </a:rPr>
              <a:t>Y</a:t>
            </a:r>
            <a:r>
              <a:rPr lang="en-FR" sz="1400" dirty="0">
                <a:solidFill>
                  <a:srgbClr val="FFD2B2"/>
                </a:solidFill>
              </a:rPr>
              <a:t>es.</a:t>
            </a:r>
            <a:r>
              <a:rPr lang="en-FR" sz="1400" dirty="0"/>
              <a:t> </a:t>
            </a:r>
            <a:r>
              <a:rPr lang="en-GB" sz="1400" dirty="0">
                <a:solidFill>
                  <a:srgbClr val="E3ABCC"/>
                </a:solidFill>
              </a:rPr>
              <a:t>F</a:t>
            </a:r>
            <a:r>
              <a:rPr lang="en-FR" sz="1400" dirty="0">
                <a:solidFill>
                  <a:srgbClr val="E3ABCC"/>
                </a:solidFill>
              </a:rPr>
              <a:t>ive pm.</a:t>
            </a:r>
          </a:p>
          <a:p>
            <a:pPr algn="ctr"/>
            <a:r>
              <a:rPr lang="en-GB" sz="1400" dirty="0">
                <a:solidFill>
                  <a:srgbClr val="FFD2B2"/>
                </a:solidFill>
              </a:rPr>
              <a:t>O</a:t>
            </a:r>
            <a:r>
              <a:rPr lang="en-FR" sz="1400" dirty="0">
                <a:solidFill>
                  <a:srgbClr val="FFD2B2"/>
                </a:solidFill>
              </a:rPr>
              <a:t>k, </a:t>
            </a:r>
            <a:r>
              <a:rPr lang="en-FR" sz="1400" u="sng" dirty="0">
                <a:solidFill>
                  <a:srgbClr val="FFD2B2"/>
                </a:solidFill>
              </a:rPr>
              <a:t>perfect</a:t>
            </a:r>
            <a:r>
              <a:rPr lang="en-FR" sz="1400" dirty="0">
                <a:solidFill>
                  <a:srgbClr val="FFD2B2"/>
                </a:solidFill>
              </a:rPr>
              <a:t>,</a:t>
            </a:r>
            <a:r>
              <a:rPr lang="en-FR" sz="1400" dirty="0"/>
              <a:t> </a:t>
            </a:r>
            <a:r>
              <a:rPr lang="en-FR" sz="1400" dirty="0">
                <a:solidFill>
                  <a:srgbClr val="70D141"/>
                </a:solidFill>
              </a:rPr>
              <a:t>thank you.</a:t>
            </a:r>
          </a:p>
        </p:txBody>
      </p:sp>
      <p:sp>
        <p:nvSpPr>
          <p:cNvPr id="2" name="Title 1">
            <a:extLst>
              <a:ext uri="{FF2B5EF4-FFF2-40B4-BE49-F238E27FC236}">
                <a16:creationId xmlns:a16="http://schemas.microsoft.com/office/drawing/2014/main" id="{1DD89012-A936-2D05-0241-B72052B2696C}"/>
              </a:ext>
            </a:extLst>
          </p:cNvPr>
          <p:cNvSpPr>
            <a:spLocks noGrp="1"/>
          </p:cNvSpPr>
          <p:nvPr>
            <p:ph type="title"/>
          </p:nvPr>
        </p:nvSpPr>
        <p:spPr/>
        <p:txBody>
          <a:bodyPr/>
          <a:lstStyle/>
          <a:p>
            <a:r>
              <a:rPr lang="en-FR" dirty="0"/>
              <a:t>Planning Module</a:t>
            </a:r>
          </a:p>
        </p:txBody>
      </p:sp>
      <p:pic>
        <p:nvPicPr>
          <p:cNvPr id="15" name="Graphic 14" descr="Lightbulb and gear with solid fill">
            <a:extLst>
              <a:ext uri="{FF2B5EF4-FFF2-40B4-BE49-F238E27FC236}">
                <a16:creationId xmlns:a16="http://schemas.microsoft.com/office/drawing/2014/main" id="{0E279EC6-D326-EEB2-6E60-7E8504ABB1BE}"/>
              </a:ext>
            </a:extLst>
          </p:cNvPr>
          <p:cNvPicPr>
            <a:picLocks noChangeAspect="1"/>
          </p:cNvPicPr>
          <p:nvPr/>
        </p:nvPicPr>
        <p:blipFill>
          <a:blip r:embed="rId3">
            <a:alphaModFix/>
            <a:extLst>
              <a:ext uri="{96DAC541-7B7A-43D3-8B79-37D633B846F1}">
                <asvg:svgBlip xmlns:asvg="http://schemas.microsoft.com/office/drawing/2016/SVG/main" r:embed="rId4"/>
              </a:ext>
            </a:extLst>
          </a:blip>
          <a:stretch>
            <a:fillRect/>
          </a:stretch>
        </p:blipFill>
        <p:spPr>
          <a:xfrm>
            <a:off x="155142" y="260967"/>
            <a:ext cx="844390" cy="844390"/>
          </a:xfrm>
          <a:prstGeom prst="rect">
            <a:avLst/>
          </a:prstGeom>
        </p:spPr>
      </p:pic>
      <p:sp>
        <p:nvSpPr>
          <p:cNvPr id="3" name="Rounded Rectangle 2">
            <a:extLst>
              <a:ext uri="{FF2B5EF4-FFF2-40B4-BE49-F238E27FC236}">
                <a16:creationId xmlns:a16="http://schemas.microsoft.com/office/drawing/2014/main" id="{C548D3D5-EBD3-964B-8E22-9A6E72A2E5CE}"/>
              </a:ext>
            </a:extLst>
          </p:cNvPr>
          <p:cNvSpPr/>
          <p:nvPr/>
        </p:nvSpPr>
        <p:spPr>
          <a:xfrm>
            <a:off x="2241123" y="5508963"/>
            <a:ext cx="2869705" cy="660029"/>
          </a:xfrm>
          <a:prstGeom prst="round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dirty="0">
                <a:solidFill>
                  <a:srgbClr val="4B85F4"/>
                </a:solidFill>
              </a:rPr>
              <a:t>?</a:t>
            </a:r>
            <a:endParaRPr lang="en-FR" sz="1400" b="1" dirty="0">
              <a:solidFill>
                <a:srgbClr val="4B85F4"/>
              </a:solidFill>
            </a:endParaRPr>
          </a:p>
        </p:txBody>
      </p:sp>
      <p:sp>
        <p:nvSpPr>
          <p:cNvPr id="5" name="Rounded Rectangle 4">
            <a:extLst>
              <a:ext uri="{FF2B5EF4-FFF2-40B4-BE49-F238E27FC236}">
                <a16:creationId xmlns:a16="http://schemas.microsoft.com/office/drawing/2014/main" id="{326EFDA3-1A18-9AF1-7DF4-2E08F794B0C7}"/>
              </a:ext>
            </a:extLst>
          </p:cNvPr>
          <p:cNvSpPr/>
          <p:nvPr/>
        </p:nvSpPr>
        <p:spPr>
          <a:xfrm>
            <a:off x="2258478" y="2552850"/>
            <a:ext cx="2869705" cy="1226435"/>
          </a:xfrm>
          <a:prstGeom prst="round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rgbClr val="4B85F4"/>
                </a:solidFill>
              </a:rPr>
              <a:t>Yes, </a:t>
            </a:r>
            <a:r>
              <a:rPr lang="fr-FR" sz="1400" dirty="0" err="1">
                <a:solidFill>
                  <a:srgbClr val="4B85F4"/>
                </a:solidFill>
              </a:rPr>
              <a:t>they</a:t>
            </a:r>
            <a:r>
              <a:rPr lang="fr-FR" sz="1400" dirty="0">
                <a:solidFill>
                  <a:srgbClr val="4B85F4"/>
                </a:solidFill>
              </a:rPr>
              <a:t> </a:t>
            </a:r>
            <a:r>
              <a:rPr lang="fr-FR" sz="1400" dirty="0" err="1">
                <a:solidFill>
                  <a:srgbClr val="4B85F4"/>
                </a:solidFill>
              </a:rPr>
              <a:t>just</a:t>
            </a:r>
            <a:r>
              <a:rPr lang="fr-FR" sz="1400" dirty="0">
                <a:solidFill>
                  <a:srgbClr val="4B85F4"/>
                </a:solidFill>
              </a:rPr>
              <a:t> </a:t>
            </a:r>
            <a:r>
              <a:rPr lang="fr-FR" sz="1400" dirty="0" err="1">
                <a:solidFill>
                  <a:srgbClr val="4B85F4"/>
                </a:solidFill>
              </a:rPr>
              <a:t>told</a:t>
            </a:r>
            <a:r>
              <a:rPr lang="fr-FR" sz="1400" dirty="0">
                <a:solidFill>
                  <a:srgbClr val="4B85F4"/>
                </a:solidFill>
              </a:rPr>
              <a:t> me </a:t>
            </a:r>
            <a:r>
              <a:rPr lang="fr-FR" sz="1400" dirty="0" err="1">
                <a:solidFill>
                  <a:srgbClr val="4B85F4"/>
                </a:solidFill>
              </a:rPr>
              <a:t>that</a:t>
            </a:r>
            <a:r>
              <a:rPr lang="fr-FR" sz="1400" dirty="0">
                <a:solidFill>
                  <a:srgbClr val="4B85F4"/>
                </a:solidFill>
              </a:rPr>
              <a:t> </a:t>
            </a:r>
            <a:r>
              <a:rPr lang="fr-FR" sz="1400" dirty="0" err="1">
                <a:solidFill>
                  <a:srgbClr val="4B85F4"/>
                </a:solidFill>
              </a:rPr>
              <a:t>they</a:t>
            </a:r>
            <a:r>
              <a:rPr lang="fr-FR" sz="1400" dirty="0">
                <a:solidFill>
                  <a:srgbClr val="4B85F4"/>
                </a:solidFill>
              </a:rPr>
              <a:t> </a:t>
            </a:r>
            <a:r>
              <a:rPr lang="fr-FR" sz="1400" dirty="0" err="1">
                <a:solidFill>
                  <a:srgbClr val="4B85F4"/>
                </a:solidFill>
              </a:rPr>
              <a:t>were</a:t>
            </a:r>
            <a:r>
              <a:rPr lang="fr-FR" sz="1400" dirty="0">
                <a:solidFill>
                  <a:srgbClr val="4B85F4"/>
                </a:solidFill>
              </a:rPr>
              <a:t> </a:t>
            </a:r>
            <a:r>
              <a:rPr lang="fr-FR" sz="1400" dirty="0" err="1">
                <a:solidFill>
                  <a:srgbClr val="4B85F4"/>
                </a:solidFill>
              </a:rPr>
              <a:t>still</a:t>
            </a:r>
            <a:r>
              <a:rPr lang="fr-FR" sz="1400" dirty="0">
                <a:solidFill>
                  <a:srgbClr val="4B85F4"/>
                </a:solidFill>
              </a:rPr>
              <a:t> </a:t>
            </a:r>
            <a:r>
              <a:rPr lang="fr-FR" sz="1400" dirty="0" err="1">
                <a:solidFill>
                  <a:srgbClr val="4B85F4"/>
                </a:solidFill>
              </a:rPr>
              <a:t>working</a:t>
            </a:r>
            <a:r>
              <a:rPr lang="fr-FR" sz="1400" dirty="0">
                <a:solidFill>
                  <a:srgbClr val="4B85F4"/>
                </a:solidFill>
              </a:rPr>
              <a:t> on </a:t>
            </a:r>
            <a:r>
              <a:rPr lang="fr-FR" sz="1400" dirty="0" err="1">
                <a:solidFill>
                  <a:srgbClr val="4B85F4"/>
                </a:solidFill>
              </a:rPr>
              <a:t>your</a:t>
            </a:r>
            <a:r>
              <a:rPr lang="fr-FR" sz="1400" dirty="0">
                <a:solidFill>
                  <a:srgbClr val="4B85F4"/>
                </a:solidFill>
              </a:rPr>
              <a:t> </a:t>
            </a:r>
            <a:r>
              <a:rPr lang="fr-FR" sz="1400" dirty="0" err="1">
                <a:solidFill>
                  <a:srgbClr val="4B85F4"/>
                </a:solidFill>
              </a:rPr>
              <a:t>vehicle</a:t>
            </a:r>
            <a:r>
              <a:rPr lang="fr-FR" sz="1400" dirty="0">
                <a:solidFill>
                  <a:srgbClr val="4B85F4"/>
                </a:solidFill>
              </a:rPr>
              <a:t>, and </a:t>
            </a:r>
            <a:r>
              <a:rPr lang="fr-FR" sz="1400" dirty="0" err="1">
                <a:solidFill>
                  <a:srgbClr val="4B85F4"/>
                </a:solidFill>
              </a:rPr>
              <a:t>that</a:t>
            </a:r>
            <a:r>
              <a:rPr lang="fr-FR" sz="1400" dirty="0">
                <a:solidFill>
                  <a:srgbClr val="4B85F4"/>
                </a:solidFill>
              </a:rPr>
              <a:t> </a:t>
            </a:r>
            <a:r>
              <a:rPr lang="fr-FR" sz="1400" dirty="0" err="1">
                <a:solidFill>
                  <a:srgbClr val="4B85F4"/>
                </a:solidFill>
              </a:rPr>
              <a:t>it</a:t>
            </a:r>
            <a:r>
              <a:rPr lang="fr-FR" sz="1400" dirty="0">
                <a:solidFill>
                  <a:srgbClr val="4B85F4"/>
                </a:solidFill>
              </a:rPr>
              <a:t> </a:t>
            </a:r>
            <a:r>
              <a:rPr lang="fr-FR" sz="1400" dirty="0" err="1">
                <a:solidFill>
                  <a:srgbClr val="4B85F4"/>
                </a:solidFill>
              </a:rPr>
              <a:t>should</a:t>
            </a:r>
            <a:r>
              <a:rPr lang="fr-FR" sz="1400" dirty="0">
                <a:solidFill>
                  <a:srgbClr val="4B85F4"/>
                </a:solidFill>
              </a:rPr>
              <a:t> </a:t>
            </a:r>
            <a:r>
              <a:rPr lang="fr-FR" sz="1400" dirty="0" err="1">
                <a:solidFill>
                  <a:srgbClr val="4B85F4"/>
                </a:solidFill>
              </a:rPr>
              <a:t>be</a:t>
            </a:r>
            <a:r>
              <a:rPr lang="fr-FR" sz="1400" dirty="0">
                <a:solidFill>
                  <a:srgbClr val="4B85F4"/>
                </a:solidFill>
              </a:rPr>
              <a:t> good to go in about an </a:t>
            </a:r>
            <a:r>
              <a:rPr lang="fr-FR" sz="1400" dirty="0" err="1">
                <a:solidFill>
                  <a:srgbClr val="4B85F4"/>
                </a:solidFill>
              </a:rPr>
              <a:t>hour</a:t>
            </a:r>
            <a:r>
              <a:rPr lang="fr-FR" sz="1400" dirty="0">
                <a:solidFill>
                  <a:srgbClr val="4B85F4"/>
                </a:solidFill>
              </a:rPr>
              <a:t> and a </a:t>
            </a:r>
            <a:r>
              <a:rPr lang="fr-FR" sz="1400" dirty="0" err="1">
                <a:solidFill>
                  <a:srgbClr val="4B85F4"/>
                </a:solidFill>
              </a:rPr>
              <a:t>half</a:t>
            </a:r>
            <a:r>
              <a:rPr lang="fr-FR" sz="1400" dirty="0">
                <a:solidFill>
                  <a:srgbClr val="4B85F4"/>
                </a:solidFill>
              </a:rPr>
              <a:t>.</a:t>
            </a:r>
            <a:endParaRPr lang="en-FR" sz="1400" dirty="0">
              <a:solidFill>
                <a:srgbClr val="4B85F4"/>
              </a:solidFill>
            </a:endParaRPr>
          </a:p>
        </p:txBody>
      </p:sp>
      <p:sp>
        <p:nvSpPr>
          <p:cNvPr id="6" name="Rounded Rectangle 5">
            <a:extLst>
              <a:ext uri="{FF2B5EF4-FFF2-40B4-BE49-F238E27FC236}">
                <a16:creationId xmlns:a16="http://schemas.microsoft.com/office/drawing/2014/main" id="{3C423616-6DE4-0569-F0A7-CCCAEFD79B7D}"/>
              </a:ext>
            </a:extLst>
          </p:cNvPr>
          <p:cNvSpPr/>
          <p:nvPr/>
        </p:nvSpPr>
        <p:spPr>
          <a:xfrm>
            <a:off x="456733" y="3933347"/>
            <a:ext cx="2600325" cy="821067"/>
          </a:xfrm>
          <a:prstGeom prst="roundRect">
            <a:avLst/>
          </a:prstGeom>
          <a:solidFill>
            <a:srgbClr val="4B85F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t>Right, </a:t>
            </a:r>
            <a:r>
              <a:rPr lang="fr-FR" sz="1400" dirty="0" err="1"/>
              <a:t>so</a:t>
            </a:r>
            <a:r>
              <a:rPr lang="fr-FR" sz="1400" dirty="0"/>
              <a:t> I </a:t>
            </a:r>
            <a:r>
              <a:rPr lang="fr-FR" sz="1400" dirty="0" err="1"/>
              <a:t>should</a:t>
            </a:r>
            <a:r>
              <a:rPr lang="fr-FR" sz="1400" dirty="0"/>
              <a:t> </a:t>
            </a:r>
            <a:r>
              <a:rPr lang="fr-FR" sz="1400" dirty="0" err="1"/>
              <a:t>get</a:t>
            </a:r>
            <a:r>
              <a:rPr lang="fr-FR" sz="1400" dirty="0"/>
              <a:t> </a:t>
            </a:r>
            <a:r>
              <a:rPr lang="fr-FR" sz="1400" dirty="0" err="1"/>
              <a:t>there</a:t>
            </a:r>
            <a:r>
              <a:rPr lang="fr-FR" sz="1400" dirty="0"/>
              <a:t> </a:t>
            </a:r>
            <a:r>
              <a:rPr lang="fr-FR" sz="1400" dirty="0" err="1"/>
              <a:t>around</a:t>
            </a:r>
            <a:r>
              <a:rPr lang="fr-FR" sz="1400" dirty="0"/>
              <a:t> five pm. </a:t>
            </a:r>
            <a:r>
              <a:rPr lang="fr-FR" sz="1400" dirty="0" err="1"/>
              <a:t>Thank</a:t>
            </a:r>
            <a:r>
              <a:rPr lang="fr-FR" sz="1400" dirty="0"/>
              <a:t> </a:t>
            </a:r>
            <a:r>
              <a:rPr lang="fr-FR" sz="1400" dirty="0" err="1"/>
              <a:t>you</a:t>
            </a:r>
            <a:r>
              <a:rPr lang="fr-FR" sz="1400" dirty="0"/>
              <a:t>, </a:t>
            </a:r>
            <a:r>
              <a:rPr lang="fr-FR" sz="1400" dirty="0" err="1"/>
              <a:t>madam</a:t>
            </a:r>
            <a:r>
              <a:rPr lang="fr-FR" sz="1400" dirty="0"/>
              <a:t>, have a </a:t>
            </a:r>
            <a:r>
              <a:rPr lang="fr-FR" sz="1400" dirty="0" err="1"/>
              <a:t>nice</a:t>
            </a:r>
            <a:r>
              <a:rPr lang="fr-FR" sz="1400" dirty="0"/>
              <a:t> </a:t>
            </a:r>
            <a:r>
              <a:rPr lang="fr-FR" sz="1400" dirty="0" err="1"/>
              <a:t>day</a:t>
            </a:r>
            <a:r>
              <a:rPr lang="fr-FR" sz="1400" dirty="0"/>
              <a:t>.</a:t>
            </a:r>
            <a:endParaRPr lang="en-FR" sz="1400" dirty="0"/>
          </a:p>
        </p:txBody>
      </p:sp>
      <p:sp>
        <p:nvSpPr>
          <p:cNvPr id="7" name="Rectangle 6">
            <a:extLst>
              <a:ext uri="{FF2B5EF4-FFF2-40B4-BE49-F238E27FC236}">
                <a16:creationId xmlns:a16="http://schemas.microsoft.com/office/drawing/2014/main" id="{BC84CBD1-0595-4F37-5273-643DC1501416}"/>
              </a:ext>
            </a:extLst>
          </p:cNvPr>
          <p:cNvSpPr/>
          <p:nvPr/>
        </p:nvSpPr>
        <p:spPr>
          <a:xfrm>
            <a:off x="294725" y="1513693"/>
            <a:ext cx="5003556" cy="3554435"/>
          </a:xfrm>
          <a:prstGeom prst="rect">
            <a:avLst/>
          </a:prstGeom>
          <a:noFill/>
          <a:ln w="38100">
            <a:solidFill>
              <a:srgbClr val="4B85F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8" name="Rectangle 7">
            <a:extLst>
              <a:ext uri="{FF2B5EF4-FFF2-40B4-BE49-F238E27FC236}">
                <a16:creationId xmlns:a16="http://schemas.microsoft.com/office/drawing/2014/main" id="{086A1FB0-1EFC-78B1-F221-98A77BAD7BFF}"/>
              </a:ext>
            </a:extLst>
          </p:cNvPr>
          <p:cNvSpPr/>
          <p:nvPr/>
        </p:nvSpPr>
        <p:spPr>
          <a:xfrm>
            <a:off x="1833488" y="1275164"/>
            <a:ext cx="1926030" cy="4136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000" b="1" dirty="0">
                <a:solidFill>
                  <a:srgbClr val="4B85F4"/>
                </a:solidFill>
              </a:rPr>
              <a:t>Context History</a:t>
            </a:r>
          </a:p>
        </p:txBody>
      </p:sp>
      <p:cxnSp>
        <p:nvCxnSpPr>
          <p:cNvPr id="9" name="Straight Arrow Connector 8">
            <a:extLst>
              <a:ext uri="{FF2B5EF4-FFF2-40B4-BE49-F238E27FC236}">
                <a16:creationId xmlns:a16="http://schemas.microsoft.com/office/drawing/2014/main" id="{92ACF3DD-7862-9E60-5D58-52E0ADC50271}"/>
              </a:ext>
            </a:extLst>
          </p:cNvPr>
          <p:cNvCxnSpPr>
            <a:cxnSpLocks/>
            <a:endCxn id="3" idx="0"/>
          </p:cNvCxnSpPr>
          <p:nvPr/>
        </p:nvCxnSpPr>
        <p:spPr>
          <a:xfrm>
            <a:off x="3675975" y="5068128"/>
            <a:ext cx="0" cy="440835"/>
          </a:xfrm>
          <a:prstGeom prst="straightConnector1">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AF9C631A-6E9F-C2B5-99AF-7DA74D19DEF3}"/>
              </a:ext>
            </a:extLst>
          </p:cNvPr>
          <p:cNvCxnSpPr>
            <a:cxnSpLocks/>
            <a:stCxn id="3" idx="3"/>
            <a:endCxn id="22" idx="2"/>
          </p:cNvCxnSpPr>
          <p:nvPr/>
        </p:nvCxnSpPr>
        <p:spPr>
          <a:xfrm flipV="1">
            <a:off x="5110828" y="4788065"/>
            <a:ext cx="1607791" cy="1050913"/>
          </a:xfrm>
          <a:prstGeom prst="bentConnector2">
            <a:avLst/>
          </a:prstGeom>
          <a:ln w="28575">
            <a:solidFill>
              <a:srgbClr val="4B85F4"/>
            </a:solidFill>
            <a:tailEnd type="triangle" w="med" len="lg"/>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6C26105-8B6D-7C8B-19B2-3D9093FBC92A}"/>
              </a:ext>
            </a:extLst>
          </p:cNvPr>
          <p:cNvSpPr txBox="1"/>
          <p:nvPr/>
        </p:nvSpPr>
        <p:spPr>
          <a:xfrm>
            <a:off x="5691496" y="3710847"/>
            <a:ext cx="2054246" cy="1077218"/>
          </a:xfrm>
          <a:prstGeom prst="rect">
            <a:avLst/>
          </a:prstGeom>
          <a:solidFill>
            <a:schemeClr val="bg1"/>
          </a:solidFill>
        </p:spPr>
        <p:txBody>
          <a:bodyPr wrap="square" rtlCol="0">
            <a:spAutoFit/>
          </a:bodyPr>
          <a:lstStyle/>
          <a:p>
            <a:pPr algn="ctr"/>
            <a:r>
              <a:rPr lang="en-FR" sz="1600" b="1" u="sng" dirty="0">
                <a:solidFill>
                  <a:srgbClr val="4B85F4"/>
                </a:solidFill>
              </a:rPr>
              <a:t>STEP 1</a:t>
            </a:r>
            <a:r>
              <a:rPr lang="en-FR" sz="1600" b="1" dirty="0">
                <a:solidFill>
                  <a:srgbClr val="4B85F4"/>
                </a:solidFill>
              </a:rPr>
              <a:t>: From context history, predict the labels expected in the next response</a:t>
            </a:r>
          </a:p>
        </p:txBody>
      </p:sp>
      <p:sp>
        <p:nvSpPr>
          <p:cNvPr id="29" name="TextBox 28">
            <a:extLst>
              <a:ext uri="{FF2B5EF4-FFF2-40B4-BE49-F238E27FC236}">
                <a16:creationId xmlns:a16="http://schemas.microsoft.com/office/drawing/2014/main" id="{19E7BF50-CDD4-B5E7-D289-3B08F76BD516}"/>
              </a:ext>
            </a:extLst>
          </p:cNvPr>
          <p:cNvSpPr txBox="1"/>
          <p:nvPr/>
        </p:nvSpPr>
        <p:spPr>
          <a:xfrm>
            <a:off x="580512" y="2323968"/>
            <a:ext cx="1473611" cy="307777"/>
          </a:xfrm>
          <a:prstGeom prst="rect">
            <a:avLst/>
          </a:prstGeom>
          <a:solidFill>
            <a:schemeClr val="bg1"/>
          </a:solidFill>
          <a:ln w="28575">
            <a:solidFill>
              <a:srgbClr val="4B85F4"/>
            </a:solidFill>
          </a:ln>
        </p:spPr>
        <p:txBody>
          <a:bodyPr wrap="square" lIns="91440" tIns="45720" rIns="91440" bIns="45720" anchor="t">
            <a:spAutoFit/>
          </a:bodyPr>
          <a:lstStyle/>
          <a:p>
            <a:pPr algn="ctr"/>
            <a:r>
              <a:rPr lang="en-FR" sz="700" dirty="0">
                <a:solidFill>
                  <a:srgbClr val="4D8AE7"/>
                </a:solidFill>
                <a:latin typeface="Poppins"/>
                <a:cs typeface="Poppins"/>
              </a:rPr>
              <a:t>[</a:t>
            </a:r>
            <a:r>
              <a:rPr lang="en-FR" sz="700" dirty="0">
                <a:solidFill>
                  <a:srgbClr val="DF6245"/>
                </a:solidFill>
                <a:latin typeface="Poppins"/>
                <a:cs typeface="Poppins"/>
              </a:rPr>
              <a:t>Information</a:t>
            </a:r>
            <a:r>
              <a:rPr lang="en-FR" sz="700" dirty="0">
                <a:solidFill>
                  <a:srgbClr val="4D8AE7"/>
                </a:solidFill>
                <a:latin typeface="Poppins"/>
                <a:cs typeface="Poppins"/>
              </a:rPr>
              <a:t>, </a:t>
            </a:r>
            <a:r>
              <a:rPr lang="en-FR" sz="700" dirty="0">
                <a:solidFill>
                  <a:srgbClr val="EC4DCE"/>
                </a:solidFill>
                <a:latin typeface="Poppins"/>
                <a:cs typeface="Poppins"/>
              </a:rPr>
              <a:t>Restating</a:t>
            </a:r>
            <a:r>
              <a:rPr lang="en-FR" sz="700" dirty="0">
                <a:solidFill>
                  <a:srgbClr val="4D8AE7"/>
                </a:solidFill>
                <a:latin typeface="Poppins"/>
                <a:cs typeface="Poppins"/>
              </a:rPr>
              <a:t>, </a:t>
            </a:r>
            <a:br>
              <a:rPr lang="en-FR" sz="700" dirty="0">
                <a:latin typeface="Poppins"/>
                <a:cs typeface="Poppins"/>
              </a:rPr>
            </a:br>
            <a:r>
              <a:rPr lang="en-FR" sz="700" dirty="0">
                <a:solidFill>
                  <a:srgbClr val="DF6245"/>
                </a:solidFill>
                <a:latin typeface="Poppins"/>
                <a:cs typeface="Poppins"/>
              </a:rPr>
              <a:t>Information</a:t>
            </a:r>
            <a:r>
              <a:rPr lang="en-FR" sz="700" dirty="0">
                <a:solidFill>
                  <a:srgbClr val="4D8AE7"/>
                </a:solidFill>
                <a:latin typeface="Poppins"/>
                <a:cs typeface="Poppins"/>
              </a:rPr>
              <a:t>, </a:t>
            </a:r>
            <a:r>
              <a:rPr lang="en-FR" sz="700" u="sng" dirty="0">
                <a:solidFill>
                  <a:srgbClr val="4D8AE7"/>
                </a:solidFill>
                <a:latin typeface="Poppins"/>
                <a:cs typeface="Poppins"/>
              </a:rPr>
              <a:t>Joy</a:t>
            </a:r>
            <a:r>
              <a:rPr lang="en-FR" sz="700" dirty="0">
                <a:solidFill>
                  <a:srgbClr val="4D8AE7"/>
                </a:solidFill>
                <a:latin typeface="Poppins"/>
                <a:cs typeface="Poppins"/>
              </a:rPr>
              <a:t>, </a:t>
            </a:r>
            <a:r>
              <a:rPr lang="en-FR" sz="700" dirty="0">
                <a:solidFill>
                  <a:srgbClr val="00B26D"/>
                </a:solidFill>
                <a:latin typeface="Poppins"/>
                <a:cs typeface="Poppins"/>
              </a:rPr>
              <a:t>Politeness</a:t>
            </a:r>
            <a:r>
              <a:rPr lang="en-FR" sz="700" dirty="0">
                <a:solidFill>
                  <a:srgbClr val="4D8AE7"/>
                </a:solidFill>
                <a:latin typeface="Poppins"/>
                <a:cs typeface="Poppins"/>
              </a:rPr>
              <a:t>]</a:t>
            </a:r>
            <a:endParaRPr lang="fr-FR" sz="700" dirty="0">
              <a:solidFill>
                <a:srgbClr val="4D8AE7"/>
              </a:solidFill>
              <a:latin typeface="Poppins"/>
              <a:cs typeface="Poppins"/>
            </a:endParaRPr>
          </a:p>
        </p:txBody>
      </p:sp>
      <p:sp>
        <p:nvSpPr>
          <p:cNvPr id="30" name="TextBox 29">
            <a:extLst>
              <a:ext uri="{FF2B5EF4-FFF2-40B4-BE49-F238E27FC236}">
                <a16:creationId xmlns:a16="http://schemas.microsoft.com/office/drawing/2014/main" id="{63F45122-4B57-E7EB-25CF-C0C4DD2FED04}"/>
              </a:ext>
            </a:extLst>
          </p:cNvPr>
          <p:cNvSpPr txBox="1"/>
          <p:nvPr/>
        </p:nvSpPr>
        <p:spPr>
          <a:xfrm>
            <a:off x="580511" y="4704241"/>
            <a:ext cx="1473611" cy="200055"/>
          </a:xfrm>
          <a:prstGeom prst="rect">
            <a:avLst/>
          </a:prstGeom>
          <a:solidFill>
            <a:schemeClr val="bg1"/>
          </a:solidFill>
          <a:ln w="28575">
            <a:solidFill>
              <a:srgbClr val="4B85F4"/>
            </a:solidFill>
          </a:ln>
        </p:spPr>
        <p:txBody>
          <a:bodyPr wrap="square" lIns="91440" tIns="45720" rIns="91440" bIns="45720" anchor="t">
            <a:spAutoFit/>
          </a:bodyPr>
          <a:lstStyle/>
          <a:p>
            <a:pPr algn="ctr"/>
            <a:r>
              <a:rPr lang="en-FR" sz="700" dirty="0">
                <a:solidFill>
                  <a:srgbClr val="4B84F4"/>
                </a:solidFill>
                <a:latin typeface="Poppins"/>
                <a:cs typeface="Poppins"/>
              </a:rPr>
              <a:t>[Information, Politeness]</a:t>
            </a:r>
            <a:endParaRPr lang="fr-FR" sz="700" dirty="0">
              <a:solidFill>
                <a:srgbClr val="4B84F4"/>
              </a:solidFill>
              <a:latin typeface="Poppins"/>
              <a:cs typeface="Poppins"/>
            </a:endParaRPr>
          </a:p>
        </p:txBody>
      </p:sp>
      <p:sp>
        <p:nvSpPr>
          <p:cNvPr id="31" name="TextBox 30">
            <a:extLst>
              <a:ext uri="{FF2B5EF4-FFF2-40B4-BE49-F238E27FC236}">
                <a16:creationId xmlns:a16="http://schemas.microsoft.com/office/drawing/2014/main" id="{74B5DEFD-126D-6971-1248-C54DEE639623}"/>
              </a:ext>
            </a:extLst>
          </p:cNvPr>
          <p:cNvSpPr txBox="1"/>
          <p:nvPr/>
        </p:nvSpPr>
        <p:spPr>
          <a:xfrm>
            <a:off x="3459868" y="3674149"/>
            <a:ext cx="1473611" cy="200055"/>
          </a:xfrm>
          <a:prstGeom prst="rect">
            <a:avLst/>
          </a:prstGeom>
          <a:solidFill>
            <a:schemeClr val="bg1"/>
          </a:solidFill>
          <a:ln w="28575">
            <a:solidFill>
              <a:srgbClr val="4B85F4"/>
            </a:solidFill>
          </a:ln>
        </p:spPr>
        <p:txBody>
          <a:bodyPr wrap="square" lIns="91440" tIns="45720" rIns="91440" bIns="45720" anchor="t">
            <a:spAutoFit/>
          </a:bodyPr>
          <a:lstStyle/>
          <a:p>
            <a:pPr algn="ctr"/>
            <a:r>
              <a:rPr lang="en-FR" sz="700" dirty="0">
                <a:solidFill>
                  <a:srgbClr val="4B84F4"/>
                </a:solidFill>
                <a:latin typeface="Poppins"/>
                <a:cs typeface="Poppins"/>
              </a:rPr>
              <a:t>[Information]</a:t>
            </a:r>
            <a:endParaRPr lang="fr-FR" sz="700" dirty="0">
              <a:solidFill>
                <a:srgbClr val="4B84F4"/>
              </a:solidFill>
              <a:latin typeface="Poppins"/>
              <a:cs typeface="Poppins"/>
            </a:endParaRPr>
          </a:p>
        </p:txBody>
      </p:sp>
      <p:sp>
        <p:nvSpPr>
          <p:cNvPr id="10" name="Rounded Rectangle 9">
            <a:extLst>
              <a:ext uri="{FF2B5EF4-FFF2-40B4-BE49-F238E27FC236}">
                <a16:creationId xmlns:a16="http://schemas.microsoft.com/office/drawing/2014/main" id="{A9E5B709-C6FF-3CF7-8F8B-DE696F0B8B5B}"/>
              </a:ext>
            </a:extLst>
          </p:cNvPr>
          <p:cNvSpPr/>
          <p:nvPr/>
        </p:nvSpPr>
        <p:spPr>
          <a:xfrm>
            <a:off x="8068059" y="3395300"/>
            <a:ext cx="3829216" cy="753897"/>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FR" sz="2000" dirty="0">
                <a:solidFill>
                  <a:schemeClr val="bg1"/>
                </a:solidFill>
                <a:latin typeface="Poppins" pitchFamily="2" charset="77"/>
                <a:cs typeface="Poppins" pitchFamily="2" charset="77"/>
              </a:rPr>
              <a:t>Multi-label </a:t>
            </a:r>
            <a:br>
              <a:rPr lang="en-FR" sz="2000" dirty="0">
                <a:solidFill>
                  <a:schemeClr val="bg1"/>
                </a:solidFill>
                <a:latin typeface="Poppins" pitchFamily="2" charset="77"/>
                <a:cs typeface="Poppins" pitchFamily="2" charset="77"/>
              </a:rPr>
            </a:br>
            <a:r>
              <a:rPr lang="en-FR" sz="2000" dirty="0">
                <a:solidFill>
                  <a:schemeClr val="bg1"/>
                </a:solidFill>
                <a:latin typeface="Poppins" pitchFamily="2" charset="77"/>
                <a:cs typeface="Poppins" pitchFamily="2" charset="77"/>
              </a:rPr>
              <a:t>Classification (BERT)</a:t>
            </a:r>
          </a:p>
        </p:txBody>
      </p:sp>
      <p:sp>
        <p:nvSpPr>
          <p:cNvPr id="11" name="Rounded Rectangle 10">
            <a:extLst>
              <a:ext uri="{FF2B5EF4-FFF2-40B4-BE49-F238E27FC236}">
                <a16:creationId xmlns:a16="http://schemas.microsoft.com/office/drawing/2014/main" id="{F20C9EEF-CB4C-9B52-CF32-E2692A93A149}"/>
              </a:ext>
            </a:extLst>
          </p:cNvPr>
          <p:cNvSpPr/>
          <p:nvPr/>
        </p:nvSpPr>
        <p:spPr>
          <a:xfrm>
            <a:off x="8068059" y="4438244"/>
            <a:ext cx="3829216" cy="753897"/>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FR" sz="2000" dirty="0">
                <a:solidFill>
                  <a:schemeClr val="bg1"/>
                </a:solidFill>
                <a:latin typeface="Poppins" pitchFamily="2" charset="77"/>
                <a:cs typeface="Poppins" pitchFamily="2" charset="77"/>
              </a:rPr>
              <a:t>Fine-tuned Sequence Generation (BART)</a:t>
            </a:r>
          </a:p>
        </p:txBody>
      </p:sp>
      <p:sp>
        <p:nvSpPr>
          <p:cNvPr id="12" name="Rounded Rectangle 11">
            <a:extLst>
              <a:ext uri="{FF2B5EF4-FFF2-40B4-BE49-F238E27FC236}">
                <a16:creationId xmlns:a16="http://schemas.microsoft.com/office/drawing/2014/main" id="{31F515B5-662E-4E11-B824-D67F00EE19C6}"/>
              </a:ext>
            </a:extLst>
          </p:cNvPr>
          <p:cNvSpPr/>
          <p:nvPr/>
        </p:nvSpPr>
        <p:spPr>
          <a:xfrm>
            <a:off x="8068059" y="5481188"/>
            <a:ext cx="3829216" cy="753897"/>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FR" sz="2000" dirty="0">
                <a:solidFill>
                  <a:schemeClr val="bg1"/>
                </a:solidFill>
                <a:latin typeface="Poppins" pitchFamily="2" charset="77"/>
                <a:cs typeface="Poppins" pitchFamily="2" charset="77"/>
              </a:rPr>
              <a:t>Prompt-based Sequence Generation (Llama)</a:t>
            </a:r>
          </a:p>
        </p:txBody>
      </p:sp>
      <p:sp>
        <p:nvSpPr>
          <p:cNvPr id="20" name="TextBox 19">
            <a:extLst>
              <a:ext uri="{FF2B5EF4-FFF2-40B4-BE49-F238E27FC236}">
                <a16:creationId xmlns:a16="http://schemas.microsoft.com/office/drawing/2014/main" id="{8F1A6414-7AD7-6FE1-A8EE-AE1DB7E86369}"/>
              </a:ext>
            </a:extLst>
          </p:cNvPr>
          <p:cNvSpPr txBox="1"/>
          <p:nvPr/>
        </p:nvSpPr>
        <p:spPr>
          <a:xfrm>
            <a:off x="3459868" y="6538260"/>
            <a:ext cx="4549643" cy="261610"/>
          </a:xfrm>
          <a:prstGeom prst="rect">
            <a:avLst/>
          </a:prstGeom>
          <a:noFill/>
          <a:ln w="19050">
            <a:noFill/>
            <a:prstDash val="sysDash"/>
          </a:ln>
        </p:spPr>
        <p:txBody>
          <a:bodyPr wrap="none" rtlCol="0">
            <a:spAutoFit/>
          </a:bodyPr>
          <a:lstStyle>
            <a:defPPr>
              <a:defRPr lang="en-FR"/>
            </a:defPPr>
            <a:lvl1pPr algn="ctr">
              <a:defRPr sz="1050">
                <a:solidFill>
                  <a:srgbClr val="A5AFF5"/>
                </a:solidFill>
                <a:latin typeface="Poppins" pitchFamily="2" charset="77"/>
                <a:cs typeface="Poppins" pitchFamily="2" charset="77"/>
              </a:defRPr>
            </a:lvl1pPr>
          </a:lstStyle>
          <a:p>
            <a:pPr algn="l"/>
            <a:r>
              <a:rPr lang="en-GB" sz="1100" dirty="0"/>
              <a:t>[</a:t>
            </a:r>
            <a:r>
              <a:rPr lang="en-GB" sz="1100" b="1" dirty="0"/>
              <a:t>Towards Emotional Support Dialog Systems</a:t>
            </a:r>
            <a:r>
              <a:rPr lang="en-GB" sz="1100" dirty="0"/>
              <a:t>, Liu et al. (2021)]</a:t>
            </a:r>
            <a:endParaRPr lang="en-FR" sz="1100" dirty="0"/>
          </a:p>
        </p:txBody>
      </p:sp>
      <p:sp>
        <p:nvSpPr>
          <p:cNvPr id="4" name="Rounded Rectangle 3">
            <a:extLst>
              <a:ext uri="{FF2B5EF4-FFF2-40B4-BE49-F238E27FC236}">
                <a16:creationId xmlns:a16="http://schemas.microsoft.com/office/drawing/2014/main" id="{E3BF26C5-F7AB-BB25-6836-AA69AC462C41}"/>
              </a:ext>
            </a:extLst>
          </p:cNvPr>
          <p:cNvSpPr/>
          <p:nvPr/>
        </p:nvSpPr>
        <p:spPr>
          <a:xfrm>
            <a:off x="6096000" y="474563"/>
            <a:ext cx="5801275" cy="2537002"/>
          </a:xfrm>
          <a:prstGeom prst="roundRect">
            <a:avLst/>
          </a:prstGeom>
          <a:solidFill>
            <a:schemeClr val="bg1">
              <a:alpha val="83137"/>
            </a:schemeClr>
          </a:solidFill>
          <a:ln>
            <a:solidFill>
              <a:srgbClr val="D43F4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defRPr/>
            </a:pPr>
            <a:r>
              <a:rPr lang="en-GB" sz="1600" dirty="0">
                <a:solidFill>
                  <a:srgbClr val="D43F49"/>
                </a:solidFill>
                <a:latin typeface="Poppins" pitchFamily="2" charset="77"/>
                <a:cs typeface="Poppins" pitchFamily="2" charset="77"/>
              </a:rPr>
              <a:t>While many approaches to response planning exist, f</a:t>
            </a:r>
            <a:r>
              <a:rPr lang="fr-FR" sz="1600" dirty="0" err="1">
                <a:solidFill>
                  <a:srgbClr val="D43F49"/>
                </a:solidFill>
                <a:latin typeface="Poppins" pitchFamily="2" charset="77"/>
                <a:cs typeface="Poppins" pitchFamily="2" charset="77"/>
              </a:rPr>
              <a:t>ew</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studies</a:t>
            </a:r>
            <a:r>
              <a:rPr lang="fr-FR" sz="1600" dirty="0">
                <a:solidFill>
                  <a:srgbClr val="D43F49"/>
                </a:solidFill>
                <a:latin typeface="Poppins" pitchFamily="2" charset="77"/>
                <a:cs typeface="Poppins" pitchFamily="2" charset="77"/>
              </a:rPr>
              <a:t> tackle the planning of multiple socio- </a:t>
            </a:r>
            <a:r>
              <a:rPr lang="fr-FR" sz="1600" dirty="0" err="1">
                <a:solidFill>
                  <a:srgbClr val="D43F49"/>
                </a:solidFill>
                <a:latin typeface="Poppins" pitchFamily="2" charset="77"/>
                <a:cs typeface="Poppins" pitchFamily="2" charset="77"/>
              </a:rPr>
              <a:t>emotional</a:t>
            </a:r>
            <a:r>
              <a:rPr lang="fr-FR" sz="1600" dirty="0">
                <a:solidFill>
                  <a:srgbClr val="D43F49"/>
                </a:solidFill>
                <a:latin typeface="Poppins" pitchFamily="2" charset="77"/>
                <a:cs typeface="Poppins" pitchFamily="2" charset="77"/>
              </a:rPr>
              <a:t> labels for </a:t>
            </a:r>
            <a:r>
              <a:rPr lang="fr-FR" sz="1600" dirty="0" err="1">
                <a:solidFill>
                  <a:srgbClr val="D43F49"/>
                </a:solidFill>
                <a:latin typeface="Poppins" pitchFamily="2" charset="77"/>
                <a:cs typeface="Poppins" pitchFamily="2" charset="77"/>
              </a:rPr>
              <a:t>response</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generation</a:t>
            </a:r>
            <a:r>
              <a:rPr lang="fr-FR" sz="1600" dirty="0">
                <a:solidFill>
                  <a:srgbClr val="D43F49"/>
                </a:solidFill>
                <a:latin typeface="Poppins" pitchFamily="2" charset="77"/>
                <a:cs typeface="Poppins" pitchFamily="2" charset="77"/>
              </a:rPr>
              <a:t>, and none have </a:t>
            </a:r>
            <a:r>
              <a:rPr lang="fr-FR" sz="1600" dirty="0" err="1">
                <a:solidFill>
                  <a:srgbClr val="D43F49"/>
                </a:solidFill>
                <a:latin typeface="Poppins" pitchFamily="2" charset="77"/>
                <a:cs typeface="Poppins" pitchFamily="2" charset="77"/>
              </a:rPr>
              <a:t>modelled</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this</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problem</a:t>
            </a:r>
            <a:r>
              <a:rPr lang="fr-FR" sz="1600" dirty="0">
                <a:solidFill>
                  <a:srgbClr val="D43F49"/>
                </a:solidFill>
                <a:latin typeface="Poppins" pitchFamily="2" charset="77"/>
                <a:cs typeface="Poppins" pitchFamily="2" charset="77"/>
              </a:rPr>
              <a:t> as a </a:t>
            </a:r>
            <a:r>
              <a:rPr lang="fr-FR" sz="1600" dirty="0" err="1">
                <a:solidFill>
                  <a:srgbClr val="D43F49"/>
                </a:solidFill>
                <a:latin typeface="Poppins" pitchFamily="2" charset="77"/>
                <a:cs typeface="Poppins" pitchFamily="2" charset="77"/>
              </a:rPr>
              <a:t>sequence</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prediction</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task</a:t>
            </a:r>
            <a:r>
              <a:rPr lang="fr-FR" sz="1600" dirty="0">
                <a:solidFill>
                  <a:srgbClr val="D43F49"/>
                </a:solidFill>
                <a:latin typeface="Poppins" pitchFamily="2" charset="77"/>
                <a:cs typeface="Poppins" pitchFamily="2" charset="77"/>
              </a:rPr>
              <a:t>. </a:t>
            </a:r>
            <a:endParaRPr lang="en-GB" sz="1600" dirty="0">
              <a:solidFill>
                <a:srgbClr val="D43F49"/>
              </a:solidFill>
              <a:latin typeface="Poppins" pitchFamily="2" charset="77"/>
              <a:cs typeface="Poppins" pitchFamily="2" charset="77"/>
            </a:endParaRPr>
          </a:p>
          <a:p>
            <a:pPr algn="just"/>
            <a:endParaRPr lang="en-FR" sz="1600" dirty="0">
              <a:solidFill>
                <a:srgbClr val="D43F49"/>
              </a:solidFill>
              <a:latin typeface="Poppins" pitchFamily="2" charset="77"/>
              <a:cs typeface="Poppins" pitchFamily="2" charset="77"/>
            </a:endParaRPr>
          </a:p>
          <a:p>
            <a:pPr algn="just"/>
            <a:r>
              <a:rPr lang="fr-FR" sz="1600" dirty="0" err="1">
                <a:solidFill>
                  <a:srgbClr val="D43F49"/>
                </a:solidFill>
                <a:latin typeface="Poppins" pitchFamily="2" charset="77"/>
                <a:cs typeface="Poppins" pitchFamily="2" charset="77"/>
              </a:rPr>
              <a:t>We</a:t>
            </a:r>
            <a:r>
              <a:rPr lang="fr-FR" sz="1600" dirty="0">
                <a:solidFill>
                  <a:srgbClr val="D43F49"/>
                </a:solidFill>
                <a:latin typeface="Poppins" pitchFamily="2" charset="77"/>
                <a:cs typeface="Poppins" pitchFamily="2" charset="77"/>
              </a:rPr>
              <a:t> propose an architecture comparable to </a:t>
            </a:r>
            <a:r>
              <a:rPr lang="en-FR" sz="1200" dirty="0">
                <a:solidFill>
                  <a:srgbClr val="D43F49"/>
                </a:solidFill>
                <a:latin typeface="Poppins" pitchFamily="2" charset="77"/>
                <a:cs typeface="Poppins" pitchFamily="2" charset="77"/>
              </a:rPr>
              <a:t>[</a:t>
            </a:r>
            <a:r>
              <a:rPr lang="en-GB" sz="1200" dirty="0">
                <a:solidFill>
                  <a:srgbClr val="D43F49"/>
                </a:solidFill>
                <a:latin typeface="Poppins" pitchFamily="2" charset="77"/>
                <a:cs typeface="Poppins" pitchFamily="2" charset="77"/>
              </a:rPr>
              <a:t>Yang et al. (2021)</a:t>
            </a:r>
            <a:r>
              <a:rPr lang="en-FR" sz="1200" dirty="0">
                <a:solidFill>
                  <a:srgbClr val="D43F49"/>
                </a:solidFill>
                <a:latin typeface="Poppins" pitchFamily="2" charset="77"/>
                <a:cs typeface="Poppins" pitchFamily="2" charset="77"/>
              </a:rPr>
              <a:t>], </a:t>
            </a:r>
            <a:r>
              <a:rPr lang="fr-FR" sz="1600" dirty="0">
                <a:solidFill>
                  <a:srgbClr val="D43F49"/>
                </a:solidFill>
                <a:latin typeface="Poppins" pitchFamily="2" charset="77"/>
                <a:cs typeface="Poppins" pitchFamily="2" charset="77"/>
              </a:rPr>
              <a:t>but </a:t>
            </a:r>
            <a:r>
              <a:rPr lang="fr-FR" sz="1600" dirty="0" err="1">
                <a:solidFill>
                  <a:srgbClr val="D43F49"/>
                </a:solidFill>
                <a:latin typeface="Poppins" pitchFamily="2" charset="77"/>
                <a:cs typeface="Poppins" pitchFamily="2" charset="77"/>
              </a:rPr>
              <a:t>we</a:t>
            </a:r>
            <a:r>
              <a:rPr lang="fr-FR" sz="1600" dirty="0">
                <a:solidFill>
                  <a:srgbClr val="D43F49"/>
                </a:solidFill>
                <a:latin typeface="Poppins" pitchFamily="2" charset="77"/>
                <a:cs typeface="Poppins" pitchFamily="2" charset="77"/>
              </a:rPr>
              <a:t> plan a </a:t>
            </a:r>
            <a:r>
              <a:rPr lang="fr-FR" sz="1600" dirty="0" err="1">
                <a:solidFill>
                  <a:srgbClr val="D43F49"/>
                </a:solidFill>
                <a:latin typeface="Poppins" pitchFamily="2" charset="77"/>
                <a:cs typeface="Poppins" pitchFamily="2" charset="77"/>
              </a:rPr>
              <a:t>sequence</a:t>
            </a:r>
            <a:r>
              <a:rPr lang="fr-FR" sz="1600" dirty="0">
                <a:solidFill>
                  <a:srgbClr val="D43F49"/>
                </a:solidFill>
                <a:latin typeface="Poppins" pitchFamily="2" charset="77"/>
                <a:cs typeface="Poppins" pitchFamily="2" charset="77"/>
              </a:rPr>
              <a:t> of dialogue </a:t>
            </a:r>
            <a:r>
              <a:rPr lang="fr-FR" sz="1600" dirty="0" err="1">
                <a:solidFill>
                  <a:srgbClr val="D43F49"/>
                </a:solidFill>
                <a:latin typeface="Poppins" pitchFamily="2" charset="77"/>
                <a:cs typeface="Poppins" pitchFamily="2" charset="77"/>
              </a:rPr>
              <a:t>strategies</a:t>
            </a:r>
            <a:r>
              <a:rPr lang="fr-FR" sz="1600" dirty="0">
                <a:solidFill>
                  <a:srgbClr val="D43F49"/>
                </a:solidFill>
                <a:latin typeface="Poppins" pitchFamily="2" charset="77"/>
                <a:cs typeface="Poppins" pitchFamily="2" charset="77"/>
              </a:rPr>
              <a:t> to </a:t>
            </a:r>
            <a:r>
              <a:rPr lang="fr-FR" sz="1600" dirty="0" err="1">
                <a:solidFill>
                  <a:srgbClr val="D43F49"/>
                </a:solidFill>
                <a:latin typeface="Poppins" pitchFamily="2" charset="77"/>
                <a:cs typeface="Poppins" pitchFamily="2" charset="77"/>
              </a:rPr>
              <a:t>enhance</a:t>
            </a:r>
            <a:r>
              <a:rPr lang="fr-FR" sz="1600" dirty="0">
                <a:solidFill>
                  <a:srgbClr val="D43F49"/>
                </a:solidFill>
                <a:latin typeface="Poppins" pitchFamily="2" charset="77"/>
                <a:cs typeface="Poppins" pitchFamily="2" charset="77"/>
              </a:rPr>
              <a:t> the </a:t>
            </a:r>
            <a:r>
              <a:rPr lang="fr-FR" sz="1600" dirty="0" err="1">
                <a:solidFill>
                  <a:srgbClr val="D43F49"/>
                </a:solidFill>
                <a:latin typeface="Poppins" pitchFamily="2" charset="77"/>
                <a:cs typeface="Poppins" pitchFamily="2" charset="77"/>
              </a:rPr>
              <a:t>quality</a:t>
            </a:r>
            <a:r>
              <a:rPr lang="fr-FR" sz="1600" dirty="0">
                <a:solidFill>
                  <a:srgbClr val="D43F49"/>
                </a:solidFill>
                <a:latin typeface="Poppins" pitchFamily="2" charset="77"/>
                <a:cs typeface="Poppins" pitchFamily="2" charset="77"/>
              </a:rPr>
              <a:t> of </a:t>
            </a:r>
            <a:r>
              <a:rPr lang="fr-FR" sz="1600" dirty="0" err="1">
                <a:solidFill>
                  <a:srgbClr val="D43F49"/>
                </a:solidFill>
                <a:latin typeface="Poppins" pitchFamily="2" charset="77"/>
                <a:cs typeface="Poppins" pitchFamily="2" charset="77"/>
              </a:rPr>
              <a:t>generated</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responses</a:t>
            </a:r>
            <a:r>
              <a:rPr lang="fr-FR" sz="1600" dirty="0">
                <a:solidFill>
                  <a:srgbClr val="D43F49"/>
                </a:solidFill>
                <a:latin typeface="Poppins" pitchFamily="2" charset="77"/>
                <a:cs typeface="Poppins" pitchFamily="2" charset="77"/>
              </a:rPr>
              <a:t>.</a:t>
            </a:r>
          </a:p>
          <a:p>
            <a:pPr algn="just"/>
            <a:endParaRPr lang="en-FR" sz="1600" dirty="0">
              <a:solidFill>
                <a:srgbClr val="D43F49"/>
              </a:solidFill>
              <a:latin typeface="Poppins" pitchFamily="2" charset="77"/>
              <a:cs typeface="Poppins" pitchFamily="2" charset="77"/>
            </a:endParaRPr>
          </a:p>
        </p:txBody>
      </p:sp>
    </p:spTree>
    <p:extLst>
      <p:ext uri="{BB962C8B-B14F-4D97-AF65-F5344CB8AC3E}">
        <p14:creationId xmlns:p14="http://schemas.microsoft.com/office/powerpoint/2010/main" val="40265033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20" grpId="0"/>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8CB5F-2269-49B0-9E4C-DE76F67C696D}"/>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FA06A4D1-95F1-A1F9-328C-CC78205B1E59}"/>
              </a:ext>
            </a:extLst>
          </p:cNvPr>
          <p:cNvSpPr/>
          <p:nvPr/>
        </p:nvSpPr>
        <p:spPr>
          <a:xfrm>
            <a:off x="369344" y="1384560"/>
            <a:ext cx="11596684" cy="4259599"/>
          </a:xfrm>
          <a:prstGeom prst="rect">
            <a:avLst/>
          </a:prstGeom>
          <a:solidFill>
            <a:schemeClr val="bg1"/>
          </a:solidFill>
          <a:ln w="38100">
            <a:solidFill>
              <a:srgbClr val="4B85F4"/>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sz="1600">
              <a:latin typeface="Poppins" pitchFamily="2" charset="77"/>
              <a:cs typeface="Poppins" pitchFamily="2" charset="77"/>
            </a:endParaRPr>
          </a:p>
        </p:txBody>
      </p:sp>
      <p:sp>
        <p:nvSpPr>
          <p:cNvPr id="2" name="Title 1">
            <a:extLst>
              <a:ext uri="{FF2B5EF4-FFF2-40B4-BE49-F238E27FC236}">
                <a16:creationId xmlns:a16="http://schemas.microsoft.com/office/drawing/2014/main" id="{5DB24134-2539-4456-3670-52F821AD0DE5}"/>
              </a:ext>
            </a:extLst>
          </p:cNvPr>
          <p:cNvSpPr>
            <a:spLocks noGrp="1"/>
          </p:cNvSpPr>
          <p:nvPr>
            <p:ph type="title"/>
          </p:nvPr>
        </p:nvSpPr>
        <p:spPr/>
        <p:txBody>
          <a:bodyPr/>
          <a:lstStyle/>
          <a:p>
            <a:r>
              <a:rPr lang="en-FR" dirty="0"/>
              <a:t>Planning Module: Evaluation Protocol</a:t>
            </a:r>
          </a:p>
        </p:txBody>
      </p:sp>
      <p:pic>
        <p:nvPicPr>
          <p:cNvPr id="3" name="Graphic 2" descr="Lightbulb and gear with solid fill">
            <a:extLst>
              <a:ext uri="{FF2B5EF4-FFF2-40B4-BE49-F238E27FC236}">
                <a16:creationId xmlns:a16="http://schemas.microsoft.com/office/drawing/2014/main" id="{93F752B6-F152-8391-DEA9-35A594AEF27B}"/>
              </a:ext>
            </a:extLst>
          </p:cNvPr>
          <p:cNvPicPr>
            <a:picLocks noChangeAspect="1"/>
          </p:cNvPicPr>
          <p:nvPr/>
        </p:nvPicPr>
        <p:blipFill>
          <a:blip r:embed="rId3">
            <a:alphaModFix/>
            <a:extLst>
              <a:ext uri="{96DAC541-7B7A-43D3-8B79-37D633B846F1}">
                <asvg:svgBlip xmlns:asvg="http://schemas.microsoft.com/office/drawing/2016/SVG/main" r:embed="rId4"/>
              </a:ext>
            </a:extLst>
          </a:blip>
          <a:stretch>
            <a:fillRect/>
          </a:stretch>
        </p:blipFill>
        <p:spPr>
          <a:xfrm>
            <a:off x="155142" y="260967"/>
            <a:ext cx="844390" cy="844390"/>
          </a:xfrm>
          <a:prstGeom prst="rect">
            <a:avLst/>
          </a:prstGeom>
        </p:spPr>
      </p:pic>
      <p:sp>
        <p:nvSpPr>
          <p:cNvPr id="6" name="Rectangle 5">
            <a:extLst>
              <a:ext uri="{FF2B5EF4-FFF2-40B4-BE49-F238E27FC236}">
                <a16:creationId xmlns:a16="http://schemas.microsoft.com/office/drawing/2014/main" id="{48A991E1-A714-1697-10D4-61FE830D8F6B}"/>
              </a:ext>
            </a:extLst>
          </p:cNvPr>
          <p:cNvSpPr/>
          <p:nvPr/>
        </p:nvSpPr>
        <p:spPr>
          <a:xfrm>
            <a:off x="615904" y="1616734"/>
            <a:ext cx="3472541" cy="3830641"/>
          </a:xfrm>
          <a:prstGeom prst="rect">
            <a:avLst/>
          </a:prstGeom>
          <a:solidFill>
            <a:srgbClr val="4B84F4">
              <a:alpha val="2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br>
              <a:rPr lang="en-GB" sz="2000" dirty="0">
                <a:solidFill>
                  <a:schemeClr val="bg2">
                    <a:lumMod val="25000"/>
                  </a:schemeClr>
                </a:solidFill>
                <a:latin typeface="Poppins" pitchFamily="2" charset="77"/>
                <a:cs typeface="Poppins" pitchFamily="2" charset="77"/>
              </a:rPr>
            </a:br>
            <a:r>
              <a:rPr lang="en-GB" dirty="0">
                <a:solidFill>
                  <a:schemeClr val="bg2">
                    <a:lumMod val="25000"/>
                  </a:schemeClr>
                </a:solidFill>
                <a:latin typeface="Poppins" pitchFamily="2" charset="77"/>
                <a:cs typeface="Poppins" pitchFamily="2" charset="77"/>
              </a:rPr>
              <a:t>M</a:t>
            </a:r>
            <a:r>
              <a:rPr lang="en-FR" dirty="0">
                <a:solidFill>
                  <a:schemeClr val="bg2">
                    <a:lumMod val="25000"/>
                  </a:schemeClr>
                </a:solidFill>
                <a:latin typeface="Poppins" pitchFamily="2" charset="77"/>
                <a:cs typeface="Poppins" pitchFamily="2" charset="77"/>
              </a:rPr>
              <a:t>ulti-label prediction metrics</a:t>
            </a:r>
          </a:p>
        </p:txBody>
      </p:sp>
      <p:sp>
        <p:nvSpPr>
          <p:cNvPr id="7" name="Rectangle 6">
            <a:extLst>
              <a:ext uri="{FF2B5EF4-FFF2-40B4-BE49-F238E27FC236}">
                <a16:creationId xmlns:a16="http://schemas.microsoft.com/office/drawing/2014/main" id="{395BC798-54A9-7971-4084-E0FD90C6393E}"/>
              </a:ext>
            </a:extLst>
          </p:cNvPr>
          <p:cNvSpPr/>
          <p:nvPr/>
        </p:nvSpPr>
        <p:spPr>
          <a:xfrm>
            <a:off x="864323" y="2572229"/>
            <a:ext cx="2968309" cy="751115"/>
          </a:xfrm>
          <a:prstGeom prst="rect">
            <a:avLst/>
          </a:prstGeom>
          <a:solidFill>
            <a:srgbClr val="4B84F4">
              <a:alpha val="7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latin typeface="Poppins" pitchFamily="2" charset="77"/>
                <a:cs typeface="Poppins" pitchFamily="2" charset="77"/>
              </a:rPr>
              <a:t>F1 Score</a:t>
            </a:r>
          </a:p>
        </p:txBody>
      </p:sp>
      <p:sp>
        <p:nvSpPr>
          <p:cNvPr id="8" name="Rectangle 7">
            <a:extLst>
              <a:ext uri="{FF2B5EF4-FFF2-40B4-BE49-F238E27FC236}">
                <a16:creationId xmlns:a16="http://schemas.microsoft.com/office/drawing/2014/main" id="{20B683FE-EB76-6B7F-4002-7CCE4BC6CFD4}"/>
              </a:ext>
            </a:extLst>
          </p:cNvPr>
          <p:cNvSpPr/>
          <p:nvPr/>
        </p:nvSpPr>
        <p:spPr>
          <a:xfrm>
            <a:off x="864321" y="3429669"/>
            <a:ext cx="2968309" cy="751115"/>
          </a:xfrm>
          <a:prstGeom prst="rect">
            <a:avLst/>
          </a:prstGeom>
          <a:solidFill>
            <a:srgbClr val="4B84F4">
              <a:alpha val="7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latin typeface="Poppins" pitchFamily="2" charset="77"/>
                <a:cs typeface="Poppins" pitchFamily="2" charset="77"/>
              </a:rPr>
              <a:t>Precision</a:t>
            </a:r>
          </a:p>
        </p:txBody>
      </p:sp>
      <p:sp>
        <p:nvSpPr>
          <p:cNvPr id="9" name="Rectangle 8">
            <a:extLst>
              <a:ext uri="{FF2B5EF4-FFF2-40B4-BE49-F238E27FC236}">
                <a16:creationId xmlns:a16="http://schemas.microsoft.com/office/drawing/2014/main" id="{BD03098C-B61C-2C70-62DB-AF5B52783C57}"/>
              </a:ext>
            </a:extLst>
          </p:cNvPr>
          <p:cNvSpPr/>
          <p:nvPr/>
        </p:nvSpPr>
        <p:spPr>
          <a:xfrm>
            <a:off x="864321" y="4287109"/>
            <a:ext cx="2968309" cy="751115"/>
          </a:xfrm>
          <a:prstGeom prst="rect">
            <a:avLst/>
          </a:prstGeom>
          <a:solidFill>
            <a:srgbClr val="4B84F4">
              <a:alpha val="7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latin typeface="Poppins" pitchFamily="2" charset="77"/>
                <a:cs typeface="Poppins" pitchFamily="2" charset="77"/>
              </a:rPr>
              <a:t>Recall</a:t>
            </a:r>
          </a:p>
        </p:txBody>
      </p:sp>
      <p:sp>
        <p:nvSpPr>
          <p:cNvPr id="10" name="Rectangle 9">
            <a:extLst>
              <a:ext uri="{FF2B5EF4-FFF2-40B4-BE49-F238E27FC236}">
                <a16:creationId xmlns:a16="http://schemas.microsoft.com/office/drawing/2014/main" id="{325ED75A-F9CA-5370-88A1-01D26C16803B}"/>
              </a:ext>
            </a:extLst>
          </p:cNvPr>
          <p:cNvSpPr/>
          <p:nvPr/>
        </p:nvSpPr>
        <p:spPr>
          <a:xfrm>
            <a:off x="4455714" y="1605284"/>
            <a:ext cx="3472542" cy="3830641"/>
          </a:xfrm>
          <a:prstGeom prst="rect">
            <a:avLst/>
          </a:prstGeom>
          <a:solidFill>
            <a:srgbClr val="D43F49">
              <a:alpha val="2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FR" sz="1600" dirty="0">
              <a:latin typeface="Poppins" pitchFamily="2" charset="77"/>
              <a:cs typeface="Poppins" pitchFamily="2" charset="77"/>
            </a:endParaRPr>
          </a:p>
          <a:p>
            <a:pPr algn="ctr"/>
            <a:r>
              <a:rPr lang="en-FR" dirty="0">
                <a:solidFill>
                  <a:schemeClr val="bg2">
                    <a:lumMod val="25000"/>
                  </a:schemeClr>
                </a:solidFill>
                <a:latin typeface="Poppins" pitchFamily="2" charset="77"/>
                <a:cs typeface="Poppins" pitchFamily="2" charset="77"/>
              </a:rPr>
              <a:t>Similarity metrics</a:t>
            </a:r>
          </a:p>
        </p:txBody>
      </p:sp>
      <p:sp>
        <p:nvSpPr>
          <p:cNvPr id="11" name="Rectangle 10">
            <a:extLst>
              <a:ext uri="{FF2B5EF4-FFF2-40B4-BE49-F238E27FC236}">
                <a16:creationId xmlns:a16="http://schemas.microsoft.com/office/drawing/2014/main" id="{47F07CFB-90A4-A49E-3BE3-1BCD26ACAA2C}"/>
              </a:ext>
            </a:extLst>
          </p:cNvPr>
          <p:cNvSpPr/>
          <p:nvPr/>
        </p:nvSpPr>
        <p:spPr>
          <a:xfrm>
            <a:off x="8295525" y="1610161"/>
            <a:ext cx="3472542" cy="3837214"/>
          </a:xfrm>
          <a:prstGeom prst="rect">
            <a:avLst/>
          </a:prstGeom>
          <a:solidFill>
            <a:srgbClr val="FFC49B">
              <a:alpha val="2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FR" dirty="0">
              <a:latin typeface="Poppins" pitchFamily="2" charset="77"/>
              <a:cs typeface="Poppins" pitchFamily="2" charset="77"/>
            </a:endParaRPr>
          </a:p>
          <a:p>
            <a:pPr algn="ctr"/>
            <a:r>
              <a:rPr lang="en-FR" sz="2000" dirty="0">
                <a:solidFill>
                  <a:schemeClr val="bg2">
                    <a:lumMod val="25000"/>
                  </a:schemeClr>
                </a:solidFill>
                <a:latin typeface="Poppins" pitchFamily="2" charset="77"/>
                <a:cs typeface="Poppins" pitchFamily="2" charset="77"/>
              </a:rPr>
              <a:t>Other metrics</a:t>
            </a:r>
          </a:p>
        </p:txBody>
      </p:sp>
      <p:sp>
        <p:nvSpPr>
          <p:cNvPr id="12" name="Rectangle 11">
            <a:extLst>
              <a:ext uri="{FF2B5EF4-FFF2-40B4-BE49-F238E27FC236}">
                <a16:creationId xmlns:a16="http://schemas.microsoft.com/office/drawing/2014/main" id="{B75CF9AB-B8A3-E16F-CD3A-80A70B2B7F8C}"/>
              </a:ext>
            </a:extLst>
          </p:cNvPr>
          <p:cNvSpPr/>
          <p:nvPr/>
        </p:nvSpPr>
        <p:spPr>
          <a:xfrm>
            <a:off x="4698046" y="2572229"/>
            <a:ext cx="2988129" cy="751115"/>
          </a:xfrm>
          <a:prstGeom prst="rect">
            <a:avLst/>
          </a:prstGeom>
          <a:solidFill>
            <a:srgbClr val="D43F49">
              <a:alpha val="7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latin typeface="Poppins" pitchFamily="2" charset="77"/>
                <a:cs typeface="Poppins" pitchFamily="2" charset="77"/>
              </a:rPr>
              <a:t>Jaccard Similarity</a:t>
            </a:r>
          </a:p>
        </p:txBody>
      </p:sp>
      <p:sp>
        <p:nvSpPr>
          <p:cNvPr id="13" name="Rectangle 12">
            <a:extLst>
              <a:ext uri="{FF2B5EF4-FFF2-40B4-BE49-F238E27FC236}">
                <a16:creationId xmlns:a16="http://schemas.microsoft.com/office/drawing/2014/main" id="{62FF39B1-1092-B36D-8D73-8A49D28DA4A4}"/>
              </a:ext>
            </a:extLst>
          </p:cNvPr>
          <p:cNvSpPr/>
          <p:nvPr/>
        </p:nvSpPr>
        <p:spPr>
          <a:xfrm>
            <a:off x="4698045" y="3436243"/>
            <a:ext cx="2988129" cy="751115"/>
          </a:xfrm>
          <a:prstGeom prst="rect">
            <a:avLst/>
          </a:prstGeom>
          <a:solidFill>
            <a:srgbClr val="D43F49">
              <a:alpha val="72157"/>
            </a:srgbClr>
          </a:solidFill>
          <a:ln w="28575">
            <a:solidFill>
              <a:srgbClr val="D43F49"/>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latin typeface="Poppins" pitchFamily="2" charset="77"/>
                <a:cs typeface="Poppins" pitchFamily="2" charset="77"/>
              </a:rPr>
              <a:t>Normalised Levenshtein Similarity</a:t>
            </a:r>
          </a:p>
        </p:txBody>
      </p:sp>
      <p:sp>
        <p:nvSpPr>
          <p:cNvPr id="14" name="Rectangle 13">
            <a:extLst>
              <a:ext uri="{FF2B5EF4-FFF2-40B4-BE49-F238E27FC236}">
                <a16:creationId xmlns:a16="http://schemas.microsoft.com/office/drawing/2014/main" id="{EA0030CC-CB89-F4A2-8D19-8A488210D605}"/>
              </a:ext>
            </a:extLst>
          </p:cNvPr>
          <p:cNvSpPr/>
          <p:nvPr/>
        </p:nvSpPr>
        <p:spPr>
          <a:xfrm>
            <a:off x="8545896" y="2572229"/>
            <a:ext cx="2971800" cy="751115"/>
          </a:xfrm>
          <a:prstGeom prst="rect">
            <a:avLst/>
          </a:prstGeom>
          <a:solidFill>
            <a:srgbClr val="F2B781">
              <a:alpha val="7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Poppins" pitchFamily="2" charset="77"/>
                <a:cs typeface="Poppins" pitchFamily="2" charset="77"/>
              </a:rPr>
              <a:t>M</a:t>
            </a:r>
            <a:r>
              <a:rPr lang="en-FR" dirty="0">
                <a:latin typeface="Poppins" pitchFamily="2" charset="77"/>
                <a:cs typeface="Poppins" pitchFamily="2" charset="77"/>
              </a:rPr>
              <a:t>ean length of </a:t>
            </a:r>
            <a:br>
              <a:rPr lang="en-FR" dirty="0">
                <a:latin typeface="Poppins" pitchFamily="2" charset="77"/>
                <a:cs typeface="Poppins" pitchFamily="2" charset="77"/>
              </a:rPr>
            </a:br>
            <a:r>
              <a:rPr lang="en-FR" dirty="0">
                <a:latin typeface="Poppins" pitchFamily="2" charset="77"/>
                <a:cs typeface="Poppins" pitchFamily="2" charset="77"/>
              </a:rPr>
              <a:t>label sequences</a:t>
            </a:r>
          </a:p>
        </p:txBody>
      </p:sp>
      <p:sp>
        <p:nvSpPr>
          <p:cNvPr id="4" name="TextBox 3">
            <a:extLst>
              <a:ext uri="{FF2B5EF4-FFF2-40B4-BE49-F238E27FC236}">
                <a16:creationId xmlns:a16="http://schemas.microsoft.com/office/drawing/2014/main" id="{09C1D77D-827C-9A20-8998-A0964C1A1A8B}"/>
              </a:ext>
            </a:extLst>
          </p:cNvPr>
          <p:cNvSpPr txBox="1"/>
          <p:nvPr/>
        </p:nvSpPr>
        <p:spPr>
          <a:xfrm>
            <a:off x="1442618" y="5094541"/>
            <a:ext cx="1811714" cy="307777"/>
          </a:xfrm>
          <a:prstGeom prst="rect">
            <a:avLst/>
          </a:prstGeom>
          <a:noFill/>
        </p:spPr>
        <p:txBody>
          <a:bodyPr wrap="none" rtlCol="0">
            <a:spAutoFit/>
          </a:bodyPr>
          <a:lstStyle/>
          <a:p>
            <a:r>
              <a:rPr lang="en-GB" sz="1400" i="1" dirty="0">
                <a:latin typeface="Poppins" pitchFamily="2" charset="77"/>
                <a:cs typeface="Poppins" pitchFamily="2" charset="77"/>
              </a:rPr>
              <a:t>scikit-learn library</a:t>
            </a:r>
            <a:endParaRPr lang="en-FR" sz="1400" i="1" dirty="0">
              <a:latin typeface="Poppins" pitchFamily="2" charset="77"/>
              <a:cs typeface="Poppins" pitchFamily="2" charset="77"/>
            </a:endParaRPr>
          </a:p>
        </p:txBody>
      </p:sp>
      <p:sp>
        <p:nvSpPr>
          <p:cNvPr id="5" name="TextBox 4">
            <a:extLst>
              <a:ext uri="{FF2B5EF4-FFF2-40B4-BE49-F238E27FC236}">
                <a16:creationId xmlns:a16="http://schemas.microsoft.com/office/drawing/2014/main" id="{9BA22F81-37DE-D108-ACF7-92BD1E4390A5}"/>
              </a:ext>
            </a:extLst>
          </p:cNvPr>
          <p:cNvSpPr txBox="1"/>
          <p:nvPr/>
        </p:nvSpPr>
        <p:spPr>
          <a:xfrm>
            <a:off x="5286128" y="5094540"/>
            <a:ext cx="1917513" cy="307777"/>
          </a:xfrm>
          <a:prstGeom prst="rect">
            <a:avLst/>
          </a:prstGeom>
          <a:noFill/>
        </p:spPr>
        <p:txBody>
          <a:bodyPr wrap="none" rtlCol="0">
            <a:spAutoFit/>
          </a:bodyPr>
          <a:lstStyle/>
          <a:p>
            <a:r>
              <a:rPr lang="en-GB" sz="1400" i="1" dirty="0" err="1">
                <a:latin typeface="Poppins" pitchFamily="2" charset="77"/>
                <a:cs typeface="Poppins" pitchFamily="2" charset="77"/>
              </a:rPr>
              <a:t>textdistance</a:t>
            </a:r>
            <a:r>
              <a:rPr lang="en-GB" sz="1400" i="1" dirty="0">
                <a:latin typeface="Poppins" pitchFamily="2" charset="77"/>
                <a:cs typeface="Poppins" pitchFamily="2" charset="77"/>
              </a:rPr>
              <a:t> library</a:t>
            </a:r>
            <a:endParaRPr lang="en-FR" sz="1400" i="1" dirty="0">
              <a:latin typeface="Poppins" pitchFamily="2" charset="77"/>
              <a:cs typeface="Poppins" pitchFamily="2" charset="77"/>
            </a:endParaRPr>
          </a:p>
        </p:txBody>
      </p:sp>
      <p:sp>
        <p:nvSpPr>
          <p:cNvPr id="16" name="Rectangle 15">
            <a:extLst>
              <a:ext uri="{FF2B5EF4-FFF2-40B4-BE49-F238E27FC236}">
                <a16:creationId xmlns:a16="http://schemas.microsoft.com/office/drawing/2014/main" id="{0D0176E6-FB05-0243-2B76-EC7F3A86FFBA}"/>
              </a:ext>
            </a:extLst>
          </p:cNvPr>
          <p:cNvSpPr/>
          <p:nvPr/>
        </p:nvSpPr>
        <p:spPr>
          <a:xfrm>
            <a:off x="2710683" y="6457411"/>
            <a:ext cx="2755524" cy="288565"/>
          </a:xfrm>
          <a:prstGeom prst="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1200" dirty="0">
                <a:solidFill>
                  <a:srgbClr val="E93F31"/>
                </a:solidFill>
              </a:rPr>
              <a:t>“</a:t>
            </a:r>
            <a:r>
              <a:rPr lang="en-FR" sz="1200" i="1" dirty="0">
                <a:solidFill>
                  <a:srgbClr val="E93F31"/>
                </a:solidFill>
              </a:rPr>
              <a:t>Information</a:t>
            </a:r>
            <a:r>
              <a:rPr lang="en-FR" sz="1200" dirty="0">
                <a:solidFill>
                  <a:srgbClr val="E93F31"/>
                </a:solidFill>
              </a:rPr>
              <a:t>”, “</a:t>
            </a:r>
            <a:r>
              <a:rPr lang="en-FR" sz="1200" i="1" dirty="0">
                <a:solidFill>
                  <a:srgbClr val="E93F31"/>
                </a:solidFill>
              </a:rPr>
              <a:t>Question</a:t>
            </a:r>
            <a:r>
              <a:rPr lang="en-FR" sz="1200" dirty="0">
                <a:solidFill>
                  <a:srgbClr val="E93F31"/>
                </a:solidFill>
              </a:rPr>
              <a:t>”, “</a:t>
            </a:r>
            <a:r>
              <a:rPr lang="en-FR" sz="1200" i="1" dirty="0">
                <a:solidFill>
                  <a:srgbClr val="E93F31"/>
                </a:solidFill>
              </a:rPr>
              <a:t>Politeness</a:t>
            </a:r>
            <a:r>
              <a:rPr lang="en-FR" sz="1200" dirty="0">
                <a:solidFill>
                  <a:srgbClr val="E93F31"/>
                </a:solidFill>
              </a:rPr>
              <a:t>”</a:t>
            </a:r>
          </a:p>
        </p:txBody>
      </p:sp>
      <p:sp>
        <p:nvSpPr>
          <p:cNvPr id="19" name="Rectangle 18">
            <a:extLst>
              <a:ext uri="{FF2B5EF4-FFF2-40B4-BE49-F238E27FC236}">
                <a16:creationId xmlns:a16="http://schemas.microsoft.com/office/drawing/2014/main" id="{622027C7-2076-76E8-D889-5C905D250013}"/>
              </a:ext>
            </a:extLst>
          </p:cNvPr>
          <p:cNvSpPr/>
          <p:nvPr/>
        </p:nvSpPr>
        <p:spPr>
          <a:xfrm>
            <a:off x="6778493" y="5777164"/>
            <a:ext cx="2755524" cy="504240"/>
          </a:xfrm>
          <a:prstGeom prst="rect">
            <a:avLst/>
          </a:prstGeom>
          <a:solidFill>
            <a:srgbClr val="4B84F4"/>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1600" dirty="0">
                <a:latin typeface="Poppins" pitchFamily="2" charset="77"/>
                <a:cs typeface="Poppins" pitchFamily="2" charset="77"/>
              </a:rPr>
              <a:t>Output of the planning module</a:t>
            </a:r>
          </a:p>
        </p:txBody>
      </p:sp>
      <p:sp>
        <p:nvSpPr>
          <p:cNvPr id="20" name="Rectangle 19">
            <a:extLst>
              <a:ext uri="{FF2B5EF4-FFF2-40B4-BE49-F238E27FC236}">
                <a16:creationId xmlns:a16="http://schemas.microsoft.com/office/drawing/2014/main" id="{2D31B86F-41D7-00ED-7B74-4BB74D720113}"/>
              </a:ext>
            </a:extLst>
          </p:cNvPr>
          <p:cNvSpPr/>
          <p:nvPr/>
        </p:nvSpPr>
        <p:spPr>
          <a:xfrm>
            <a:off x="2710683" y="5790909"/>
            <a:ext cx="2755524" cy="504240"/>
          </a:xfrm>
          <a:prstGeom prst="rect">
            <a:avLst/>
          </a:prstGeom>
          <a:solidFill>
            <a:srgbClr val="4B84F4"/>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1600" dirty="0">
                <a:latin typeface="Poppins" pitchFamily="2" charset="77"/>
                <a:cs typeface="Poppins" pitchFamily="2" charset="77"/>
              </a:rPr>
              <a:t>Ground truth </a:t>
            </a:r>
            <a:br>
              <a:rPr lang="en-FR" sz="1600" dirty="0">
                <a:latin typeface="Poppins" pitchFamily="2" charset="77"/>
                <a:cs typeface="Poppins" pitchFamily="2" charset="77"/>
              </a:rPr>
            </a:br>
            <a:r>
              <a:rPr lang="en-FR" sz="1600" dirty="0">
                <a:latin typeface="Poppins" pitchFamily="2" charset="77"/>
                <a:cs typeface="Poppins" pitchFamily="2" charset="77"/>
              </a:rPr>
              <a:t>labels</a:t>
            </a:r>
          </a:p>
        </p:txBody>
      </p:sp>
      <p:sp>
        <p:nvSpPr>
          <p:cNvPr id="21" name="Rectangle 20">
            <a:extLst>
              <a:ext uri="{FF2B5EF4-FFF2-40B4-BE49-F238E27FC236}">
                <a16:creationId xmlns:a16="http://schemas.microsoft.com/office/drawing/2014/main" id="{C218248B-4FED-4BE6-58DC-483AC6E40A6F}"/>
              </a:ext>
            </a:extLst>
          </p:cNvPr>
          <p:cNvSpPr/>
          <p:nvPr/>
        </p:nvSpPr>
        <p:spPr>
          <a:xfrm>
            <a:off x="6778492" y="6441391"/>
            <a:ext cx="2755524" cy="288565"/>
          </a:xfrm>
          <a:prstGeom prst="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1200" dirty="0">
                <a:solidFill>
                  <a:srgbClr val="E93F31"/>
                </a:solidFill>
              </a:rPr>
              <a:t>“</a:t>
            </a:r>
            <a:r>
              <a:rPr lang="en-FR" sz="1200" i="1" dirty="0">
                <a:solidFill>
                  <a:srgbClr val="E93F31"/>
                </a:solidFill>
              </a:rPr>
              <a:t>Information</a:t>
            </a:r>
            <a:r>
              <a:rPr lang="en-FR" sz="1200" dirty="0">
                <a:solidFill>
                  <a:srgbClr val="E93F31"/>
                </a:solidFill>
              </a:rPr>
              <a:t>”, “</a:t>
            </a:r>
            <a:r>
              <a:rPr lang="en-FR" sz="1200" i="1" dirty="0">
                <a:solidFill>
                  <a:srgbClr val="E93F31"/>
                </a:solidFill>
              </a:rPr>
              <a:t>Politeness</a:t>
            </a:r>
            <a:r>
              <a:rPr lang="en-FR" sz="1200" dirty="0">
                <a:solidFill>
                  <a:srgbClr val="E93F31"/>
                </a:solidFill>
              </a:rPr>
              <a:t>”</a:t>
            </a:r>
          </a:p>
        </p:txBody>
      </p:sp>
      <p:sp>
        <p:nvSpPr>
          <p:cNvPr id="23" name="TextBox 22">
            <a:extLst>
              <a:ext uri="{FF2B5EF4-FFF2-40B4-BE49-F238E27FC236}">
                <a16:creationId xmlns:a16="http://schemas.microsoft.com/office/drawing/2014/main" id="{B5151F59-2DE8-1396-CE92-1C119A802CD9}"/>
              </a:ext>
            </a:extLst>
          </p:cNvPr>
          <p:cNvSpPr txBox="1"/>
          <p:nvPr/>
        </p:nvSpPr>
        <p:spPr>
          <a:xfrm>
            <a:off x="590238" y="1177796"/>
            <a:ext cx="2495283" cy="369332"/>
          </a:xfrm>
          <a:prstGeom prst="rect">
            <a:avLst/>
          </a:prstGeom>
          <a:solidFill>
            <a:schemeClr val="bg1"/>
          </a:solidFill>
        </p:spPr>
        <p:txBody>
          <a:bodyPr wrap="square" rtlCol="0">
            <a:spAutoFit/>
          </a:bodyPr>
          <a:lstStyle/>
          <a:p>
            <a:r>
              <a:rPr lang="en-FR" b="1" dirty="0">
                <a:solidFill>
                  <a:srgbClr val="4B85F4"/>
                </a:solidFill>
                <a:latin typeface="Poppins" pitchFamily="2" charset="77"/>
                <a:cs typeface="Poppins" pitchFamily="2" charset="77"/>
              </a:rPr>
              <a:t>REFERENCE-BASED</a:t>
            </a:r>
          </a:p>
        </p:txBody>
      </p:sp>
      <p:sp>
        <p:nvSpPr>
          <p:cNvPr id="15" name="TextBox 14">
            <a:extLst>
              <a:ext uri="{FF2B5EF4-FFF2-40B4-BE49-F238E27FC236}">
                <a16:creationId xmlns:a16="http://schemas.microsoft.com/office/drawing/2014/main" id="{529313F5-2297-EE44-F820-4315A9C3C0E6}"/>
              </a:ext>
            </a:extLst>
          </p:cNvPr>
          <p:cNvSpPr txBox="1"/>
          <p:nvPr/>
        </p:nvSpPr>
        <p:spPr>
          <a:xfrm>
            <a:off x="5483849" y="6429670"/>
            <a:ext cx="898003" cy="369332"/>
          </a:xfrm>
          <a:prstGeom prst="rect">
            <a:avLst/>
          </a:prstGeom>
          <a:noFill/>
        </p:spPr>
        <p:txBody>
          <a:bodyPr wrap="none" rtlCol="0">
            <a:spAutoFit/>
          </a:bodyPr>
          <a:lstStyle/>
          <a:p>
            <a:r>
              <a:rPr lang="en-FR" dirty="0">
                <a:solidFill>
                  <a:srgbClr val="F2B781"/>
                </a:solidFill>
              </a:rPr>
              <a:t>3 labels</a:t>
            </a:r>
          </a:p>
        </p:txBody>
      </p:sp>
      <p:sp>
        <p:nvSpPr>
          <p:cNvPr id="17" name="TextBox 16">
            <a:extLst>
              <a:ext uri="{FF2B5EF4-FFF2-40B4-BE49-F238E27FC236}">
                <a16:creationId xmlns:a16="http://schemas.microsoft.com/office/drawing/2014/main" id="{12A243EE-F0AA-F166-4C5E-65784E01E1EE}"/>
              </a:ext>
            </a:extLst>
          </p:cNvPr>
          <p:cNvSpPr txBox="1"/>
          <p:nvPr/>
        </p:nvSpPr>
        <p:spPr>
          <a:xfrm>
            <a:off x="9582794" y="6401007"/>
            <a:ext cx="898003" cy="369332"/>
          </a:xfrm>
          <a:prstGeom prst="rect">
            <a:avLst/>
          </a:prstGeom>
          <a:noFill/>
        </p:spPr>
        <p:txBody>
          <a:bodyPr wrap="none" rtlCol="0">
            <a:spAutoFit/>
          </a:bodyPr>
          <a:lstStyle/>
          <a:p>
            <a:r>
              <a:rPr lang="en-FR" dirty="0">
                <a:solidFill>
                  <a:srgbClr val="F2B781"/>
                </a:solidFill>
              </a:rPr>
              <a:t>2 labels</a:t>
            </a:r>
          </a:p>
        </p:txBody>
      </p:sp>
    </p:spTree>
    <p:extLst>
      <p:ext uri="{BB962C8B-B14F-4D97-AF65-F5344CB8AC3E}">
        <p14:creationId xmlns:p14="http://schemas.microsoft.com/office/powerpoint/2010/main" val="615492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6" grpId="0" animBg="1"/>
      <p:bldP spid="7" grpId="0" animBg="1"/>
      <p:bldP spid="8" grpId="0" animBg="1"/>
      <p:bldP spid="9" grpId="0" animBg="1"/>
      <p:bldP spid="10" grpId="0" animBg="1"/>
      <p:bldP spid="11" grpId="0" animBg="1"/>
      <p:bldP spid="12" grpId="0" animBg="1"/>
      <p:bldP spid="13" grpId="0" animBg="1"/>
      <p:bldP spid="14" grpId="0" animBg="1"/>
      <p:bldP spid="4" grpId="0"/>
      <p:bldP spid="5" grpId="0"/>
      <p:bldP spid="16" grpId="0" animBg="1"/>
      <p:bldP spid="19" grpId="0" animBg="1"/>
      <p:bldP spid="20" grpId="0" animBg="1"/>
      <p:bldP spid="21" grpId="0" animBg="1"/>
      <p:bldP spid="23" grpId="0" animBg="1"/>
      <p:bldP spid="15" grpId="0"/>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C9AD1-3E26-1DD1-B971-4214786875A0}"/>
            </a:ext>
          </a:extLst>
        </p:cNvPr>
        <p:cNvGrpSpPr/>
        <p:nvPr/>
      </p:nvGrpSpPr>
      <p:grpSpPr>
        <a:xfrm>
          <a:off x="0" y="0"/>
          <a:ext cx="0" cy="0"/>
          <a:chOff x="0" y="0"/>
          <a:chExt cx="0" cy="0"/>
        </a:xfrm>
      </p:grpSpPr>
      <p:sp>
        <p:nvSpPr>
          <p:cNvPr id="39" name="Rounded Rectangle 38">
            <a:extLst>
              <a:ext uri="{FF2B5EF4-FFF2-40B4-BE49-F238E27FC236}">
                <a16:creationId xmlns:a16="http://schemas.microsoft.com/office/drawing/2014/main" id="{2526E7C9-3376-F62D-4C2D-42E72177126D}"/>
              </a:ext>
            </a:extLst>
          </p:cNvPr>
          <p:cNvSpPr/>
          <p:nvPr/>
        </p:nvSpPr>
        <p:spPr>
          <a:xfrm>
            <a:off x="456733" y="1817020"/>
            <a:ext cx="2600325" cy="583189"/>
          </a:xfrm>
          <a:prstGeom prst="roundRect">
            <a:avLst/>
          </a:prstGeom>
          <a:solidFill>
            <a:srgbClr val="4B85F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FFD2B2"/>
                </a:solidFill>
              </a:rPr>
              <a:t>Y</a:t>
            </a:r>
            <a:r>
              <a:rPr lang="en-FR" sz="1400" dirty="0">
                <a:solidFill>
                  <a:srgbClr val="FFD2B2"/>
                </a:solidFill>
              </a:rPr>
              <a:t>es.</a:t>
            </a:r>
            <a:r>
              <a:rPr lang="en-FR" sz="1400" dirty="0"/>
              <a:t> </a:t>
            </a:r>
            <a:r>
              <a:rPr lang="en-GB" sz="1400" dirty="0">
                <a:solidFill>
                  <a:srgbClr val="E3ABCC"/>
                </a:solidFill>
              </a:rPr>
              <a:t>F</a:t>
            </a:r>
            <a:r>
              <a:rPr lang="en-FR" sz="1400" dirty="0">
                <a:solidFill>
                  <a:srgbClr val="E3ABCC"/>
                </a:solidFill>
              </a:rPr>
              <a:t>ive pm.</a:t>
            </a:r>
          </a:p>
          <a:p>
            <a:pPr algn="ctr"/>
            <a:r>
              <a:rPr lang="en-GB" sz="1400" dirty="0">
                <a:solidFill>
                  <a:srgbClr val="FFD2B2"/>
                </a:solidFill>
              </a:rPr>
              <a:t>O</a:t>
            </a:r>
            <a:r>
              <a:rPr lang="en-FR" sz="1400" dirty="0">
                <a:solidFill>
                  <a:srgbClr val="FFD2B2"/>
                </a:solidFill>
              </a:rPr>
              <a:t>k, </a:t>
            </a:r>
            <a:r>
              <a:rPr lang="en-FR" sz="1400" u="sng" dirty="0">
                <a:solidFill>
                  <a:srgbClr val="FFD2B2"/>
                </a:solidFill>
              </a:rPr>
              <a:t>perfect!</a:t>
            </a:r>
            <a:r>
              <a:rPr lang="en-FR" sz="1400" dirty="0"/>
              <a:t> </a:t>
            </a:r>
            <a:r>
              <a:rPr lang="en-FR" sz="1400" dirty="0">
                <a:solidFill>
                  <a:srgbClr val="70D141"/>
                </a:solidFill>
              </a:rPr>
              <a:t>thank you.</a:t>
            </a:r>
          </a:p>
        </p:txBody>
      </p:sp>
      <p:sp>
        <p:nvSpPr>
          <p:cNvPr id="2" name="Title 1">
            <a:extLst>
              <a:ext uri="{FF2B5EF4-FFF2-40B4-BE49-F238E27FC236}">
                <a16:creationId xmlns:a16="http://schemas.microsoft.com/office/drawing/2014/main" id="{DDD8C85B-A7F0-B173-516B-C871ABC76CFF}"/>
              </a:ext>
            </a:extLst>
          </p:cNvPr>
          <p:cNvSpPr>
            <a:spLocks noGrp="1"/>
          </p:cNvSpPr>
          <p:nvPr>
            <p:ph type="title"/>
          </p:nvPr>
        </p:nvSpPr>
        <p:spPr/>
        <p:txBody>
          <a:bodyPr/>
          <a:lstStyle/>
          <a:p>
            <a:r>
              <a:rPr lang="en-FR" dirty="0"/>
              <a:t>Generative Module</a:t>
            </a:r>
          </a:p>
        </p:txBody>
      </p:sp>
      <p:pic>
        <p:nvPicPr>
          <p:cNvPr id="3" name="Graphic 2" descr="Lightbulb and gear with solid fill">
            <a:extLst>
              <a:ext uri="{FF2B5EF4-FFF2-40B4-BE49-F238E27FC236}">
                <a16:creationId xmlns:a16="http://schemas.microsoft.com/office/drawing/2014/main" id="{9B094674-84F0-BB5E-CF0D-3DBBA044872D}"/>
              </a:ext>
            </a:extLst>
          </p:cNvPr>
          <p:cNvPicPr>
            <a:picLocks noChangeAspect="1"/>
          </p:cNvPicPr>
          <p:nvPr/>
        </p:nvPicPr>
        <p:blipFill>
          <a:blip r:embed="rId3">
            <a:alphaModFix/>
            <a:extLst>
              <a:ext uri="{96DAC541-7B7A-43D3-8B79-37D633B846F1}">
                <asvg:svgBlip xmlns:asvg="http://schemas.microsoft.com/office/drawing/2016/SVG/main" r:embed="rId4"/>
              </a:ext>
            </a:extLst>
          </a:blip>
          <a:stretch>
            <a:fillRect/>
          </a:stretch>
        </p:blipFill>
        <p:spPr>
          <a:xfrm>
            <a:off x="155142" y="260967"/>
            <a:ext cx="844390" cy="844390"/>
          </a:xfrm>
          <a:prstGeom prst="rect">
            <a:avLst/>
          </a:prstGeom>
        </p:spPr>
      </p:pic>
      <p:sp>
        <p:nvSpPr>
          <p:cNvPr id="30" name="Rounded Rectangle 29">
            <a:extLst>
              <a:ext uri="{FF2B5EF4-FFF2-40B4-BE49-F238E27FC236}">
                <a16:creationId xmlns:a16="http://schemas.microsoft.com/office/drawing/2014/main" id="{FCDE7D47-625E-3193-330B-EDBB74A22165}"/>
              </a:ext>
            </a:extLst>
          </p:cNvPr>
          <p:cNvSpPr/>
          <p:nvPr/>
        </p:nvSpPr>
        <p:spPr>
          <a:xfrm>
            <a:off x="2241123" y="5508963"/>
            <a:ext cx="2869705" cy="660029"/>
          </a:xfrm>
          <a:prstGeom prst="round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dirty="0">
                <a:solidFill>
                  <a:srgbClr val="4B85F4"/>
                </a:solidFill>
              </a:rPr>
              <a:t>?</a:t>
            </a:r>
            <a:endParaRPr lang="en-FR" sz="1400" b="1" dirty="0">
              <a:solidFill>
                <a:srgbClr val="4B85F4"/>
              </a:solidFill>
            </a:endParaRPr>
          </a:p>
        </p:txBody>
      </p:sp>
      <p:sp>
        <p:nvSpPr>
          <p:cNvPr id="32" name="Rounded Rectangle 31">
            <a:extLst>
              <a:ext uri="{FF2B5EF4-FFF2-40B4-BE49-F238E27FC236}">
                <a16:creationId xmlns:a16="http://schemas.microsoft.com/office/drawing/2014/main" id="{9FE21357-A728-092B-2F5D-D307480E2242}"/>
              </a:ext>
            </a:extLst>
          </p:cNvPr>
          <p:cNvSpPr/>
          <p:nvPr/>
        </p:nvSpPr>
        <p:spPr>
          <a:xfrm>
            <a:off x="2258478" y="2552850"/>
            <a:ext cx="2869705" cy="1226435"/>
          </a:xfrm>
          <a:prstGeom prst="round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rgbClr val="4B85F4"/>
                </a:solidFill>
              </a:rPr>
              <a:t>Yes, </a:t>
            </a:r>
            <a:r>
              <a:rPr lang="fr-FR" sz="1400" dirty="0" err="1">
                <a:solidFill>
                  <a:srgbClr val="4B85F4"/>
                </a:solidFill>
              </a:rPr>
              <a:t>they</a:t>
            </a:r>
            <a:r>
              <a:rPr lang="fr-FR" sz="1400" dirty="0">
                <a:solidFill>
                  <a:srgbClr val="4B85F4"/>
                </a:solidFill>
              </a:rPr>
              <a:t> </a:t>
            </a:r>
            <a:r>
              <a:rPr lang="fr-FR" sz="1400" dirty="0" err="1">
                <a:solidFill>
                  <a:srgbClr val="4B85F4"/>
                </a:solidFill>
              </a:rPr>
              <a:t>just</a:t>
            </a:r>
            <a:r>
              <a:rPr lang="fr-FR" sz="1400" dirty="0">
                <a:solidFill>
                  <a:srgbClr val="4B85F4"/>
                </a:solidFill>
              </a:rPr>
              <a:t> </a:t>
            </a:r>
            <a:r>
              <a:rPr lang="fr-FR" sz="1400" dirty="0" err="1">
                <a:solidFill>
                  <a:srgbClr val="4B85F4"/>
                </a:solidFill>
              </a:rPr>
              <a:t>told</a:t>
            </a:r>
            <a:r>
              <a:rPr lang="fr-FR" sz="1400" dirty="0">
                <a:solidFill>
                  <a:srgbClr val="4B85F4"/>
                </a:solidFill>
              </a:rPr>
              <a:t> me </a:t>
            </a:r>
            <a:r>
              <a:rPr lang="fr-FR" sz="1400" dirty="0" err="1">
                <a:solidFill>
                  <a:srgbClr val="4B85F4"/>
                </a:solidFill>
              </a:rPr>
              <a:t>that</a:t>
            </a:r>
            <a:r>
              <a:rPr lang="fr-FR" sz="1400" dirty="0">
                <a:solidFill>
                  <a:srgbClr val="4B85F4"/>
                </a:solidFill>
              </a:rPr>
              <a:t> </a:t>
            </a:r>
            <a:r>
              <a:rPr lang="fr-FR" sz="1400" dirty="0" err="1">
                <a:solidFill>
                  <a:srgbClr val="4B85F4"/>
                </a:solidFill>
              </a:rPr>
              <a:t>they</a:t>
            </a:r>
            <a:r>
              <a:rPr lang="fr-FR" sz="1400" dirty="0">
                <a:solidFill>
                  <a:srgbClr val="4B85F4"/>
                </a:solidFill>
              </a:rPr>
              <a:t> </a:t>
            </a:r>
            <a:r>
              <a:rPr lang="fr-FR" sz="1400" dirty="0" err="1">
                <a:solidFill>
                  <a:srgbClr val="4B85F4"/>
                </a:solidFill>
              </a:rPr>
              <a:t>were</a:t>
            </a:r>
            <a:r>
              <a:rPr lang="fr-FR" sz="1400" dirty="0">
                <a:solidFill>
                  <a:srgbClr val="4B85F4"/>
                </a:solidFill>
              </a:rPr>
              <a:t> </a:t>
            </a:r>
            <a:r>
              <a:rPr lang="fr-FR" sz="1400" dirty="0" err="1">
                <a:solidFill>
                  <a:srgbClr val="4B85F4"/>
                </a:solidFill>
              </a:rPr>
              <a:t>still</a:t>
            </a:r>
            <a:r>
              <a:rPr lang="fr-FR" sz="1400" dirty="0">
                <a:solidFill>
                  <a:srgbClr val="4B85F4"/>
                </a:solidFill>
              </a:rPr>
              <a:t> </a:t>
            </a:r>
            <a:r>
              <a:rPr lang="fr-FR" sz="1400" dirty="0" err="1">
                <a:solidFill>
                  <a:srgbClr val="4B85F4"/>
                </a:solidFill>
              </a:rPr>
              <a:t>working</a:t>
            </a:r>
            <a:r>
              <a:rPr lang="fr-FR" sz="1400" dirty="0">
                <a:solidFill>
                  <a:srgbClr val="4B85F4"/>
                </a:solidFill>
              </a:rPr>
              <a:t> on </a:t>
            </a:r>
            <a:r>
              <a:rPr lang="fr-FR" sz="1400" dirty="0" err="1">
                <a:solidFill>
                  <a:srgbClr val="4B85F4"/>
                </a:solidFill>
              </a:rPr>
              <a:t>your</a:t>
            </a:r>
            <a:r>
              <a:rPr lang="fr-FR" sz="1400" dirty="0">
                <a:solidFill>
                  <a:srgbClr val="4B85F4"/>
                </a:solidFill>
              </a:rPr>
              <a:t> </a:t>
            </a:r>
            <a:r>
              <a:rPr lang="fr-FR" sz="1400" dirty="0" err="1">
                <a:solidFill>
                  <a:srgbClr val="4B85F4"/>
                </a:solidFill>
              </a:rPr>
              <a:t>vehicle</a:t>
            </a:r>
            <a:r>
              <a:rPr lang="fr-FR" sz="1400" dirty="0">
                <a:solidFill>
                  <a:srgbClr val="4B85F4"/>
                </a:solidFill>
              </a:rPr>
              <a:t>, and </a:t>
            </a:r>
            <a:r>
              <a:rPr lang="fr-FR" sz="1400" dirty="0" err="1">
                <a:solidFill>
                  <a:srgbClr val="4B85F4"/>
                </a:solidFill>
              </a:rPr>
              <a:t>that</a:t>
            </a:r>
            <a:r>
              <a:rPr lang="fr-FR" sz="1400" dirty="0">
                <a:solidFill>
                  <a:srgbClr val="4B85F4"/>
                </a:solidFill>
              </a:rPr>
              <a:t> </a:t>
            </a:r>
            <a:r>
              <a:rPr lang="fr-FR" sz="1400" dirty="0" err="1">
                <a:solidFill>
                  <a:srgbClr val="4B85F4"/>
                </a:solidFill>
              </a:rPr>
              <a:t>it</a:t>
            </a:r>
            <a:r>
              <a:rPr lang="fr-FR" sz="1400" dirty="0">
                <a:solidFill>
                  <a:srgbClr val="4B85F4"/>
                </a:solidFill>
              </a:rPr>
              <a:t> </a:t>
            </a:r>
            <a:r>
              <a:rPr lang="fr-FR" sz="1400" dirty="0" err="1">
                <a:solidFill>
                  <a:srgbClr val="4B85F4"/>
                </a:solidFill>
              </a:rPr>
              <a:t>should</a:t>
            </a:r>
            <a:r>
              <a:rPr lang="fr-FR" sz="1400" dirty="0">
                <a:solidFill>
                  <a:srgbClr val="4B85F4"/>
                </a:solidFill>
              </a:rPr>
              <a:t> </a:t>
            </a:r>
            <a:r>
              <a:rPr lang="fr-FR" sz="1400" dirty="0" err="1">
                <a:solidFill>
                  <a:srgbClr val="4B85F4"/>
                </a:solidFill>
              </a:rPr>
              <a:t>be</a:t>
            </a:r>
            <a:r>
              <a:rPr lang="fr-FR" sz="1400" dirty="0">
                <a:solidFill>
                  <a:srgbClr val="4B85F4"/>
                </a:solidFill>
              </a:rPr>
              <a:t> good to go in about an </a:t>
            </a:r>
            <a:r>
              <a:rPr lang="fr-FR" sz="1400" dirty="0" err="1">
                <a:solidFill>
                  <a:srgbClr val="4B85F4"/>
                </a:solidFill>
              </a:rPr>
              <a:t>hour</a:t>
            </a:r>
            <a:r>
              <a:rPr lang="fr-FR" sz="1400" dirty="0">
                <a:solidFill>
                  <a:srgbClr val="4B85F4"/>
                </a:solidFill>
              </a:rPr>
              <a:t> and a </a:t>
            </a:r>
            <a:r>
              <a:rPr lang="fr-FR" sz="1400" dirty="0" err="1">
                <a:solidFill>
                  <a:srgbClr val="4B85F4"/>
                </a:solidFill>
              </a:rPr>
              <a:t>half</a:t>
            </a:r>
            <a:r>
              <a:rPr lang="fr-FR" sz="1400" dirty="0">
                <a:solidFill>
                  <a:srgbClr val="4B85F4"/>
                </a:solidFill>
              </a:rPr>
              <a:t>.</a:t>
            </a:r>
            <a:endParaRPr lang="en-FR" sz="1400" dirty="0">
              <a:solidFill>
                <a:srgbClr val="4B85F4"/>
              </a:solidFill>
            </a:endParaRPr>
          </a:p>
        </p:txBody>
      </p:sp>
      <p:sp>
        <p:nvSpPr>
          <p:cNvPr id="33" name="Rounded Rectangle 32">
            <a:extLst>
              <a:ext uri="{FF2B5EF4-FFF2-40B4-BE49-F238E27FC236}">
                <a16:creationId xmlns:a16="http://schemas.microsoft.com/office/drawing/2014/main" id="{A8C71244-B2AE-DCF9-BA86-5C4C10AADE79}"/>
              </a:ext>
            </a:extLst>
          </p:cNvPr>
          <p:cNvSpPr/>
          <p:nvPr/>
        </p:nvSpPr>
        <p:spPr>
          <a:xfrm>
            <a:off x="456733" y="3933347"/>
            <a:ext cx="2600325" cy="821067"/>
          </a:xfrm>
          <a:prstGeom prst="roundRect">
            <a:avLst/>
          </a:prstGeom>
          <a:solidFill>
            <a:srgbClr val="4B85F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t>Right, </a:t>
            </a:r>
            <a:r>
              <a:rPr lang="fr-FR" sz="1400" dirty="0" err="1"/>
              <a:t>so</a:t>
            </a:r>
            <a:r>
              <a:rPr lang="fr-FR" sz="1400" dirty="0"/>
              <a:t> I </a:t>
            </a:r>
            <a:r>
              <a:rPr lang="fr-FR" sz="1400" dirty="0" err="1"/>
              <a:t>should</a:t>
            </a:r>
            <a:r>
              <a:rPr lang="fr-FR" sz="1400" dirty="0"/>
              <a:t> </a:t>
            </a:r>
            <a:r>
              <a:rPr lang="fr-FR" sz="1400" dirty="0" err="1"/>
              <a:t>get</a:t>
            </a:r>
            <a:r>
              <a:rPr lang="fr-FR" sz="1400" dirty="0"/>
              <a:t> </a:t>
            </a:r>
            <a:r>
              <a:rPr lang="fr-FR" sz="1400" dirty="0" err="1"/>
              <a:t>there</a:t>
            </a:r>
            <a:r>
              <a:rPr lang="fr-FR" sz="1400" dirty="0"/>
              <a:t> </a:t>
            </a:r>
            <a:r>
              <a:rPr lang="fr-FR" sz="1400" dirty="0" err="1"/>
              <a:t>around</a:t>
            </a:r>
            <a:r>
              <a:rPr lang="fr-FR" sz="1400" dirty="0"/>
              <a:t> five pm. </a:t>
            </a:r>
            <a:r>
              <a:rPr lang="fr-FR" sz="1400" dirty="0" err="1"/>
              <a:t>Thank</a:t>
            </a:r>
            <a:r>
              <a:rPr lang="fr-FR" sz="1400" dirty="0"/>
              <a:t> </a:t>
            </a:r>
            <a:r>
              <a:rPr lang="fr-FR" sz="1400" dirty="0" err="1"/>
              <a:t>you</a:t>
            </a:r>
            <a:r>
              <a:rPr lang="fr-FR" sz="1400" dirty="0"/>
              <a:t>, </a:t>
            </a:r>
            <a:r>
              <a:rPr lang="fr-FR" sz="1400" dirty="0" err="1"/>
              <a:t>madam</a:t>
            </a:r>
            <a:r>
              <a:rPr lang="fr-FR" sz="1400" dirty="0"/>
              <a:t>, have a </a:t>
            </a:r>
            <a:r>
              <a:rPr lang="fr-FR" sz="1400" dirty="0" err="1"/>
              <a:t>nice</a:t>
            </a:r>
            <a:r>
              <a:rPr lang="fr-FR" sz="1400" dirty="0"/>
              <a:t> </a:t>
            </a:r>
            <a:r>
              <a:rPr lang="fr-FR" sz="1400" dirty="0" err="1"/>
              <a:t>day</a:t>
            </a:r>
            <a:r>
              <a:rPr lang="fr-FR" sz="1400" dirty="0"/>
              <a:t>.</a:t>
            </a:r>
            <a:endParaRPr lang="en-FR" sz="1400" dirty="0"/>
          </a:p>
        </p:txBody>
      </p:sp>
      <p:sp>
        <p:nvSpPr>
          <p:cNvPr id="34" name="Rectangle 33">
            <a:extLst>
              <a:ext uri="{FF2B5EF4-FFF2-40B4-BE49-F238E27FC236}">
                <a16:creationId xmlns:a16="http://schemas.microsoft.com/office/drawing/2014/main" id="{6C242741-6806-E29A-80BB-0CBB78A5658B}"/>
              </a:ext>
            </a:extLst>
          </p:cNvPr>
          <p:cNvSpPr/>
          <p:nvPr/>
        </p:nvSpPr>
        <p:spPr>
          <a:xfrm>
            <a:off x="294725" y="1513693"/>
            <a:ext cx="5003556" cy="3554435"/>
          </a:xfrm>
          <a:prstGeom prst="rect">
            <a:avLst/>
          </a:prstGeom>
          <a:noFill/>
          <a:ln w="38100">
            <a:solidFill>
              <a:srgbClr val="4B85F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35" name="Rectangle 34">
            <a:extLst>
              <a:ext uri="{FF2B5EF4-FFF2-40B4-BE49-F238E27FC236}">
                <a16:creationId xmlns:a16="http://schemas.microsoft.com/office/drawing/2014/main" id="{EE99BA58-0203-3A94-8DC3-591A1B5E2BB8}"/>
              </a:ext>
            </a:extLst>
          </p:cNvPr>
          <p:cNvSpPr/>
          <p:nvPr/>
        </p:nvSpPr>
        <p:spPr>
          <a:xfrm>
            <a:off x="1833488" y="1275164"/>
            <a:ext cx="1926030" cy="4136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000" b="1" dirty="0">
                <a:solidFill>
                  <a:srgbClr val="4B85F4"/>
                </a:solidFill>
              </a:rPr>
              <a:t>Context History</a:t>
            </a:r>
          </a:p>
        </p:txBody>
      </p:sp>
      <p:cxnSp>
        <p:nvCxnSpPr>
          <p:cNvPr id="36" name="Straight Arrow Connector 35">
            <a:extLst>
              <a:ext uri="{FF2B5EF4-FFF2-40B4-BE49-F238E27FC236}">
                <a16:creationId xmlns:a16="http://schemas.microsoft.com/office/drawing/2014/main" id="{A7DC951D-2A4A-945D-8E2E-73BAEA8DDB2F}"/>
              </a:ext>
            </a:extLst>
          </p:cNvPr>
          <p:cNvCxnSpPr>
            <a:cxnSpLocks/>
            <a:endCxn id="30" idx="0"/>
          </p:cNvCxnSpPr>
          <p:nvPr/>
        </p:nvCxnSpPr>
        <p:spPr>
          <a:xfrm>
            <a:off x="3675975" y="5068128"/>
            <a:ext cx="0" cy="440835"/>
          </a:xfrm>
          <a:prstGeom prst="straightConnector1">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90C231DC-8B88-922F-97F4-18F0429BEB04}"/>
              </a:ext>
            </a:extLst>
          </p:cNvPr>
          <p:cNvSpPr txBox="1"/>
          <p:nvPr/>
        </p:nvSpPr>
        <p:spPr>
          <a:xfrm>
            <a:off x="580512" y="2323968"/>
            <a:ext cx="1473611" cy="307777"/>
          </a:xfrm>
          <a:prstGeom prst="rect">
            <a:avLst/>
          </a:prstGeom>
          <a:solidFill>
            <a:schemeClr val="bg1"/>
          </a:solidFill>
          <a:ln w="28575">
            <a:solidFill>
              <a:srgbClr val="4B85F4"/>
            </a:solidFill>
          </a:ln>
        </p:spPr>
        <p:txBody>
          <a:bodyPr wrap="square" lIns="91440" tIns="45720" rIns="91440" bIns="45720" anchor="t">
            <a:spAutoFit/>
          </a:bodyPr>
          <a:lstStyle/>
          <a:p>
            <a:pPr algn="ctr"/>
            <a:r>
              <a:rPr lang="en-FR" sz="700" dirty="0">
                <a:solidFill>
                  <a:srgbClr val="4D8AE7"/>
                </a:solidFill>
                <a:latin typeface="Poppins"/>
                <a:cs typeface="Poppins"/>
              </a:rPr>
              <a:t>[</a:t>
            </a:r>
            <a:r>
              <a:rPr lang="en-FR" sz="700" dirty="0">
                <a:solidFill>
                  <a:srgbClr val="DF6245"/>
                </a:solidFill>
                <a:latin typeface="Poppins"/>
                <a:cs typeface="Poppins"/>
              </a:rPr>
              <a:t>Information</a:t>
            </a:r>
            <a:r>
              <a:rPr lang="en-FR" sz="700" dirty="0">
                <a:solidFill>
                  <a:srgbClr val="4D8AE7"/>
                </a:solidFill>
                <a:latin typeface="Poppins"/>
                <a:cs typeface="Poppins"/>
              </a:rPr>
              <a:t>, </a:t>
            </a:r>
            <a:r>
              <a:rPr lang="en-FR" sz="700" dirty="0">
                <a:solidFill>
                  <a:srgbClr val="EC4DCE"/>
                </a:solidFill>
                <a:latin typeface="Poppins"/>
                <a:cs typeface="Poppins"/>
              </a:rPr>
              <a:t>Restating</a:t>
            </a:r>
            <a:r>
              <a:rPr lang="en-FR" sz="700" dirty="0">
                <a:solidFill>
                  <a:srgbClr val="4D8AE7"/>
                </a:solidFill>
                <a:latin typeface="Poppins"/>
                <a:cs typeface="Poppins"/>
              </a:rPr>
              <a:t>, </a:t>
            </a:r>
            <a:br>
              <a:rPr lang="en-FR" sz="700" dirty="0">
                <a:latin typeface="Poppins"/>
                <a:cs typeface="Poppins"/>
              </a:rPr>
            </a:br>
            <a:r>
              <a:rPr lang="en-FR" sz="700" dirty="0">
                <a:solidFill>
                  <a:srgbClr val="DF6245"/>
                </a:solidFill>
                <a:latin typeface="Poppins"/>
                <a:cs typeface="Poppins"/>
              </a:rPr>
              <a:t>Information</a:t>
            </a:r>
            <a:r>
              <a:rPr lang="en-FR" sz="700" dirty="0">
                <a:solidFill>
                  <a:srgbClr val="4D8AE7"/>
                </a:solidFill>
                <a:latin typeface="Poppins"/>
                <a:cs typeface="Poppins"/>
              </a:rPr>
              <a:t>, </a:t>
            </a:r>
            <a:r>
              <a:rPr lang="en-FR" sz="700" u="sng" dirty="0">
                <a:solidFill>
                  <a:srgbClr val="4D8AE7"/>
                </a:solidFill>
                <a:latin typeface="Poppins"/>
                <a:cs typeface="Poppins"/>
              </a:rPr>
              <a:t>Joy</a:t>
            </a:r>
            <a:r>
              <a:rPr lang="en-FR" sz="700" dirty="0">
                <a:solidFill>
                  <a:srgbClr val="4D8AE7"/>
                </a:solidFill>
                <a:latin typeface="Poppins"/>
                <a:cs typeface="Poppins"/>
              </a:rPr>
              <a:t>, </a:t>
            </a:r>
            <a:r>
              <a:rPr lang="en-FR" sz="700" dirty="0">
                <a:solidFill>
                  <a:srgbClr val="00B26D"/>
                </a:solidFill>
                <a:latin typeface="Poppins"/>
                <a:cs typeface="Poppins"/>
              </a:rPr>
              <a:t>Politeness</a:t>
            </a:r>
            <a:r>
              <a:rPr lang="en-FR" sz="700" dirty="0">
                <a:solidFill>
                  <a:srgbClr val="4D8AE7"/>
                </a:solidFill>
                <a:latin typeface="Poppins"/>
                <a:cs typeface="Poppins"/>
              </a:rPr>
              <a:t>]</a:t>
            </a:r>
            <a:endParaRPr lang="fr-FR" sz="700" dirty="0">
              <a:solidFill>
                <a:srgbClr val="4D8AE7"/>
              </a:solidFill>
              <a:latin typeface="Poppins"/>
              <a:cs typeface="Poppins"/>
            </a:endParaRPr>
          </a:p>
        </p:txBody>
      </p:sp>
      <p:sp>
        <p:nvSpPr>
          <p:cNvPr id="41" name="TextBox 40">
            <a:extLst>
              <a:ext uri="{FF2B5EF4-FFF2-40B4-BE49-F238E27FC236}">
                <a16:creationId xmlns:a16="http://schemas.microsoft.com/office/drawing/2014/main" id="{9D806EAB-9697-98F2-2A4F-8332A3C3E0BA}"/>
              </a:ext>
            </a:extLst>
          </p:cNvPr>
          <p:cNvSpPr txBox="1"/>
          <p:nvPr/>
        </p:nvSpPr>
        <p:spPr>
          <a:xfrm>
            <a:off x="580511" y="4704241"/>
            <a:ext cx="1473611" cy="200055"/>
          </a:xfrm>
          <a:prstGeom prst="rect">
            <a:avLst/>
          </a:prstGeom>
          <a:solidFill>
            <a:schemeClr val="bg1"/>
          </a:solidFill>
          <a:ln w="28575">
            <a:solidFill>
              <a:srgbClr val="4B85F4"/>
            </a:solidFill>
          </a:ln>
        </p:spPr>
        <p:txBody>
          <a:bodyPr wrap="square" lIns="91440" tIns="45720" rIns="91440" bIns="45720" anchor="t">
            <a:spAutoFit/>
          </a:bodyPr>
          <a:lstStyle/>
          <a:p>
            <a:pPr algn="ctr"/>
            <a:r>
              <a:rPr lang="en-FR" sz="700" dirty="0">
                <a:solidFill>
                  <a:srgbClr val="4B84F4"/>
                </a:solidFill>
                <a:latin typeface="Poppins"/>
                <a:cs typeface="Poppins"/>
              </a:rPr>
              <a:t>[Information, Politeness]</a:t>
            </a:r>
            <a:endParaRPr lang="fr-FR" sz="700" dirty="0">
              <a:solidFill>
                <a:srgbClr val="4B84F4"/>
              </a:solidFill>
              <a:latin typeface="Poppins"/>
              <a:cs typeface="Poppins"/>
            </a:endParaRPr>
          </a:p>
        </p:txBody>
      </p:sp>
      <p:sp>
        <p:nvSpPr>
          <p:cNvPr id="42" name="TextBox 41">
            <a:extLst>
              <a:ext uri="{FF2B5EF4-FFF2-40B4-BE49-F238E27FC236}">
                <a16:creationId xmlns:a16="http://schemas.microsoft.com/office/drawing/2014/main" id="{A42ED4A1-D032-C109-B39C-C2B88D2AE0DC}"/>
              </a:ext>
            </a:extLst>
          </p:cNvPr>
          <p:cNvSpPr txBox="1"/>
          <p:nvPr/>
        </p:nvSpPr>
        <p:spPr>
          <a:xfrm>
            <a:off x="3459868" y="3674149"/>
            <a:ext cx="1473611" cy="200055"/>
          </a:xfrm>
          <a:prstGeom prst="rect">
            <a:avLst/>
          </a:prstGeom>
          <a:solidFill>
            <a:schemeClr val="bg1"/>
          </a:solidFill>
          <a:ln w="28575">
            <a:solidFill>
              <a:srgbClr val="4B85F4"/>
            </a:solidFill>
          </a:ln>
        </p:spPr>
        <p:txBody>
          <a:bodyPr wrap="square" lIns="91440" tIns="45720" rIns="91440" bIns="45720" anchor="t">
            <a:spAutoFit/>
          </a:bodyPr>
          <a:lstStyle/>
          <a:p>
            <a:pPr algn="ctr"/>
            <a:r>
              <a:rPr lang="en-FR" sz="700" dirty="0">
                <a:solidFill>
                  <a:srgbClr val="4B84F4"/>
                </a:solidFill>
                <a:latin typeface="Poppins"/>
                <a:cs typeface="Poppins"/>
              </a:rPr>
              <a:t>[Information]</a:t>
            </a:r>
            <a:endParaRPr lang="fr-FR" sz="700" dirty="0">
              <a:solidFill>
                <a:srgbClr val="4B84F4"/>
              </a:solidFill>
              <a:latin typeface="Poppins"/>
              <a:cs typeface="Poppins"/>
            </a:endParaRPr>
          </a:p>
        </p:txBody>
      </p:sp>
      <p:grpSp>
        <p:nvGrpSpPr>
          <p:cNvPr id="44" name="Group 43">
            <a:extLst>
              <a:ext uri="{FF2B5EF4-FFF2-40B4-BE49-F238E27FC236}">
                <a16:creationId xmlns:a16="http://schemas.microsoft.com/office/drawing/2014/main" id="{42EF3C74-1B0F-AB02-CC07-A8BEE07944BD}"/>
              </a:ext>
            </a:extLst>
          </p:cNvPr>
          <p:cNvGrpSpPr/>
          <p:nvPr/>
        </p:nvGrpSpPr>
        <p:grpSpPr>
          <a:xfrm>
            <a:off x="5645316" y="2868900"/>
            <a:ext cx="2182753" cy="790619"/>
            <a:chOff x="8941464" y="1469517"/>
            <a:chExt cx="2182753" cy="790619"/>
          </a:xfrm>
        </p:grpSpPr>
        <p:sp>
          <p:nvSpPr>
            <p:cNvPr id="45" name="Rounded Rectangle 44">
              <a:extLst>
                <a:ext uri="{FF2B5EF4-FFF2-40B4-BE49-F238E27FC236}">
                  <a16:creationId xmlns:a16="http://schemas.microsoft.com/office/drawing/2014/main" id="{1B7AB437-7EA4-4FC1-E1B3-ADEF546222B8}"/>
                </a:ext>
              </a:extLst>
            </p:cNvPr>
            <p:cNvSpPr/>
            <p:nvPr/>
          </p:nvSpPr>
          <p:spPr>
            <a:xfrm>
              <a:off x="9069970" y="1600107"/>
              <a:ext cx="2054247" cy="660029"/>
            </a:xfrm>
            <a:prstGeom prst="round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dirty="0">
                  <a:solidFill>
                    <a:srgbClr val="4B85F4"/>
                  </a:solidFill>
                </a:rPr>
                <a:t>?</a:t>
              </a:r>
              <a:endParaRPr lang="en-FR" sz="1400" b="1" dirty="0">
                <a:solidFill>
                  <a:srgbClr val="4B85F4"/>
                </a:solidFill>
              </a:endParaRPr>
            </a:p>
          </p:txBody>
        </p:sp>
        <p:sp>
          <p:nvSpPr>
            <p:cNvPr id="46" name="Rectangle 45">
              <a:extLst>
                <a:ext uri="{FF2B5EF4-FFF2-40B4-BE49-F238E27FC236}">
                  <a16:creationId xmlns:a16="http://schemas.microsoft.com/office/drawing/2014/main" id="{2A552CC3-EB6D-186C-E694-E84EC624431E}"/>
                </a:ext>
              </a:extLst>
            </p:cNvPr>
            <p:cNvSpPr/>
            <p:nvPr/>
          </p:nvSpPr>
          <p:spPr>
            <a:xfrm>
              <a:off x="8941464" y="1469517"/>
              <a:ext cx="1998037" cy="273132"/>
            </a:xfrm>
            <a:prstGeom prst="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1200" dirty="0">
                  <a:solidFill>
                    <a:srgbClr val="E93F31"/>
                  </a:solidFill>
                </a:rPr>
                <a:t>“Information”, “Politeness”</a:t>
              </a:r>
            </a:p>
          </p:txBody>
        </p:sp>
      </p:grpSp>
      <p:cxnSp>
        <p:nvCxnSpPr>
          <p:cNvPr id="49" name="Straight Arrow Connector 48">
            <a:extLst>
              <a:ext uri="{FF2B5EF4-FFF2-40B4-BE49-F238E27FC236}">
                <a16:creationId xmlns:a16="http://schemas.microsoft.com/office/drawing/2014/main" id="{82C16826-BF13-BF3B-88D7-1463D92CF5DF}"/>
              </a:ext>
            </a:extLst>
          </p:cNvPr>
          <p:cNvCxnSpPr>
            <a:cxnSpLocks/>
            <a:stCxn id="45" idx="2"/>
            <a:endCxn id="43" idx="0"/>
          </p:cNvCxnSpPr>
          <p:nvPr/>
        </p:nvCxnSpPr>
        <p:spPr>
          <a:xfrm>
            <a:off x="6800946" y="3659519"/>
            <a:ext cx="1383" cy="330680"/>
          </a:xfrm>
          <a:prstGeom prst="straightConnector1">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C63995F-164F-73F4-1749-278F88534F6B}"/>
              </a:ext>
            </a:extLst>
          </p:cNvPr>
          <p:cNvSpPr txBox="1"/>
          <p:nvPr/>
        </p:nvSpPr>
        <p:spPr>
          <a:xfrm>
            <a:off x="5677544" y="3990199"/>
            <a:ext cx="2249570" cy="1077218"/>
          </a:xfrm>
          <a:prstGeom prst="rect">
            <a:avLst/>
          </a:prstGeom>
          <a:solidFill>
            <a:schemeClr val="bg1"/>
          </a:solidFill>
        </p:spPr>
        <p:txBody>
          <a:bodyPr wrap="square" rtlCol="0">
            <a:spAutoFit/>
          </a:bodyPr>
          <a:lstStyle/>
          <a:p>
            <a:pPr algn="ctr"/>
            <a:r>
              <a:rPr lang="en-FR" sz="1600" b="1" u="sng" dirty="0">
                <a:solidFill>
                  <a:srgbClr val="4B85F4"/>
                </a:solidFill>
              </a:rPr>
              <a:t>STEP 2</a:t>
            </a:r>
            <a:r>
              <a:rPr lang="en-FR" sz="1600" b="1" dirty="0">
                <a:solidFill>
                  <a:srgbClr val="4B85F4"/>
                </a:solidFill>
              </a:rPr>
              <a:t>: Using context history and the list of expected labels, generate the response</a:t>
            </a:r>
          </a:p>
        </p:txBody>
      </p:sp>
      <p:cxnSp>
        <p:nvCxnSpPr>
          <p:cNvPr id="72" name="Elbow Connector 71">
            <a:extLst>
              <a:ext uri="{FF2B5EF4-FFF2-40B4-BE49-F238E27FC236}">
                <a16:creationId xmlns:a16="http://schemas.microsoft.com/office/drawing/2014/main" id="{6C56E0A0-8AF0-3E71-C2F5-626E4977E2FB}"/>
              </a:ext>
            </a:extLst>
          </p:cNvPr>
          <p:cNvCxnSpPr>
            <a:stCxn id="30" idx="3"/>
            <a:endCxn id="45" idx="1"/>
          </p:cNvCxnSpPr>
          <p:nvPr/>
        </p:nvCxnSpPr>
        <p:spPr>
          <a:xfrm flipV="1">
            <a:off x="5110828" y="3329505"/>
            <a:ext cx="662994" cy="2509473"/>
          </a:xfrm>
          <a:prstGeom prst="bentConnector3">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cxnSp>
      <p:sp>
        <p:nvSpPr>
          <p:cNvPr id="4" name="Rounded Rectangle 3">
            <a:extLst>
              <a:ext uri="{FF2B5EF4-FFF2-40B4-BE49-F238E27FC236}">
                <a16:creationId xmlns:a16="http://schemas.microsoft.com/office/drawing/2014/main" id="{998C66E6-2B13-CC48-48CF-4CCF767AA398}"/>
              </a:ext>
            </a:extLst>
          </p:cNvPr>
          <p:cNvSpPr/>
          <p:nvPr/>
        </p:nvSpPr>
        <p:spPr>
          <a:xfrm>
            <a:off x="8051862" y="2469247"/>
            <a:ext cx="3878308" cy="3955318"/>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b="1" u="sng" dirty="0">
                <a:solidFill>
                  <a:schemeClr val="bg1"/>
                </a:solidFill>
                <a:latin typeface="Poppins" pitchFamily="2" charset="77"/>
                <a:cs typeface="Poppins" pitchFamily="2" charset="77"/>
              </a:rPr>
              <a:t>Prompt-based</a:t>
            </a:r>
          </a:p>
          <a:p>
            <a:endParaRPr lang="en-FR" b="1" u="sng" dirty="0">
              <a:solidFill>
                <a:schemeClr val="bg1"/>
              </a:solidFill>
              <a:latin typeface="Poppins" pitchFamily="2" charset="77"/>
              <a:cs typeface="Poppins" pitchFamily="2" charset="77"/>
            </a:endParaRPr>
          </a:p>
          <a:p>
            <a:pPr algn="ctr"/>
            <a:r>
              <a:rPr lang="en-FR" dirty="0">
                <a:solidFill>
                  <a:schemeClr val="bg1"/>
                </a:solidFill>
                <a:latin typeface="Poppins" pitchFamily="2" charset="77"/>
                <a:cs typeface="Poppins" pitchFamily="2" charset="77"/>
              </a:rPr>
              <a:t>Automatic template filling to include:</a:t>
            </a:r>
          </a:p>
          <a:p>
            <a:pPr marL="342900" indent="-342900">
              <a:buFont typeface="Arial" panose="020B0604020202020204" pitchFamily="34" charset="0"/>
              <a:buChar char="•"/>
            </a:pPr>
            <a:r>
              <a:rPr lang="en-GB" dirty="0">
                <a:solidFill>
                  <a:schemeClr val="bg1"/>
                </a:solidFill>
                <a:latin typeface="Poppins" pitchFamily="2" charset="77"/>
                <a:cs typeface="Poppins" pitchFamily="2" charset="77"/>
              </a:rPr>
              <a:t>C</a:t>
            </a:r>
            <a:r>
              <a:rPr lang="en-FR" dirty="0">
                <a:solidFill>
                  <a:schemeClr val="bg1"/>
                </a:solidFill>
                <a:latin typeface="Poppins" pitchFamily="2" charset="77"/>
                <a:cs typeface="Poppins" pitchFamily="2" charset="77"/>
              </a:rPr>
              <a:t>ontext of the interaction</a:t>
            </a:r>
          </a:p>
          <a:p>
            <a:pPr marL="342900" indent="-342900">
              <a:buFont typeface="Arial" panose="020B0604020202020204" pitchFamily="34" charset="0"/>
              <a:buChar char="•"/>
            </a:pPr>
            <a:r>
              <a:rPr lang="en-FR" dirty="0">
                <a:solidFill>
                  <a:schemeClr val="bg1"/>
                </a:solidFill>
                <a:latin typeface="Poppins" pitchFamily="2" charset="77"/>
                <a:cs typeface="Poppins" pitchFamily="2" charset="77"/>
              </a:rPr>
              <a:t>Dialogue history</a:t>
            </a:r>
          </a:p>
          <a:p>
            <a:pPr marL="342900" indent="-342900">
              <a:buFont typeface="Arial" panose="020B0604020202020204" pitchFamily="34" charset="0"/>
              <a:buChar char="•"/>
            </a:pPr>
            <a:r>
              <a:rPr lang="en-FR" dirty="0">
                <a:solidFill>
                  <a:schemeClr val="bg1"/>
                </a:solidFill>
                <a:latin typeface="Poppins" pitchFamily="2" charset="77"/>
                <a:cs typeface="Poppins" pitchFamily="2" charset="77"/>
              </a:rPr>
              <a:t>Sequence of expected labels</a:t>
            </a:r>
          </a:p>
        </p:txBody>
      </p:sp>
      <p:sp>
        <p:nvSpPr>
          <p:cNvPr id="6" name="TextBox 5">
            <a:extLst>
              <a:ext uri="{FF2B5EF4-FFF2-40B4-BE49-F238E27FC236}">
                <a16:creationId xmlns:a16="http://schemas.microsoft.com/office/drawing/2014/main" id="{48079F6B-7B2D-EA6D-5689-4C4DA9AA59C9}"/>
              </a:ext>
            </a:extLst>
          </p:cNvPr>
          <p:cNvSpPr txBox="1"/>
          <p:nvPr/>
        </p:nvSpPr>
        <p:spPr>
          <a:xfrm>
            <a:off x="3305920" y="6539538"/>
            <a:ext cx="6676828" cy="261610"/>
          </a:xfrm>
          <a:prstGeom prst="rect">
            <a:avLst/>
          </a:prstGeom>
          <a:noFill/>
          <a:ln w="19050">
            <a:noFill/>
            <a:prstDash val="sysDash"/>
          </a:ln>
        </p:spPr>
        <p:txBody>
          <a:bodyPr wrap="none" rtlCol="0">
            <a:spAutoFit/>
          </a:bodyPr>
          <a:lstStyle>
            <a:defPPr>
              <a:defRPr lang="en-FR"/>
            </a:defPPr>
            <a:lvl1pPr algn="ctr">
              <a:defRPr sz="1050">
                <a:solidFill>
                  <a:srgbClr val="A5AFF5"/>
                </a:solidFill>
                <a:latin typeface="Poppins" pitchFamily="2" charset="77"/>
                <a:cs typeface="Poppins" pitchFamily="2" charset="77"/>
              </a:defRPr>
            </a:lvl1pPr>
          </a:lstStyle>
          <a:p>
            <a:pPr algn="l"/>
            <a:r>
              <a:rPr lang="en-GB" sz="1100" dirty="0"/>
              <a:t>[</a:t>
            </a:r>
            <a:r>
              <a:rPr lang="en-GB" sz="1100" b="1" dirty="0"/>
              <a:t>Controllable mixed-initiative dialogue generation through prompting</a:t>
            </a:r>
            <a:r>
              <a:rPr lang="en-GB" sz="1100" dirty="0"/>
              <a:t>, Chen et al. (2023)]</a:t>
            </a:r>
          </a:p>
        </p:txBody>
      </p:sp>
      <p:sp>
        <p:nvSpPr>
          <p:cNvPr id="5" name="Rounded Rectangle 4">
            <a:extLst>
              <a:ext uri="{FF2B5EF4-FFF2-40B4-BE49-F238E27FC236}">
                <a16:creationId xmlns:a16="http://schemas.microsoft.com/office/drawing/2014/main" id="{67F9ECF4-DC3B-942F-D55A-BDDE9A2AF06D}"/>
              </a:ext>
            </a:extLst>
          </p:cNvPr>
          <p:cNvSpPr/>
          <p:nvPr/>
        </p:nvSpPr>
        <p:spPr>
          <a:xfrm>
            <a:off x="8055620" y="2469247"/>
            <a:ext cx="3874550" cy="3955318"/>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400" dirty="0">
                <a:solidFill>
                  <a:schemeClr val="bg1"/>
                </a:solidFill>
                <a:latin typeface="Poppins" pitchFamily="2" charset="77"/>
                <a:cs typeface="Poppins" pitchFamily="2" charset="77"/>
              </a:rPr>
              <a:t>Here is an excerpt from a phone call between an auto repair agent and a customer:</a:t>
            </a:r>
          </a:p>
          <a:p>
            <a:endParaRPr lang="en-GB" sz="1400" dirty="0">
              <a:solidFill>
                <a:schemeClr val="bg1"/>
              </a:solidFill>
              <a:latin typeface="Poppins" pitchFamily="2" charset="77"/>
              <a:cs typeface="Poppins" pitchFamily="2" charset="77"/>
            </a:endParaRPr>
          </a:p>
          <a:p>
            <a:pPr algn="ctr"/>
            <a:r>
              <a:rPr lang="en-GB" sz="1400" dirty="0">
                <a:solidFill>
                  <a:schemeClr val="bg1"/>
                </a:solidFill>
                <a:latin typeface="Poppins" pitchFamily="2" charset="77"/>
                <a:cs typeface="Poppins" pitchFamily="2" charset="77"/>
              </a:rPr>
              <a:t>[CONTEXT]</a:t>
            </a:r>
          </a:p>
          <a:p>
            <a:endParaRPr lang="en-GB" sz="1400" dirty="0">
              <a:solidFill>
                <a:schemeClr val="bg1"/>
              </a:solidFill>
              <a:latin typeface="Poppins" pitchFamily="2" charset="77"/>
              <a:cs typeface="Poppins" pitchFamily="2" charset="77"/>
            </a:endParaRPr>
          </a:p>
          <a:p>
            <a:r>
              <a:rPr lang="en-GB" sz="1400" dirty="0">
                <a:solidFill>
                  <a:schemeClr val="bg1"/>
                </a:solidFill>
                <a:latin typeface="Poppins" pitchFamily="2" charset="77"/>
                <a:cs typeface="Poppins" pitchFamily="2" charset="77"/>
              </a:rPr>
              <a:t>From the dialogue extract and the following response plan, generate the agent's answer:</a:t>
            </a:r>
          </a:p>
          <a:p>
            <a:pPr lvl="1"/>
            <a:r>
              <a:rPr lang="en-GB" sz="1400" dirty="0">
                <a:solidFill>
                  <a:schemeClr val="bg1"/>
                </a:solidFill>
                <a:latin typeface="Poppins" pitchFamily="2" charset="77"/>
                <a:cs typeface="Poppins" pitchFamily="2" charset="77"/>
              </a:rPr>
              <a:t>1. Label 1</a:t>
            </a:r>
          </a:p>
          <a:p>
            <a:pPr lvl="1"/>
            <a:r>
              <a:rPr lang="en-GB" sz="1400" dirty="0">
                <a:solidFill>
                  <a:schemeClr val="bg1"/>
                </a:solidFill>
                <a:latin typeface="Poppins" pitchFamily="2" charset="77"/>
                <a:cs typeface="Poppins" pitchFamily="2" charset="77"/>
              </a:rPr>
              <a:t>2. Label 2</a:t>
            </a:r>
          </a:p>
          <a:p>
            <a:endParaRPr lang="en-GB" sz="1400" dirty="0">
              <a:solidFill>
                <a:schemeClr val="bg1"/>
              </a:solidFill>
              <a:latin typeface="Poppins" pitchFamily="2" charset="77"/>
              <a:cs typeface="Poppins" pitchFamily="2" charset="77"/>
            </a:endParaRPr>
          </a:p>
          <a:p>
            <a:r>
              <a:rPr lang="en-GB" sz="1400" dirty="0">
                <a:solidFill>
                  <a:schemeClr val="bg1"/>
                </a:solidFill>
                <a:latin typeface="Poppins" pitchFamily="2" charset="77"/>
                <a:cs typeface="Poppins" pitchFamily="2" charset="77"/>
              </a:rPr>
              <a:t>The answer should be short and clear, while maintaining the oral tone of a telephone conversation. </a:t>
            </a:r>
          </a:p>
          <a:p>
            <a:endParaRPr lang="en-GB" sz="1400" dirty="0">
              <a:solidFill>
                <a:schemeClr val="bg1"/>
              </a:solidFill>
              <a:latin typeface="Poppins" pitchFamily="2" charset="77"/>
              <a:cs typeface="Poppins" pitchFamily="2" charset="77"/>
            </a:endParaRPr>
          </a:p>
          <a:p>
            <a:r>
              <a:rPr lang="en-GB" sz="1400" dirty="0">
                <a:solidFill>
                  <a:schemeClr val="bg1"/>
                </a:solidFill>
                <a:latin typeface="Poppins" pitchFamily="2" charset="77"/>
                <a:cs typeface="Poppins" pitchFamily="2" charset="77"/>
              </a:rPr>
              <a:t>AGENT:</a:t>
            </a:r>
            <a:endParaRPr lang="en-FR" sz="1400" dirty="0">
              <a:solidFill>
                <a:schemeClr val="bg1"/>
              </a:solidFill>
              <a:latin typeface="Poppins" pitchFamily="2" charset="77"/>
              <a:cs typeface="Poppins" pitchFamily="2" charset="77"/>
            </a:endParaRPr>
          </a:p>
        </p:txBody>
      </p:sp>
      <p:sp>
        <p:nvSpPr>
          <p:cNvPr id="7" name="Rounded Rectangle 6">
            <a:extLst>
              <a:ext uri="{FF2B5EF4-FFF2-40B4-BE49-F238E27FC236}">
                <a16:creationId xmlns:a16="http://schemas.microsoft.com/office/drawing/2014/main" id="{49916E12-AEE4-B4A0-0C9F-E3AF771D3312}"/>
              </a:ext>
            </a:extLst>
          </p:cNvPr>
          <p:cNvSpPr/>
          <p:nvPr/>
        </p:nvSpPr>
        <p:spPr>
          <a:xfrm>
            <a:off x="5885606" y="602498"/>
            <a:ext cx="5849661" cy="1721469"/>
          </a:xfrm>
          <a:prstGeom prst="roundRect">
            <a:avLst/>
          </a:prstGeom>
          <a:solidFill>
            <a:schemeClr val="bg1">
              <a:alpha val="83137"/>
            </a:schemeClr>
          </a:solidFill>
          <a:ln>
            <a:solidFill>
              <a:srgbClr val="D43F4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fr-FR" sz="1600" dirty="0">
                <a:solidFill>
                  <a:srgbClr val="D43F49"/>
                </a:solidFill>
                <a:latin typeface="Poppins" pitchFamily="2" charset="77"/>
                <a:cs typeface="Poppins" pitchFamily="2" charset="77"/>
              </a:rPr>
              <a:t>The absence of multi-label </a:t>
            </a:r>
            <a:r>
              <a:rPr lang="fr-FR" sz="1600" dirty="0" err="1">
                <a:solidFill>
                  <a:srgbClr val="D43F49"/>
                </a:solidFill>
                <a:latin typeface="Poppins" pitchFamily="2" charset="77"/>
                <a:cs typeface="Poppins" pitchFamily="2" charset="77"/>
              </a:rPr>
              <a:t>approaches</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is</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also</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observed</a:t>
            </a:r>
            <a:r>
              <a:rPr lang="fr-FR" sz="1600" dirty="0">
                <a:solidFill>
                  <a:srgbClr val="D43F49"/>
                </a:solidFill>
                <a:latin typeface="Poppins" pitchFamily="2" charset="77"/>
                <a:cs typeface="Poppins" pitchFamily="2" charset="77"/>
              </a:rPr>
              <a:t> in the </a:t>
            </a:r>
            <a:r>
              <a:rPr lang="fr-FR" sz="1600" dirty="0" err="1">
                <a:solidFill>
                  <a:srgbClr val="D43F49"/>
                </a:solidFill>
                <a:latin typeface="Poppins" pitchFamily="2" charset="77"/>
                <a:cs typeface="Poppins" pitchFamily="2" charset="77"/>
              </a:rPr>
              <a:t>literature</a:t>
            </a:r>
            <a:r>
              <a:rPr lang="fr-FR" sz="1600" dirty="0">
                <a:solidFill>
                  <a:srgbClr val="D43F49"/>
                </a:solidFill>
                <a:latin typeface="Poppins" pitchFamily="2" charset="77"/>
                <a:cs typeface="Poppins" pitchFamily="2" charset="77"/>
              </a:rPr>
              <a:t> of </a:t>
            </a:r>
            <a:r>
              <a:rPr lang="fr-FR" sz="1600" dirty="0" err="1">
                <a:solidFill>
                  <a:srgbClr val="D43F49"/>
                </a:solidFill>
                <a:latin typeface="Poppins" pitchFamily="2" charset="77"/>
                <a:cs typeface="Poppins" pitchFamily="2" charset="77"/>
              </a:rPr>
              <a:t>conditional</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generation</a:t>
            </a:r>
            <a:r>
              <a:rPr lang="fr-FR" sz="1600" dirty="0">
                <a:solidFill>
                  <a:srgbClr val="D43F49"/>
                </a:solidFill>
                <a:latin typeface="Poppins" pitchFamily="2" charset="77"/>
                <a:cs typeface="Poppins" pitchFamily="2" charset="77"/>
              </a:rPr>
              <a:t>.</a:t>
            </a:r>
          </a:p>
          <a:p>
            <a:pPr algn="just"/>
            <a:endParaRPr lang="fr-FR" sz="1600" dirty="0">
              <a:solidFill>
                <a:srgbClr val="D43F49"/>
              </a:solidFill>
              <a:latin typeface="Poppins" pitchFamily="2" charset="77"/>
              <a:cs typeface="Poppins" pitchFamily="2" charset="77"/>
            </a:endParaRPr>
          </a:p>
          <a:p>
            <a:pPr algn="just"/>
            <a:r>
              <a:rPr lang="fr-FR" sz="1600" dirty="0" err="1">
                <a:solidFill>
                  <a:srgbClr val="D43F49"/>
                </a:solidFill>
                <a:latin typeface="Poppins" pitchFamily="2" charset="77"/>
                <a:cs typeface="Poppins" pitchFamily="2" charset="77"/>
              </a:rPr>
              <a:t>We</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tested</a:t>
            </a:r>
            <a:r>
              <a:rPr lang="fr-FR" sz="1600" dirty="0">
                <a:solidFill>
                  <a:srgbClr val="D43F49"/>
                </a:solidFill>
                <a:latin typeface="Poppins" pitchFamily="2" charset="77"/>
                <a:cs typeface="Poppins" pitchFamily="2" charset="77"/>
              </a:rPr>
              <a:t> multiple </a:t>
            </a:r>
            <a:r>
              <a:rPr lang="fr-FR" sz="1600" dirty="0" err="1">
                <a:solidFill>
                  <a:srgbClr val="D43F49"/>
                </a:solidFill>
                <a:latin typeface="Poppins" pitchFamily="2" charset="77"/>
                <a:cs typeface="Poppins" pitchFamily="2" charset="77"/>
              </a:rPr>
              <a:t>approaches</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such</a:t>
            </a:r>
            <a:r>
              <a:rPr lang="fr-FR" sz="1600" dirty="0">
                <a:solidFill>
                  <a:srgbClr val="D43F49"/>
                </a:solidFill>
                <a:latin typeface="Poppins" pitchFamily="2" charset="77"/>
                <a:cs typeface="Poppins" pitchFamily="2" charset="77"/>
              </a:rPr>
              <a:t> as </a:t>
            </a:r>
            <a:r>
              <a:rPr lang="fr-FR" sz="1600" dirty="0" err="1">
                <a:solidFill>
                  <a:srgbClr val="D43F49"/>
                </a:solidFill>
                <a:latin typeface="Poppins" pitchFamily="2" charset="77"/>
                <a:cs typeface="Poppins" pitchFamily="2" charset="77"/>
              </a:rPr>
              <a:t>traditional</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generation</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using</a:t>
            </a:r>
            <a:r>
              <a:rPr lang="fr-FR" sz="1600" dirty="0">
                <a:solidFill>
                  <a:srgbClr val="D43F49"/>
                </a:solidFill>
                <a:latin typeface="Poppins" pitchFamily="2" charset="77"/>
                <a:cs typeface="Poppins" pitchFamily="2" charset="77"/>
              </a:rPr>
              <a:t> BART or  </a:t>
            </a:r>
            <a:r>
              <a:rPr lang="fr-FR" sz="1600" dirty="0" err="1">
                <a:solidFill>
                  <a:srgbClr val="D43F49"/>
                </a:solidFill>
                <a:latin typeface="Poppins" pitchFamily="2" charset="77"/>
                <a:cs typeface="Poppins" pitchFamily="2" charset="77"/>
              </a:rPr>
              <a:t>dialoGPT</a:t>
            </a:r>
            <a:r>
              <a:rPr lang="fr-FR" sz="1600" dirty="0">
                <a:solidFill>
                  <a:srgbClr val="D43F49"/>
                </a:solidFill>
                <a:latin typeface="Poppins" pitchFamily="2" charset="77"/>
                <a:cs typeface="Poppins" pitchFamily="2" charset="77"/>
              </a:rPr>
              <a:t>, but </a:t>
            </a:r>
            <a:r>
              <a:rPr lang="fr-FR" sz="1600" dirty="0" err="1">
                <a:solidFill>
                  <a:srgbClr val="D43F49"/>
                </a:solidFill>
                <a:latin typeface="Poppins" pitchFamily="2" charset="77"/>
                <a:cs typeface="Poppins" pitchFamily="2" charset="77"/>
              </a:rPr>
              <a:t>we</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mainly</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focused</a:t>
            </a:r>
            <a:r>
              <a:rPr lang="fr-FR" sz="1600" dirty="0">
                <a:solidFill>
                  <a:srgbClr val="D43F49"/>
                </a:solidFill>
                <a:latin typeface="Poppins" pitchFamily="2" charset="77"/>
                <a:cs typeface="Poppins" pitchFamily="2" charset="77"/>
              </a:rPr>
              <a:t> on prompt-</a:t>
            </a:r>
            <a:r>
              <a:rPr lang="fr-FR" sz="1600" dirty="0" err="1">
                <a:solidFill>
                  <a:srgbClr val="D43F49"/>
                </a:solidFill>
                <a:latin typeface="Poppins" pitchFamily="2" charset="77"/>
                <a:cs typeface="Poppins" pitchFamily="2" charset="77"/>
              </a:rPr>
              <a:t>based</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generation</a:t>
            </a:r>
            <a:r>
              <a:rPr lang="fr-FR" sz="1600" dirty="0">
                <a:solidFill>
                  <a:srgbClr val="D43F49"/>
                </a:solidFill>
                <a:latin typeface="Poppins" pitchFamily="2" charset="77"/>
                <a:cs typeface="Poppins" pitchFamily="2" charset="77"/>
              </a:rPr>
              <a:t>.  </a:t>
            </a:r>
            <a:endParaRPr lang="en-FR" sz="1600" dirty="0">
              <a:solidFill>
                <a:srgbClr val="D43F49"/>
              </a:solidFill>
              <a:latin typeface="Poppins" pitchFamily="2" charset="77"/>
              <a:cs typeface="Poppins" pitchFamily="2" charset="77"/>
            </a:endParaRPr>
          </a:p>
        </p:txBody>
      </p:sp>
    </p:spTree>
    <p:extLst>
      <p:ext uri="{BB962C8B-B14F-4D97-AF65-F5344CB8AC3E}">
        <p14:creationId xmlns:p14="http://schemas.microsoft.com/office/powerpoint/2010/main" val="1525462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4"/>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6" grpId="0"/>
      <p:bldP spid="5" grpId="0"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005CC-80D4-A079-A176-FA185F58D5AE}"/>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E1B48A68-EF19-B68C-9233-F73F52FEEB5F}"/>
              </a:ext>
            </a:extLst>
          </p:cNvPr>
          <p:cNvSpPr/>
          <p:nvPr/>
        </p:nvSpPr>
        <p:spPr>
          <a:xfrm>
            <a:off x="6400980" y="4141860"/>
            <a:ext cx="5215780" cy="2240186"/>
          </a:xfrm>
          <a:prstGeom prst="rect">
            <a:avLst/>
          </a:prstGeom>
          <a:solidFill>
            <a:schemeClr val="bg1"/>
          </a:solidFill>
          <a:ln w="38100">
            <a:solidFill>
              <a:srgbClr val="6FD19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42950" lvl="1" indent="-285750">
              <a:buFont typeface="Arial" panose="020B0604020202020204" pitchFamily="34" charset="0"/>
              <a:buChar char="•"/>
            </a:pPr>
            <a:r>
              <a:rPr lang="en-GB" sz="1600" b="1" dirty="0">
                <a:solidFill>
                  <a:srgbClr val="6FD192"/>
                </a:solidFill>
                <a:latin typeface="Poppins" pitchFamily="2" charset="77"/>
                <a:cs typeface="Poppins" pitchFamily="2" charset="77"/>
              </a:rPr>
              <a:t>Semantic Diversity </a:t>
            </a:r>
            <a:r>
              <a:rPr lang="en-GB" sz="1600" dirty="0">
                <a:solidFill>
                  <a:srgbClr val="6FD192"/>
                </a:solidFill>
                <a:latin typeface="Poppins" pitchFamily="2" charset="77"/>
                <a:cs typeface="Poppins" pitchFamily="2" charset="77"/>
              </a:rPr>
              <a:t>↑ (Guo et al., 2024) </a:t>
            </a:r>
          </a:p>
          <a:p>
            <a:pPr lvl="1"/>
            <a:endParaRPr lang="en-GB" sz="1600" dirty="0">
              <a:solidFill>
                <a:srgbClr val="6FD192"/>
              </a:solidFill>
              <a:latin typeface="Poppins" pitchFamily="2" charset="77"/>
              <a:cs typeface="Poppins" pitchFamily="2" charset="77"/>
            </a:endParaRPr>
          </a:p>
          <a:p>
            <a:pPr marL="742950" lvl="1" indent="-285750">
              <a:buFont typeface="Arial" panose="020B0604020202020204" pitchFamily="34" charset="0"/>
              <a:buChar char="•"/>
            </a:pPr>
            <a:r>
              <a:rPr lang="en-GB" sz="1600" b="1" dirty="0">
                <a:solidFill>
                  <a:srgbClr val="6FD192"/>
                </a:solidFill>
                <a:latin typeface="Poppins" pitchFamily="2" charset="77"/>
                <a:cs typeface="Poppins" pitchFamily="2" charset="77"/>
              </a:rPr>
              <a:t>Lexical Diversity </a:t>
            </a:r>
            <a:r>
              <a:rPr lang="en-GB" sz="1600" dirty="0">
                <a:solidFill>
                  <a:srgbClr val="6FD192"/>
                </a:solidFill>
                <a:latin typeface="Poppins" pitchFamily="2" charset="77"/>
                <a:cs typeface="Poppins" pitchFamily="2" charset="77"/>
              </a:rPr>
              <a:t>↑ (Guo et al., 2024)</a:t>
            </a:r>
          </a:p>
          <a:p>
            <a:pPr marL="742950" lvl="1" indent="-285750">
              <a:buFont typeface="Arial" panose="020B0604020202020204" pitchFamily="34" charset="0"/>
              <a:buChar char="•"/>
            </a:pPr>
            <a:endParaRPr lang="en-GB" sz="1600" dirty="0">
              <a:solidFill>
                <a:srgbClr val="6FD192"/>
              </a:solidFill>
              <a:latin typeface="Poppins" pitchFamily="2" charset="77"/>
              <a:cs typeface="Poppins" pitchFamily="2" charset="77"/>
            </a:endParaRPr>
          </a:p>
          <a:p>
            <a:pPr marL="742950" lvl="1" indent="-285750">
              <a:buFont typeface="Arial" panose="020B0604020202020204" pitchFamily="34" charset="0"/>
              <a:buChar char="•"/>
            </a:pPr>
            <a:r>
              <a:rPr lang="en-GB" sz="1600" b="1" u="sng" dirty="0">
                <a:solidFill>
                  <a:srgbClr val="D43F49"/>
                </a:solidFill>
                <a:latin typeface="Poppins" pitchFamily="2" charset="77"/>
                <a:cs typeface="Poppins" pitchFamily="2" charset="77"/>
              </a:rPr>
              <a:t>Intra-Strategy BERT-score</a:t>
            </a:r>
            <a:r>
              <a:rPr lang="en-GB" sz="1600" b="1" dirty="0">
                <a:solidFill>
                  <a:srgbClr val="D43F49"/>
                </a:solidFill>
                <a:latin typeface="Poppins" pitchFamily="2" charset="77"/>
                <a:cs typeface="Poppins" pitchFamily="2" charset="77"/>
              </a:rPr>
              <a:t> </a:t>
            </a:r>
            <a:r>
              <a:rPr lang="en-GB" sz="1600" dirty="0">
                <a:solidFill>
                  <a:srgbClr val="D43F49"/>
                </a:solidFill>
                <a:latin typeface="Poppins" pitchFamily="2" charset="77"/>
                <a:cs typeface="Poppins" pitchFamily="2" charset="77"/>
              </a:rPr>
              <a:t>↑</a:t>
            </a:r>
            <a:br>
              <a:rPr lang="en-GB" sz="1600" dirty="0">
                <a:solidFill>
                  <a:srgbClr val="D43F49"/>
                </a:solidFill>
                <a:latin typeface="Poppins" pitchFamily="2" charset="77"/>
                <a:cs typeface="Poppins" pitchFamily="2" charset="77"/>
              </a:rPr>
            </a:br>
            <a:r>
              <a:rPr lang="en-GB" sz="1400" dirty="0">
                <a:solidFill>
                  <a:srgbClr val="D43F49"/>
                </a:solidFill>
                <a:latin typeface="Poppins" pitchFamily="2" charset="77"/>
                <a:cs typeface="Poppins" pitchFamily="2" charset="77"/>
              </a:rPr>
              <a:t>(pair-wise comparison of the segments carrying the same strategy)</a:t>
            </a:r>
            <a:r>
              <a:rPr lang="en-GB" sz="1600" dirty="0">
                <a:solidFill>
                  <a:srgbClr val="D43F49"/>
                </a:solidFill>
                <a:latin typeface="Poppins" pitchFamily="2" charset="77"/>
                <a:cs typeface="Poppins" pitchFamily="2" charset="77"/>
              </a:rPr>
              <a:t> </a:t>
            </a:r>
          </a:p>
        </p:txBody>
      </p:sp>
      <p:sp>
        <p:nvSpPr>
          <p:cNvPr id="2" name="Title 1">
            <a:extLst>
              <a:ext uri="{FF2B5EF4-FFF2-40B4-BE49-F238E27FC236}">
                <a16:creationId xmlns:a16="http://schemas.microsoft.com/office/drawing/2014/main" id="{23270091-DAAA-5AA0-3352-E8664FBC71EF}"/>
              </a:ext>
            </a:extLst>
          </p:cNvPr>
          <p:cNvSpPr>
            <a:spLocks noGrp="1"/>
          </p:cNvSpPr>
          <p:nvPr>
            <p:ph type="title"/>
          </p:nvPr>
        </p:nvSpPr>
        <p:spPr/>
        <p:txBody>
          <a:bodyPr/>
          <a:lstStyle/>
          <a:p>
            <a:r>
              <a:rPr lang="en-FR" dirty="0"/>
              <a:t>Generative Module: Response Evaluation</a:t>
            </a:r>
          </a:p>
        </p:txBody>
      </p:sp>
      <p:pic>
        <p:nvPicPr>
          <p:cNvPr id="4" name="Graphic 3" descr="Lightbulb and gear with solid fill">
            <a:extLst>
              <a:ext uri="{FF2B5EF4-FFF2-40B4-BE49-F238E27FC236}">
                <a16:creationId xmlns:a16="http://schemas.microsoft.com/office/drawing/2014/main" id="{6B97732C-4A7D-3BDB-722D-F83D53C6EB46}"/>
              </a:ext>
            </a:extLst>
          </p:cNvPr>
          <p:cNvPicPr>
            <a:picLocks noChangeAspect="1"/>
          </p:cNvPicPr>
          <p:nvPr/>
        </p:nvPicPr>
        <p:blipFill>
          <a:blip r:embed="rId3">
            <a:alphaModFix/>
            <a:extLst>
              <a:ext uri="{96DAC541-7B7A-43D3-8B79-37D633B846F1}">
                <asvg:svgBlip xmlns:asvg="http://schemas.microsoft.com/office/drawing/2016/SVG/main" r:embed="rId4"/>
              </a:ext>
            </a:extLst>
          </a:blip>
          <a:stretch>
            <a:fillRect/>
          </a:stretch>
        </p:blipFill>
        <p:spPr>
          <a:xfrm>
            <a:off x="155142" y="260967"/>
            <a:ext cx="844390" cy="844390"/>
          </a:xfrm>
          <a:prstGeom prst="rect">
            <a:avLst/>
          </a:prstGeom>
        </p:spPr>
      </p:pic>
      <p:sp>
        <p:nvSpPr>
          <p:cNvPr id="3" name="Rectangle 2">
            <a:extLst>
              <a:ext uri="{FF2B5EF4-FFF2-40B4-BE49-F238E27FC236}">
                <a16:creationId xmlns:a16="http://schemas.microsoft.com/office/drawing/2014/main" id="{B7B29BBA-0FF0-0ECD-96B4-9263EB10EC8A}"/>
              </a:ext>
            </a:extLst>
          </p:cNvPr>
          <p:cNvSpPr/>
          <p:nvPr/>
        </p:nvSpPr>
        <p:spPr>
          <a:xfrm>
            <a:off x="728422" y="1580825"/>
            <a:ext cx="5367578" cy="4819975"/>
          </a:xfrm>
          <a:prstGeom prst="rect">
            <a:avLst/>
          </a:prstGeom>
          <a:solidFill>
            <a:schemeClr val="bg1"/>
          </a:solidFill>
          <a:ln w="38100">
            <a:solidFill>
              <a:srgbClr val="A5AFF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sz="1600">
              <a:latin typeface="Poppins" pitchFamily="2" charset="77"/>
              <a:cs typeface="Poppins" pitchFamily="2" charset="77"/>
            </a:endParaRPr>
          </a:p>
        </p:txBody>
      </p:sp>
      <p:sp>
        <p:nvSpPr>
          <p:cNvPr id="5" name="Rectangle 4">
            <a:extLst>
              <a:ext uri="{FF2B5EF4-FFF2-40B4-BE49-F238E27FC236}">
                <a16:creationId xmlns:a16="http://schemas.microsoft.com/office/drawing/2014/main" id="{229A38B6-A935-28EA-BC92-66A7A28DBDAE}"/>
              </a:ext>
            </a:extLst>
          </p:cNvPr>
          <p:cNvSpPr/>
          <p:nvPr/>
        </p:nvSpPr>
        <p:spPr>
          <a:xfrm>
            <a:off x="6400980" y="1595092"/>
            <a:ext cx="5215780" cy="1848175"/>
          </a:xfrm>
          <a:prstGeom prst="rect">
            <a:avLst/>
          </a:prstGeom>
          <a:solidFill>
            <a:schemeClr val="bg1"/>
          </a:solidFill>
          <a:ln w="38100">
            <a:solidFill>
              <a:srgbClr val="4B84F4"/>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42950" lvl="1" indent="-285750">
              <a:buFont typeface="Arial" panose="020B0604020202020204" pitchFamily="34" charset="0"/>
              <a:buChar char="•"/>
            </a:pPr>
            <a:r>
              <a:rPr lang="en-GB" sz="1600" b="1" u="sng" dirty="0" err="1">
                <a:solidFill>
                  <a:srgbClr val="D43F49"/>
                </a:solidFill>
                <a:latin typeface="Poppins" pitchFamily="2" charset="77"/>
                <a:cs typeface="Poppins" pitchFamily="2" charset="77"/>
              </a:rPr>
              <a:t>BERT_context</a:t>
            </a:r>
            <a:r>
              <a:rPr lang="en-GB" sz="1600" b="1" dirty="0">
                <a:solidFill>
                  <a:srgbClr val="D43F49"/>
                </a:solidFill>
                <a:latin typeface="Poppins" pitchFamily="2" charset="77"/>
                <a:cs typeface="Poppins" pitchFamily="2" charset="77"/>
              </a:rPr>
              <a:t> </a:t>
            </a:r>
            <a:r>
              <a:rPr lang="en-GB" sz="1600" dirty="0">
                <a:solidFill>
                  <a:srgbClr val="D43F49"/>
                </a:solidFill>
                <a:latin typeface="Poppins" pitchFamily="2" charset="77"/>
                <a:cs typeface="Poppins" pitchFamily="2" charset="77"/>
              </a:rPr>
              <a:t>↑ </a:t>
            </a:r>
            <a:br>
              <a:rPr lang="en-GB" sz="1600" dirty="0">
                <a:solidFill>
                  <a:srgbClr val="D43F49"/>
                </a:solidFill>
                <a:latin typeface="Poppins" pitchFamily="2" charset="77"/>
                <a:cs typeface="Poppins" pitchFamily="2" charset="77"/>
              </a:rPr>
            </a:br>
            <a:r>
              <a:rPr lang="en-GB" sz="1400" i="1" dirty="0">
                <a:solidFill>
                  <a:srgbClr val="D43F49"/>
                </a:solidFill>
                <a:latin typeface="Poppins" pitchFamily="2" charset="77"/>
                <a:cs typeface="Poppins" pitchFamily="2" charset="77"/>
              </a:rPr>
              <a:t>(</a:t>
            </a:r>
            <a:r>
              <a:rPr lang="en-GB" sz="1400" i="1" dirty="0" err="1">
                <a:solidFill>
                  <a:srgbClr val="D43F49"/>
                </a:solidFill>
                <a:latin typeface="Poppins" pitchFamily="2" charset="77"/>
                <a:cs typeface="Poppins" pitchFamily="2" charset="77"/>
              </a:rPr>
              <a:t>BERTscore</a:t>
            </a:r>
            <a:r>
              <a:rPr lang="en-GB" sz="1400" i="1" dirty="0">
                <a:solidFill>
                  <a:srgbClr val="D43F49"/>
                </a:solidFill>
                <a:latin typeface="Poppins" pitchFamily="2" charset="77"/>
                <a:cs typeface="Poppins" pitchFamily="2" charset="77"/>
              </a:rPr>
              <a:t> to compare the similarity between </a:t>
            </a:r>
            <a:br>
              <a:rPr lang="en-GB" sz="1400" i="1" dirty="0">
                <a:solidFill>
                  <a:srgbClr val="D43F49"/>
                </a:solidFill>
                <a:latin typeface="Poppins" pitchFamily="2" charset="77"/>
                <a:cs typeface="Poppins" pitchFamily="2" charset="77"/>
              </a:rPr>
            </a:br>
            <a:r>
              <a:rPr lang="en-GB" sz="1400" i="1" dirty="0">
                <a:solidFill>
                  <a:srgbClr val="D43F49"/>
                </a:solidFill>
                <a:latin typeface="Poppins" pitchFamily="2" charset="77"/>
                <a:cs typeface="Poppins" pitchFamily="2" charset="77"/>
              </a:rPr>
              <a:t>the context and the response.)</a:t>
            </a:r>
          </a:p>
          <a:p>
            <a:pPr lvl="1"/>
            <a:endParaRPr lang="en-GB" sz="1600" i="1" dirty="0">
              <a:solidFill>
                <a:srgbClr val="4B84F4"/>
              </a:solidFill>
              <a:latin typeface="Poppins" pitchFamily="2" charset="77"/>
              <a:cs typeface="Poppins" pitchFamily="2" charset="77"/>
            </a:endParaRPr>
          </a:p>
          <a:p>
            <a:pPr marL="742950" lvl="1" indent="-285750">
              <a:buFont typeface="Arial" panose="020B0604020202020204" pitchFamily="34" charset="0"/>
              <a:buChar char="•"/>
            </a:pPr>
            <a:r>
              <a:rPr lang="en-GB" sz="1600" b="1" dirty="0">
                <a:solidFill>
                  <a:srgbClr val="4B84F4"/>
                </a:solidFill>
                <a:latin typeface="Poppins" pitchFamily="2" charset="77"/>
                <a:cs typeface="Poppins" pitchFamily="2" charset="77"/>
              </a:rPr>
              <a:t>Perplexity</a:t>
            </a:r>
            <a:r>
              <a:rPr lang="en-GB" sz="1600" dirty="0">
                <a:solidFill>
                  <a:srgbClr val="4B84F4"/>
                </a:solidFill>
                <a:latin typeface="Poppins" pitchFamily="2" charset="77"/>
                <a:cs typeface="Poppins" pitchFamily="2" charset="77"/>
              </a:rPr>
              <a:t> (PPL) ↓ (Jelinek et al., 1977)</a:t>
            </a:r>
          </a:p>
        </p:txBody>
      </p:sp>
      <p:sp>
        <p:nvSpPr>
          <p:cNvPr id="6" name="Rectangle 5">
            <a:extLst>
              <a:ext uri="{FF2B5EF4-FFF2-40B4-BE49-F238E27FC236}">
                <a16:creationId xmlns:a16="http://schemas.microsoft.com/office/drawing/2014/main" id="{686168E3-4F54-335C-806B-734E4D06AB29}"/>
              </a:ext>
            </a:extLst>
          </p:cNvPr>
          <p:cNvSpPr/>
          <p:nvPr/>
        </p:nvSpPr>
        <p:spPr>
          <a:xfrm>
            <a:off x="949317" y="1923459"/>
            <a:ext cx="4788977" cy="1349209"/>
          </a:xfrm>
          <a:prstGeom prst="rect">
            <a:avLst/>
          </a:prstGeom>
          <a:solidFill>
            <a:schemeClr val="bg1"/>
          </a:solidFill>
          <a:ln w="38100">
            <a:solidFill>
              <a:srgbClr val="A5B0F6"/>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42950" lvl="1" indent="-285750">
              <a:buFont typeface="Arial" panose="020B0604020202020204" pitchFamily="34" charset="0"/>
              <a:buChar char="•"/>
            </a:pPr>
            <a:r>
              <a:rPr lang="en-GB" sz="1600" b="1" dirty="0" err="1">
                <a:solidFill>
                  <a:srgbClr val="A5B0F6"/>
                </a:solidFill>
                <a:latin typeface="Poppins" pitchFamily="2" charset="77"/>
                <a:cs typeface="Poppins" pitchFamily="2" charset="77"/>
              </a:rPr>
              <a:t>SacreBLEU</a:t>
            </a:r>
            <a:r>
              <a:rPr lang="en-GB" sz="1600" dirty="0">
                <a:solidFill>
                  <a:srgbClr val="A5B0F6"/>
                </a:solidFill>
                <a:latin typeface="Poppins" pitchFamily="2" charset="77"/>
                <a:cs typeface="Poppins" pitchFamily="2" charset="77"/>
              </a:rPr>
              <a:t> ↑ (Post, 2018) </a:t>
            </a:r>
          </a:p>
          <a:p>
            <a:pPr marL="742950" lvl="1" indent="-285750">
              <a:buFont typeface="Arial" panose="020B0604020202020204" pitchFamily="34" charset="0"/>
              <a:buChar char="•"/>
            </a:pPr>
            <a:r>
              <a:rPr lang="en-GB" sz="1600" b="1" dirty="0">
                <a:solidFill>
                  <a:srgbClr val="A5B0F6"/>
                </a:solidFill>
                <a:latin typeface="Poppins" pitchFamily="2" charset="77"/>
                <a:cs typeface="Poppins" pitchFamily="2" charset="77"/>
              </a:rPr>
              <a:t>ROUGE</a:t>
            </a:r>
            <a:r>
              <a:rPr lang="en-GB" sz="1600" dirty="0">
                <a:solidFill>
                  <a:srgbClr val="A5B0F6"/>
                </a:solidFill>
                <a:latin typeface="Poppins" pitchFamily="2" charset="77"/>
                <a:cs typeface="Poppins" pitchFamily="2" charset="77"/>
              </a:rPr>
              <a:t> ↑ (Lin, 2004)</a:t>
            </a:r>
          </a:p>
          <a:p>
            <a:pPr marL="742950" lvl="1" indent="-285750">
              <a:buFont typeface="Arial" panose="020B0604020202020204" pitchFamily="34" charset="0"/>
              <a:buChar char="•"/>
            </a:pPr>
            <a:r>
              <a:rPr lang="en-GB" sz="1600" b="1" dirty="0">
                <a:solidFill>
                  <a:srgbClr val="A5B0F6"/>
                </a:solidFill>
                <a:latin typeface="Poppins" pitchFamily="2" charset="77"/>
                <a:cs typeface="Poppins" pitchFamily="2" charset="77"/>
              </a:rPr>
              <a:t>CHRF</a:t>
            </a:r>
            <a:r>
              <a:rPr lang="en-GB" sz="1600" dirty="0">
                <a:solidFill>
                  <a:srgbClr val="A5B0F6"/>
                </a:solidFill>
                <a:latin typeface="Poppins" pitchFamily="2" charset="77"/>
                <a:cs typeface="Poppins" pitchFamily="2" charset="77"/>
              </a:rPr>
              <a:t> ↑ (</a:t>
            </a:r>
            <a:r>
              <a:rPr lang="en-GB" sz="1600" dirty="0" err="1">
                <a:solidFill>
                  <a:srgbClr val="A5B0F6"/>
                </a:solidFill>
                <a:latin typeface="Poppins" pitchFamily="2" charset="77"/>
                <a:cs typeface="Poppins" pitchFamily="2" charset="77"/>
              </a:rPr>
              <a:t>Popovi´c</a:t>
            </a:r>
            <a:r>
              <a:rPr lang="en-GB" sz="1600" dirty="0">
                <a:solidFill>
                  <a:srgbClr val="A5B0F6"/>
                </a:solidFill>
                <a:latin typeface="Poppins" pitchFamily="2" charset="77"/>
                <a:cs typeface="Poppins" pitchFamily="2" charset="77"/>
              </a:rPr>
              <a:t>, 2015)</a:t>
            </a:r>
          </a:p>
          <a:p>
            <a:pPr marL="742950" lvl="1" indent="-285750">
              <a:buFont typeface="Arial" panose="020B0604020202020204" pitchFamily="34" charset="0"/>
              <a:buChar char="•"/>
            </a:pPr>
            <a:r>
              <a:rPr lang="en-GB" sz="1600" b="1" dirty="0">
                <a:solidFill>
                  <a:srgbClr val="A5B0F6"/>
                </a:solidFill>
                <a:latin typeface="Poppins" pitchFamily="2" charset="77"/>
                <a:cs typeface="Poppins" pitchFamily="2" charset="77"/>
              </a:rPr>
              <a:t>METEOR</a:t>
            </a:r>
            <a:r>
              <a:rPr lang="en-GB" sz="1600" dirty="0">
                <a:solidFill>
                  <a:srgbClr val="A5B0F6"/>
                </a:solidFill>
                <a:latin typeface="Poppins" pitchFamily="2" charset="77"/>
                <a:cs typeface="Poppins" pitchFamily="2" charset="77"/>
              </a:rPr>
              <a:t> ↑ (Banerjee and Lavie, 2005)</a:t>
            </a:r>
            <a:endParaRPr lang="en-FR" sz="1600" dirty="0">
              <a:solidFill>
                <a:srgbClr val="A5B0F6"/>
              </a:solidFill>
              <a:latin typeface="Poppins" pitchFamily="2" charset="77"/>
              <a:cs typeface="Poppins" pitchFamily="2" charset="77"/>
            </a:endParaRPr>
          </a:p>
        </p:txBody>
      </p:sp>
      <p:sp>
        <p:nvSpPr>
          <p:cNvPr id="8" name="TextBox 7">
            <a:extLst>
              <a:ext uri="{FF2B5EF4-FFF2-40B4-BE49-F238E27FC236}">
                <a16:creationId xmlns:a16="http://schemas.microsoft.com/office/drawing/2014/main" id="{0BCE56E7-1FD8-F725-F34D-E6D55CF0E3DB}"/>
              </a:ext>
            </a:extLst>
          </p:cNvPr>
          <p:cNvSpPr txBox="1"/>
          <p:nvPr/>
        </p:nvSpPr>
        <p:spPr>
          <a:xfrm>
            <a:off x="949317" y="1394960"/>
            <a:ext cx="2355132" cy="369332"/>
          </a:xfrm>
          <a:prstGeom prst="rect">
            <a:avLst/>
          </a:prstGeom>
          <a:solidFill>
            <a:schemeClr val="bg1"/>
          </a:solidFill>
        </p:spPr>
        <p:txBody>
          <a:bodyPr wrap="none" rtlCol="0">
            <a:spAutoFit/>
          </a:bodyPr>
          <a:lstStyle/>
          <a:p>
            <a:r>
              <a:rPr lang="en-FR" b="1" dirty="0">
                <a:solidFill>
                  <a:srgbClr val="A5AFF5"/>
                </a:solidFill>
                <a:latin typeface="Poppins" pitchFamily="2" charset="77"/>
                <a:cs typeface="Poppins" pitchFamily="2" charset="77"/>
              </a:rPr>
              <a:t>REFERENCE-BASED</a:t>
            </a:r>
          </a:p>
        </p:txBody>
      </p:sp>
      <p:sp>
        <p:nvSpPr>
          <p:cNvPr id="9" name="TextBox 8">
            <a:extLst>
              <a:ext uri="{FF2B5EF4-FFF2-40B4-BE49-F238E27FC236}">
                <a16:creationId xmlns:a16="http://schemas.microsoft.com/office/drawing/2014/main" id="{8F52B991-18A5-6328-1630-0AB39C96AB2D}"/>
              </a:ext>
            </a:extLst>
          </p:cNvPr>
          <p:cNvSpPr txBox="1"/>
          <p:nvPr/>
        </p:nvSpPr>
        <p:spPr>
          <a:xfrm>
            <a:off x="2220796" y="1752188"/>
            <a:ext cx="2026517" cy="369332"/>
          </a:xfrm>
          <a:prstGeom prst="rect">
            <a:avLst/>
          </a:prstGeom>
          <a:solidFill>
            <a:schemeClr val="bg1"/>
          </a:solidFill>
        </p:spPr>
        <p:txBody>
          <a:bodyPr wrap="none" rtlCol="0">
            <a:spAutoFit/>
          </a:bodyPr>
          <a:lstStyle/>
          <a:p>
            <a:r>
              <a:rPr lang="en-FR" b="1" dirty="0">
                <a:solidFill>
                  <a:srgbClr val="A5B0F6"/>
                </a:solidFill>
                <a:latin typeface="Poppins" pitchFamily="2" charset="77"/>
                <a:cs typeface="Poppins" pitchFamily="2" charset="77"/>
              </a:rPr>
              <a:t>WORD OVERLAP</a:t>
            </a:r>
          </a:p>
        </p:txBody>
      </p:sp>
      <p:sp>
        <p:nvSpPr>
          <p:cNvPr id="11" name="TextBox 10">
            <a:extLst>
              <a:ext uri="{FF2B5EF4-FFF2-40B4-BE49-F238E27FC236}">
                <a16:creationId xmlns:a16="http://schemas.microsoft.com/office/drawing/2014/main" id="{D3235FA7-FA87-B0CC-2B5F-CD634C947C92}"/>
              </a:ext>
            </a:extLst>
          </p:cNvPr>
          <p:cNvSpPr txBox="1"/>
          <p:nvPr/>
        </p:nvSpPr>
        <p:spPr>
          <a:xfrm>
            <a:off x="9339279" y="1410426"/>
            <a:ext cx="2124299" cy="369332"/>
          </a:xfrm>
          <a:prstGeom prst="rect">
            <a:avLst/>
          </a:prstGeom>
          <a:solidFill>
            <a:schemeClr val="bg1"/>
          </a:solidFill>
          <a:ln>
            <a:noFill/>
          </a:ln>
        </p:spPr>
        <p:txBody>
          <a:bodyPr wrap="none" rtlCol="0">
            <a:spAutoFit/>
          </a:bodyPr>
          <a:lstStyle/>
          <a:p>
            <a:r>
              <a:rPr lang="en-FR" b="1" dirty="0">
                <a:solidFill>
                  <a:srgbClr val="4B84F4"/>
                </a:solidFill>
                <a:latin typeface="Poppins" pitchFamily="2" charset="77"/>
                <a:cs typeface="Poppins" pitchFamily="2" charset="77"/>
              </a:rPr>
              <a:t>REFERENCE-FREE</a:t>
            </a:r>
          </a:p>
        </p:txBody>
      </p:sp>
      <p:sp>
        <p:nvSpPr>
          <p:cNvPr id="14" name="Rectangle 13">
            <a:extLst>
              <a:ext uri="{FF2B5EF4-FFF2-40B4-BE49-F238E27FC236}">
                <a16:creationId xmlns:a16="http://schemas.microsoft.com/office/drawing/2014/main" id="{9249633B-2DF8-A8F1-B668-039F312417E7}"/>
              </a:ext>
            </a:extLst>
          </p:cNvPr>
          <p:cNvSpPr/>
          <p:nvPr/>
        </p:nvSpPr>
        <p:spPr>
          <a:xfrm>
            <a:off x="949317" y="4549698"/>
            <a:ext cx="4788977" cy="1703073"/>
          </a:xfrm>
          <a:prstGeom prst="rect">
            <a:avLst/>
          </a:prstGeom>
          <a:solidFill>
            <a:schemeClr val="bg1"/>
          </a:solidFill>
          <a:ln w="38100">
            <a:solidFill>
              <a:srgbClr val="A5B0F6"/>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42950" lvl="1" indent="-285750">
              <a:buFont typeface="Arial" panose="020B0604020202020204" pitchFamily="34" charset="0"/>
              <a:buChar char="•"/>
            </a:pPr>
            <a:r>
              <a:rPr lang="en-GB" sz="1600" b="1" u="sng" dirty="0">
                <a:solidFill>
                  <a:srgbClr val="D43F49"/>
                </a:solidFill>
                <a:latin typeface="Poppins" pitchFamily="2" charset="77"/>
                <a:cs typeface="Poppins" pitchFamily="2" charset="77"/>
              </a:rPr>
              <a:t>Emotion F1</a:t>
            </a:r>
            <a:r>
              <a:rPr lang="en-GB" sz="1600" b="1" dirty="0">
                <a:solidFill>
                  <a:srgbClr val="D43F49"/>
                </a:solidFill>
                <a:latin typeface="Poppins" pitchFamily="2" charset="77"/>
                <a:cs typeface="Poppins" pitchFamily="2" charset="77"/>
              </a:rPr>
              <a:t> </a:t>
            </a:r>
            <a:r>
              <a:rPr lang="en-GB" sz="1600" dirty="0">
                <a:solidFill>
                  <a:srgbClr val="D43F49"/>
                </a:solidFill>
                <a:latin typeface="Poppins" pitchFamily="2" charset="77"/>
                <a:cs typeface="Poppins" pitchFamily="2" charset="77"/>
              </a:rPr>
              <a:t>↑ </a:t>
            </a:r>
            <a:br>
              <a:rPr lang="en-GB" sz="1600" dirty="0">
                <a:solidFill>
                  <a:srgbClr val="D43F49"/>
                </a:solidFill>
                <a:latin typeface="Poppins" pitchFamily="2" charset="77"/>
                <a:cs typeface="Poppins" pitchFamily="2" charset="77"/>
              </a:rPr>
            </a:br>
            <a:r>
              <a:rPr lang="en-GB" sz="1400" i="1" dirty="0">
                <a:solidFill>
                  <a:srgbClr val="D43F49"/>
                </a:solidFill>
                <a:latin typeface="Poppins" pitchFamily="2" charset="77"/>
                <a:cs typeface="Poppins" pitchFamily="2" charset="77"/>
              </a:rPr>
              <a:t>(F1 score accounts for unbalanced classes.)</a:t>
            </a:r>
          </a:p>
          <a:p>
            <a:pPr marL="742950" lvl="1" indent="-285750">
              <a:buFont typeface="Arial" panose="020B0604020202020204" pitchFamily="34" charset="0"/>
              <a:buChar char="•"/>
            </a:pPr>
            <a:r>
              <a:rPr lang="en-GB" sz="1600" b="1" u="sng" dirty="0">
                <a:solidFill>
                  <a:srgbClr val="D43F49"/>
                </a:solidFill>
                <a:latin typeface="Poppins" pitchFamily="2" charset="77"/>
                <a:cs typeface="Poppins" pitchFamily="2" charset="77"/>
              </a:rPr>
              <a:t>Dialogue Strategy Similarity</a:t>
            </a:r>
            <a:r>
              <a:rPr lang="en-GB" sz="1600" b="1" dirty="0">
                <a:solidFill>
                  <a:srgbClr val="D43F49"/>
                </a:solidFill>
                <a:latin typeface="Poppins" pitchFamily="2" charset="77"/>
                <a:cs typeface="Poppins" pitchFamily="2" charset="77"/>
              </a:rPr>
              <a:t> </a:t>
            </a:r>
            <a:r>
              <a:rPr lang="en-GB" sz="1600" dirty="0">
                <a:solidFill>
                  <a:srgbClr val="D43F49"/>
                </a:solidFill>
                <a:latin typeface="Poppins" pitchFamily="2" charset="77"/>
                <a:cs typeface="Poppins" pitchFamily="2" charset="77"/>
              </a:rPr>
              <a:t>↑</a:t>
            </a:r>
            <a:r>
              <a:rPr lang="en-GB" sz="1400" i="1" dirty="0">
                <a:solidFill>
                  <a:srgbClr val="D43F49"/>
                </a:solidFill>
                <a:latin typeface="Poppins" pitchFamily="2" charset="77"/>
                <a:cs typeface="Poppins" pitchFamily="2" charset="77"/>
              </a:rPr>
              <a:t> </a:t>
            </a:r>
            <a:br>
              <a:rPr lang="en-GB" sz="1400" i="1" dirty="0">
                <a:solidFill>
                  <a:srgbClr val="D43F49"/>
                </a:solidFill>
                <a:latin typeface="Poppins" pitchFamily="2" charset="77"/>
                <a:cs typeface="Poppins" pitchFamily="2" charset="77"/>
              </a:rPr>
            </a:br>
            <a:r>
              <a:rPr lang="en-GB" sz="1400" i="1" dirty="0">
                <a:solidFill>
                  <a:srgbClr val="D43F49"/>
                </a:solidFill>
                <a:latin typeface="Poppins" pitchFamily="2" charset="77"/>
                <a:cs typeface="Poppins" pitchFamily="2" charset="77"/>
              </a:rPr>
              <a:t>(Jaccard &amp; </a:t>
            </a:r>
            <a:r>
              <a:rPr lang="en-GB" sz="1400" i="1" dirty="0" err="1">
                <a:solidFill>
                  <a:srgbClr val="D43F49"/>
                </a:solidFill>
                <a:latin typeface="Poppins" pitchFamily="2" charset="77"/>
                <a:cs typeface="Poppins" pitchFamily="2" charset="77"/>
              </a:rPr>
              <a:t>Levenshtein</a:t>
            </a:r>
            <a:r>
              <a:rPr lang="en-GB" sz="1400" i="1" dirty="0">
                <a:solidFill>
                  <a:srgbClr val="D43F49"/>
                </a:solidFill>
                <a:latin typeface="Poppins" pitchFamily="2" charset="77"/>
                <a:cs typeface="Poppins" pitchFamily="2" charset="77"/>
              </a:rPr>
              <a:t> Similarity between the predicted sequence and GT)</a:t>
            </a:r>
            <a:endParaRPr lang="en-FR" sz="1600" i="1" dirty="0">
              <a:solidFill>
                <a:srgbClr val="D43F49"/>
              </a:solidFill>
              <a:latin typeface="Poppins" pitchFamily="2" charset="77"/>
              <a:cs typeface="Poppins" pitchFamily="2" charset="77"/>
            </a:endParaRPr>
          </a:p>
        </p:txBody>
      </p:sp>
      <p:sp>
        <p:nvSpPr>
          <p:cNvPr id="15" name="TextBox 14">
            <a:extLst>
              <a:ext uri="{FF2B5EF4-FFF2-40B4-BE49-F238E27FC236}">
                <a16:creationId xmlns:a16="http://schemas.microsoft.com/office/drawing/2014/main" id="{FF5AE973-87BE-D9D4-1E6F-5C6D831A489E}"/>
              </a:ext>
            </a:extLst>
          </p:cNvPr>
          <p:cNvSpPr txBox="1"/>
          <p:nvPr/>
        </p:nvSpPr>
        <p:spPr>
          <a:xfrm>
            <a:off x="1779832" y="4406234"/>
            <a:ext cx="3049233" cy="369332"/>
          </a:xfrm>
          <a:prstGeom prst="rect">
            <a:avLst/>
          </a:prstGeom>
          <a:solidFill>
            <a:schemeClr val="bg1"/>
          </a:solidFill>
        </p:spPr>
        <p:txBody>
          <a:bodyPr wrap="none" rtlCol="0">
            <a:spAutoFit/>
          </a:bodyPr>
          <a:lstStyle/>
          <a:p>
            <a:r>
              <a:rPr lang="en-FR" b="1" dirty="0">
                <a:solidFill>
                  <a:srgbClr val="A5B0F6"/>
                </a:solidFill>
                <a:latin typeface="Poppins" pitchFamily="2" charset="77"/>
                <a:cs typeface="Poppins" pitchFamily="2" charset="77"/>
              </a:rPr>
              <a:t>FINE-TUNED CLASSIFIERS</a:t>
            </a:r>
          </a:p>
        </p:txBody>
      </p:sp>
      <p:sp>
        <p:nvSpPr>
          <p:cNvPr id="7" name="Rectangle 6">
            <a:extLst>
              <a:ext uri="{FF2B5EF4-FFF2-40B4-BE49-F238E27FC236}">
                <a16:creationId xmlns:a16="http://schemas.microsoft.com/office/drawing/2014/main" id="{23BEB0BE-E13C-E841-5356-509287D1ADB8}"/>
              </a:ext>
            </a:extLst>
          </p:cNvPr>
          <p:cNvSpPr/>
          <p:nvPr/>
        </p:nvSpPr>
        <p:spPr>
          <a:xfrm>
            <a:off x="949317" y="3537117"/>
            <a:ext cx="4788977" cy="660134"/>
          </a:xfrm>
          <a:prstGeom prst="rect">
            <a:avLst/>
          </a:prstGeom>
          <a:solidFill>
            <a:schemeClr val="bg1"/>
          </a:solidFill>
          <a:ln w="38100">
            <a:solidFill>
              <a:srgbClr val="A5B0F6"/>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42950" lvl="1" indent="-285750">
              <a:buFont typeface="Arial" panose="020B0604020202020204" pitchFamily="34" charset="0"/>
              <a:buChar char="•"/>
            </a:pPr>
            <a:r>
              <a:rPr lang="en-GB" sz="1600" b="1" dirty="0" err="1">
                <a:solidFill>
                  <a:srgbClr val="A5B0F6"/>
                </a:solidFill>
                <a:latin typeface="Poppins" pitchFamily="2" charset="77"/>
                <a:cs typeface="Poppins" pitchFamily="2" charset="77"/>
              </a:rPr>
              <a:t>BERTscore</a:t>
            </a:r>
            <a:r>
              <a:rPr lang="en-GB" sz="1600" dirty="0">
                <a:solidFill>
                  <a:srgbClr val="A5B0F6"/>
                </a:solidFill>
                <a:latin typeface="Poppins" pitchFamily="2" charset="77"/>
                <a:cs typeface="Poppins" pitchFamily="2" charset="77"/>
              </a:rPr>
              <a:t> ↑ (Zhang et al., 2020) </a:t>
            </a:r>
          </a:p>
        </p:txBody>
      </p:sp>
      <p:sp>
        <p:nvSpPr>
          <p:cNvPr id="10" name="TextBox 9">
            <a:extLst>
              <a:ext uri="{FF2B5EF4-FFF2-40B4-BE49-F238E27FC236}">
                <a16:creationId xmlns:a16="http://schemas.microsoft.com/office/drawing/2014/main" id="{247EA43E-EEA0-6688-2552-6DB829107E3E}"/>
              </a:ext>
            </a:extLst>
          </p:cNvPr>
          <p:cNvSpPr txBox="1"/>
          <p:nvPr/>
        </p:nvSpPr>
        <p:spPr>
          <a:xfrm>
            <a:off x="2011605" y="3363602"/>
            <a:ext cx="2444900" cy="369332"/>
          </a:xfrm>
          <a:prstGeom prst="rect">
            <a:avLst/>
          </a:prstGeom>
          <a:solidFill>
            <a:schemeClr val="bg1"/>
          </a:solidFill>
        </p:spPr>
        <p:txBody>
          <a:bodyPr wrap="none" rtlCol="0">
            <a:spAutoFit/>
          </a:bodyPr>
          <a:lstStyle/>
          <a:p>
            <a:r>
              <a:rPr lang="en-FR" b="1" dirty="0">
                <a:solidFill>
                  <a:srgbClr val="A5B0F6"/>
                </a:solidFill>
                <a:latin typeface="Poppins" pitchFamily="2" charset="77"/>
                <a:cs typeface="Poppins" pitchFamily="2" charset="77"/>
              </a:rPr>
              <a:t>EMBEDDING-BASED</a:t>
            </a:r>
          </a:p>
        </p:txBody>
      </p:sp>
      <p:sp>
        <p:nvSpPr>
          <p:cNvPr id="16" name="TextBox 15">
            <a:extLst>
              <a:ext uri="{FF2B5EF4-FFF2-40B4-BE49-F238E27FC236}">
                <a16:creationId xmlns:a16="http://schemas.microsoft.com/office/drawing/2014/main" id="{DE60F0FE-D5CB-3A37-C875-F3E83C25B093}"/>
              </a:ext>
            </a:extLst>
          </p:cNvPr>
          <p:cNvSpPr txBox="1"/>
          <p:nvPr/>
        </p:nvSpPr>
        <p:spPr>
          <a:xfrm>
            <a:off x="9631025" y="3957194"/>
            <a:ext cx="1832553" cy="369332"/>
          </a:xfrm>
          <a:prstGeom prst="rect">
            <a:avLst/>
          </a:prstGeom>
          <a:solidFill>
            <a:schemeClr val="bg1"/>
          </a:solidFill>
        </p:spPr>
        <p:txBody>
          <a:bodyPr wrap="none" rtlCol="0">
            <a:spAutoFit/>
          </a:bodyPr>
          <a:lstStyle/>
          <a:p>
            <a:r>
              <a:rPr lang="en-FR" b="1" dirty="0">
                <a:solidFill>
                  <a:srgbClr val="6FD192"/>
                </a:solidFill>
                <a:latin typeface="Poppins" pitchFamily="2" charset="77"/>
                <a:cs typeface="Poppins" pitchFamily="2" charset="77"/>
              </a:rPr>
              <a:t>CORPUS LEVEL</a:t>
            </a:r>
          </a:p>
        </p:txBody>
      </p:sp>
    </p:spTree>
    <p:extLst>
      <p:ext uri="{BB962C8B-B14F-4D97-AF65-F5344CB8AC3E}">
        <p14:creationId xmlns:p14="http://schemas.microsoft.com/office/powerpoint/2010/main" val="3303453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3" grpId="0" animBg="1"/>
      <p:bldP spid="5" grpId="0" animBg="1"/>
      <p:bldP spid="6" grpId="0" animBg="1"/>
      <p:bldP spid="8" grpId="0" animBg="1"/>
      <p:bldP spid="9" grpId="0" animBg="1"/>
      <p:bldP spid="11" grpId="0" animBg="1"/>
      <p:bldP spid="14" grpId="0" animBg="1"/>
      <p:bldP spid="15" grpId="0" animBg="1"/>
      <p:bldP spid="7" grpId="0" animBg="1"/>
      <p:bldP spid="10" grpId="0" animBg="1"/>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3BE4B-A347-8CD8-7DFE-7D21B5C10793}"/>
              </a:ext>
            </a:extLst>
          </p:cNvPr>
          <p:cNvSpPr>
            <a:spLocks noGrp="1"/>
          </p:cNvSpPr>
          <p:nvPr>
            <p:ph type="title"/>
          </p:nvPr>
        </p:nvSpPr>
        <p:spPr/>
        <p:txBody>
          <a:bodyPr/>
          <a:lstStyle/>
          <a:p>
            <a:r>
              <a:rPr lang="en-FR" dirty="0"/>
              <a:t>Human Evaluation Protocol</a:t>
            </a:r>
          </a:p>
        </p:txBody>
      </p:sp>
      <p:sp>
        <p:nvSpPr>
          <p:cNvPr id="3" name="Rounded Rectangle 2">
            <a:extLst>
              <a:ext uri="{FF2B5EF4-FFF2-40B4-BE49-F238E27FC236}">
                <a16:creationId xmlns:a16="http://schemas.microsoft.com/office/drawing/2014/main" id="{A75E3572-ACAC-0107-0E12-201C1A73AE79}"/>
              </a:ext>
            </a:extLst>
          </p:cNvPr>
          <p:cNvSpPr/>
          <p:nvPr/>
        </p:nvSpPr>
        <p:spPr>
          <a:xfrm>
            <a:off x="564011" y="1837232"/>
            <a:ext cx="3291840" cy="3749040"/>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FR" dirty="0">
              <a:solidFill>
                <a:schemeClr val="bg1"/>
              </a:solidFill>
            </a:endParaRPr>
          </a:p>
          <a:p>
            <a:pPr algn="ctr"/>
            <a:r>
              <a:rPr lang="en-FR" sz="2400" b="1" u="sng" dirty="0">
                <a:solidFill>
                  <a:schemeClr val="bg1"/>
                </a:solidFill>
              </a:rPr>
              <a:t>STEP 1:</a:t>
            </a:r>
            <a:br>
              <a:rPr lang="en-FR" sz="2400" dirty="0">
                <a:solidFill>
                  <a:schemeClr val="bg1"/>
                </a:solidFill>
              </a:rPr>
            </a:br>
            <a:r>
              <a:rPr lang="en-FR" sz="2400" dirty="0">
                <a:solidFill>
                  <a:schemeClr val="bg1"/>
                </a:solidFill>
              </a:rPr>
              <a:t>consistent responses filtering, irrelevant responses elimination</a:t>
            </a:r>
          </a:p>
        </p:txBody>
      </p:sp>
      <p:sp>
        <p:nvSpPr>
          <p:cNvPr id="4" name="Rounded Rectangle 3">
            <a:extLst>
              <a:ext uri="{FF2B5EF4-FFF2-40B4-BE49-F238E27FC236}">
                <a16:creationId xmlns:a16="http://schemas.microsoft.com/office/drawing/2014/main" id="{DFC9D02D-24C7-4D17-8CFF-08D9EB18DA19}"/>
              </a:ext>
            </a:extLst>
          </p:cNvPr>
          <p:cNvSpPr/>
          <p:nvPr/>
        </p:nvSpPr>
        <p:spPr>
          <a:xfrm>
            <a:off x="4475753" y="1837232"/>
            <a:ext cx="3291840" cy="3749040"/>
          </a:xfrm>
          <a:prstGeom prst="roundRect">
            <a:avLst/>
          </a:prstGeom>
          <a:noFill/>
          <a:ln w="38100">
            <a:solidFill>
              <a:srgbClr val="A5AFF5"/>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FR" dirty="0"/>
          </a:p>
          <a:p>
            <a:pPr algn="ctr"/>
            <a:r>
              <a:rPr lang="en-FR" sz="2400" b="1" u="sng" dirty="0">
                <a:solidFill>
                  <a:srgbClr val="8992D1"/>
                </a:solidFill>
              </a:rPr>
              <a:t>STEP 2:</a:t>
            </a:r>
            <a:br>
              <a:rPr lang="en-FR" sz="2400" b="1" u="sng" dirty="0">
                <a:solidFill>
                  <a:srgbClr val="8992D1"/>
                </a:solidFill>
              </a:rPr>
            </a:br>
            <a:r>
              <a:rPr lang="en-FR" sz="2400" dirty="0">
                <a:solidFill>
                  <a:srgbClr val="8992D1"/>
                </a:solidFill>
              </a:rPr>
              <a:t>top-3 best response selection</a:t>
            </a:r>
          </a:p>
        </p:txBody>
      </p:sp>
      <p:sp>
        <p:nvSpPr>
          <p:cNvPr id="5" name="Rounded Rectangle 4">
            <a:extLst>
              <a:ext uri="{FF2B5EF4-FFF2-40B4-BE49-F238E27FC236}">
                <a16:creationId xmlns:a16="http://schemas.microsoft.com/office/drawing/2014/main" id="{F83B0A50-66C6-1001-6698-231CF300F354}"/>
              </a:ext>
            </a:extLst>
          </p:cNvPr>
          <p:cNvSpPr/>
          <p:nvPr/>
        </p:nvSpPr>
        <p:spPr>
          <a:xfrm>
            <a:off x="8387495" y="1837232"/>
            <a:ext cx="3291840" cy="3749040"/>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FR" dirty="0">
              <a:solidFill>
                <a:schemeClr val="bg1"/>
              </a:solidFill>
            </a:endParaRPr>
          </a:p>
          <a:p>
            <a:pPr algn="ctr"/>
            <a:r>
              <a:rPr lang="en-FR" sz="2400" b="1" u="sng" dirty="0">
                <a:solidFill>
                  <a:schemeClr val="bg1"/>
                </a:solidFill>
              </a:rPr>
              <a:t>STEP 3:</a:t>
            </a:r>
            <a:br>
              <a:rPr lang="en-FR" sz="2400" dirty="0">
                <a:solidFill>
                  <a:schemeClr val="bg1"/>
                </a:solidFill>
              </a:rPr>
            </a:br>
            <a:r>
              <a:rPr lang="en-FR" sz="2400" dirty="0">
                <a:solidFill>
                  <a:schemeClr val="bg1"/>
                </a:solidFill>
              </a:rPr>
              <a:t>socio-emotional criteria annotation</a:t>
            </a:r>
          </a:p>
        </p:txBody>
      </p:sp>
      <p:pic>
        <p:nvPicPr>
          <p:cNvPr id="6" name="Graphic 5" descr="Filter with solid fill">
            <a:extLst>
              <a:ext uri="{FF2B5EF4-FFF2-40B4-BE49-F238E27FC236}">
                <a16:creationId xmlns:a16="http://schemas.microsoft.com/office/drawing/2014/main" id="{28D70EDA-9FD8-FA7A-427D-87C1483F49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21685" y="3632640"/>
            <a:ext cx="1976492" cy="1976492"/>
          </a:xfrm>
          <a:prstGeom prst="rect">
            <a:avLst/>
          </a:prstGeom>
        </p:spPr>
      </p:pic>
      <p:pic>
        <p:nvPicPr>
          <p:cNvPr id="7" name="Graphic 6" descr="Clipboard Mixed with solid fill">
            <a:extLst>
              <a:ext uri="{FF2B5EF4-FFF2-40B4-BE49-F238E27FC236}">
                <a16:creationId xmlns:a16="http://schemas.microsoft.com/office/drawing/2014/main" id="{CC6C13F8-69C1-134C-7392-D2A2321F259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90889" y="3518340"/>
            <a:ext cx="1976492" cy="1976492"/>
          </a:xfrm>
          <a:prstGeom prst="rect">
            <a:avLst/>
          </a:prstGeom>
        </p:spPr>
      </p:pic>
      <p:pic>
        <p:nvPicPr>
          <p:cNvPr id="8" name="Graphic 7" descr="Priorities with solid fill">
            <a:extLst>
              <a:ext uri="{FF2B5EF4-FFF2-40B4-BE49-F238E27FC236}">
                <a16:creationId xmlns:a16="http://schemas.microsoft.com/office/drawing/2014/main" id="{3EB6DCCC-CCF3-7770-B194-A73E3D21E34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07754" y="3632640"/>
            <a:ext cx="1976492" cy="1976492"/>
          </a:xfrm>
          <a:prstGeom prst="rect">
            <a:avLst/>
          </a:prstGeom>
        </p:spPr>
      </p:pic>
      <p:pic>
        <p:nvPicPr>
          <p:cNvPr id="9" name="Graphic 8" descr="Lightbulb and gear with solid fill">
            <a:extLst>
              <a:ext uri="{FF2B5EF4-FFF2-40B4-BE49-F238E27FC236}">
                <a16:creationId xmlns:a16="http://schemas.microsoft.com/office/drawing/2014/main" id="{2ED7A020-C31E-0029-E077-7F198433A674}"/>
              </a:ext>
            </a:extLst>
          </p:cNvPr>
          <p:cNvPicPr>
            <a:picLocks noChangeAspect="1"/>
          </p:cNvPicPr>
          <p:nvPr/>
        </p:nvPicPr>
        <p:blipFill>
          <a:blip r:embed="rId9">
            <a:alphaModFix/>
            <a:extLst>
              <a:ext uri="{96DAC541-7B7A-43D3-8B79-37D633B846F1}">
                <asvg:svgBlip xmlns:asvg="http://schemas.microsoft.com/office/drawing/2016/SVG/main" r:embed="rId10"/>
              </a:ext>
            </a:extLst>
          </a:blip>
          <a:stretch>
            <a:fillRect/>
          </a:stretch>
        </p:blipFill>
        <p:spPr>
          <a:xfrm>
            <a:off x="155142" y="260967"/>
            <a:ext cx="844390" cy="844390"/>
          </a:xfrm>
          <a:prstGeom prst="rect">
            <a:avLst/>
          </a:prstGeom>
        </p:spPr>
      </p:pic>
      <p:sp>
        <p:nvSpPr>
          <p:cNvPr id="14" name="TextBox 13">
            <a:extLst>
              <a:ext uri="{FF2B5EF4-FFF2-40B4-BE49-F238E27FC236}">
                <a16:creationId xmlns:a16="http://schemas.microsoft.com/office/drawing/2014/main" id="{6A431279-2B2A-FD8B-CD21-841C9E27653F}"/>
              </a:ext>
            </a:extLst>
          </p:cNvPr>
          <p:cNvSpPr txBox="1"/>
          <p:nvPr/>
        </p:nvSpPr>
        <p:spPr>
          <a:xfrm>
            <a:off x="2199768" y="6221922"/>
            <a:ext cx="7843814" cy="415498"/>
          </a:xfrm>
          <a:prstGeom prst="rect">
            <a:avLst/>
          </a:prstGeom>
          <a:noFill/>
          <a:ln w="19050">
            <a:solidFill>
              <a:srgbClr val="A5AFF5"/>
            </a:solidFill>
            <a:prstDash val="sysDash"/>
          </a:ln>
        </p:spPr>
        <p:txBody>
          <a:bodyPr wrap="none" rtlCol="0">
            <a:spAutoFit/>
          </a:bodyPr>
          <a:lstStyle>
            <a:defPPr>
              <a:defRPr lang="en-FR"/>
            </a:defPPr>
            <a:lvl1pPr algn="ctr">
              <a:defRPr sz="1050">
                <a:solidFill>
                  <a:srgbClr val="A5AFF5"/>
                </a:solidFill>
                <a:latin typeface="Poppins" pitchFamily="2" charset="77"/>
                <a:cs typeface="Poppins" pitchFamily="2" charset="77"/>
              </a:defRPr>
            </a:lvl1pPr>
          </a:lstStyle>
          <a:p>
            <a:r>
              <a:rPr lang="en-GB" dirty="0"/>
              <a:t>[</a:t>
            </a:r>
            <a:r>
              <a:rPr lang="en-FR" b="1" dirty="0"/>
              <a:t>Socio-Emotional Response Generation: A Human Evaluation Protocol for LLM-Based Conversational Systems </a:t>
            </a:r>
            <a:r>
              <a:rPr lang="en-FR" dirty="0"/>
              <a:t>, </a:t>
            </a:r>
          </a:p>
          <a:p>
            <a:r>
              <a:rPr lang="en-GB" dirty="0"/>
              <a:t>Vanel, Ramos Vela, Yacoubi and Clavel, AHRI 2024</a:t>
            </a:r>
            <a:r>
              <a:rPr lang="en-FR" dirty="0"/>
              <a:t>]</a:t>
            </a:r>
          </a:p>
        </p:txBody>
      </p:sp>
      <p:sp>
        <p:nvSpPr>
          <p:cNvPr id="10" name="Rounded Rectangle 9">
            <a:extLst>
              <a:ext uri="{FF2B5EF4-FFF2-40B4-BE49-F238E27FC236}">
                <a16:creationId xmlns:a16="http://schemas.microsoft.com/office/drawing/2014/main" id="{FB7E92FD-7E51-5546-98D7-A5C82FE9E922}"/>
              </a:ext>
            </a:extLst>
          </p:cNvPr>
          <p:cNvSpPr/>
          <p:nvPr/>
        </p:nvSpPr>
        <p:spPr>
          <a:xfrm>
            <a:off x="7767593" y="488210"/>
            <a:ext cx="3761862" cy="916248"/>
          </a:xfrm>
          <a:prstGeom prst="roundRect">
            <a:avLst/>
          </a:prstGeom>
          <a:solidFill>
            <a:schemeClr val="bg1">
              <a:alpha val="83137"/>
            </a:schemeClr>
          </a:solidFill>
          <a:ln>
            <a:solidFill>
              <a:srgbClr val="D43F4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fr-FR" sz="1600" dirty="0">
                <a:solidFill>
                  <a:srgbClr val="D43F49"/>
                </a:solidFill>
                <a:latin typeface="Poppins" pitchFamily="2" charset="77"/>
                <a:cs typeface="Poppins" pitchFamily="2" charset="77"/>
              </a:rPr>
              <a:t>The multiple </a:t>
            </a:r>
            <a:r>
              <a:rPr lang="fr-FR" sz="1600" dirty="0" err="1">
                <a:solidFill>
                  <a:srgbClr val="D43F49"/>
                </a:solidFill>
                <a:latin typeface="Poppins" pitchFamily="2" charset="77"/>
                <a:cs typeface="Poppins" pitchFamily="2" charset="77"/>
              </a:rPr>
              <a:t>steps</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allowed</a:t>
            </a:r>
            <a:r>
              <a:rPr lang="fr-FR" sz="1600" dirty="0">
                <a:solidFill>
                  <a:srgbClr val="D43F49"/>
                </a:solidFill>
                <a:latin typeface="Poppins" pitchFamily="2" charset="77"/>
                <a:cs typeface="Poppins" pitchFamily="2" charset="77"/>
              </a:rPr>
              <a:t> us to </a:t>
            </a:r>
            <a:r>
              <a:rPr lang="fr-FR" sz="1600" dirty="0" err="1">
                <a:solidFill>
                  <a:srgbClr val="D43F49"/>
                </a:solidFill>
                <a:latin typeface="Poppins" pitchFamily="2" charset="77"/>
                <a:cs typeface="Poppins" pitchFamily="2" charset="77"/>
              </a:rPr>
              <a:t>only</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annotate</a:t>
            </a:r>
            <a:r>
              <a:rPr lang="fr-FR" sz="1600" dirty="0">
                <a:solidFill>
                  <a:srgbClr val="D43F49"/>
                </a:solidFill>
                <a:latin typeface="Poppins" pitchFamily="2" charset="77"/>
                <a:cs typeface="Poppins" pitchFamily="2" charset="77"/>
              </a:rPr>
              <a:t> the best </a:t>
            </a:r>
            <a:r>
              <a:rPr lang="fr-FR" sz="1600" dirty="0" err="1">
                <a:solidFill>
                  <a:srgbClr val="D43F49"/>
                </a:solidFill>
                <a:latin typeface="Poppins" pitchFamily="2" charset="77"/>
                <a:cs typeface="Poppins" pitchFamily="2" charset="77"/>
              </a:rPr>
              <a:t>responses</a:t>
            </a:r>
            <a:r>
              <a:rPr lang="fr-FR" sz="1600" dirty="0">
                <a:solidFill>
                  <a:srgbClr val="D43F49"/>
                </a:solidFill>
                <a:latin typeface="Poppins" pitchFamily="2" charset="77"/>
                <a:cs typeface="Poppins" pitchFamily="2" charset="77"/>
              </a:rPr>
              <a:t> on the </a:t>
            </a:r>
            <a:r>
              <a:rPr lang="fr-FR" sz="1600" dirty="0" err="1">
                <a:solidFill>
                  <a:srgbClr val="D43F49"/>
                </a:solidFill>
                <a:latin typeface="Poppins" pitchFamily="2" charset="77"/>
                <a:cs typeface="Poppins" pitchFamily="2" charset="77"/>
              </a:rPr>
              <a:t>finer-grained</a:t>
            </a:r>
            <a:r>
              <a:rPr lang="fr-FR" sz="1600" dirty="0">
                <a:solidFill>
                  <a:srgbClr val="D43F49"/>
                </a:solidFill>
                <a:latin typeface="Poppins" pitchFamily="2" charset="77"/>
                <a:cs typeface="Poppins" pitchFamily="2" charset="77"/>
              </a:rPr>
              <a:t> </a:t>
            </a:r>
            <a:r>
              <a:rPr lang="fr-FR" sz="1600" dirty="0" err="1">
                <a:solidFill>
                  <a:srgbClr val="D43F49"/>
                </a:solidFill>
                <a:latin typeface="Poppins" pitchFamily="2" charset="77"/>
                <a:cs typeface="Poppins" pitchFamily="2" charset="77"/>
              </a:rPr>
              <a:t>criteria</a:t>
            </a:r>
            <a:r>
              <a:rPr lang="fr-FR" sz="1600" dirty="0">
                <a:solidFill>
                  <a:srgbClr val="D43F49"/>
                </a:solidFill>
                <a:latin typeface="Poppins" pitchFamily="2" charset="77"/>
                <a:cs typeface="Poppins" pitchFamily="2" charset="77"/>
              </a:rPr>
              <a:t>. </a:t>
            </a:r>
            <a:endParaRPr lang="en-FR" sz="1600" dirty="0">
              <a:solidFill>
                <a:srgbClr val="D43F49"/>
              </a:solidFill>
              <a:latin typeface="Poppins" pitchFamily="2" charset="77"/>
              <a:cs typeface="Poppins" pitchFamily="2" charset="77"/>
            </a:endParaRPr>
          </a:p>
        </p:txBody>
      </p:sp>
    </p:spTree>
    <p:extLst>
      <p:ext uri="{BB962C8B-B14F-4D97-AF65-F5344CB8AC3E}">
        <p14:creationId xmlns:p14="http://schemas.microsoft.com/office/powerpoint/2010/main" val="3404618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14"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59FB8-57BC-ED40-5186-B75B28B42E8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5741394-5E64-139D-01FF-06845569BF0C}"/>
              </a:ext>
            </a:extLst>
          </p:cNvPr>
          <p:cNvSpPr>
            <a:spLocks noGrp="1"/>
          </p:cNvSpPr>
          <p:nvPr>
            <p:ph type="title"/>
          </p:nvPr>
        </p:nvSpPr>
        <p:spPr/>
        <p:txBody>
          <a:bodyPr/>
          <a:lstStyle/>
          <a:p>
            <a:r>
              <a:rPr lang="en-FR" dirty="0"/>
              <a:t>Human Evaluation: Instructions </a:t>
            </a:r>
            <a:r>
              <a:rPr lang="en-FR" sz="2400" dirty="0"/>
              <a:t>(Step 3)</a:t>
            </a:r>
            <a:endParaRPr lang="en-FR" dirty="0"/>
          </a:p>
        </p:txBody>
      </p:sp>
      <p:pic>
        <p:nvPicPr>
          <p:cNvPr id="3" name="Graphic 2" descr="Lightbulb and gear with solid fill">
            <a:extLst>
              <a:ext uri="{FF2B5EF4-FFF2-40B4-BE49-F238E27FC236}">
                <a16:creationId xmlns:a16="http://schemas.microsoft.com/office/drawing/2014/main" id="{AB5CBDD0-3C4D-4691-9412-CA95DC276CDC}"/>
              </a:ext>
            </a:extLst>
          </p:cNvPr>
          <p:cNvPicPr>
            <a:picLocks noChangeAspect="1"/>
          </p:cNvPicPr>
          <p:nvPr/>
        </p:nvPicPr>
        <p:blipFill>
          <a:blip r:embed="rId3">
            <a:alphaModFix/>
            <a:extLst>
              <a:ext uri="{96DAC541-7B7A-43D3-8B79-37D633B846F1}">
                <asvg:svgBlip xmlns:asvg="http://schemas.microsoft.com/office/drawing/2016/SVG/main" r:embed="rId4"/>
              </a:ext>
            </a:extLst>
          </a:blip>
          <a:stretch>
            <a:fillRect/>
          </a:stretch>
        </p:blipFill>
        <p:spPr>
          <a:xfrm>
            <a:off x="155142" y="260967"/>
            <a:ext cx="844390" cy="844390"/>
          </a:xfrm>
          <a:prstGeom prst="rect">
            <a:avLst/>
          </a:prstGeom>
        </p:spPr>
      </p:pic>
      <p:pic>
        <p:nvPicPr>
          <p:cNvPr id="14" name="Picture 13">
            <a:extLst>
              <a:ext uri="{FF2B5EF4-FFF2-40B4-BE49-F238E27FC236}">
                <a16:creationId xmlns:a16="http://schemas.microsoft.com/office/drawing/2014/main" id="{AE3D6A3E-626C-3C29-716D-F2D7CD8A16FB}"/>
              </a:ext>
            </a:extLst>
          </p:cNvPr>
          <p:cNvPicPr>
            <a:picLocks noChangeAspect="1"/>
          </p:cNvPicPr>
          <p:nvPr/>
        </p:nvPicPr>
        <p:blipFill>
          <a:blip r:embed="rId5"/>
          <a:srcRect b="55650"/>
          <a:stretch>
            <a:fillRect/>
          </a:stretch>
        </p:blipFill>
        <p:spPr>
          <a:xfrm>
            <a:off x="716470" y="1236850"/>
            <a:ext cx="9097050" cy="2551280"/>
          </a:xfrm>
          <a:prstGeom prst="rect">
            <a:avLst/>
          </a:prstGeom>
        </p:spPr>
      </p:pic>
      <p:pic>
        <p:nvPicPr>
          <p:cNvPr id="16" name="Picture 15">
            <a:extLst>
              <a:ext uri="{FF2B5EF4-FFF2-40B4-BE49-F238E27FC236}">
                <a16:creationId xmlns:a16="http://schemas.microsoft.com/office/drawing/2014/main" id="{C0CF499B-D482-12A2-6E91-45A5B8637006}"/>
              </a:ext>
            </a:extLst>
          </p:cNvPr>
          <p:cNvPicPr>
            <a:picLocks noChangeAspect="1"/>
          </p:cNvPicPr>
          <p:nvPr/>
        </p:nvPicPr>
        <p:blipFill>
          <a:blip r:embed="rId5"/>
          <a:srcRect t="71807"/>
          <a:stretch>
            <a:fillRect/>
          </a:stretch>
        </p:blipFill>
        <p:spPr>
          <a:xfrm>
            <a:off x="716470" y="5177137"/>
            <a:ext cx="9097050" cy="1621865"/>
          </a:xfrm>
          <a:prstGeom prst="rect">
            <a:avLst/>
          </a:prstGeom>
        </p:spPr>
      </p:pic>
      <p:pic>
        <p:nvPicPr>
          <p:cNvPr id="17" name="Picture 16">
            <a:extLst>
              <a:ext uri="{FF2B5EF4-FFF2-40B4-BE49-F238E27FC236}">
                <a16:creationId xmlns:a16="http://schemas.microsoft.com/office/drawing/2014/main" id="{094AAC50-8236-BFBA-C2DB-80204CC0AFD1}"/>
              </a:ext>
            </a:extLst>
          </p:cNvPr>
          <p:cNvPicPr>
            <a:picLocks noChangeAspect="1"/>
          </p:cNvPicPr>
          <p:nvPr/>
        </p:nvPicPr>
        <p:blipFill>
          <a:blip r:embed="rId5"/>
          <a:srcRect t="47721" b="28133"/>
          <a:stretch>
            <a:fillRect/>
          </a:stretch>
        </p:blipFill>
        <p:spPr>
          <a:xfrm>
            <a:off x="716470" y="3788130"/>
            <a:ext cx="9097050" cy="1389007"/>
          </a:xfrm>
          <a:prstGeom prst="rect">
            <a:avLst/>
          </a:prstGeom>
        </p:spPr>
      </p:pic>
      <p:sp>
        <p:nvSpPr>
          <p:cNvPr id="2" name="Rounded Rectangle 1">
            <a:extLst>
              <a:ext uri="{FF2B5EF4-FFF2-40B4-BE49-F238E27FC236}">
                <a16:creationId xmlns:a16="http://schemas.microsoft.com/office/drawing/2014/main" id="{5617B46C-C4D5-21BA-C12E-D0F9131AE819}"/>
              </a:ext>
            </a:extLst>
          </p:cNvPr>
          <p:cNvSpPr/>
          <p:nvPr/>
        </p:nvSpPr>
        <p:spPr>
          <a:xfrm>
            <a:off x="9931791" y="2091319"/>
            <a:ext cx="2063958" cy="3896750"/>
          </a:xfrm>
          <a:prstGeom prst="roundRect">
            <a:avLst/>
          </a:prstGeom>
          <a:solidFill>
            <a:schemeClr val="bg1">
              <a:alpha val="83137"/>
            </a:schemeClr>
          </a:solidFill>
          <a:ln>
            <a:solidFill>
              <a:srgbClr val="D43F4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400" dirty="0" err="1">
                <a:solidFill>
                  <a:srgbClr val="D43F49"/>
                </a:solidFill>
                <a:latin typeface="Poppins" pitchFamily="2" charset="77"/>
                <a:cs typeface="Poppins" pitchFamily="2" charset="77"/>
              </a:rPr>
              <a:t>We</a:t>
            </a:r>
            <a:r>
              <a:rPr lang="fr-FR" sz="1400" dirty="0">
                <a:solidFill>
                  <a:srgbClr val="D43F49"/>
                </a:solidFill>
                <a:latin typeface="Poppins" pitchFamily="2" charset="77"/>
                <a:cs typeface="Poppins" pitchFamily="2" charset="77"/>
              </a:rPr>
              <a:t> </a:t>
            </a:r>
            <a:r>
              <a:rPr lang="fr-FR" sz="1400" dirty="0" err="1">
                <a:solidFill>
                  <a:srgbClr val="D43F49"/>
                </a:solidFill>
                <a:latin typeface="Poppins" pitchFamily="2" charset="77"/>
                <a:cs typeface="Poppins" pitchFamily="2" charset="77"/>
              </a:rPr>
              <a:t>studied</a:t>
            </a:r>
            <a:r>
              <a:rPr lang="fr-FR" sz="1400" dirty="0">
                <a:solidFill>
                  <a:srgbClr val="D43F49"/>
                </a:solidFill>
                <a:latin typeface="Poppins" pitchFamily="2" charset="77"/>
                <a:cs typeface="Poppins" pitchFamily="2" charset="77"/>
              </a:rPr>
              <a:t> the </a:t>
            </a:r>
            <a:r>
              <a:rPr lang="fr-FR" sz="1400" dirty="0" err="1">
                <a:solidFill>
                  <a:srgbClr val="D43F49"/>
                </a:solidFill>
                <a:latin typeface="Poppins" pitchFamily="2" charset="77"/>
                <a:cs typeface="Poppins" pitchFamily="2" charset="77"/>
              </a:rPr>
              <a:t>literature</a:t>
            </a:r>
            <a:r>
              <a:rPr lang="fr-FR" sz="1400" dirty="0">
                <a:solidFill>
                  <a:srgbClr val="D43F49"/>
                </a:solidFill>
                <a:latin typeface="Poppins" pitchFamily="2" charset="77"/>
                <a:cs typeface="Poppins" pitchFamily="2" charset="77"/>
              </a:rPr>
              <a:t> </a:t>
            </a:r>
            <a:r>
              <a:rPr lang="fr-FR" sz="1050" dirty="0">
                <a:solidFill>
                  <a:srgbClr val="D43F49"/>
                </a:solidFill>
                <a:latin typeface="Poppins" pitchFamily="2" charset="77"/>
                <a:cs typeface="Poppins" pitchFamily="2" charset="77"/>
              </a:rPr>
              <a:t>(</a:t>
            </a:r>
            <a:r>
              <a:rPr lang="en-GB" sz="1050" dirty="0">
                <a:solidFill>
                  <a:srgbClr val="D43F49"/>
                </a:solidFill>
                <a:latin typeface="Poppins" pitchFamily="2" charset="77"/>
                <a:cs typeface="Poppins" pitchFamily="2" charset="77"/>
              </a:rPr>
              <a:t>[</a:t>
            </a:r>
            <a:r>
              <a:rPr lang="en-GB" sz="1050" dirty="0" err="1">
                <a:solidFill>
                  <a:srgbClr val="D43F49"/>
                </a:solidFill>
                <a:latin typeface="Poppins" pitchFamily="2" charset="77"/>
                <a:cs typeface="Poppins" pitchFamily="2" charset="77"/>
              </a:rPr>
              <a:t>Thoppilan</a:t>
            </a:r>
            <a:r>
              <a:rPr lang="en-GB" sz="1050" dirty="0">
                <a:solidFill>
                  <a:srgbClr val="D43F49"/>
                </a:solidFill>
                <a:latin typeface="Poppins" pitchFamily="2" charset="77"/>
                <a:cs typeface="Poppins" pitchFamily="2" charset="77"/>
              </a:rPr>
              <a:t> et al. (2022),</a:t>
            </a:r>
            <a:br>
              <a:rPr lang="en-GB" sz="1050" dirty="0">
                <a:solidFill>
                  <a:srgbClr val="D43F49"/>
                </a:solidFill>
                <a:latin typeface="Poppins" pitchFamily="2" charset="77"/>
                <a:cs typeface="Poppins" pitchFamily="2" charset="77"/>
              </a:rPr>
            </a:br>
            <a:r>
              <a:rPr lang="en-GB" sz="1050" dirty="0">
                <a:solidFill>
                  <a:srgbClr val="D43F49"/>
                </a:solidFill>
                <a:latin typeface="Poppins" pitchFamily="2" charset="77"/>
                <a:cs typeface="Poppins" pitchFamily="2" charset="77"/>
              </a:rPr>
              <a:t>Rashkin et al., 2018])</a:t>
            </a:r>
            <a:endParaRPr lang="en-FR" sz="1400" dirty="0">
              <a:solidFill>
                <a:srgbClr val="D43F49"/>
              </a:solidFill>
              <a:latin typeface="Poppins" pitchFamily="2" charset="77"/>
              <a:cs typeface="Poppins" pitchFamily="2" charset="77"/>
            </a:endParaRPr>
          </a:p>
          <a:p>
            <a:r>
              <a:rPr lang="en-GB" sz="1400" dirty="0">
                <a:solidFill>
                  <a:srgbClr val="D43F49"/>
                </a:solidFill>
                <a:latin typeface="Poppins" pitchFamily="2" charset="77"/>
                <a:cs typeface="Poppins" pitchFamily="2" charset="77"/>
              </a:rPr>
              <a:t>to identify relevant items that correspond to what we seek to evaluate.</a:t>
            </a:r>
          </a:p>
          <a:p>
            <a:endParaRPr lang="en-GB" sz="1400" dirty="0">
              <a:solidFill>
                <a:srgbClr val="D43F49"/>
              </a:solidFill>
              <a:latin typeface="Poppins" pitchFamily="2" charset="77"/>
              <a:cs typeface="Poppins" pitchFamily="2" charset="77"/>
            </a:endParaRPr>
          </a:p>
          <a:p>
            <a:r>
              <a:rPr lang="en-GB" sz="1400" dirty="0">
                <a:solidFill>
                  <a:srgbClr val="D43F49"/>
                </a:solidFill>
                <a:latin typeface="Poppins" pitchFamily="2" charset="77"/>
                <a:cs typeface="Poppins" pitchFamily="2" charset="77"/>
              </a:rPr>
              <a:t>The rating scale was designed along with the annotators to optimise the time-quality ratio.</a:t>
            </a:r>
            <a:endParaRPr lang="en-FR" sz="1400" dirty="0">
              <a:solidFill>
                <a:srgbClr val="D43F49"/>
              </a:solidFill>
              <a:latin typeface="Poppins" pitchFamily="2" charset="77"/>
              <a:cs typeface="Poppins" pitchFamily="2" charset="77"/>
            </a:endParaRPr>
          </a:p>
        </p:txBody>
      </p:sp>
    </p:spTree>
    <p:extLst>
      <p:ext uri="{BB962C8B-B14F-4D97-AF65-F5344CB8AC3E}">
        <p14:creationId xmlns:p14="http://schemas.microsoft.com/office/powerpoint/2010/main" val="1201614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rminator 7">
            <a:extLst>
              <a:ext uri="{FF2B5EF4-FFF2-40B4-BE49-F238E27FC236}">
                <a16:creationId xmlns:a16="http://schemas.microsoft.com/office/drawing/2014/main" id="{DF2CC8D2-0A93-7862-A1BD-E6A73D36E3D8}"/>
              </a:ext>
            </a:extLst>
          </p:cNvPr>
          <p:cNvSpPr/>
          <p:nvPr/>
        </p:nvSpPr>
        <p:spPr>
          <a:xfrm>
            <a:off x="517357" y="1805940"/>
            <a:ext cx="2065823" cy="662940"/>
          </a:xfrm>
          <a:prstGeom prst="flowChartTerminator">
            <a:avLst/>
          </a:prstGeom>
          <a:solidFill>
            <a:srgbClr val="A5AF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t>STEP 1</a:t>
            </a:r>
          </a:p>
        </p:txBody>
      </p:sp>
      <p:sp>
        <p:nvSpPr>
          <p:cNvPr id="9" name="Terminator 8">
            <a:extLst>
              <a:ext uri="{FF2B5EF4-FFF2-40B4-BE49-F238E27FC236}">
                <a16:creationId xmlns:a16="http://schemas.microsoft.com/office/drawing/2014/main" id="{3BC59E23-18D0-742B-5830-817826E3B364}"/>
              </a:ext>
            </a:extLst>
          </p:cNvPr>
          <p:cNvSpPr/>
          <p:nvPr/>
        </p:nvSpPr>
        <p:spPr>
          <a:xfrm>
            <a:off x="517357" y="3095307"/>
            <a:ext cx="2065823" cy="662940"/>
          </a:xfrm>
          <a:prstGeom prst="flowChartTerminator">
            <a:avLst/>
          </a:prstGeom>
          <a:solidFill>
            <a:srgbClr val="A5AF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t>STEP 2</a:t>
            </a:r>
          </a:p>
        </p:txBody>
      </p:sp>
      <p:sp>
        <p:nvSpPr>
          <p:cNvPr id="10" name="Terminator 9">
            <a:extLst>
              <a:ext uri="{FF2B5EF4-FFF2-40B4-BE49-F238E27FC236}">
                <a16:creationId xmlns:a16="http://schemas.microsoft.com/office/drawing/2014/main" id="{5B84E34F-27BE-0B8F-FB52-6CBA44CC826B}"/>
              </a:ext>
            </a:extLst>
          </p:cNvPr>
          <p:cNvSpPr/>
          <p:nvPr/>
        </p:nvSpPr>
        <p:spPr>
          <a:xfrm>
            <a:off x="517357" y="4416236"/>
            <a:ext cx="2065823" cy="662940"/>
          </a:xfrm>
          <a:prstGeom prst="flowChartTerminator">
            <a:avLst/>
          </a:prstGeom>
          <a:solidFill>
            <a:srgbClr val="A5AF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t>STEP 3</a:t>
            </a:r>
          </a:p>
        </p:txBody>
      </p:sp>
      <p:cxnSp>
        <p:nvCxnSpPr>
          <p:cNvPr id="14" name="Straight Connector 13">
            <a:extLst>
              <a:ext uri="{FF2B5EF4-FFF2-40B4-BE49-F238E27FC236}">
                <a16:creationId xmlns:a16="http://schemas.microsoft.com/office/drawing/2014/main" id="{D39D75DF-D56F-96D6-7DCA-B0C83E5111C5}"/>
              </a:ext>
            </a:extLst>
          </p:cNvPr>
          <p:cNvCxnSpPr>
            <a:cxnSpLocks/>
          </p:cNvCxnSpPr>
          <p:nvPr/>
        </p:nvCxnSpPr>
        <p:spPr>
          <a:xfrm>
            <a:off x="1695048" y="3735634"/>
            <a:ext cx="7220352" cy="11430"/>
          </a:xfrm>
          <a:prstGeom prst="line">
            <a:avLst/>
          </a:prstGeom>
          <a:ln w="19050">
            <a:solidFill>
              <a:srgbClr val="A5AFF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E5539DB-C4F3-5381-47F5-11E7772D271C}"/>
                  </a:ext>
                </a:extLst>
              </p:cNvPr>
              <p:cNvSpPr txBox="1"/>
              <p:nvPr/>
            </p:nvSpPr>
            <p:spPr>
              <a:xfrm>
                <a:off x="4399509" y="1477573"/>
                <a:ext cx="3392980" cy="87690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0" i="1" smtClean="0">
                          <a:solidFill>
                            <a:srgbClr val="9C1AA1"/>
                          </a:solidFill>
                          <a:latin typeface="Cambria Math" panose="02040503050406030204" pitchFamily="18" charset="0"/>
                        </a:rPr>
                        <m:t>𝑓𝑖𝑙𝑡𝑒𝑟</m:t>
                      </m:r>
                      <m:d>
                        <m:dPr>
                          <m:ctrlPr>
                            <a:rPr lang="fr-FR" b="0" i="1" smtClean="0">
                              <a:solidFill>
                                <a:srgbClr val="9C1AA1"/>
                              </a:solidFill>
                              <a:latin typeface="Cambria Math" panose="02040503050406030204" pitchFamily="18" charset="0"/>
                            </a:rPr>
                          </m:ctrlPr>
                        </m:dPr>
                        <m:e>
                          <m:r>
                            <a:rPr lang="fr-FR" b="0" i="1" smtClean="0">
                              <a:solidFill>
                                <a:srgbClr val="9C1AA1"/>
                              </a:solidFill>
                              <a:latin typeface="Cambria Math" panose="02040503050406030204" pitchFamily="18" charset="0"/>
                            </a:rPr>
                            <m:t>𝑚</m:t>
                          </m:r>
                        </m:e>
                      </m:d>
                      <m:r>
                        <a:rPr lang="fr-FR" b="0" i="1" smtClean="0">
                          <a:solidFill>
                            <a:srgbClr val="9C1AA1"/>
                          </a:solidFill>
                          <a:latin typeface="Cambria Math" panose="02040503050406030204" pitchFamily="18" charset="0"/>
                        </a:rPr>
                        <m:t>= </m:t>
                      </m:r>
                      <m:f>
                        <m:fPr>
                          <m:ctrlPr>
                            <a:rPr lang="fr-FR" b="0" i="1" smtClean="0">
                              <a:solidFill>
                                <a:srgbClr val="9C1AA1"/>
                              </a:solidFill>
                              <a:latin typeface="Cambria Math" panose="02040503050406030204" pitchFamily="18" charset="0"/>
                            </a:rPr>
                          </m:ctrlPr>
                        </m:fPr>
                        <m:num>
                          <m:r>
                            <a:rPr lang="fr-FR" b="0" i="1" smtClean="0">
                              <a:solidFill>
                                <a:srgbClr val="9C1AA1"/>
                              </a:solidFill>
                              <a:latin typeface="Cambria Math" panose="02040503050406030204" pitchFamily="18" charset="0"/>
                            </a:rPr>
                            <m:t>1</m:t>
                          </m:r>
                        </m:num>
                        <m:den>
                          <m:r>
                            <a:rPr lang="fr-FR" b="0" i="1" smtClean="0">
                              <a:solidFill>
                                <a:srgbClr val="9C1AA1"/>
                              </a:solidFill>
                              <a:latin typeface="Cambria Math" panose="02040503050406030204" pitchFamily="18" charset="0"/>
                            </a:rPr>
                            <m:t>𝑘</m:t>
                          </m:r>
                        </m:den>
                      </m:f>
                      <m:r>
                        <a:rPr lang="fr-FR" b="0" i="1" smtClean="0">
                          <a:solidFill>
                            <a:srgbClr val="9C1AA1"/>
                          </a:solidFill>
                          <a:latin typeface="Cambria Math" panose="02040503050406030204" pitchFamily="18" charset="0"/>
                        </a:rPr>
                        <m:t> ∗ </m:t>
                      </m:r>
                      <m:nary>
                        <m:naryPr>
                          <m:chr m:val="∑"/>
                          <m:ctrlPr>
                            <a:rPr lang="fr-FR" b="0" i="1" smtClean="0">
                              <a:solidFill>
                                <a:srgbClr val="9C1AA1"/>
                              </a:solidFill>
                              <a:latin typeface="Cambria Math" panose="02040503050406030204" pitchFamily="18" charset="0"/>
                            </a:rPr>
                          </m:ctrlPr>
                        </m:naryPr>
                        <m:sub>
                          <m:r>
                            <m:rPr>
                              <m:brk m:alnAt="23"/>
                            </m:rPr>
                            <a:rPr lang="fr-FR" b="0" i="1" smtClean="0">
                              <a:solidFill>
                                <a:srgbClr val="9C1AA1"/>
                              </a:solidFill>
                              <a:latin typeface="Cambria Math" panose="02040503050406030204" pitchFamily="18" charset="0"/>
                            </a:rPr>
                            <m:t>𝑖</m:t>
                          </m:r>
                          <m:r>
                            <a:rPr lang="fr-FR" b="0" i="1" smtClean="0">
                              <a:solidFill>
                                <a:srgbClr val="9C1AA1"/>
                              </a:solidFill>
                              <a:latin typeface="Cambria Math" panose="02040503050406030204" pitchFamily="18" charset="0"/>
                            </a:rPr>
                            <m:t>=1</m:t>
                          </m:r>
                        </m:sub>
                        <m:sup>
                          <m:r>
                            <a:rPr lang="fr-FR" b="0" i="1" smtClean="0">
                              <a:solidFill>
                                <a:srgbClr val="9C1AA1"/>
                              </a:solidFill>
                              <a:latin typeface="Cambria Math" panose="02040503050406030204" pitchFamily="18" charset="0"/>
                            </a:rPr>
                            <m:t>𝑘</m:t>
                          </m:r>
                        </m:sup>
                        <m:e>
                          <m:f>
                            <m:fPr>
                              <m:ctrlPr>
                                <a:rPr lang="fr-FR" b="0" i="1" smtClean="0">
                                  <a:solidFill>
                                    <a:srgbClr val="9C1AA1"/>
                                  </a:solidFill>
                                  <a:latin typeface="Cambria Math" panose="02040503050406030204" pitchFamily="18" charset="0"/>
                                </a:rPr>
                              </m:ctrlPr>
                            </m:fPr>
                            <m:num>
                              <m:sSub>
                                <m:sSubPr>
                                  <m:ctrlPr>
                                    <a:rPr lang="fr-FR" b="0" i="1" smtClean="0">
                                      <a:solidFill>
                                        <a:srgbClr val="9C1AA1"/>
                                      </a:solidFill>
                                      <a:latin typeface="Cambria Math" panose="02040503050406030204" pitchFamily="18" charset="0"/>
                                    </a:rPr>
                                  </m:ctrlPr>
                                </m:sSubPr>
                                <m:e>
                                  <m:r>
                                    <a:rPr lang="fr-FR" b="0" i="1" smtClean="0">
                                      <a:solidFill>
                                        <a:srgbClr val="9C1AA1"/>
                                      </a:solidFill>
                                      <a:latin typeface="Cambria Math" panose="02040503050406030204" pitchFamily="18" charset="0"/>
                                    </a:rPr>
                                    <m:t>𝑓𝑖𝑙𝑡𝑒𝑟</m:t>
                                  </m:r>
                                </m:e>
                                <m:sub>
                                  <m:r>
                                    <a:rPr lang="fr-FR" b="0" i="1" smtClean="0">
                                      <a:solidFill>
                                        <a:srgbClr val="9C1AA1"/>
                                      </a:solidFill>
                                      <a:latin typeface="Cambria Math" panose="02040503050406030204" pitchFamily="18" charset="0"/>
                                    </a:rPr>
                                    <m:t>𝑖</m:t>
                                  </m:r>
                                </m:sub>
                              </m:sSub>
                              <m:r>
                                <a:rPr lang="fr-FR" b="0" i="1" smtClean="0">
                                  <a:solidFill>
                                    <a:srgbClr val="9C1AA1"/>
                                  </a:solidFill>
                                  <a:latin typeface="Cambria Math" panose="02040503050406030204" pitchFamily="18" charset="0"/>
                                </a:rPr>
                                <m:t>(</m:t>
                              </m:r>
                              <m:r>
                                <a:rPr lang="fr-FR" b="0" i="1" smtClean="0">
                                  <a:solidFill>
                                    <a:srgbClr val="9C1AA1"/>
                                  </a:solidFill>
                                  <a:latin typeface="Cambria Math" panose="02040503050406030204" pitchFamily="18" charset="0"/>
                                </a:rPr>
                                <m:t>𝑚</m:t>
                              </m:r>
                              <m:r>
                                <a:rPr lang="fr-FR" b="0" i="1" smtClean="0">
                                  <a:solidFill>
                                    <a:srgbClr val="9C1AA1"/>
                                  </a:solidFill>
                                  <a:latin typeface="Cambria Math" panose="02040503050406030204" pitchFamily="18" charset="0"/>
                                </a:rPr>
                                <m:t>)</m:t>
                              </m:r>
                            </m:num>
                            <m:den>
                              <m:r>
                                <a:rPr lang="fr-FR" b="0" i="1" smtClean="0">
                                  <a:solidFill>
                                    <a:srgbClr val="9C1AA1"/>
                                  </a:solidFill>
                                  <a:latin typeface="Cambria Math" panose="02040503050406030204" pitchFamily="18" charset="0"/>
                                </a:rPr>
                                <m:t>𝑁</m:t>
                              </m:r>
                            </m:den>
                          </m:f>
                        </m:e>
                      </m:nary>
                    </m:oMath>
                  </m:oMathPara>
                </a14:m>
                <a:endParaRPr lang="en-FR" dirty="0">
                  <a:solidFill>
                    <a:srgbClr val="9C1AA1"/>
                  </a:solidFill>
                </a:endParaRPr>
              </a:p>
            </p:txBody>
          </p:sp>
        </mc:Choice>
        <mc:Fallback xmlns="">
          <p:sp>
            <p:nvSpPr>
              <p:cNvPr id="20" name="TextBox 19">
                <a:extLst>
                  <a:ext uri="{FF2B5EF4-FFF2-40B4-BE49-F238E27FC236}">
                    <a16:creationId xmlns:a16="http://schemas.microsoft.com/office/drawing/2014/main" id="{2E5539DB-C4F3-5381-47F5-11E7772D271C}"/>
                  </a:ext>
                </a:extLst>
              </p:cNvPr>
              <p:cNvSpPr txBox="1">
                <a:spLocks noRot="1" noChangeAspect="1" noMove="1" noResize="1" noEditPoints="1" noAdjustHandles="1" noChangeArrowheads="1" noChangeShapeType="1" noTextEdit="1"/>
              </p:cNvSpPr>
              <p:nvPr/>
            </p:nvSpPr>
            <p:spPr>
              <a:xfrm>
                <a:off x="4399509" y="1477573"/>
                <a:ext cx="3392980" cy="876907"/>
              </a:xfrm>
              <a:prstGeom prst="rect">
                <a:avLst/>
              </a:prstGeom>
              <a:blipFill>
                <a:blip r:embed="rId3"/>
                <a:stretch>
                  <a:fillRect t="-94286" b="-147143"/>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A3AF86A-4913-7849-7ACC-08430C14019E}"/>
                  </a:ext>
                </a:extLst>
              </p:cNvPr>
              <p:cNvSpPr txBox="1"/>
              <p:nvPr/>
            </p:nvSpPr>
            <p:spPr>
              <a:xfrm>
                <a:off x="4399509" y="2785314"/>
                <a:ext cx="3182474" cy="87690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0" i="1" smtClean="0">
                          <a:solidFill>
                            <a:srgbClr val="00B880"/>
                          </a:solidFill>
                          <a:latin typeface="Cambria Math" panose="02040503050406030204" pitchFamily="18" charset="0"/>
                        </a:rPr>
                        <m:t>𝑡𝑜𝑝</m:t>
                      </m:r>
                      <m:r>
                        <a:rPr lang="fr-FR" b="0" i="1" smtClean="0">
                          <a:solidFill>
                            <a:srgbClr val="00B880"/>
                          </a:solidFill>
                          <a:latin typeface="Cambria Math" panose="02040503050406030204" pitchFamily="18" charset="0"/>
                        </a:rPr>
                        <m:t>3</m:t>
                      </m:r>
                      <m:d>
                        <m:dPr>
                          <m:ctrlPr>
                            <a:rPr lang="fr-FR" b="0" i="1" smtClean="0">
                              <a:solidFill>
                                <a:srgbClr val="00B880"/>
                              </a:solidFill>
                              <a:latin typeface="Cambria Math" panose="02040503050406030204" pitchFamily="18" charset="0"/>
                            </a:rPr>
                          </m:ctrlPr>
                        </m:dPr>
                        <m:e>
                          <m:r>
                            <a:rPr lang="fr-FR" b="0" i="1" smtClean="0">
                              <a:solidFill>
                                <a:srgbClr val="00B880"/>
                              </a:solidFill>
                              <a:latin typeface="Cambria Math" panose="02040503050406030204" pitchFamily="18" charset="0"/>
                            </a:rPr>
                            <m:t>𝑚</m:t>
                          </m:r>
                        </m:e>
                      </m:d>
                      <m:r>
                        <a:rPr lang="fr-FR" b="0" i="1" smtClean="0">
                          <a:solidFill>
                            <a:srgbClr val="00B880"/>
                          </a:solidFill>
                          <a:latin typeface="Cambria Math" panose="02040503050406030204" pitchFamily="18" charset="0"/>
                        </a:rPr>
                        <m:t>= </m:t>
                      </m:r>
                      <m:f>
                        <m:fPr>
                          <m:ctrlPr>
                            <a:rPr lang="fr-FR" b="0" i="1" smtClean="0">
                              <a:solidFill>
                                <a:srgbClr val="00B880"/>
                              </a:solidFill>
                              <a:latin typeface="Cambria Math" panose="02040503050406030204" pitchFamily="18" charset="0"/>
                            </a:rPr>
                          </m:ctrlPr>
                        </m:fPr>
                        <m:num>
                          <m:r>
                            <a:rPr lang="fr-FR" b="0" i="1" smtClean="0">
                              <a:solidFill>
                                <a:srgbClr val="00B880"/>
                              </a:solidFill>
                              <a:latin typeface="Cambria Math" panose="02040503050406030204" pitchFamily="18" charset="0"/>
                            </a:rPr>
                            <m:t>1</m:t>
                          </m:r>
                        </m:num>
                        <m:den>
                          <m:r>
                            <a:rPr lang="fr-FR" b="0" i="1" smtClean="0">
                              <a:solidFill>
                                <a:srgbClr val="00B880"/>
                              </a:solidFill>
                              <a:latin typeface="Cambria Math" panose="02040503050406030204" pitchFamily="18" charset="0"/>
                            </a:rPr>
                            <m:t>𝑘</m:t>
                          </m:r>
                        </m:den>
                      </m:f>
                      <m:r>
                        <a:rPr lang="fr-FR" b="0" i="1" smtClean="0">
                          <a:solidFill>
                            <a:srgbClr val="00B880"/>
                          </a:solidFill>
                          <a:latin typeface="Cambria Math" panose="02040503050406030204" pitchFamily="18" charset="0"/>
                        </a:rPr>
                        <m:t> ∗ </m:t>
                      </m:r>
                      <m:nary>
                        <m:naryPr>
                          <m:chr m:val="∑"/>
                          <m:ctrlPr>
                            <a:rPr lang="fr-FR" b="0" i="1" smtClean="0">
                              <a:solidFill>
                                <a:srgbClr val="00B880"/>
                              </a:solidFill>
                              <a:latin typeface="Cambria Math" panose="02040503050406030204" pitchFamily="18" charset="0"/>
                            </a:rPr>
                          </m:ctrlPr>
                        </m:naryPr>
                        <m:sub>
                          <m:r>
                            <m:rPr>
                              <m:brk m:alnAt="23"/>
                            </m:rPr>
                            <a:rPr lang="fr-FR" b="0" i="1" smtClean="0">
                              <a:solidFill>
                                <a:srgbClr val="00B880"/>
                              </a:solidFill>
                              <a:latin typeface="Cambria Math" panose="02040503050406030204" pitchFamily="18" charset="0"/>
                            </a:rPr>
                            <m:t>𝑖</m:t>
                          </m:r>
                          <m:r>
                            <a:rPr lang="fr-FR" b="0" i="1" smtClean="0">
                              <a:solidFill>
                                <a:srgbClr val="00B880"/>
                              </a:solidFill>
                              <a:latin typeface="Cambria Math" panose="02040503050406030204" pitchFamily="18" charset="0"/>
                            </a:rPr>
                            <m:t>=1</m:t>
                          </m:r>
                        </m:sub>
                        <m:sup>
                          <m:r>
                            <a:rPr lang="fr-FR" b="0" i="1" smtClean="0">
                              <a:solidFill>
                                <a:srgbClr val="00B880"/>
                              </a:solidFill>
                              <a:latin typeface="Cambria Math" panose="02040503050406030204" pitchFamily="18" charset="0"/>
                            </a:rPr>
                            <m:t>𝑘</m:t>
                          </m:r>
                        </m:sup>
                        <m:e>
                          <m:f>
                            <m:fPr>
                              <m:ctrlPr>
                                <a:rPr lang="fr-FR" b="0" i="1" smtClean="0">
                                  <a:solidFill>
                                    <a:srgbClr val="00B880"/>
                                  </a:solidFill>
                                  <a:latin typeface="Cambria Math" panose="02040503050406030204" pitchFamily="18" charset="0"/>
                                </a:rPr>
                              </m:ctrlPr>
                            </m:fPr>
                            <m:num>
                              <m:sSub>
                                <m:sSubPr>
                                  <m:ctrlPr>
                                    <a:rPr lang="fr-FR" b="0" i="1" smtClean="0">
                                      <a:solidFill>
                                        <a:srgbClr val="00B880"/>
                                      </a:solidFill>
                                      <a:latin typeface="Cambria Math" panose="02040503050406030204" pitchFamily="18" charset="0"/>
                                    </a:rPr>
                                  </m:ctrlPr>
                                </m:sSubPr>
                                <m:e>
                                  <m:r>
                                    <a:rPr lang="fr-FR" b="0" i="1" smtClean="0">
                                      <a:solidFill>
                                        <a:srgbClr val="00B880"/>
                                      </a:solidFill>
                                      <a:latin typeface="Cambria Math" panose="02040503050406030204" pitchFamily="18" charset="0"/>
                                    </a:rPr>
                                    <m:t>𝑡𝑜𝑝</m:t>
                                  </m:r>
                                  <m:r>
                                    <a:rPr lang="fr-FR" b="0" i="1" smtClean="0">
                                      <a:solidFill>
                                        <a:srgbClr val="00B880"/>
                                      </a:solidFill>
                                      <a:latin typeface="Cambria Math" panose="02040503050406030204" pitchFamily="18" charset="0"/>
                                    </a:rPr>
                                    <m:t>3</m:t>
                                  </m:r>
                                </m:e>
                                <m:sub>
                                  <m:r>
                                    <a:rPr lang="fr-FR" b="0" i="1" smtClean="0">
                                      <a:solidFill>
                                        <a:srgbClr val="00B880"/>
                                      </a:solidFill>
                                      <a:latin typeface="Cambria Math" panose="02040503050406030204" pitchFamily="18" charset="0"/>
                                    </a:rPr>
                                    <m:t>𝑖</m:t>
                                  </m:r>
                                </m:sub>
                              </m:sSub>
                              <m:r>
                                <a:rPr lang="fr-FR" b="0" i="1" smtClean="0">
                                  <a:solidFill>
                                    <a:srgbClr val="00B880"/>
                                  </a:solidFill>
                                  <a:latin typeface="Cambria Math" panose="02040503050406030204" pitchFamily="18" charset="0"/>
                                </a:rPr>
                                <m:t>(</m:t>
                              </m:r>
                              <m:r>
                                <a:rPr lang="fr-FR" b="0" i="1" smtClean="0">
                                  <a:solidFill>
                                    <a:srgbClr val="00B880"/>
                                  </a:solidFill>
                                  <a:latin typeface="Cambria Math" panose="02040503050406030204" pitchFamily="18" charset="0"/>
                                </a:rPr>
                                <m:t>𝑚</m:t>
                              </m:r>
                              <m:r>
                                <a:rPr lang="fr-FR" b="0" i="1" smtClean="0">
                                  <a:solidFill>
                                    <a:srgbClr val="00B880"/>
                                  </a:solidFill>
                                  <a:latin typeface="Cambria Math" panose="02040503050406030204" pitchFamily="18" charset="0"/>
                                </a:rPr>
                                <m:t>)</m:t>
                              </m:r>
                            </m:num>
                            <m:den>
                              <m:r>
                                <a:rPr lang="fr-FR" b="0" i="1" smtClean="0">
                                  <a:solidFill>
                                    <a:srgbClr val="00B880"/>
                                  </a:solidFill>
                                  <a:latin typeface="Cambria Math" panose="02040503050406030204" pitchFamily="18" charset="0"/>
                                </a:rPr>
                                <m:t>𝑁</m:t>
                              </m:r>
                            </m:den>
                          </m:f>
                        </m:e>
                      </m:nary>
                    </m:oMath>
                  </m:oMathPara>
                </a14:m>
                <a:endParaRPr lang="en-FR" dirty="0">
                  <a:solidFill>
                    <a:srgbClr val="00B880"/>
                  </a:solidFill>
                </a:endParaRPr>
              </a:p>
            </p:txBody>
          </p:sp>
        </mc:Choice>
        <mc:Fallback xmlns="">
          <p:sp>
            <p:nvSpPr>
              <p:cNvPr id="21" name="TextBox 20">
                <a:extLst>
                  <a:ext uri="{FF2B5EF4-FFF2-40B4-BE49-F238E27FC236}">
                    <a16:creationId xmlns:a16="http://schemas.microsoft.com/office/drawing/2014/main" id="{1A3AF86A-4913-7849-7ACC-08430C14019E}"/>
                  </a:ext>
                </a:extLst>
              </p:cNvPr>
              <p:cNvSpPr txBox="1">
                <a:spLocks noRot="1" noChangeAspect="1" noMove="1" noResize="1" noEditPoints="1" noAdjustHandles="1" noChangeArrowheads="1" noChangeShapeType="1" noTextEdit="1"/>
              </p:cNvSpPr>
              <p:nvPr/>
            </p:nvSpPr>
            <p:spPr>
              <a:xfrm>
                <a:off x="4399509" y="2785314"/>
                <a:ext cx="3182474" cy="876907"/>
              </a:xfrm>
              <a:prstGeom prst="rect">
                <a:avLst/>
              </a:prstGeom>
              <a:blipFill>
                <a:blip r:embed="rId4"/>
                <a:stretch>
                  <a:fillRect t="-94286" b="-148571"/>
                </a:stretch>
              </a:blipFill>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C01914A-8437-5DAC-C6B6-4BA2EC46275A}"/>
                  </a:ext>
                </a:extLst>
              </p:cNvPr>
              <p:cNvSpPr txBox="1"/>
              <p:nvPr/>
            </p:nvSpPr>
            <p:spPr>
              <a:xfrm>
                <a:off x="4399509" y="4281080"/>
                <a:ext cx="5891998" cy="6620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0" i="1" smtClean="0">
                          <a:solidFill>
                            <a:srgbClr val="00C0DA"/>
                          </a:solidFill>
                          <a:latin typeface="Cambria Math" panose="02040503050406030204" pitchFamily="18" charset="0"/>
                        </a:rPr>
                        <m:t>𝑠𝑜𝑐𝑒𝑚𝑜</m:t>
                      </m:r>
                      <m:d>
                        <m:dPr>
                          <m:ctrlPr>
                            <a:rPr lang="fr-FR" b="0" i="1" smtClean="0">
                              <a:solidFill>
                                <a:srgbClr val="00C0DA"/>
                              </a:solidFill>
                              <a:latin typeface="Cambria Math" panose="02040503050406030204" pitchFamily="18" charset="0"/>
                            </a:rPr>
                          </m:ctrlPr>
                        </m:dPr>
                        <m:e>
                          <m:r>
                            <a:rPr lang="fr-FR" b="0" i="1" smtClean="0">
                              <a:solidFill>
                                <a:srgbClr val="00C0DA"/>
                              </a:solidFill>
                              <a:latin typeface="Cambria Math" panose="02040503050406030204" pitchFamily="18" charset="0"/>
                            </a:rPr>
                            <m:t>𝑚</m:t>
                          </m:r>
                        </m:e>
                      </m:d>
                      <m:r>
                        <a:rPr lang="fr-FR" b="0" i="1" smtClean="0">
                          <a:solidFill>
                            <a:srgbClr val="00C0DA"/>
                          </a:solidFill>
                          <a:latin typeface="Cambria Math" panose="02040503050406030204" pitchFamily="18" charset="0"/>
                        </a:rPr>
                        <m:t>= </m:t>
                      </m:r>
                      <m:f>
                        <m:fPr>
                          <m:ctrlPr>
                            <a:rPr lang="fr-FR" b="0" i="1" smtClean="0">
                              <a:solidFill>
                                <a:srgbClr val="00C0DA"/>
                              </a:solidFill>
                              <a:latin typeface="Cambria Math" panose="02040503050406030204" pitchFamily="18" charset="0"/>
                            </a:rPr>
                          </m:ctrlPr>
                        </m:fPr>
                        <m:num>
                          <m:r>
                            <a:rPr lang="fr-FR" b="0" i="1" smtClean="0">
                              <a:solidFill>
                                <a:srgbClr val="00C0DA"/>
                              </a:solidFill>
                              <a:latin typeface="Cambria Math" panose="02040503050406030204" pitchFamily="18" charset="0"/>
                            </a:rPr>
                            <m:t>1</m:t>
                          </m:r>
                        </m:num>
                        <m:den>
                          <m:r>
                            <a:rPr lang="fr-FR" b="0" i="1" smtClean="0">
                              <a:solidFill>
                                <a:srgbClr val="00C0DA"/>
                              </a:solidFill>
                              <a:latin typeface="Cambria Math" panose="02040503050406030204" pitchFamily="18" charset="0"/>
                            </a:rPr>
                            <m:t>𝑁</m:t>
                          </m:r>
                        </m:den>
                      </m:f>
                      <m:r>
                        <a:rPr lang="fr-FR" b="0" i="1" smtClean="0">
                          <a:solidFill>
                            <a:srgbClr val="00C0DA"/>
                          </a:solidFill>
                          <a:latin typeface="Cambria Math" panose="02040503050406030204" pitchFamily="18" charset="0"/>
                        </a:rPr>
                        <m:t> ∗ </m:t>
                      </m:r>
                      <m:f>
                        <m:fPr>
                          <m:ctrlPr>
                            <a:rPr lang="fr-FR" b="0" i="1" smtClean="0">
                              <a:solidFill>
                                <a:srgbClr val="00C0DA"/>
                              </a:solidFill>
                              <a:latin typeface="Cambria Math" panose="02040503050406030204" pitchFamily="18" charset="0"/>
                            </a:rPr>
                          </m:ctrlPr>
                        </m:fPr>
                        <m:num>
                          <m:nary>
                            <m:naryPr>
                              <m:chr m:val="∑"/>
                              <m:ctrlPr>
                                <a:rPr lang="fr-FR" i="1">
                                  <a:solidFill>
                                    <a:srgbClr val="00C0DA"/>
                                  </a:solidFill>
                                  <a:latin typeface="Cambria Math" panose="02040503050406030204" pitchFamily="18" charset="0"/>
                                </a:rPr>
                              </m:ctrlPr>
                            </m:naryPr>
                            <m:sub>
                              <m:r>
                                <m:rPr>
                                  <m:brk m:alnAt="23"/>
                                </m:rPr>
                                <a:rPr lang="fr-FR" i="1">
                                  <a:solidFill>
                                    <a:srgbClr val="00C0DA"/>
                                  </a:solidFill>
                                  <a:latin typeface="Cambria Math" panose="02040503050406030204" pitchFamily="18" charset="0"/>
                                </a:rPr>
                                <m:t>𝑖</m:t>
                              </m:r>
                              <m:r>
                                <a:rPr lang="fr-FR" i="1">
                                  <a:solidFill>
                                    <a:srgbClr val="00C0DA"/>
                                  </a:solidFill>
                                  <a:latin typeface="Cambria Math" panose="02040503050406030204" pitchFamily="18" charset="0"/>
                                </a:rPr>
                                <m:t>=1</m:t>
                              </m:r>
                            </m:sub>
                            <m:sup>
                              <m:r>
                                <a:rPr lang="fr-FR" i="1">
                                  <a:solidFill>
                                    <a:srgbClr val="00C0DA"/>
                                  </a:solidFill>
                                  <a:latin typeface="Cambria Math" panose="02040503050406030204" pitchFamily="18" charset="0"/>
                                </a:rPr>
                                <m:t>𝑘</m:t>
                              </m:r>
                            </m:sup>
                            <m:e>
                              <m:sSub>
                                <m:sSubPr>
                                  <m:ctrlPr>
                                    <a:rPr lang="fr-FR" i="1" smtClean="0">
                                      <a:solidFill>
                                        <a:srgbClr val="00C0DA"/>
                                      </a:solidFill>
                                      <a:latin typeface="Cambria Math" panose="02040503050406030204" pitchFamily="18" charset="0"/>
                                    </a:rPr>
                                  </m:ctrlPr>
                                </m:sSubPr>
                                <m:e>
                                  <m:r>
                                    <a:rPr lang="fr-FR" b="0" i="1" smtClean="0">
                                      <a:solidFill>
                                        <a:srgbClr val="00C0DA"/>
                                      </a:solidFill>
                                      <a:latin typeface="Cambria Math" panose="02040503050406030204" pitchFamily="18" charset="0"/>
                                    </a:rPr>
                                    <m:t>𝑙𝑜𝑔𝑖</m:t>
                                  </m:r>
                                </m:e>
                                <m:sub>
                                  <m:r>
                                    <a:rPr lang="fr-FR" b="0" i="1" smtClean="0">
                                      <a:solidFill>
                                        <a:srgbClr val="00C0DA"/>
                                      </a:solidFill>
                                      <a:latin typeface="Cambria Math" panose="02040503050406030204" pitchFamily="18" charset="0"/>
                                    </a:rPr>
                                    <m:t>𝑖</m:t>
                                  </m:r>
                                </m:sub>
                              </m:sSub>
                              <m:d>
                                <m:dPr>
                                  <m:ctrlPr>
                                    <a:rPr lang="fr-FR" b="0" i="1" smtClean="0">
                                      <a:solidFill>
                                        <a:srgbClr val="00C0DA"/>
                                      </a:solidFill>
                                      <a:latin typeface="Cambria Math" panose="02040503050406030204" pitchFamily="18" charset="0"/>
                                    </a:rPr>
                                  </m:ctrlPr>
                                </m:dPr>
                                <m:e>
                                  <m:r>
                                    <a:rPr lang="fr-FR" b="0" i="1" smtClean="0">
                                      <a:solidFill>
                                        <a:srgbClr val="00C0DA"/>
                                      </a:solidFill>
                                      <a:latin typeface="Cambria Math" panose="02040503050406030204" pitchFamily="18" charset="0"/>
                                    </a:rPr>
                                    <m:t>𝑚</m:t>
                                  </m:r>
                                </m:e>
                              </m:d>
                              <m:r>
                                <a:rPr lang="fr-FR" b="0" i="1" smtClean="0">
                                  <a:solidFill>
                                    <a:srgbClr val="00C0DA"/>
                                  </a:solidFill>
                                  <a:latin typeface="Cambria Math" panose="02040503050406030204" pitchFamily="18" charset="0"/>
                                </a:rPr>
                                <m:t>+ </m:t>
                              </m:r>
                              <m:sSub>
                                <m:sSubPr>
                                  <m:ctrlPr>
                                    <a:rPr lang="fr-FR" b="0" i="1" smtClean="0">
                                      <a:solidFill>
                                        <a:srgbClr val="00C0DA"/>
                                      </a:solidFill>
                                      <a:latin typeface="Cambria Math" panose="02040503050406030204" pitchFamily="18" charset="0"/>
                                    </a:rPr>
                                  </m:ctrlPr>
                                </m:sSubPr>
                                <m:e>
                                  <m:r>
                                    <a:rPr lang="fr-FR" b="0" i="1" smtClean="0">
                                      <a:solidFill>
                                        <a:srgbClr val="00C0DA"/>
                                      </a:solidFill>
                                      <a:latin typeface="Cambria Math" panose="02040503050406030204" pitchFamily="18" charset="0"/>
                                    </a:rPr>
                                    <m:t>𝑒𝑚𝑜</m:t>
                                  </m:r>
                                </m:e>
                                <m:sub>
                                  <m:r>
                                    <a:rPr lang="fr-FR" b="0" i="1" smtClean="0">
                                      <a:solidFill>
                                        <a:srgbClr val="00C0DA"/>
                                      </a:solidFill>
                                      <a:latin typeface="Cambria Math" panose="02040503050406030204" pitchFamily="18" charset="0"/>
                                    </a:rPr>
                                    <m:t>𝑖</m:t>
                                  </m:r>
                                </m:sub>
                              </m:sSub>
                              <m:d>
                                <m:dPr>
                                  <m:ctrlPr>
                                    <a:rPr lang="fr-FR" b="0" i="1" smtClean="0">
                                      <a:solidFill>
                                        <a:srgbClr val="00C0DA"/>
                                      </a:solidFill>
                                      <a:latin typeface="Cambria Math" panose="02040503050406030204" pitchFamily="18" charset="0"/>
                                    </a:rPr>
                                  </m:ctrlPr>
                                </m:dPr>
                                <m:e>
                                  <m:r>
                                    <a:rPr lang="fr-FR" b="0" i="1" smtClean="0">
                                      <a:solidFill>
                                        <a:srgbClr val="00C0DA"/>
                                      </a:solidFill>
                                      <a:latin typeface="Cambria Math" panose="02040503050406030204" pitchFamily="18" charset="0"/>
                                    </a:rPr>
                                    <m:t>𝑚</m:t>
                                  </m:r>
                                </m:e>
                              </m:d>
                              <m:r>
                                <a:rPr lang="fr-FR" b="0" i="1" smtClean="0">
                                  <a:solidFill>
                                    <a:srgbClr val="00C0DA"/>
                                  </a:solidFill>
                                  <a:latin typeface="Cambria Math" panose="02040503050406030204" pitchFamily="18" charset="0"/>
                                </a:rPr>
                                <m:t>+</m:t>
                              </m:r>
                              <m:sSub>
                                <m:sSubPr>
                                  <m:ctrlPr>
                                    <a:rPr lang="fr-FR" b="0" i="1" smtClean="0">
                                      <a:solidFill>
                                        <a:srgbClr val="00C0DA"/>
                                      </a:solidFill>
                                      <a:latin typeface="Cambria Math" panose="02040503050406030204" pitchFamily="18" charset="0"/>
                                    </a:rPr>
                                  </m:ctrlPr>
                                </m:sSubPr>
                                <m:e>
                                  <m:r>
                                    <a:rPr lang="fr-FR" b="0" i="1" smtClean="0">
                                      <a:solidFill>
                                        <a:srgbClr val="00C0DA"/>
                                      </a:solidFill>
                                      <a:latin typeface="Cambria Math" panose="02040503050406030204" pitchFamily="18" charset="0"/>
                                    </a:rPr>
                                    <m:t>𝑠𝑜𝑐</m:t>
                                  </m:r>
                                </m:e>
                                <m:sub>
                                  <m:r>
                                    <a:rPr lang="fr-FR" b="0" i="1" smtClean="0">
                                      <a:solidFill>
                                        <a:srgbClr val="00C0DA"/>
                                      </a:solidFill>
                                      <a:latin typeface="Cambria Math" panose="02040503050406030204" pitchFamily="18" charset="0"/>
                                    </a:rPr>
                                    <m:t>𝑖</m:t>
                                  </m:r>
                                </m:sub>
                              </m:sSub>
                              <m:r>
                                <a:rPr lang="fr-FR" b="0" i="1" smtClean="0">
                                  <a:solidFill>
                                    <a:srgbClr val="00C0DA"/>
                                  </a:solidFill>
                                  <a:latin typeface="Cambria Math" panose="02040503050406030204" pitchFamily="18" charset="0"/>
                                </a:rPr>
                                <m:t>(</m:t>
                              </m:r>
                              <m:r>
                                <a:rPr lang="fr-FR" b="0" i="1" smtClean="0">
                                  <a:solidFill>
                                    <a:srgbClr val="00C0DA"/>
                                  </a:solidFill>
                                  <a:latin typeface="Cambria Math" panose="02040503050406030204" pitchFamily="18" charset="0"/>
                                </a:rPr>
                                <m:t>𝑚</m:t>
                              </m:r>
                              <m:r>
                                <a:rPr lang="fr-FR" b="0" i="1" smtClean="0">
                                  <a:solidFill>
                                    <a:srgbClr val="00C0DA"/>
                                  </a:solidFill>
                                  <a:latin typeface="Cambria Math" panose="02040503050406030204" pitchFamily="18" charset="0"/>
                                </a:rPr>
                                <m:t>)</m:t>
                              </m:r>
                            </m:e>
                          </m:nary>
                        </m:num>
                        <m:den>
                          <m:r>
                            <a:rPr lang="fr-FR" b="0" i="1" smtClean="0">
                              <a:solidFill>
                                <a:srgbClr val="00C0DA"/>
                              </a:solidFill>
                              <a:latin typeface="Cambria Math" panose="02040503050406030204" pitchFamily="18" charset="0"/>
                            </a:rPr>
                            <m:t>𝑘</m:t>
                          </m:r>
                        </m:den>
                      </m:f>
                    </m:oMath>
                  </m:oMathPara>
                </a14:m>
                <a:endParaRPr lang="en-FR" dirty="0">
                  <a:solidFill>
                    <a:srgbClr val="00C0DA"/>
                  </a:solidFill>
                </a:endParaRPr>
              </a:p>
            </p:txBody>
          </p:sp>
        </mc:Choice>
        <mc:Fallback xmlns="">
          <p:sp>
            <p:nvSpPr>
              <p:cNvPr id="22" name="TextBox 21">
                <a:extLst>
                  <a:ext uri="{FF2B5EF4-FFF2-40B4-BE49-F238E27FC236}">
                    <a16:creationId xmlns:a16="http://schemas.microsoft.com/office/drawing/2014/main" id="{3C01914A-8437-5DAC-C6B6-4BA2EC46275A}"/>
                  </a:ext>
                </a:extLst>
              </p:cNvPr>
              <p:cNvSpPr txBox="1">
                <a:spLocks noRot="1" noChangeAspect="1" noMove="1" noResize="1" noEditPoints="1" noAdjustHandles="1" noChangeArrowheads="1" noChangeShapeType="1" noTextEdit="1"/>
              </p:cNvSpPr>
              <p:nvPr/>
            </p:nvSpPr>
            <p:spPr>
              <a:xfrm>
                <a:off x="4399509" y="4281080"/>
                <a:ext cx="5891998" cy="662041"/>
              </a:xfrm>
              <a:prstGeom prst="rect">
                <a:avLst/>
              </a:prstGeom>
              <a:blipFill>
                <a:blip r:embed="rId5"/>
                <a:stretch>
                  <a:fillRect t="-57407" b="-51852"/>
                </a:stretch>
              </a:blipFill>
            </p:spPr>
            <p:txBody>
              <a:bodyPr/>
              <a:lstStyle/>
              <a:p>
                <a:r>
                  <a:rPr lang="en-FR">
                    <a:noFill/>
                  </a:rPr>
                  <a:t> </a:t>
                </a:r>
              </a:p>
            </p:txBody>
          </p:sp>
        </mc:Fallback>
      </mc:AlternateContent>
      <p:cxnSp>
        <p:nvCxnSpPr>
          <p:cNvPr id="27" name="Straight Connector 26">
            <a:extLst>
              <a:ext uri="{FF2B5EF4-FFF2-40B4-BE49-F238E27FC236}">
                <a16:creationId xmlns:a16="http://schemas.microsoft.com/office/drawing/2014/main" id="{7AA0011A-6F2A-C102-9A76-F3F7D17AA9BA}"/>
              </a:ext>
            </a:extLst>
          </p:cNvPr>
          <p:cNvCxnSpPr>
            <a:cxnSpLocks/>
          </p:cNvCxnSpPr>
          <p:nvPr/>
        </p:nvCxnSpPr>
        <p:spPr>
          <a:xfrm>
            <a:off x="1695047" y="2422912"/>
            <a:ext cx="7220353" cy="69153"/>
          </a:xfrm>
          <a:prstGeom prst="line">
            <a:avLst/>
          </a:prstGeom>
          <a:ln w="19050">
            <a:solidFill>
              <a:srgbClr val="A5AFF5"/>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6988472-C28B-8E8C-8BB6-E4DC98C6C8F5}"/>
              </a:ext>
            </a:extLst>
          </p:cNvPr>
          <p:cNvSpPr txBox="1"/>
          <p:nvPr/>
        </p:nvSpPr>
        <p:spPr>
          <a:xfrm>
            <a:off x="9451070" y="873312"/>
            <a:ext cx="2310693" cy="2862322"/>
          </a:xfrm>
          <a:prstGeom prst="rect">
            <a:avLst/>
          </a:prstGeom>
          <a:noFill/>
          <a:ln>
            <a:solidFill>
              <a:srgbClr val="A5AFF5"/>
            </a:solidFill>
          </a:ln>
        </p:spPr>
        <p:txBody>
          <a:bodyPr wrap="square" rtlCol="0">
            <a:spAutoFit/>
          </a:bodyPr>
          <a:lstStyle/>
          <a:p>
            <a:pPr algn="ctr"/>
            <a:r>
              <a:rPr lang="en-FR" dirty="0">
                <a:solidFill>
                  <a:srgbClr val="8992D1"/>
                </a:solidFill>
                <a:latin typeface="Poppins" pitchFamily="2" charset="77"/>
                <a:cs typeface="Poppins" pitchFamily="2" charset="77"/>
              </a:rPr>
              <a:t>m is the considered model</a:t>
            </a:r>
            <a:br>
              <a:rPr lang="en-FR" dirty="0">
                <a:solidFill>
                  <a:srgbClr val="8992D1"/>
                </a:solidFill>
                <a:latin typeface="Poppins" pitchFamily="2" charset="77"/>
                <a:cs typeface="Poppins" pitchFamily="2" charset="77"/>
              </a:rPr>
            </a:br>
            <a:endParaRPr lang="en-FR" dirty="0">
              <a:solidFill>
                <a:srgbClr val="8992D1"/>
              </a:solidFill>
              <a:latin typeface="Poppins" pitchFamily="2" charset="77"/>
              <a:cs typeface="Poppins" pitchFamily="2" charset="77"/>
            </a:endParaRPr>
          </a:p>
          <a:p>
            <a:pPr algn="ctr"/>
            <a:r>
              <a:rPr lang="en-GB" dirty="0">
                <a:solidFill>
                  <a:srgbClr val="8992D1"/>
                </a:solidFill>
                <a:latin typeface="Poppins" pitchFamily="2" charset="77"/>
                <a:cs typeface="Poppins" pitchFamily="2" charset="77"/>
              </a:rPr>
              <a:t>K</a:t>
            </a:r>
            <a:r>
              <a:rPr lang="en-FR" dirty="0">
                <a:solidFill>
                  <a:srgbClr val="8992D1"/>
                </a:solidFill>
                <a:latin typeface="Poppins" pitchFamily="2" charset="77"/>
                <a:cs typeface="Poppins" pitchFamily="2" charset="77"/>
              </a:rPr>
              <a:t> the number of annotators</a:t>
            </a:r>
            <a:br>
              <a:rPr lang="en-FR" dirty="0">
                <a:solidFill>
                  <a:srgbClr val="8992D1"/>
                </a:solidFill>
                <a:latin typeface="Poppins" pitchFamily="2" charset="77"/>
                <a:cs typeface="Poppins" pitchFamily="2" charset="77"/>
              </a:rPr>
            </a:br>
            <a:endParaRPr lang="en-FR" dirty="0">
              <a:solidFill>
                <a:srgbClr val="8992D1"/>
              </a:solidFill>
              <a:latin typeface="Poppins" pitchFamily="2" charset="77"/>
              <a:cs typeface="Poppins" pitchFamily="2" charset="77"/>
            </a:endParaRPr>
          </a:p>
          <a:p>
            <a:pPr algn="ctr"/>
            <a:r>
              <a:rPr lang="en-FR" dirty="0">
                <a:solidFill>
                  <a:srgbClr val="8992D1"/>
                </a:solidFill>
                <a:latin typeface="Poppins" pitchFamily="2" charset="77"/>
                <a:cs typeface="Poppins" pitchFamily="2" charset="77"/>
              </a:rPr>
              <a:t>N the number of samples</a:t>
            </a:r>
          </a:p>
          <a:p>
            <a:pPr algn="ctr"/>
            <a:endParaRPr lang="en-FR" dirty="0">
              <a:solidFill>
                <a:srgbClr val="8992D1"/>
              </a:solidFill>
              <a:latin typeface="Poppins" pitchFamily="2" charset="77"/>
              <a:cs typeface="Poppins" pitchFamily="2" charset="77"/>
            </a:endParaRPr>
          </a:p>
          <a:p>
            <a:pPr algn="ctr"/>
            <a:r>
              <a:rPr lang="en-GB" dirty="0">
                <a:solidFill>
                  <a:srgbClr val="8992D1"/>
                </a:solidFill>
                <a:latin typeface="Poppins" pitchFamily="2" charset="77"/>
                <a:cs typeface="Poppins" pitchFamily="2" charset="77"/>
              </a:rPr>
              <a:t>i</a:t>
            </a:r>
            <a:r>
              <a:rPr lang="en-FR" dirty="0">
                <a:solidFill>
                  <a:srgbClr val="8992D1"/>
                </a:solidFill>
                <a:latin typeface="Poppins" pitchFamily="2" charset="77"/>
                <a:cs typeface="Poppins" pitchFamily="2" charset="77"/>
              </a:rPr>
              <a:t> the annotator</a:t>
            </a:r>
          </a:p>
        </p:txBody>
      </p:sp>
      <p:sp>
        <p:nvSpPr>
          <p:cNvPr id="32" name="TextBox 31">
            <a:extLst>
              <a:ext uri="{FF2B5EF4-FFF2-40B4-BE49-F238E27FC236}">
                <a16:creationId xmlns:a16="http://schemas.microsoft.com/office/drawing/2014/main" id="{40EB84D3-DE5B-A6DE-E278-68311847A489}"/>
              </a:ext>
            </a:extLst>
          </p:cNvPr>
          <p:cNvSpPr txBox="1"/>
          <p:nvPr/>
        </p:nvSpPr>
        <p:spPr>
          <a:xfrm>
            <a:off x="4893099" y="5183522"/>
            <a:ext cx="6362969" cy="1200329"/>
          </a:xfrm>
          <a:prstGeom prst="rect">
            <a:avLst/>
          </a:prstGeom>
          <a:noFill/>
        </p:spPr>
        <p:txBody>
          <a:bodyPr wrap="square" rtlCol="0">
            <a:spAutoFit/>
          </a:bodyPr>
          <a:lstStyle/>
          <a:p>
            <a:r>
              <a:rPr lang="en-GB" dirty="0" err="1">
                <a:solidFill>
                  <a:srgbClr val="8992D1"/>
                </a:solidFill>
                <a:latin typeface="Poppins" pitchFamily="2" charset="77"/>
                <a:cs typeface="Poppins" pitchFamily="2" charset="77"/>
              </a:rPr>
              <a:t>logi</a:t>
            </a:r>
            <a:r>
              <a:rPr lang="en-GB" baseline="-25000" dirty="0" err="1">
                <a:solidFill>
                  <a:srgbClr val="8992D1"/>
                </a:solidFill>
                <a:latin typeface="Poppins" pitchFamily="2" charset="77"/>
                <a:cs typeface="Poppins" pitchFamily="2" charset="77"/>
              </a:rPr>
              <a:t>i</a:t>
            </a:r>
            <a:r>
              <a:rPr lang="en-GB" dirty="0">
                <a:solidFill>
                  <a:srgbClr val="8992D1"/>
                </a:solidFill>
                <a:latin typeface="Poppins" pitchFamily="2" charset="77"/>
                <a:cs typeface="Poppins" pitchFamily="2" charset="77"/>
              </a:rPr>
              <a:t>(m), </a:t>
            </a:r>
            <a:r>
              <a:rPr lang="en-GB" dirty="0" err="1">
                <a:solidFill>
                  <a:srgbClr val="8992D1"/>
                </a:solidFill>
                <a:latin typeface="Poppins" pitchFamily="2" charset="77"/>
                <a:cs typeface="Poppins" pitchFamily="2" charset="77"/>
              </a:rPr>
              <a:t>emo</a:t>
            </a:r>
            <a:r>
              <a:rPr lang="en-GB" baseline="-25000" dirty="0" err="1">
                <a:solidFill>
                  <a:srgbClr val="8992D1"/>
                </a:solidFill>
                <a:latin typeface="Poppins" pitchFamily="2" charset="77"/>
                <a:cs typeface="Poppins" pitchFamily="2" charset="77"/>
              </a:rPr>
              <a:t>i</a:t>
            </a:r>
            <a:r>
              <a:rPr lang="en-GB" dirty="0">
                <a:solidFill>
                  <a:srgbClr val="8992D1"/>
                </a:solidFill>
                <a:latin typeface="Poppins" pitchFamily="2" charset="77"/>
                <a:cs typeface="Poppins" pitchFamily="2" charset="77"/>
              </a:rPr>
              <a:t>(m) and </a:t>
            </a:r>
            <a:r>
              <a:rPr lang="en-GB" dirty="0" err="1">
                <a:solidFill>
                  <a:srgbClr val="8992D1"/>
                </a:solidFill>
                <a:latin typeface="Poppins" pitchFamily="2" charset="77"/>
                <a:cs typeface="Poppins" pitchFamily="2" charset="77"/>
              </a:rPr>
              <a:t>soc</a:t>
            </a:r>
            <a:r>
              <a:rPr lang="en-GB" baseline="-25000" dirty="0" err="1">
                <a:solidFill>
                  <a:srgbClr val="8992D1"/>
                </a:solidFill>
                <a:latin typeface="Poppins" pitchFamily="2" charset="77"/>
                <a:cs typeface="Poppins" pitchFamily="2" charset="77"/>
              </a:rPr>
              <a:t>i</a:t>
            </a:r>
            <a:r>
              <a:rPr lang="en-GB" dirty="0">
                <a:solidFill>
                  <a:srgbClr val="8992D1"/>
                </a:solidFill>
                <a:latin typeface="Poppins" pitchFamily="2" charset="77"/>
                <a:cs typeface="Poppins" pitchFamily="2" charset="77"/>
              </a:rPr>
              <a:t>(m) the logical consistency score, an emotional consistency score and a social consistency score annotated by the annotator </a:t>
            </a:r>
            <a:r>
              <a:rPr lang="en-GB" dirty="0" err="1">
                <a:solidFill>
                  <a:srgbClr val="8992D1"/>
                </a:solidFill>
                <a:latin typeface="Poppins" pitchFamily="2" charset="77"/>
                <a:cs typeface="Poppins" pitchFamily="2" charset="77"/>
              </a:rPr>
              <a:t>i</a:t>
            </a:r>
            <a:r>
              <a:rPr lang="en-GB" dirty="0">
                <a:solidFill>
                  <a:srgbClr val="8992D1"/>
                </a:solidFill>
                <a:latin typeface="Poppins" pitchFamily="2" charset="77"/>
                <a:cs typeface="Poppins" pitchFamily="2" charset="77"/>
              </a:rPr>
              <a:t> for the model m</a:t>
            </a:r>
            <a:endParaRPr lang="en-FR" sz="2800" dirty="0">
              <a:solidFill>
                <a:srgbClr val="8992D1"/>
              </a:solidFill>
              <a:latin typeface="Poppins" pitchFamily="2" charset="77"/>
              <a:cs typeface="Poppins" pitchFamily="2" charset="77"/>
            </a:endParaRPr>
          </a:p>
        </p:txBody>
      </p:sp>
      <p:cxnSp>
        <p:nvCxnSpPr>
          <p:cNvPr id="34" name="Elbow Connector 33">
            <a:extLst>
              <a:ext uri="{FF2B5EF4-FFF2-40B4-BE49-F238E27FC236}">
                <a16:creationId xmlns:a16="http://schemas.microsoft.com/office/drawing/2014/main" id="{FD7D7947-AC0D-91F0-9482-FC42765A090D}"/>
              </a:ext>
            </a:extLst>
          </p:cNvPr>
          <p:cNvCxnSpPr>
            <a:cxnSpLocks/>
          </p:cNvCxnSpPr>
          <p:nvPr/>
        </p:nvCxnSpPr>
        <p:spPr>
          <a:xfrm>
            <a:off x="1920240" y="5055375"/>
            <a:ext cx="9524048" cy="1459725"/>
          </a:xfrm>
          <a:prstGeom prst="bentConnector3">
            <a:avLst>
              <a:gd name="adj1" fmla="val 30198"/>
            </a:avLst>
          </a:prstGeom>
          <a:ln w="19050">
            <a:solidFill>
              <a:srgbClr val="A5AFF5"/>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A83DD59-E64B-1202-8B74-426783247B0E}"/>
              </a:ext>
            </a:extLst>
          </p:cNvPr>
          <p:cNvSpPr>
            <a:spLocks noGrp="1"/>
          </p:cNvSpPr>
          <p:nvPr>
            <p:ph type="title"/>
          </p:nvPr>
        </p:nvSpPr>
        <p:spPr/>
        <p:txBody>
          <a:bodyPr/>
          <a:lstStyle/>
          <a:p>
            <a:r>
              <a:rPr lang="en-FR" dirty="0"/>
              <a:t>Human Evaluation: Scores</a:t>
            </a:r>
          </a:p>
        </p:txBody>
      </p:sp>
      <p:pic>
        <p:nvPicPr>
          <p:cNvPr id="11" name="Graphic 10" descr="Lightbulb and gear with solid fill">
            <a:extLst>
              <a:ext uri="{FF2B5EF4-FFF2-40B4-BE49-F238E27FC236}">
                <a16:creationId xmlns:a16="http://schemas.microsoft.com/office/drawing/2014/main" id="{11707210-57EE-7F16-A352-8635A8073ACE}"/>
              </a:ext>
            </a:extLst>
          </p:cNvPr>
          <p:cNvPicPr>
            <a:picLocks noChangeAspect="1"/>
          </p:cNvPicPr>
          <p:nvPr/>
        </p:nvPicPr>
        <p:blipFill>
          <a:blip r:embed="rId6">
            <a:alphaModFix/>
            <a:extLst>
              <a:ext uri="{96DAC541-7B7A-43D3-8B79-37D633B846F1}">
                <asvg:svgBlip xmlns:asvg="http://schemas.microsoft.com/office/drawing/2016/SVG/main" r:embed="rId7"/>
              </a:ext>
            </a:extLst>
          </a:blip>
          <a:stretch>
            <a:fillRect/>
          </a:stretch>
        </p:blipFill>
        <p:spPr>
          <a:xfrm>
            <a:off x="155142" y="260967"/>
            <a:ext cx="844390" cy="844390"/>
          </a:xfrm>
          <a:prstGeom prst="rect">
            <a:avLst/>
          </a:prstGeom>
        </p:spPr>
      </p:pic>
    </p:spTree>
    <p:extLst>
      <p:ext uri="{BB962C8B-B14F-4D97-AF65-F5344CB8AC3E}">
        <p14:creationId xmlns:p14="http://schemas.microsoft.com/office/powerpoint/2010/main" val="1702691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20" grpId="0"/>
      <p:bldP spid="21" grpId="0"/>
      <p:bldP spid="22" grpId="0"/>
      <p:bldP spid="31" grpId="0"/>
      <p:bldP spid="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1FB99-BF70-AABE-8370-B92A4E951F4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EC85141-0EA2-DB56-CC93-3EB06D5A8B47}"/>
              </a:ext>
            </a:extLst>
          </p:cNvPr>
          <p:cNvPicPr>
            <a:picLocks noChangeAspect="1"/>
          </p:cNvPicPr>
          <p:nvPr/>
        </p:nvPicPr>
        <p:blipFill>
          <a:blip r:embed="rId3">
            <a:lum bright="70000" contrast="-70000"/>
            <a:alphaModFix amt="49000"/>
            <a:extLst>
              <a:ext uri="{BEBA8EAE-BF5A-486C-A8C5-ECC9F3942E4B}">
                <a14:imgProps xmlns:a14="http://schemas.microsoft.com/office/drawing/2010/main">
                  <a14:imgLayer r:embed="rId4">
                    <a14:imgEffect>
                      <a14:artisticPhotocopy/>
                    </a14:imgEffect>
                  </a14:imgLayer>
                </a14:imgProps>
              </a:ext>
            </a:extLst>
          </a:blip>
          <a:stretch>
            <a:fillRect/>
          </a:stretch>
        </p:blipFill>
        <p:spPr>
          <a:xfrm>
            <a:off x="469128" y="1335564"/>
            <a:ext cx="4905580" cy="4905580"/>
          </a:xfrm>
          <a:prstGeom prst="rect">
            <a:avLst/>
          </a:prstGeom>
        </p:spPr>
      </p:pic>
      <p:sp>
        <p:nvSpPr>
          <p:cNvPr id="6" name="TextBox 5">
            <a:extLst>
              <a:ext uri="{FF2B5EF4-FFF2-40B4-BE49-F238E27FC236}">
                <a16:creationId xmlns:a16="http://schemas.microsoft.com/office/drawing/2014/main" id="{E99AFD2E-C1F2-D93F-0AC5-47F75FB670B1}"/>
              </a:ext>
            </a:extLst>
          </p:cNvPr>
          <p:cNvSpPr txBox="1"/>
          <p:nvPr/>
        </p:nvSpPr>
        <p:spPr>
          <a:xfrm>
            <a:off x="8437806" y="-571257"/>
            <a:ext cx="3059185" cy="7786747"/>
          </a:xfrm>
          <a:prstGeom prst="rect">
            <a:avLst/>
          </a:prstGeom>
          <a:noFill/>
        </p:spPr>
        <p:txBody>
          <a:bodyPr wrap="square" rtlCol="0">
            <a:spAutoFit/>
          </a:bodyPr>
          <a:lstStyle/>
          <a:p>
            <a:r>
              <a:rPr lang="en-FR" sz="50000" dirty="0">
                <a:solidFill>
                  <a:srgbClr val="AEC8FB"/>
                </a:solidFill>
                <a:latin typeface="Cambria" panose="02040503050406030204" pitchFamily="18" charset="0"/>
                <a:cs typeface="Poppins" pitchFamily="2" charset="77"/>
              </a:rPr>
              <a:t>2</a:t>
            </a:r>
          </a:p>
        </p:txBody>
      </p:sp>
      <p:sp>
        <p:nvSpPr>
          <p:cNvPr id="9" name="TextBox 8">
            <a:extLst>
              <a:ext uri="{FF2B5EF4-FFF2-40B4-BE49-F238E27FC236}">
                <a16:creationId xmlns:a16="http://schemas.microsoft.com/office/drawing/2014/main" id="{188A1EA0-B555-D2A6-3925-807586A8BB4A}"/>
              </a:ext>
            </a:extLst>
          </p:cNvPr>
          <p:cNvSpPr txBox="1"/>
          <p:nvPr/>
        </p:nvSpPr>
        <p:spPr>
          <a:xfrm>
            <a:off x="5146354" y="3134435"/>
            <a:ext cx="6631867" cy="1107996"/>
          </a:xfrm>
          <a:prstGeom prst="rect">
            <a:avLst/>
          </a:prstGeom>
          <a:noFill/>
        </p:spPr>
        <p:txBody>
          <a:bodyPr wrap="square" lIns="91440" tIns="45720" rIns="91440" bIns="45720" anchor="t">
            <a:spAutoFit/>
          </a:bodyPr>
          <a:lstStyle/>
          <a:p>
            <a:pPr algn="ctr"/>
            <a:r>
              <a:rPr lang="en-FR" sz="6600" dirty="0">
                <a:ln>
                  <a:solidFill>
                    <a:srgbClr val="4B85F4">
                      <a:alpha val="10000"/>
                    </a:srgbClr>
                  </a:solidFill>
                </a:ln>
                <a:solidFill>
                  <a:schemeClr val="bg1"/>
                </a:solidFill>
                <a:latin typeface="Poppins"/>
                <a:cs typeface="Poppins"/>
              </a:rPr>
              <a:t>DATA-SERGe</a:t>
            </a:r>
          </a:p>
        </p:txBody>
      </p:sp>
      <p:sp>
        <p:nvSpPr>
          <p:cNvPr id="2" name="Chevron 1">
            <a:extLst>
              <a:ext uri="{FF2B5EF4-FFF2-40B4-BE49-F238E27FC236}">
                <a16:creationId xmlns:a16="http://schemas.microsoft.com/office/drawing/2014/main" id="{A8A4DC31-C188-96FB-ACCE-C4B494EEC0C6}"/>
              </a:ext>
            </a:extLst>
          </p:cNvPr>
          <p:cNvSpPr/>
          <p:nvPr/>
        </p:nvSpPr>
        <p:spPr>
          <a:xfrm>
            <a:off x="3124871" y="204719"/>
            <a:ext cx="2932625" cy="595085"/>
          </a:xfrm>
          <a:prstGeom prst="chevron">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4B84F4"/>
                </a:solidFill>
                <a:latin typeface="Poppins" pitchFamily="2" charset="77"/>
                <a:cs typeface="Poppins" pitchFamily="2" charset="77"/>
              </a:rPr>
              <a:t>DATA-SERGe</a:t>
            </a:r>
          </a:p>
        </p:txBody>
      </p:sp>
      <p:sp>
        <p:nvSpPr>
          <p:cNvPr id="4" name="Chevron 3">
            <a:extLst>
              <a:ext uri="{FF2B5EF4-FFF2-40B4-BE49-F238E27FC236}">
                <a16:creationId xmlns:a16="http://schemas.microsoft.com/office/drawing/2014/main" id="{D78B911A-1632-3445-6ECA-F1ECA8A42BFD}"/>
              </a:ext>
            </a:extLst>
          </p:cNvPr>
          <p:cNvSpPr/>
          <p:nvPr/>
        </p:nvSpPr>
        <p:spPr>
          <a:xfrm>
            <a:off x="6130778" y="204718"/>
            <a:ext cx="2932624" cy="595085"/>
          </a:xfrm>
          <a:prstGeom prst="chevron">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6D8EED"/>
                </a:solidFill>
                <a:latin typeface="Poppins" pitchFamily="2" charset="77"/>
                <a:cs typeface="Poppins" pitchFamily="2" charset="77"/>
              </a:rPr>
              <a:t>Experiments</a:t>
            </a:r>
          </a:p>
        </p:txBody>
      </p:sp>
      <p:sp>
        <p:nvSpPr>
          <p:cNvPr id="5" name="Chevron 4">
            <a:extLst>
              <a:ext uri="{FF2B5EF4-FFF2-40B4-BE49-F238E27FC236}">
                <a16:creationId xmlns:a16="http://schemas.microsoft.com/office/drawing/2014/main" id="{724F9CEC-97BA-93A4-99A0-F4CBE58FCD33}"/>
              </a:ext>
            </a:extLst>
          </p:cNvPr>
          <p:cNvSpPr/>
          <p:nvPr/>
        </p:nvSpPr>
        <p:spPr>
          <a:xfrm>
            <a:off x="9136683" y="204715"/>
            <a:ext cx="2932624" cy="595085"/>
          </a:xfrm>
          <a:prstGeom prst="chevron">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6D8EED"/>
                </a:solidFill>
                <a:latin typeface="Poppins" pitchFamily="2" charset="77"/>
                <a:cs typeface="Poppins" pitchFamily="2" charset="77"/>
              </a:rPr>
              <a:t>Conclusions</a:t>
            </a:r>
          </a:p>
        </p:txBody>
      </p:sp>
      <p:sp>
        <p:nvSpPr>
          <p:cNvPr id="7" name="Pentagon 6">
            <a:extLst>
              <a:ext uri="{FF2B5EF4-FFF2-40B4-BE49-F238E27FC236}">
                <a16:creationId xmlns:a16="http://schemas.microsoft.com/office/drawing/2014/main" id="{A90D63E2-B9B6-793A-3F0E-5A66075285A3}"/>
              </a:ext>
            </a:extLst>
          </p:cNvPr>
          <p:cNvSpPr/>
          <p:nvPr/>
        </p:nvSpPr>
        <p:spPr>
          <a:xfrm>
            <a:off x="122693" y="204714"/>
            <a:ext cx="2928896" cy="595085"/>
          </a:xfrm>
          <a:prstGeom prst="homePlate">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4B84F4"/>
                </a:solidFill>
                <a:latin typeface="Poppins" pitchFamily="2" charset="77"/>
                <a:cs typeface="Poppins" pitchFamily="2" charset="77"/>
              </a:rPr>
              <a:t>Approach</a:t>
            </a:r>
          </a:p>
        </p:txBody>
      </p:sp>
    </p:spTree>
    <p:extLst>
      <p:ext uri="{BB962C8B-B14F-4D97-AF65-F5344CB8AC3E}">
        <p14:creationId xmlns:p14="http://schemas.microsoft.com/office/powerpoint/2010/main" val="30551148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3EE7C-3118-E5F2-0292-3E6B2A097AB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0E6109C-8962-139E-174C-44CF4141DEEF}"/>
              </a:ext>
            </a:extLst>
          </p:cNvPr>
          <p:cNvSpPr/>
          <p:nvPr/>
        </p:nvSpPr>
        <p:spPr>
          <a:xfrm>
            <a:off x="4940681" y="1388023"/>
            <a:ext cx="3289515" cy="1255555"/>
          </a:xfrm>
          <a:prstGeom prst="rect">
            <a:avLst/>
          </a:prstGeom>
          <a:solidFill>
            <a:srgbClr val="FFFFFF"/>
          </a:solid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dirty="0">
                <a:solidFill>
                  <a:srgbClr val="4B84F4"/>
                </a:solidFill>
                <a:latin typeface="Poppins" pitchFamily="2" charset="77"/>
                <a:cs typeface="Poppins" pitchFamily="2" charset="77"/>
              </a:rPr>
              <a:t>Task-oriented dialogue, specifically in a </a:t>
            </a:r>
            <a:r>
              <a:rPr lang="en-FR" b="1" dirty="0">
                <a:solidFill>
                  <a:srgbClr val="4B84F4"/>
                </a:solidFill>
                <a:latin typeface="Poppins" pitchFamily="2" charset="77"/>
                <a:cs typeface="Poppins" pitchFamily="2" charset="77"/>
              </a:rPr>
              <a:t>customer service setting </a:t>
            </a:r>
            <a:br>
              <a:rPr lang="en-FR" b="1" dirty="0">
                <a:solidFill>
                  <a:srgbClr val="4B84F4"/>
                </a:solidFill>
                <a:latin typeface="Poppins" pitchFamily="2" charset="77"/>
                <a:cs typeface="Poppins" pitchFamily="2" charset="77"/>
              </a:rPr>
            </a:br>
            <a:r>
              <a:rPr lang="en-FR" dirty="0">
                <a:solidFill>
                  <a:srgbClr val="4B84F4"/>
                </a:solidFill>
                <a:latin typeface="Poppins" pitchFamily="2" charset="77"/>
                <a:cs typeface="Poppins" pitchFamily="2" charset="77"/>
              </a:rPr>
              <a:t>(car insurance and repair)</a:t>
            </a:r>
          </a:p>
        </p:txBody>
      </p:sp>
      <p:sp>
        <p:nvSpPr>
          <p:cNvPr id="7" name="Rectangle 6">
            <a:extLst>
              <a:ext uri="{FF2B5EF4-FFF2-40B4-BE49-F238E27FC236}">
                <a16:creationId xmlns:a16="http://schemas.microsoft.com/office/drawing/2014/main" id="{0136B336-5FDE-96F7-F925-6AF67D733790}"/>
              </a:ext>
            </a:extLst>
          </p:cNvPr>
          <p:cNvSpPr/>
          <p:nvPr/>
        </p:nvSpPr>
        <p:spPr>
          <a:xfrm>
            <a:off x="8635199" y="1388023"/>
            <a:ext cx="3289515" cy="1255555"/>
          </a:xfrm>
          <a:prstGeom prst="rect">
            <a:avLst/>
          </a:prstGeom>
          <a:solidFill>
            <a:srgbClr val="FFFFFF"/>
          </a:solid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b="1" dirty="0">
                <a:solidFill>
                  <a:srgbClr val="4B84F4"/>
                </a:solidFill>
                <a:latin typeface="Poppins" pitchFamily="2" charset="77"/>
                <a:cs typeface="Poppins" pitchFamily="2" charset="77"/>
              </a:rPr>
              <a:t>Manually annotated </a:t>
            </a:r>
            <a:br>
              <a:rPr lang="en-FR" dirty="0">
                <a:solidFill>
                  <a:srgbClr val="4B84F4"/>
                </a:solidFill>
                <a:latin typeface="Poppins" pitchFamily="2" charset="77"/>
                <a:cs typeface="Poppins" pitchFamily="2" charset="77"/>
              </a:rPr>
            </a:br>
            <a:r>
              <a:rPr lang="en-FR" dirty="0">
                <a:solidFill>
                  <a:srgbClr val="4B84F4"/>
                </a:solidFill>
                <a:latin typeface="Poppins" pitchFamily="2" charset="77"/>
                <a:cs typeface="Poppins" pitchFamily="2" charset="77"/>
              </a:rPr>
              <a:t>by a team of 5 </a:t>
            </a:r>
            <a:br>
              <a:rPr lang="en-FR" dirty="0">
                <a:solidFill>
                  <a:srgbClr val="4B84F4"/>
                </a:solidFill>
                <a:latin typeface="Poppins" pitchFamily="2" charset="77"/>
                <a:cs typeface="Poppins" pitchFamily="2" charset="77"/>
              </a:rPr>
            </a:br>
            <a:r>
              <a:rPr lang="en-FR" b="1" dirty="0">
                <a:solidFill>
                  <a:srgbClr val="4B84F4"/>
                </a:solidFill>
                <a:latin typeface="Poppins" pitchFamily="2" charset="77"/>
                <a:cs typeface="Poppins" pitchFamily="2" charset="77"/>
              </a:rPr>
              <a:t>expert linguists and conversational analysts</a:t>
            </a:r>
          </a:p>
        </p:txBody>
      </p:sp>
      <p:sp>
        <p:nvSpPr>
          <p:cNvPr id="2" name="Title 1">
            <a:extLst>
              <a:ext uri="{FF2B5EF4-FFF2-40B4-BE49-F238E27FC236}">
                <a16:creationId xmlns:a16="http://schemas.microsoft.com/office/drawing/2014/main" id="{49B3B230-3759-92C2-3F48-090C3837FBD3}"/>
              </a:ext>
            </a:extLst>
          </p:cNvPr>
          <p:cNvSpPr>
            <a:spLocks noGrp="1"/>
          </p:cNvSpPr>
          <p:nvPr>
            <p:ph type="title"/>
          </p:nvPr>
        </p:nvSpPr>
        <p:spPr/>
        <p:txBody>
          <a:bodyPr/>
          <a:lstStyle/>
          <a:p>
            <a:r>
              <a:rPr lang="en-FR" b="1" dirty="0"/>
              <a:t>DATA-SERGe</a:t>
            </a:r>
            <a:br>
              <a:rPr lang="en-FR" dirty="0"/>
            </a:br>
            <a:r>
              <a:rPr lang="en-FR" sz="2800" dirty="0"/>
              <a:t>A </a:t>
            </a:r>
            <a:r>
              <a:rPr lang="en-FR" sz="2800" b="1" u="sng" dirty="0"/>
              <a:t>DATA</a:t>
            </a:r>
            <a:r>
              <a:rPr lang="en-FR" sz="2800" dirty="0"/>
              <a:t>set for </a:t>
            </a:r>
            <a:r>
              <a:rPr lang="en-FR" sz="2800" b="1" u="sng" dirty="0"/>
              <a:t>S</a:t>
            </a:r>
            <a:r>
              <a:rPr lang="en-FR" sz="2800" dirty="0"/>
              <a:t>ocio-</a:t>
            </a:r>
            <a:r>
              <a:rPr lang="en-FR" sz="2800" b="1" u="sng" dirty="0"/>
              <a:t>E</a:t>
            </a:r>
            <a:r>
              <a:rPr lang="en-FR" sz="2800" dirty="0"/>
              <a:t>motional </a:t>
            </a:r>
            <a:r>
              <a:rPr lang="en-FR" sz="2800" b="1" u="sng" dirty="0"/>
              <a:t>R</a:t>
            </a:r>
            <a:r>
              <a:rPr lang="en-FR" sz="2800" dirty="0"/>
              <a:t>esponse </a:t>
            </a:r>
            <a:r>
              <a:rPr lang="en-FR" sz="2800" b="1" u="sng" dirty="0"/>
              <a:t>Ge</a:t>
            </a:r>
            <a:r>
              <a:rPr lang="en-FR" sz="2800" dirty="0"/>
              <a:t>neration</a:t>
            </a:r>
            <a:endParaRPr lang="en-FR" dirty="0"/>
          </a:p>
        </p:txBody>
      </p:sp>
      <p:pic>
        <p:nvPicPr>
          <p:cNvPr id="21" name="Picture 20">
            <a:extLst>
              <a:ext uri="{FF2B5EF4-FFF2-40B4-BE49-F238E27FC236}">
                <a16:creationId xmlns:a16="http://schemas.microsoft.com/office/drawing/2014/main" id="{08000AC9-BEC7-FB3A-BFDC-7604FC8D7F79}"/>
              </a:ext>
            </a:extLst>
          </p:cNvPr>
          <p:cNvPicPr>
            <a:picLocks noChangeAspect="1"/>
          </p:cNvPicPr>
          <p:nvPr/>
        </p:nvPicPr>
        <p:blipFill>
          <a:blip r:embed="rId3">
            <a:alphaModFix amt="51000"/>
            <a:extLst>
              <a:ext uri="{BEBA8EAE-BF5A-486C-A8C5-ECC9F3942E4B}">
                <a14:imgProps xmlns:a14="http://schemas.microsoft.com/office/drawing/2010/main">
                  <a14:imgLayer r:embed="rId4">
                    <a14:imgEffect>
                      <a14:artisticPhotocopy/>
                    </a14:imgEffect>
                    <a14:imgEffect>
                      <a14:colorTemperature colorTemp="2989"/>
                    </a14:imgEffect>
                  </a14:imgLayer>
                </a14:imgProps>
              </a:ext>
            </a:extLst>
          </a:blip>
          <a:stretch>
            <a:fillRect/>
          </a:stretch>
        </p:blipFill>
        <p:spPr>
          <a:xfrm>
            <a:off x="179856" y="298642"/>
            <a:ext cx="759258" cy="759258"/>
          </a:xfrm>
          <a:prstGeom prst="rect">
            <a:avLst/>
          </a:prstGeom>
          <a:ln>
            <a:noFill/>
          </a:ln>
        </p:spPr>
      </p:pic>
      <p:sp>
        <p:nvSpPr>
          <p:cNvPr id="5" name="Rectangle 4">
            <a:extLst>
              <a:ext uri="{FF2B5EF4-FFF2-40B4-BE49-F238E27FC236}">
                <a16:creationId xmlns:a16="http://schemas.microsoft.com/office/drawing/2014/main" id="{CAF522C9-3D07-781E-FE92-870DDC6C7FAD}"/>
              </a:ext>
            </a:extLst>
          </p:cNvPr>
          <p:cNvSpPr/>
          <p:nvPr/>
        </p:nvSpPr>
        <p:spPr>
          <a:xfrm>
            <a:off x="1246163" y="1403114"/>
            <a:ext cx="3289515" cy="1255555"/>
          </a:xfrm>
          <a:prstGeom prst="rect">
            <a:avLst/>
          </a:prstGeom>
          <a:solidFill>
            <a:srgbClr val="FFFFFF"/>
          </a:solid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b="1" dirty="0">
                <a:solidFill>
                  <a:srgbClr val="4B84F4"/>
                </a:solidFill>
                <a:latin typeface="Poppins" pitchFamily="2" charset="77"/>
                <a:cs typeface="Poppins" pitchFamily="2" charset="77"/>
              </a:rPr>
              <a:t>67 H-H phone </a:t>
            </a:r>
          </a:p>
          <a:p>
            <a:pPr algn="ctr"/>
            <a:r>
              <a:rPr lang="en-FR" b="1" dirty="0">
                <a:solidFill>
                  <a:srgbClr val="4B84F4"/>
                </a:solidFill>
                <a:latin typeface="Poppins" pitchFamily="2" charset="77"/>
                <a:cs typeface="Poppins" pitchFamily="2" charset="77"/>
              </a:rPr>
              <a:t>conversations </a:t>
            </a:r>
          </a:p>
          <a:p>
            <a:pPr algn="ctr"/>
            <a:r>
              <a:rPr lang="en-FR" dirty="0">
                <a:solidFill>
                  <a:srgbClr val="4B84F4"/>
                </a:solidFill>
                <a:latin typeface="Poppins" pitchFamily="2" charset="77"/>
                <a:cs typeface="Poppins" pitchFamily="2" charset="77"/>
              </a:rPr>
              <a:t>in French manually transcribed into text</a:t>
            </a:r>
          </a:p>
        </p:txBody>
      </p:sp>
      <p:sp>
        <p:nvSpPr>
          <p:cNvPr id="19" name="Rectangle 18">
            <a:extLst>
              <a:ext uri="{FF2B5EF4-FFF2-40B4-BE49-F238E27FC236}">
                <a16:creationId xmlns:a16="http://schemas.microsoft.com/office/drawing/2014/main" id="{78BBC68E-2C4C-3F45-EE91-3C0A3A938D3A}"/>
              </a:ext>
            </a:extLst>
          </p:cNvPr>
          <p:cNvSpPr/>
          <p:nvPr/>
        </p:nvSpPr>
        <p:spPr>
          <a:xfrm>
            <a:off x="2305877" y="2849900"/>
            <a:ext cx="4631636" cy="1451435"/>
          </a:xfrm>
          <a:prstGeom prst="rect">
            <a:avLst/>
          </a:prstGeom>
          <a:solidFill>
            <a:schemeClr val="bg1"/>
          </a:solid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b="1" u="sng" dirty="0">
                <a:solidFill>
                  <a:srgbClr val="4B84F4"/>
                </a:solidFill>
                <a:latin typeface="Poppins" pitchFamily="2" charset="77"/>
                <a:cs typeface="Poppins" pitchFamily="2" charset="77"/>
              </a:rPr>
              <a:t>ANONYMISATION</a:t>
            </a:r>
          </a:p>
          <a:p>
            <a:pPr algn="ctr"/>
            <a:r>
              <a:rPr lang="en-FR" dirty="0">
                <a:solidFill>
                  <a:srgbClr val="4B84F4"/>
                </a:solidFill>
                <a:latin typeface="Poppins" pitchFamily="2" charset="77"/>
                <a:cs typeface="Poppins" pitchFamily="2" charset="77"/>
              </a:rPr>
              <a:t>To </a:t>
            </a:r>
            <a:r>
              <a:rPr lang="en-GB" dirty="0">
                <a:solidFill>
                  <a:srgbClr val="4B84F4"/>
                </a:solidFill>
                <a:latin typeface="Poppins" pitchFamily="2" charset="77"/>
                <a:cs typeface="Poppins" pitchFamily="2" charset="77"/>
              </a:rPr>
              <a:t>remove all personal information without impacting the structure of the dialogue.</a:t>
            </a:r>
            <a:endParaRPr lang="en-FR" dirty="0">
              <a:solidFill>
                <a:srgbClr val="4B84F4"/>
              </a:solidFill>
              <a:latin typeface="Poppins" pitchFamily="2" charset="77"/>
              <a:cs typeface="Poppins" pitchFamily="2" charset="77"/>
            </a:endParaRPr>
          </a:p>
        </p:txBody>
      </p:sp>
      <p:sp>
        <p:nvSpPr>
          <p:cNvPr id="22" name="Rectangle 21">
            <a:extLst>
              <a:ext uri="{FF2B5EF4-FFF2-40B4-BE49-F238E27FC236}">
                <a16:creationId xmlns:a16="http://schemas.microsoft.com/office/drawing/2014/main" id="{9EEF5A6F-DCFE-ED99-5EF3-0C233BAEC599}"/>
              </a:ext>
            </a:extLst>
          </p:cNvPr>
          <p:cNvSpPr/>
          <p:nvPr/>
        </p:nvSpPr>
        <p:spPr>
          <a:xfrm>
            <a:off x="179857" y="1412965"/>
            <a:ext cx="811296" cy="1230613"/>
          </a:xfrm>
          <a:prstGeom prst="rect">
            <a:avLst/>
          </a:prstGeom>
          <a:solidFill>
            <a:srgbClr val="A5B0F6"/>
          </a:solidFill>
          <a:ln w="57150">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FR" sz="2000" b="1" dirty="0"/>
              <a:t>DATA</a:t>
            </a:r>
          </a:p>
        </p:txBody>
      </p:sp>
      <p:sp>
        <p:nvSpPr>
          <p:cNvPr id="23" name="Rectangle 22">
            <a:extLst>
              <a:ext uri="{FF2B5EF4-FFF2-40B4-BE49-F238E27FC236}">
                <a16:creationId xmlns:a16="http://schemas.microsoft.com/office/drawing/2014/main" id="{5A7EC13F-EDDF-EB4F-C5BB-1E2B7C1E5EA1}"/>
              </a:ext>
            </a:extLst>
          </p:cNvPr>
          <p:cNvSpPr/>
          <p:nvPr/>
        </p:nvSpPr>
        <p:spPr>
          <a:xfrm>
            <a:off x="1246163" y="2849900"/>
            <a:ext cx="811296" cy="1451435"/>
          </a:xfrm>
          <a:prstGeom prst="rect">
            <a:avLst/>
          </a:prstGeom>
          <a:solidFill>
            <a:srgbClr val="A5B0F6"/>
          </a:solidFill>
          <a:ln w="57150">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FR" sz="2000" b="1" dirty="0"/>
              <a:t>PROCESSING</a:t>
            </a:r>
            <a:endParaRPr lang="en-FR" b="1" dirty="0"/>
          </a:p>
        </p:txBody>
      </p:sp>
      <p:sp>
        <p:nvSpPr>
          <p:cNvPr id="25" name="Rectangle 24">
            <a:extLst>
              <a:ext uri="{FF2B5EF4-FFF2-40B4-BE49-F238E27FC236}">
                <a16:creationId xmlns:a16="http://schemas.microsoft.com/office/drawing/2014/main" id="{F64B8878-0385-E254-79B2-24844A86858C}"/>
              </a:ext>
            </a:extLst>
          </p:cNvPr>
          <p:cNvSpPr/>
          <p:nvPr/>
        </p:nvSpPr>
        <p:spPr>
          <a:xfrm>
            <a:off x="7293077" y="2849900"/>
            <a:ext cx="4631637" cy="1451435"/>
          </a:xfrm>
          <a:prstGeom prst="rect">
            <a:avLst/>
          </a:prstGeom>
          <a:solidFill>
            <a:schemeClr val="bg1"/>
          </a:solid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b="1" u="sng" dirty="0">
                <a:solidFill>
                  <a:srgbClr val="4B84F4"/>
                </a:solidFill>
                <a:latin typeface="Poppins" pitchFamily="2" charset="77"/>
                <a:cs typeface="Poppins" pitchFamily="2" charset="77"/>
              </a:rPr>
              <a:t>CLEANING</a:t>
            </a:r>
          </a:p>
          <a:p>
            <a:pPr algn="ctr"/>
            <a:r>
              <a:rPr lang="en-FR" dirty="0">
                <a:solidFill>
                  <a:srgbClr val="4B84F4"/>
                </a:solidFill>
                <a:latin typeface="Poppins" pitchFamily="2" charset="77"/>
                <a:cs typeface="Poppins" pitchFamily="2" charset="77"/>
              </a:rPr>
              <a:t>To </a:t>
            </a:r>
            <a:r>
              <a:rPr lang="en-GB" dirty="0">
                <a:solidFill>
                  <a:srgbClr val="4B84F4"/>
                </a:solidFill>
                <a:latin typeface="Poppins" pitchFamily="2" charset="77"/>
                <a:cs typeface="Poppins" pitchFamily="2" charset="77"/>
              </a:rPr>
              <a:t>correct elements that impeded the fluidity, understanding and written conversation flow.</a:t>
            </a:r>
            <a:r>
              <a:rPr lang="en-FR" dirty="0">
                <a:solidFill>
                  <a:srgbClr val="4B84F4"/>
                </a:solidFill>
                <a:latin typeface="Poppins" pitchFamily="2" charset="77"/>
                <a:cs typeface="Poppins" pitchFamily="2" charset="77"/>
              </a:rPr>
              <a:t> </a:t>
            </a:r>
          </a:p>
        </p:txBody>
      </p:sp>
      <p:sp>
        <p:nvSpPr>
          <p:cNvPr id="3" name="Bent Up Arrow 2">
            <a:extLst>
              <a:ext uri="{FF2B5EF4-FFF2-40B4-BE49-F238E27FC236}">
                <a16:creationId xmlns:a16="http://schemas.microsoft.com/office/drawing/2014/main" id="{84B873DB-EDB3-C80D-EB71-20CB5C32C351}"/>
              </a:ext>
            </a:extLst>
          </p:cNvPr>
          <p:cNvSpPr/>
          <p:nvPr/>
        </p:nvSpPr>
        <p:spPr>
          <a:xfrm rot="5400000">
            <a:off x="205399" y="2766886"/>
            <a:ext cx="1325564" cy="755964"/>
          </a:xfrm>
          <a:prstGeom prst="bentUpArrow">
            <a:avLst>
              <a:gd name="adj1" fmla="val 29642"/>
              <a:gd name="adj2" fmla="val 25000"/>
              <a:gd name="adj3" fmla="val 41246"/>
            </a:avLst>
          </a:prstGeom>
          <a:solidFill>
            <a:srgbClr val="A5B0F6"/>
          </a:solidFill>
          <a:ln w="57150">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FR" sz="2000" b="1"/>
          </a:p>
        </p:txBody>
      </p:sp>
      <p:sp>
        <p:nvSpPr>
          <p:cNvPr id="4" name="Rectangle 3">
            <a:extLst>
              <a:ext uri="{FF2B5EF4-FFF2-40B4-BE49-F238E27FC236}">
                <a16:creationId xmlns:a16="http://schemas.microsoft.com/office/drawing/2014/main" id="{7E63F144-6050-5EB6-4092-9BCEA6E9ACF9}"/>
              </a:ext>
            </a:extLst>
          </p:cNvPr>
          <p:cNvSpPr/>
          <p:nvPr/>
        </p:nvSpPr>
        <p:spPr>
          <a:xfrm>
            <a:off x="7418070" y="4761186"/>
            <a:ext cx="3176358" cy="1806983"/>
          </a:xfrm>
          <a:prstGeom prst="rect">
            <a:avLst/>
          </a:prstGeom>
          <a:solidFill>
            <a:srgbClr val="A5B0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err="1">
                <a:solidFill>
                  <a:srgbClr val="D43F49"/>
                </a:solidFill>
              </a:rPr>
              <a:t>RépareCar</a:t>
            </a:r>
            <a:r>
              <a:rPr lang="en-GB" dirty="0"/>
              <a:t> bonjour </a:t>
            </a:r>
            <a:r>
              <a:rPr lang="en-GB" b="1" dirty="0">
                <a:solidFill>
                  <a:srgbClr val="D43F49"/>
                </a:solidFill>
              </a:rPr>
              <a:t>Nadeige</a:t>
            </a:r>
            <a:r>
              <a:rPr lang="en-GB" dirty="0"/>
              <a:t> à </a:t>
            </a:r>
            <a:r>
              <a:rPr lang="en-GB" dirty="0" err="1"/>
              <a:t>votre</a:t>
            </a:r>
            <a:r>
              <a:rPr lang="en-GB" dirty="0"/>
              <a:t> </a:t>
            </a:r>
            <a:r>
              <a:rPr lang="en-GB" dirty="0" err="1"/>
              <a:t>écoute</a:t>
            </a:r>
            <a:r>
              <a:rPr lang="en-GB" dirty="0"/>
              <a:t> ? </a:t>
            </a:r>
          </a:p>
          <a:p>
            <a:endParaRPr lang="en-GB" dirty="0"/>
          </a:p>
          <a:p>
            <a:r>
              <a:rPr lang="en-GB" dirty="0" err="1"/>
              <a:t>oui</a:t>
            </a:r>
            <a:r>
              <a:rPr lang="en-GB" dirty="0"/>
              <a:t> bonjour madame </a:t>
            </a:r>
            <a:r>
              <a:rPr lang="en-GB" dirty="0" err="1"/>
              <a:t>j’ai</a:t>
            </a:r>
            <a:r>
              <a:rPr lang="en-GB" dirty="0"/>
              <a:t> je j- </a:t>
            </a:r>
            <a:r>
              <a:rPr lang="en-GB" dirty="0" err="1"/>
              <a:t>j’ai</a:t>
            </a:r>
            <a:r>
              <a:rPr lang="en-GB" dirty="0"/>
              <a:t> un </a:t>
            </a:r>
            <a:r>
              <a:rPr lang="en-GB" dirty="0" err="1"/>
              <a:t>problème</a:t>
            </a:r>
            <a:r>
              <a:rPr lang="en-GB" dirty="0"/>
              <a:t> avec ma- avec </a:t>
            </a:r>
            <a:r>
              <a:rPr lang="en-GB" dirty="0" err="1"/>
              <a:t>mon</a:t>
            </a:r>
            <a:r>
              <a:rPr lang="en-GB" dirty="0"/>
              <a:t> assurance</a:t>
            </a:r>
          </a:p>
        </p:txBody>
      </p:sp>
      <p:sp>
        <p:nvSpPr>
          <p:cNvPr id="8" name="Rectangle 7">
            <a:extLst>
              <a:ext uri="{FF2B5EF4-FFF2-40B4-BE49-F238E27FC236}">
                <a16:creationId xmlns:a16="http://schemas.microsoft.com/office/drawing/2014/main" id="{1D05D13D-9E47-7E3E-02E5-80ADDAF21AE6}"/>
              </a:ext>
            </a:extLst>
          </p:cNvPr>
          <p:cNvSpPr/>
          <p:nvPr/>
        </p:nvSpPr>
        <p:spPr>
          <a:xfrm>
            <a:off x="7418070" y="4761186"/>
            <a:ext cx="3176358" cy="1806983"/>
          </a:xfrm>
          <a:prstGeom prst="rect">
            <a:avLst/>
          </a:prstGeom>
          <a:solidFill>
            <a:srgbClr val="A5B0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rgbClr val="D43F49"/>
                </a:solidFill>
              </a:rPr>
              <a:t>[COMPANY] </a:t>
            </a:r>
            <a:r>
              <a:rPr lang="en-GB" dirty="0"/>
              <a:t>bonjour </a:t>
            </a:r>
            <a:r>
              <a:rPr lang="en-GB" b="1" dirty="0">
                <a:solidFill>
                  <a:srgbClr val="D43F49"/>
                </a:solidFill>
              </a:rPr>
              <a:t>[AGENT NAME] </a:t>
            </a:r>
            <a:r>
              <a:rPr lang="en-GB" dirty="0"/>
              <a:t>à </a:t>
            </a:r>
            <a:r>
              <a:rPr lang="en-GB" dirty="0" err="1"/>
              <a:t>votre</a:t>
            </a:r>
            <a:r>
              <a:rPr lang="en-GB" dirty="0"/>
              <a:t> </a:t>
            </a:r>
            <a:r>
              <a:rPr lang="en-GB" dirty="0" err="1"/>
              <a:t>écoute</a:t>
            </a:r>
            <a:r>
              <a:rPr lang="en-GB" dirty="0"/>
              <a:t> ? </a:t>
            </a:r>
          </a:p>
          <a:p>
            <a:endParaRPr lang="en-GB" dirty="0"/>
          </a:p>
          <a:p>
            <a:r>
              <a:rPr lang="en-GB" dirty="0" err="1"/>
              <a:t>oui</a:t>
            </a:r>
            <a:r>
              <a:rPr lang="en-GB" dirty="0"/>
              <a:t> bonjour madame </a:t>
            </a:r>
            <a:r>
              <a:rPr lang="en-GB" dirty="0" err="1"/>
              <a:t>j’ai</a:t>
            </a:r>
            <a:r>
              <a:rPr lang="en-GB" dirty="0"/>
              <a:t> je j- </a:t>
            </a:r>
            <a:r>
              <a:rPr lang="en-GB" dirty="0" err="1"/>
              <a:t>j’ai</a:t>
            </a:r>
            <a:r>
              <a:rPr lang="en-GB" dirty="0"/>
              <a:t> un </a:t>
            </a:r>
            <a:r>
              <a:rPr lang="en-GB" dirty="0" err="1"/>
              <a:t>problème</a:t>
            </a:r>
            <a:r>
              <a:rPr lang="en-GB" dirty="0"/>
              <a:t> avec ma- avec </a:t>
            </a:r>
            <a:r>
              <a:rPr lang="en-GB" dirty="0" err="1"/>
              <a:t>mon</a:t>
            </a:r>
            <a:r>
              <a:rPr lang="en-GB" dirty="0"/>
              <a:t> assurance</a:t>
            </a:r>
          </a:p>
        </p:txBody>
      </p:sp>
      <p:sp>
        <p:nvSpPr>
          <p:cNvPr id="9" name="Rectangle 8">
            <a:extLst>
              <a:ext uri="{FF2B5EF4-FFF2-40B4-BE49-F238E27FC236}">
                <a16:creationId xmlns:a16="http://schemas.microsoft.com/office/drawing/2014/main" id="{1739DC9C-2B34-FA0D-FC1C-54C971629580}"/>
              </a:ext>
            </a:extLst>
          </p:cNvPr>
          <p:cNvSpPr/>
          <p:nvPr/>
        </p:nvSpPr>
        <p:spPr>
          <a:xfrm>
            <a:off x="3845783" y="4761186"/>
            <a:ext cx="3176358" cy="1806983"/>
          </a:xfrm>
          <a:prstGeom prst="rect">
            <a:avLst/>
          </a:prstGeom>
          <a:solidFill>
            <a:srgbClr val="A5B0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 ▇▇ bonjour ▇▇ à </a:t>
            </a:r>
            <a:r>
              <a:rPr lang="en-GB" dirty="0" err="1"/>
              <a:t>votre</a:t>
            </a:r>
            <a:r>
              <a:rPr lang="en-GB" dirty="0"/>
              <a:t> </a:t>
            </a:r>
            <a:br>
              <a:rPr lang="en-GB" dirty="0"/>
            </a:br>
            <a:r>
              <a:rPr lang="en-GB" dirty="0" err="1"/>
              <a:t>écoute</a:t>
            </a:r>
            <a:r>
              <a:rPr lang="en-GB" dirty="0"/>
              <a:t> ? </a:t>
            </a:r>
          </a:p>
          <a:p>
            <a:endParaRPr lang="en-GB" dirty="0"/>
          </a:p>
          <a:p>
            <a:r>
              <a:rPr lang="en-GB" dirty="0" err="1"/>
              <a:t>oui</a:t>
            </a:r>
            <a:r>
              <a:rPr lang="en-GB" dirty="0"/>
              <a:t> bonjour madame </a:t>
            </a:r>
            <a:r>
              <a:rPr lang="en-GB" dirty="0" err="1"/>
              <a:t>j’ai</a:t>
            </a:r>
            <a:r>
              <a:rPr lang="en-GB" dirty="0"/>
              <a:t> je j- </a:t>
            </a:r>
            <a:r>
              <a:rPr lang="en-GB" dirty="0" err="1"/>
              <a:t>j’ai</a:t>
            </a:r>
            <a:r>
              <a:rPr lang="en-GB" dirty="0"/>
              <a:t> un </a:t>
            </a:r>
            <a:r>
              <a:rPr lang="en-GB" dirty="0" err="1"/>
              <a:t>problème</a:t>
            </a:r>
            <a:r>
              <a:rPr lang="en-GB" dirty="0"/>
              <a:t> avec ma- avec </a:t>
            </a:r>
            <a:r>
              <a:rPr lang="en-GB" dirty="0" err="1"/>
              <a:t>mon</a:t>
            </a:r>
            <a:r>
              <a:rPr lang="en-GB" dirty="0"/>
              <a:t> assurance</a:t>
            </a:r>
          </a:p>
        </p:txBody>
      </p:sp>
      <p:sp>
        <p:nvSpPr>
          <p:cNvPr id="10" name="Rectangle 9">
            <a:extLst>
              <a:ext uri="{FF2B5EF4-FFF2-40B4-BE49-F238E27FC236}">
                <a16:creationId xmlns:a16="http://schemas.microsoft.com/office/drawing/2014/main" id="{F696AA15-69F1-130D-04D4-0DD38D652083}"/>
              </a:ext>
            </a:extLst>
          </p:cNvPr>
          <p:cNvSpPr/>
          <p:nvPr/>
        </p:nvSpPr>
        <p:spPr>
          <a:xfrm>
            <a:off x="7418070" y="4761186"/>
            <a:ext cx="3176358" cy="1806983"/>
          </a:xfrm>
          <a:prstGeom prst="rect">
            <a:avLst/>
          </a:prstGeom>
          <a:solidFill>
            <a:srgbClr val="A5B0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[COMPANY] bonjour [AGENT NAME] à </a:t>
            </a:r>
            <a:r>
              <a:rPr lang="en-GB" dirty="0" err="1"/>
              <a:t>votre</a:t>
            </a:r>
            <a:r>
              <a:rPr lang="en-GB" dirty="0"/>
              <a:t> </a:t>
            </a:r>
            <a:r>
              <a:rPr lang="en-GB" dirty="0" err="1"/>
              <a:t>écoute</a:t>
            </a:r>
            <a:r>
              <a:rPr lang="en-GB" dirty="0"/>
              <a:t> ? </a:t>
            </a:r>
          </a:p>
          <a:p>
            <a:endParaRPr lang="en-GB" dirty="0"/>
          </a:p>
          <a:p>
            <a:r>
              <a:rPr lang="en-GB" dirty="0" err="1"/>
              <a:t>oui</a:t>
            </a:r>
            <a:r>
              <a:rPr lang="en-GB" dirty="0"/>
              <a:t> bonjour madame </a:t>
            </a:r>
            <a:r>
              <a:rPr lang="en-GB" b="1" dirty="0" err="1">
                <a:solidFill>
                  <a:srgbClr val="D43F49"/>
                </a:solidFill>
              </a:rPr>
              <a:t>j’ai</a:t>
            </a:r>
            <a:r>
              <a:rPr lang="en-GB" dirty="0"/>
              <a:t> un </a:t>
            </a:r>
            <a:r>
              <a:rPr lang="en-GB" dirty="0" err="1"/>
              <a:t>problème</a:t>
            </a:r>
            <a:r>
              <a:rPr lang="en-GB" dirty="0"/>
              <a:t> avec ma- avec </a:t>
            </a:r>
            <a:r>
              <a:rPr lang="en-GB" dirty="0" err="1"/>
              <a:t>mon</a:t>
            </a:r>
            <a:r>
              <a:rPr lang="en-GB" dirty="0"/>
              <a:t> assurance</a:t>
            </a:r>
          </a:p>
        </p:txBody>
      </p:sp>
      <p:sp>
        <p:nvSpPr>
          <p:cNvPr id="11" name="TextBox 10">
            <a:extLst>
              <a:ext uri="{FF2B5EF4-FFF2-40B4-BE49-F238E27FC236}">
                <a16:creationId xmlns:a16="http://schemas.microsoft.com/office/drawing/2014/main" id="{63A29530-1FBF-6E35-71CE-CA9A614559EA}"/>
              </a:ext>
            </a:extLst>
          </p:cNvPr>
          <p:cNvSpPr txBox="1"/>
          <p:nvPr/>
        </p:nvSpPr>
        <p:spPr>
          <a:xfrm>
            <a:off x="4853514" y="4422632"/>
            <a:ext cx="1160895" cy="338554"/>
          </a:xfrm>
          <a:prstGeom prst="rect">
            <a:avLst/>
          </a:prstGeom>
          <a:noFill/>
        </p:spPr>
        <p:txBody>
          <a:bodyPr wrap="none" rtlCol="0">
            <a:spAutoFit/>
          </a:bodyPr>
          <a:lstStyle/>
          <a:p>
            <a:r>
              <a:rPr lang="en-FR" sz="1600" b="1" dirty="0">
                <a:solidFill>
                  <a:srgbClr val="A5B0F6"/>
                </a:solidFill>
                <a:latin typeface="Poppins" pitchFamily="2" charset="77"/>
                <a:cs typeface="Poppins" pitchFamily="2" charset="77"/>
              </a:rPr>
              <a:t>ORIGINAL</a:t>
            </a:r>
          </a:p>
        </p:txBody>
      </p:sp>
      <p:sp>
        <p:nvSpPr>
          <p:cNvPr id="12" name="TextBox 11">
            <a:extLst>
              <a:ext uri="{FF2B5EF4-FFF2-40B4-BE49-F238E27FC236}">
                <a16:creationId xmlns:a16="http://schemas.microsoft.com/office/drawing/2014/main" id="{A2F9E3FC-459B-66BF-3CE7-84C0F91F5998}"/>
              </a:ext>
            </a:extLst>
          </p:cNvPr>
          <p:cNvSpPr txBox="1"/>
          <p:nvPr/>
        </p:nvSpPr>
        <p:spPr>
          <a:xfrm>
            <a:off x="8311988" y="4422632"/>
            <a:ext cx="1388522" cy="338554"/>
          </a:xfrm>
          <a:prstGeom prst="rect">
            <a:avLst/>
          </a:prstGeom>
          <a:noFill/>
        </p:spPr>
        <p:txBody>
          <a:bodyPr wrap="none" rtlCol="0">
            <a:spAutoFit/>
          </a:bodyPr>
          <a:lstStyle/>
          <a:p>
            <a:r>
              <a:rPr lang="en-FR" sz="1600" b="1" dirty="0">
                <a:solidFill>
                  <a:srgbClr val="A5B0F6"/>
                </a:solidFill>
                <a:latin typeface="Poppins" pitchFamily="2" charset="77"/>
                <a:cs typeface="Poppins" pitchFamily="2" charset="77"/>
              </a:rPr>
              <a:t>PROCESSED</a:t>
            </a:r>
          </a:p>
        </p:txBody>
      </p:sp>
    </p:spTree>
    <p:extLst>
      <p:ext uri="{BB962C8B-B14F-4D97-AF65-F5344CB8AC3E}">
        <p14:creationId xmlns:p14="http://schemas.microsoft.com/office/powerpoint/2010/main" val="3512707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5" grpId="0" animBg="1"/>
      <p:bldP spid="19" grpId="0" animBg="1"/>
      <p:bldP spid="22" grpId="0" animBg="1"/>
      <p:bldP spid="23" grpId="0" animBg="1"/>
      <p:bldP spid="25" grpId="0" animBg="1"/>
      <p:bldP spid="3" grpId="0" animBg="1"/>
      <p:bldP spid="4" grpId="0" animBg="1"/>
      <p:bldP spid="8" grpId="0" animBg="1"/>
      <p:bldP spid="9" grpId="0" animBg="1"/>
      <p:bldP spid="10" grpId="0" animBg="1"/>
      <p:bldP spid="11"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1E8E4-8E55-DDA0-4474-1EDAF5C68C5B}"/>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CDF7C083-9F7B-D135-EE78-1EF20E2F1A07}"/>
              </a:ext>
            </a:extLst>
          </p:cNvPr>
          <p:cNvSpPr/>
          <p:nvPr/>
        </p:nvSpPr>
        <p:spPr>
          <a:xfrm>
            <a:off x="3332112" y="4583545"/>
            <a:ext cx="4962339" cy="1715791"/>
          </a:xfrm>
          <a:prstGeom prst="rect">
            <a:avLst/>
          </a:prstGeom>
          <a:no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2" name="TextBox 11">
            <a:extLst>
              <a:ext uri="{FF2B5EF4-FFF2-40B4-BE49-F238E27FC236}">
                <a16:creationId xmlns:a16="http://schemas.microsoft.com/office/drawing/2014/main" id="{08C1C989-6C5C-B3B3-B884-3208DE432735}"/>
              </a:ext>
            </a:extLst>
          </p:cNvPr>
          <p:cNvSpPr txBox="1"/>
          <p:nvPr/>
        </p:nvSpPr>
        <p:spPr>
          <a:xfrm>
            <a:off x="3446869" y="4413970"/>
            <a:ext cx="4411256" cy="369332"/>
          </a:xfrm>
          <a:prstGeom prst="rect">
            <a:avLst/>
          </a:prstGeom>
          <a:solidFill>
            <a:schemeClr val="bg1"/>
          </a:solidFill>
        </p:spPr>
        <p:txBody>
          <a:bodyPr wrap="square" rtlCol="0">
            <a:spAutoFit/>
          </a:bodyPr>
          <a:lstStyle/>
          <a:p>
            <a:r>
              <a:rPr lang="en-FR" b="1" dirty="0">
                <a:solidFill>
                  <a:srgbClr val="A5AFF5"/>
                </a:solidFill>
                <a:latin typeface="Poppins" pitchFamily="2" charset="77"/>
                <a:cs typeface="Poppins" pitchFamily="2" charset="77"/>
              </a:rPr>
              <a:t>SPEAKER TURN LEVEL </a:t>
            </a:r>
            <a:r>
              <a:rPr lang="en-FR" sz="1400" b="1" dirty="0">
                <a:solidFill>
                  <a:srgbClr val="A5AFF5"/>
                </a:solidFill>
                <a:latin typeface="Poppins" pitchFamily="2" charset="77"/>
                <a:cs typeface="Poppins" pitchFamily="2" charset="77"/>
              </a:rPr>
              <a:t>(AGENT and CLIENT)</a:t>
            </a:r>
            <a:endParaRPr lang="en-FR" b="1" dirty="0">
              <a:solidFill>
                <a:srgbClr val="A5AFF5"/>
              </a:solidFill>
              <a:latin typeface="Poppins" pitchFamily="2" charset="77"/>
              <a:cs typeface="Poppins" pitchFamily="2" charset="77"/>
            </a:endParaRPr>
          </a:p>
        </p:txBody>
      </p:sp>
      <p:sp>
        <p:nvSpPr>
          <p:cNvPr id="13" name="Rectangle 12">
            <a:extLst>
              <a:ext uri="{FF2B5EF4-FFF2-40B4-BE49-F238E27FC236}">
                <a16:creationId xmlns:a16="http://schemas.microsoft.com/office/drawing/2014/main" id="{71555D7E-F96B-481D-7DB2-997D85E9CB7F}"/>
              </a:ext>
            </a:extLst>
          </p:cNvPr>
          <p:cNvSpPr/>
          <p:nvPr/>
        </p:nvSpPr>
        <p:spPr>
          <a:xfrm>
            <a:off x="3516384" y="4869809"/>
            <a:ext cx="2660562" cy="1235894"/>
          </a:xfrm>
          <a:prstGeom prst="rect">
            <a:avLst/>
          </a:prstGeom>
          <a:solidFill>
            <a:srgbClr val="FFFFFF"/>
          </a:solidFill>
          <a:ln w="38100">
            <a:solidFill>
              <a:srgbClr val="D33F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2000" b="1" dirty="0">
                <a:solidFill>
                  <a:srgbClr val="4B84F4"/>
                </a:solidFill>
                <a:latin typeface="Poppins" pitchFamily="2" charset="77"/>
                <a:cs typeface="Poppins" pitchFamily="2" charset="77"/>
              </a:rPr>
              <a:t>20 fine-grained emotion labels</a:t>
            </a:r>
            <a:endParaRPr lang="en-FR" sz="2000" i="1" dirty="0">
              <a:solidFill>
                <a:srgbClr val="4B84F4"/>
              </a:solidFill>
              <a:latin typeface="Poppins" pitchFamily="2" charset="77"/>
              <a:cs typeface="Poppins" pitchFamily="2" charset="77"/>
            </a:endParaRPr>
          </a:p>
        </p:txBody>
      </p:sp>
      <p:sp>
        <p:nvSpPr>
          <p:cNvPr id="14" name="Rectangle 13">
            <a:extLst>
              <a:ext uri="{FF2B5EF4-FFF2-40B4-BE49-F238E27FC236}">
                <a16:creationId xmlns:a16="http://schemas.microsoft.com/office/drawing/2014/main" id="{76A1867B-C4AF-C794-F26C-8156D45E95EF}"/>
              </a:ext>
            </a:extLst>
          </p:cNvPr>
          <p:cNvSpPr/>
          <p:nvPr/>
        </p:nvSpPr>
        <p:spPr>
          <a:xfrm>
            <a:off x="6362556" y="4869809"/>
            <a:ext cx="1752415" cy="1235894"/>
          </a:xfrm>
          <a:prstGeom prst="rect">
            <a:avLst/>
          </a:prstGeom>
          <a:solidFill>
            <a:srgbClr val="FFFFFF"/>
          </a:solidFill>
          <a:ln w="38100">
            <a:solidFill>
              <a:srgbClr val="FFC4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2000" b="1" dirty="0">
                <a:solidFill>
                  <a:srgbClr val="4B84F4"/>
                </a:solidFill>
                <a:latin typeface="Poppins" pitchFamily="2" charset="77"/>
                <a:cs typeface="Poppins" pitchFamily="2" charset="77"/>
              </a:rPr>
              <a:t>15 dialogue </a:t>
            </a:r>
            <a:br>
              <a:rPr lang="en-FR" sz="2000" b="1" dirty="0">
                <a:solidFill>
                  <a:srgbClr val="4B84F4"/>
                </a:solidFill>
                <a:latin typeface="Poppins" pitchFamily="2" charset="77"/>
                <a:cs typeface="Poppins" pitchFamily="2" charset="77"/>
              </a:rPr>
            </a:br>
            <a:r>
              <a:rPr lang="en-FR" sz="2000" b="1" dirty="0">
                <a:solidFill>
                  <a:srgbClr val="4B84F4"/>
                </a:solidFill>
                <a:latin typeface="Poppins" pitchFamily="2" charset="77"/>
                <a:cs typeface="Poppins" pitchFamily="2" charset="77"/>
              </a:rPr>
              <a:t>strategies</a:t>
            </a:r>
            <a:endParaRPr lang="en-FR" sz="2000" i="1" dirty="0">
              <a:solidFill>
                <a:srgbClr val="4B84F4"/>
              </a:solidFill>
              <a:latin typeface="Poppins" pitchFamily="2" charset="77"/>
              <a:cs typeface="Poppins" pitchFamily="2" charset="77"/>
            </a:endParaRPr>
          </a:p>
        </p:txBody>
      </p:sp>
      <p:sp>
        <p:nvSpPr>
          <p:cNvPr id="15" name="Rectangle 14">
            <a:extLst>
              <a:ext uri="{FF2B5EF4-FFF2-40B4-BE49-F238E27FC236}">
                <a16:creationId xmlns:a16="http://schemas.microsoft.com/office/drawing/2014/main" id="{A798F7AD-61D0-FF98-BF47-F61432B8A2C1}"/>
              </a:ext>
            </a:extLst>
          </p:cNvPr>
          <p:cNvSpPr/>
          <p:nvPr/>
        </p:nvSpPr>
        <p:spPr>
          <a:xfrm>
            <a:off x="8554878" y="4590700"/>
            <a:ext cx="3369836" cy="1715791"/>
          </a:xfrm>
          <a:prstGeom prst="rect">
            <a:avLst/>
          </a:prstGeom>
          <a:no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6" name="TextBox 15">
            <a:extLst>
              <a:ext uri="{FF2B5EF4-FFF2-40B4-BE49-F238E27FC236}">
                <a16:creationId xmlns:a16="http://schemas.microsoft.com/office/drawing/2014/main" id="{48E77A23-8216-4B1C-798E-8DC98BE65074}"/>
              </a:ext>
            </a:extLst>
          </p:cNvPr>
          <p:cNvSpPr txBox="1"/>
          <p:nvPr/>
        </p:nvSpPr>
        <p:spPr>
          <a:xfrm>
            <a:off x="8866355" y="4413970"/>
            <a:ext cx="2719014" cy="369332"/>
          </a:xfrm>
          <a:prstGeom prst="rect">
            <a:avLst/>
          </a:prstGeom>
          <a:solidFill>
            <a:schemeClr val="bg1"/>
          </a:solidFill>
        </p:spPr>
        <p:txBody>
          <a:bodyPr wrap="none" rtlCol="0">
            <a:spAutoFit/>
          </a:bodyPr>
          <a:lstStyle/>
          <a:p>
            <a:r>
              <a:rPr lang="en-FR" b="1" dirty="0">
                <a:solidFill>
                  <a:srgbClr val="A5AFF5"/>
                </a:solidFill>
                <a:latin typeface="Poppins" pitchFamily="2" charset="77"/>
                <a:cs typeface="Poppins" pitchFamily="2" charset="77"/>
              </a:rPr>
              <a:t>CONVERSATION LEVEL</a:t>
            </a:r>
          </a:p>
        </p:txBody>
      </p:sp>
      <p:sp>
        <p:nvSpPr>
          <p:cNvPr id="24" name="Rectangle 23">
            <a:extLst>
              <a:ext uri="{FF2B5EF4-FFF2-40B4-BE49-F238E27FC236}">
                <a16:creationId xmlns:a16="http://schemas.microsoft.com/office/drawing/2014/main" id="{C7879BE4-BE4A-4ED0-2B53-5D94CA1A09CF}"/>
              </a:ext>
            </a:extLst>
          </p:cNvPr>
          <p:cNvSpPr/>
          <p:nvPr/>
        </p:nvSpPr>
        <p:spPr>
          <a:xfrm>
            <a:off x="2260389" y="4583546"/>
            <a:ext cx="811296" cy="1715791"/>
          </a:xfrm>
          <a:prstGeom prst="rect">
            <a:avLst/>
          </a:prstGeom>
          <a:solidFill>
            <a:srgbClr val="A5B0F6"/>
          </a:solidFill>
          <a:ln w="57150">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FR" sz="2000" b="1" dirty="0"/>
              <a:t>ANNOTATION</a:t>
            </a:r>
          </a:p>
        </p:txBody>
      </p:sp>
      <p:sp>
        <p:nvSpPr>
          <p:cNvPr id="29" name="Rectangle 28">
            <a:extLst>
              <a:ext uri="{FF2B5EF4-FFF2-40B4-BE49-F238E27FC236}">
                <a16:creationId xmlns:a16="http://schemas.microsoft.com/office/drawing/2014/main" id="{AC4F03F2-C804-DD9C-99D9-C61FC2496C29}"/>
              </a:ext>
            </a:extLst>
          </p:cNvPr>
          <p:cNvSpPr/>
          <p:nvPr/>
        </p:nvSpPr>
        <p:spPr>
          <a:xfrm>
            <a:off x="2305877" y="2849900"/>
            <a:ext cx="4631636" cy="1451435"/>
          </a:xfrm>
          <a:prstGeom prst="rect">
            <a:avLst/>
          </a:prstGeom>
          <a:solidFill>
            <a:schemeClr val="bg1"/>
          </a:solid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b="1" u="sng" dirty="0">
                <a:solidFill>
                  <a:srgbClr val="4B84F4"/>
                </a:solidFill>
                <a:latin typeface="Poppins" pitchFamily="2" charset="77"/>
                <a:cs typeface="Poppins" pitchFamily="2" charset="77"/>
              </a:rPr>
              <a:t>ANONYMISATION</a:t>
            </a:r>
          </a:p>
          <a:p>
            <a:pPr algn="ctr"/>
            <a:r>
              <a:rPr lang="en-FR" dirty="0">
                <a:solidFill>
                  <a:srgbClr val="4B84F4"/>
                </a:solidFill>
                <a:latin typeface="Poppins" pitchFamily="2" charset="77"/>
                <a:cs typeface="Poppins" pitchFamily="2" charset="77"/>
              </a:rPr>
              <a:t>To </a:t>
            </a:r>
            <a:r>
              <a:rPr lang="en-GB" dirty="0">
                <a:solidFill>
                  <a:srgbClr val="4B84F4"/>
                </a:solidFill>
                <a:latin typeface="Poppins" pitchFamily="2" charset="77"/>
                <a:cs typeface="Poppins" pitchFamily="2" charset="77"/>
              </a:rPr>
              <a:t>remove all personal information without impacting the structure of the dialogue.</a:t>
            </a:r>
            <a:endParaRPr lang="en-FR" dirty="0">
              <a:solidFill>
                <a:srgbClr val="4B84F4"/>
              </a:solidFill>
              <a:latin typeface="Poppins" pitchFamily="2" charset="77"/>
              <a:cs typeface="Poppins" pitchFamily="2" charset="77"/>
            </a:endParaRPr>
          </a:p>
        </p:txBody>
      </p:sp>
      <p:sp>
        <p:nvSpPr>
          <p:cNvPr id="30" name="Rectangle 29">
            <a:extLst>
              <a:ext uri="{FF2B5EF4-FFF2-40B4-BE49-F238E27FC236}">
                <a16:creationId xmlns:a16="http://schemas.microsoft.com/office/drawing/2014/main" id="{41F675AC-8334-0620-02D1-08F43C7084AD}"/>
              </a:ext>
            </a:extLst>
          </p:cNvPr>
          <p:cNvSpPr/>
          <p:nvPr/>
        </p:nvSpPr>
        <p:spPr>
          <a:xfrm>
            <a:off x="1246163" y="2849900"/>
            <a:ext cx="811296" cy="1451435"/>
          </a:xfrm>
          <a:prstGeom prst="rect">
            <a:avLst/>
          </a:prstGeom>
          <a:solidFill>
            <a:srgbClr val="A5B0F6"/>
          </a:solidFill>
          <a:ln w="57150">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FR" sz="2000" b="1" dirty="0"/>
              <a:t>PROCESSING</a:t>
            </a:r>
            <a:endParaRPr lang="en-FR" b="1" dirty="0"/>
          </a:p>
        </p:txBody>
      </p:sp>
      <p:sp>
        <p:nvSpPr>
          <p:cNvPr id="31" name="Rectangle 30">
            <a:extLst>
              <a:ext uri="{FF2B5EF4-FFF2-40B4-BE49-F238E27FC236}">
                <a16:creationId xmlns:a16="http://schemas.microsoft.com/office/drawing/2014/main" id="{5393C5BF-DC6F-89FB-DED6-2A3457A1D66D}"/>
              </a:ext>
            </a:extLst>
          </p:cNvPr>
          <p:cNvSpPr/>
          <p:nvPr/>
        </p:nvSpPr>
        <p:spPr>
          <a:xfrm>
            <a:off x="7293077" y="2849900"/>
            <a:ext cx="4631637" cy="1451435"/>
          </a:xfrm>
          <a:prstGeom prst="rect">
            <a:avLst/>
          </a:prstGeom>
          <a:solidFill>
            <a:schemeClr val="bg1"/>
          </a:solid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b="1" u="sng" dirty="0">
                <a:solidFill>
                  <a:srgbClr val="4B84F4"/>
                </a:solidFill>
                <a:latin typeface="Poppins" pitchFamily="2" charset="77"/>
                <a:cs typeface="Poppins" pitchFamily="2" charset="77"/>
              </a:rPr>
              <a:t>CLEANING</a:t>
            </a:r>
          </a:p>
          <a:p>
            <a:pPr algn="ctr"/>
            <a:r>
              <a:rPr lang="en-FR" dirty="0">
                <a:solidFill>
                  <a:srgbClr val="4B84F4"/>
                </a:solidFill>
                <a:latin typeface="Poppins" pitchFamily="2" charset="77"/>
                <a:cs typeface="Poppins" pitchFamily="2" charset="77"/>
              </a:rPr>
              <a:t>To </a:t>
            </a:r>
            <a:r>
              <a:rPr lang="en-GB" dirty="0">
                <a:solidFill>
                  <a:srgbClr val="4B84F4"/>
                </a:solidFill>
                <a:latin typeface="Poppins" pitchFamily="2" charset="77"/>
                <a:cs typeface="Poppins" pitchFamily="2" charset="77"/>
              </a:rPr>
              <a:t>correct elements that impeded the fluidity, understanding and written conversation flow.</a:t>
            </a:r>
            <a:r>
              <a:rPr lang="en-FR" dirty="0">
                <a:solidFill>
                  <a:srgbClr val="4B84F4"/>
                </a:solidFill>
                <a:latin typeface="Poppins" pitchFamily="2" charset="77"/>
                <a:cs typeface="Poppins" pitchFamily="2" charset="77"/>
              </a:rPr>
              <a:t> </a:t>
            </a:r>
          </a:p>
        </p:txBody>
      </p:sp>
      <p:sp>
        <p:nvSpPr>
          <p:cNvPr id="32" name="Rectangle 31">
            <a:extLst>
              <a:ext uri="{FF2B5EF4-FFF2-40B4-BE49-F238E27FC236}">
                <a16:creationId xmlns:a16="http://schemas.microsoft.com/office/drawing/2014/main" id="{E9EEB9A0-2276-BA60-5B88-A02978CDDED2}"/>
              </a:ext>
            </a:extLst>
          </p:cNvPr>
          <p:cNvSpPr/>
          <p:nvPr/>
        </p:nvSpPr>
        <p:spPr>
          <a:xfrm>
            <a:off x="4940681" y="1388023"/>
            <a:ext cx="3289515" cy="1255555"/>
          </a:xfrm>
          <a:prstGeom prst="rect">
            <a:avLst/>
          </a:prstGeom>
          <a:solidFill>
            <a:srgbClr val="FFFFFF"/>
          </a:solid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dirty="0">
                <a:solidFill>
                  <a:srgbClr val="4B84F4"/>
                </a:solidFill>
                <a:latin typeface="Poppins" pitchFamily="2" charset="77"/>
                <a:cs typeface="Poppins" pitchFamily="2" charset="77"/>
              </a:rPr>
              <a:t>Task-oriented dialogue, specifically in a </a:t>
            </a:r>
            <a:r>
              <a:rPr lang="en-FR" b="1" dirty="0">
                <a:solidFill>
                  <a:srgbClr val="4B84F4"/>
                </a:solidFill>
                <a:latin typeface="Poppins" pitchFamily="2" charset="77"/>
                <a:cs typeface="Poppins" pitchFamily="2" charset="77"/>
              </a:rPr>
              <a:t>customer service setting </a:t>
            </a:r>
            <a:br>
              <a:rPr lang="en-FR" b="1" dirty="0">
                <a:solidFill>
                  <a:srgbClr val="4B84F4"/>
                </a:solidFill>
                <a:latin typeface="Poppins" pitchFamily="2" charset="77"/>
                <a:cs typeface="Poppins" pitchFamily="2" charset="77"/>
              </a:rPr>
            </a:br>
            <a:r>
              <a:rPr lang="en-FR" dirty="0">
                <a:solidFill>
                  <a:srgbClr val="4B84F4"/>
                </a:solidFill>
                <a:latin typeface="Poppins" pitchFamily="2" charset="77"/>
                <a:cs typeface="Poppins" pitchFamily="2" charset="77"/>
              </a:rPr>
              <a:t>(car insurance and repair)</a:t>
            </a:r>
            <a:endParaRPr lang="en-FR" b="1" dirty="0">
              <a:solidFill>
                <a:srgbClr val="4B84F4"/>
              </a:solidFill>
              <a:latin typeface="Poppins" pitchFamily="2" charset="77"/>
              <a:cs typeface="Poppins" pitchFamily="2" charset="77"/>
            </a:endParaRPr>
          </a:p>
        </p:txBody>
      </p:sp>
      <p:sp>
        <p:nvSpPr>
          <p:cNvPr id="33" name="Rectangle 32">
            <a:extLst>
              <a:ext uri="{FF2B5EF4-FFF2-40B4-BE49-F238E27FC236}">
                <a16:creationId xmlns:a16="http://schemas.microsoft.com/office/drawing/2014/main" id="{E53260B8-576C-02D8-1AC8-2C48F6F16C93}"/>
              </a:ext>
            </a:extLst>
          </p:cNvPr>
          <p:cNvSpPr/>
          <p:nvPr/>
        </p:nvSpPr>
        <p:spPr>
          <a:xfrm>
            <a:off x="8635199" y="1388023"/>
            <a:ext cx="3289515" cy="1255555"/>
          </a:xfrm>
          <a:prstGeom prst="rect">
            <a:avLst/>
          </a:prstGeom>
          <a:solidFill>
            <a:srgbClr val="FFFFFF"/>
          </a:solid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b="1" dirty="0">
                <a:solidFill>
                  <a:srgbClr val="4B84F4"/>
                </a:solidFill>
                <a:latin typeface="Poppins" pitchFamily="2" charset="77"/>
                <a:cs typeface="Poppins" pitchFamily="2" charset="77"/>
              </a:rPr>
              <a:t>Manually annotated </a:t>
            </a:r>
            <a:br>
              <a:rPr lang="en-FR" dirty="0">
                <a:solidFill>
                  <a:srgbClr val="4B84F4"/>
                </a:solidFill>
                <a:latin typeface="Poppins" pitchFamily="2" charset="77"/>
                <a:cs typeface="Poppins" pitchFamily="2" charset="77"/>
              </a:rPr>
            </a:br>
            <a:r>
              <a:rPr lang="en-FR" dirty="0">
                <a:solidFill>
                  <a:srgbClr val="4B84F4"/>
                </a:solidFill>
                <a:latin typeface="Poppins" pitchFamily="2" charset="77"/>
                <a:cs typeface="Poppins" pitchFamily="2" charset="77"/>
              </a:rPr>
              <a:t>by a team of 5 </a:t>
            </a:r>
            <a:br>
              <a:rPr lang="en-FR" dirty="0">
                <a:solidFill>
                  <a:srgbClr val="4B84F4"/>
                </a:solidFill>
                <a:latin typeface="Poppins" pitchFamily="2" charset="77"/>
                <a:cs typeface="Poppins" pitchFamily="2" charset="77"/>
              </a:rPr>
            </a:br>
            <a:r>
              <a:rPr lang="en-FR" b="1" dirty="0">
                <a:solidFill>
                  <a:srgbClr val="4B84F4"/>
                </a:solidFill>
                <a:latin typeface="Poppins" pitchFamily="2" charset="77"/>
                <a:cs typeface="Poppins" pitchFamily="2" charset="77"/>
              </a:rPr>
              <a:t>expert linguists and conversational analysts</a:t>
            </a:r>
          </a:p>
        </p:txBody>
      </p:sp>
      <p:sp>
        <p:nvSpPr>
          <p:cNvPr id="34" name="Rectangle 33">
            <a:extLst>
              <a:ext uri="{FF2B5EF4-FFF2-40B4-BE49-F238E27FC236}">
                <a16:creationId xmlns:a16="http://schemas.microsoft.com/office/drawing/2014/main" id="{355B0019-92C8-A34F-5CE9-FFE74450C572}"/>
              </a:ext>
            </a:extLst>
          </p:cNvPr>
          <p:cNvSpPr/>
          <p:nvPr/>
        </p:nvSpPr>
        <p:spPr>
          <a:xfrm>
            <a:off x="1246163" y="1403114"/>
            <a:ext cx="3289515" cy="1255555"/>
          </a:xfrm>
          <a:prstGeom prst="rect">
            <a:avLst/>
          </a:prstGeom>
          <a:solidFill>
            <a:srgbClr val="FFFFFF"/>
          </a:solid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b="1" dirty="0">
                <a:solidFill>
                  <a:srgbClr val="4B84F4"/>
                </a:solidFill>
                <a:latin typeface="Poppins" pitchFamily="2" charset="77"/>
                <a:cs typeface="Poppins" pitchFamily="2" charset="77"/>
              </a:rPr>
              <a:t>67 H-H phone </a:t>
            </a:r>
          </a:p>
          <a:p>
            <a:pPr algn="ctr"/>
            <a:r>
              <a:rPr lang="en-FR" b="1" dirty="0">
                <a:solidFill>
                  <a:srgbClr val="4B84F4"/>
                </a:solidFill>
                <a:latin typeface="Poppins" pitchFamily="2" charset="77"/>
                <a:cs typeface="Poppins" pitchFamily="2" charset="77"/>
              </a:rPr>
              <a:t>conversations </a:t>
            </a:r>
          </a:p>
          <a:p>
            <a:pPr algn="ctr"/>
            <a:r>
              <a:rPr lang="en-FR" dirty="0">
                <a:solidFill>
                  <a:srgbClr val="4B84F4"/>
                </a:solidFill>
                <a:latin typeface="Poppins" pitchFamily="2" charset="77"/>
                <a:cs typeface="Poppins" pitchFamily="2" charset="77"/>
              </a:rPr>
              <a:t>in French manually transcribed into text</a:t>
            </a:r>
          </a:p>
        </p:txBody>
      </p:sp>
      <p:sp>
        <p:nvSpPr>
          <p:cNvPr id="35" name="Rectangle 34">
            <a:extLst>
              <a:ext uri="{FF2B5EF4-FFF2-40B4-BE49-F238E27FC236}">
                <a16:creationId xmlns:a16="http://schemas.microsoft.com/office/drawing/2014/main" id="{FAA431F6-5373-B5DE-5022-183C5902D37F}"/>
              </a:ext>
            </a:extLst>
          </p:cNvPr>
          <p:cNvSpPr/>
          <p:nvPr/>
        </p:nvSpPr>
        <p:spPr>
          <a:xfrm>
            <a:off x="179857" y="1412965"/>
            <a:ext cx="811296" cy="1230613"/>
          </a:xfrm>
          <a:prstGeom prst="rect">
            <a:avLst/>
          </a:prstGeom>
          <a:solidFill>
            <a:srgbClr val="A5B0F6"/>
          </a:solidFill>
          <a:ln w="57150">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FR" sz="2000" b="1" dirty="0"/>
              <a:t>DATA</a:t>
            </a:r>
          </a:p>
        </p:txBody>
      </p:sp>
      <p:sp>
        <p:nvSpPr>
          <p:cNvPr id="37" name="Bent Up Arrow 36">
            <a:extLst>
              <a:ext uri="{FF2B5EF4-FFF2-40B4-BE49-F238E27FC236}">
                <a16:creationId xmlns:a16="http://schemas.microsoft.com/office/drawing/2014/main" id="{D05274B0-A27A-79CC-93AA-3BC598DF8292}"/>
              </a:ext>
            </a:extLst>
          </p:cNvPr>
          <p:cNvSpPr/>
          <p:nvPr/>
        </p:nvSpPr>
        <p:spPr>
          <a:xfrm rot="5400000">
            <a:off x="1178058" y="4670441"/>
            <a:ext cx="1451435" cy="713226"/>
          </a:xfrm>
          <a:prstGeom prst="bentUpArrow">
            <a:avLst>
              <a:gd name="adj1" fmla="val 29642"/>
              <a:gd name="adj2" fmla="val 25000"/>
              <a:gd name="adj3" fmla="val 41246"/>
            </a:avLst>
          </a:prstGeom>
          <a:solidFill>
            <a:srgbClr val="A5B0F6"/>
          </a:solidFill>
          <a:ln w="57150">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FR" sz="2000" b="1"/>
          </a:p>
        </p:txBody>
      </p:sp>
      <p:pic>
        <p:nvPicPr>
          <p:cNvPr id="38" name="Picture 37">
            <a:extLst>
              <a:ext uri="{FF2B5EF4-FFF2-40B4-BE49-F238E27FC236}">
                <a16:creationId xmlns:a16="http://schemas.microsoft.com/office/drawing/2014/main" id="{1A787CAD-37E1-A59F-B55E-DA7C1DFFF895}"/>
              </a:ext>
            </a:extLst>
          </p:cNvPr>
          <p:cNvPicPr>
            <a:picLocks noChangeAspect="1"/>
          </p:cNvPicPr>
          <p:nvPr/>
        </p:nvPicPr>
        <p:blipFill>
          <a:blip r:embed="rId3">
            <a:alphaModFix amt="51000"/>
            <a:extLst>
              <a:ext uri="{BEBA8EAE-BF5A-486C-A8C5-ECC9F3942E4B}">
                <a14:imgProps xmlns:a14="http://schemas.microsoft.com/office/drawing/2010/main">
                  <a14:imgLayer r:embed="rId4">
                    <a14:imgEffect>
                      <a14:artisticPhotocopy/>
                    </a14:imgEffect>
                    <a14:imgEffect>
                      <a14:colorTemperature colorTemp="2989"/>
                    </a14:imgEffect>
                  </a14:imgLayer>
                </a14:imgProps>
              </a:ext>
            </a:extLst>
          </a:blip>
          <a:stretch>
            <a:fillRect/>
          </a:stretch>
        </p:blipFill>
        <p:spPr>
          <a:xfrm>
            <a:off x="179856" y="298642"/>
            <a:ext cx="759258" cy="759258"/>
          </a:xfrm>
          <a:prstGeom prst="rect">
            <a:avLst/>
          </a:prstGeom>
          <a:ln>
            <a:noFill/>
          </a:ln>
        </p:spPr>
      </p:pic>
      <p:sp>
        <p:nvSpPr>
          <p:cNvPr id="3" name="Bent Up Arrow 2">
            <a:extLst>
              <a:ext uri="{FF2B5EF4-FFF2-40B4-BE49-F238E27FC236}">
                <a16:creationId xmlns:a16="http://schemas.microsoft.com/office/drawing/2014/main" id="{D788FFC8-40B1-5904-21B6-F8C304F2F459}"/>
              </a:ext>
            </a:extLst>
          </p:cNvPr>
          <p:cNvSpPr/>
          <p:nvPr/>
        </p:nvSpPr>
        <p:spPr>
          <a:xfrm rot="5400000">
            <a:off x="205399" y="2766886"/>
            <a:ext cx="1325564" cy="755964"/>
          </a:xfrm>
          <a:prstGeom prst="bentUpArrow">
            <a:avLst>
              <a:gd name="adj1" fmla="val 29642"/>
              <a:gd name="adj2" fmla="val 25000"/>
              <a:gd name="adj3" fmla="val 41246"/>
            </a:avLst>
          </a:prstGeom>
          <a:solidFill>
            <a:srgbClr val="A5B0F6"/>
          </a:solidFill>
          <a:ln w="57150">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FR" sz="2000" b="1"/>
          </a:p>
        </p:txBody>
      </p:sp>
      <p:sp>
        <p:nvSpPr>
          <p:cNvPr id="4" name="TextBox 3">
            <a:extLst>
              <a:ext uri="{FF2B5EF4-FFF2-40B4-BE49-F238E27FC236}">
                <a16:creationId xmlns:a16="http://schemas.microsoft.com/office/drawing/2014/main" id="{AC96A0D5-1C1E-3ACE-59DA-9AF7D295372C}"/>
              </a:ext>
            </a:extLst>
          </p:cNvPr>
          <p:cNvSpPr txBox="1"/>
          <p:nvPr/>
        </p:nvSpPr>
        <p:spPr>
          <a:xfrm>
            <a:off x="8974543" y="4865757"/>
            <a:ext cx="2610826" cy="307776"/>
          </a:xfrm>
          <a:prstGeom prst="rect">
            <a:avLst/>
          </a:prstGeom>
          <a:solidFill>
            <a:srgbClr val="A5AFF5"/>
          </a:solidFill>
        </p:spPr>
        <p:txBody>
          <a:bodyPr wrap="square" rtlCol="0">
            <a:spAutoFit/>
          </a:bodyPr>
          <a:lstStyle/>
          <a:p>
            <a:pPr algn="ctr"/>
            <a:r>
              <a:rPr lang="fr-FR" sz="1400" b="1" dirty="0">
                <a:solidFill>
                  <a:srgbClr val="FFFFFF"/>
                </a:solidFill>
                <a:latin typeface="Poppins" pitchFamily="2" charset="77"/>
                <a:cs typeface="Poppins" pitchFamily="2" charset="77"/>
              </a:rPr>
              <a:t>User Satisfaction</a:t>
            </a:r>
            <a:endParaRPr lang="en-FR" sz="1400" i="1" dirty="0">
              <a:solidFill>
                <a:srgbClr val="FFFFFF"/>
              </a:solidFill>
              <a:latin typeface="Poppins" pitchFamily="2" charset="77"/>
              <a:cs typeface="Poppins" pitchFamily="2" charset="77"/>
            </a:endParaRPr>
          </a:p>
        </p:txBody>
      </p:sp>
      <p:sp>
        <p:nvSpPr>
          <p:cNvPr id="5" name="TextBox 4">
            <a:extLst>
              <a:ext uri="{FF2B5EF4-FFF2-40B4-BE49-F238E27FC236}">
                <a16:creationId xmlns:a16="http://schemas.microsoft.com/office/drawing/2014/main" id="{254A6225-366B-790E-A000-07EEE1D65AFB}"/>
              </a:ext>
            </a:extLst>
          </p:cNvPr>
          <p:cNvSpPr txBox="1"/>
          <p:nvPr/>
        </p:nvSpPr>
        <p:spPr>
          <a:xfrm>
            <a:off x="8974544" y="5319692"/>
            <a:ext cx="2610825" cy="307777"/>
          </a:xfrm>
          <a:prstGeom prst="rect">
            <a:avLst/>
          </a:prstGeom>
          <a:solidFill>
            <a:srgbClr val="A5AFF5"/>
          </a:solidFill>
        </p:spPr>
        <p:txBody>
          <a:bodyPr wrap="square" rtlCol="0">
            <a:spAutoFit/>
          </a:bodyPr>
          <a:lstStyle/>
          <a:p>
            <a:pPr algn="ctr"/>
            <a:r>
              <a:rPr lang="fr-FR" sz="1400" b="1" dirty="0">
                <a:solidFill>
                  <a:srgbClr val="FFFFFF"/>
                </a:solidFill>
                <a:latin typeface="Poppins" pitchFamily="2" charset="77"/>
                <a:cs typeface="Poppins" pitchFamily="2" charset="77"/>
              </a:rPr>
              <a:t>Agent Support </a:t>
            </a:r>
            <a:r>
              <a:rPr lang="fr-FR" sz="1400" b="1" dirty="0" err="1">
                <a:solidFill>
                  <a:srgbClr val="FFFFFF"/>
                </a:solidFill>
                <a:latin typeface="Poppins" pitchFamily="2" charset="77"/>
                <a:cs typeface="Poppins" pitchFamily="2" charset="77"/>
              </a:rPr>
              <a:t>Quality</a:t>
            </a:r>
            <a:endParaRPr lang="en-FR" sz="1400" i="1" dirty="0">
              <a:solidFill>
                <a:srgbClr val="FFFFFF"/>
              </a:solidFill>
              <a:latin typeface="Poppins" pitchFamily="2" charset="77"/>
              <a:cs typeface="Poppins" pitchFamily="2" charset="77"/>
            </a:endParaRPr>
          </a:p>
        </p:txBody>
      </p:sp>
      <p:sp>
        <p:nvSpPr>
          <p:cNvPr id="6" name="TextBox 5">
            <a:extLst>
              <a:ext uri="{FF2B5EF4-FFF2-40B4-BE49-F238E27FC236}">
                <a16:creationId xmlns:a16="http://schemas.microsoft.com/office/drawing/2014/main" id="{CB0BDA2A-B4AA-CE89-C184-A6A49F6F971F}"/>
              </a:ext>
            </a:extLst>
          </p:cNvPr>
          <p:cNvSpPr txBox="1"/>
          <p:nvPr/>
        </p:nvSpPr>
        <p:spPr>
          <a:xfrm>
            <a:off x="8974544" y="5773628"/>
            <a:ext cx="2610825" cy="307777"/>
          </a:xfrm>
          <a:prstGeom prst="rect">
            <a:avLst/>
          </a:prstGeom>
          <a:solidFill>
            <a:srgbClr val="A5AFF5"/>
          </a:solidFill>
        </p:spPr>
        <p:txBody>
          <a:bodyPr wrap="square" rtlCol="0">
            <a:spAutoFit/>
          </a:bodyPr>
          <a:lstStyle/>
          <a:p>
            <a:pPr algn="ctr"/>
            <a:r>
              <a:rPr lang="fr-FR" sz="1400" b="1" dirty="0" err="1">
                <a:solidFill>
                  <a:srgbClr val="FFFFFF"/>
                </a:solidFill>
                <a:latin typeface="Poppins" pitchFamily="2" charset="77"/>
                <a:cs typeface="Poppins" pitchFamily="2" charset="77"/>
              </a:rPr>
              <a:t>Problem</a:t>
            </a:r>
            <a:r>
              <a:rPr lang="fr-FR" sz="1400" b="1" dirty="0">
                <a:solidFill>
                  <a:srgbClr val="FFFFFF"/>
                </a:solidFill>
                <a:latin typeface="Poppins" pitchFamily="2" charset="77"/>
                <a:cs typeface="Poppins" pitchFamily="2" charset="77"/>
              </a:rPr>
              <a:t> </a:t>
            </a:r>
            <a:r>
              <a:rPr lang="fr-FR" sz="1400" b="1" dirty="0" err="1">
                <a:solidFill>
                  <a:srgbClr val="FFFFFF"/>
                </a:solidFill>
                <a:latin typeface="Poppins" pitchFamily="2" charset="77"/>
                <a:cs typeface="Poppins" pitchFamily="2" charset="77"/>
              </a:rPr>
              <a:t>Resolution</a:t>
            </a:r>
            <a:r>
              <a:rPr lang="fr-FR" sz="1400" b="1" dirty="0">
                <a:solidFill>
                  <a:srgbClr val="FFFFFF"/>
                </a:solidFill>
                <a:latin typeface="Poppins" pitchFamily="2" charset="77"/>
                <a:cs typeface="Poppins" pitchFamily="2" charset="77"/>
              </a:rPr>
              <a:t> </a:t>
            </a:r>
            <a:r>
              <a:rPr lang="fr-FR" sz="1400" b="1" dirty="0" err="1">
                <a:solidFill>
                  <a:srgbClr val="FFFFFF"/>
                </a:solidFill>
                <a:latin typeface="Poppins" pitchFamily="2" charset="77"/>
                <a:cs typeface="Poppins" pitchFamily="2" charset="77"/>
              </a:rPr>
              <a:t>Status</a:t>
            </a:r>
            <a:endParaRPr lang="en-FR" sz="1400" i="1" dirty="0">
              <a:solidFill>
                <a:srgbClr val="FFFFFF"/>
              </a:solidFill>
              <a:latin typeface="Poppins" pitchFamily="2" charset="77"/>
              <a:cs typeface="Poppins" pitchFamily="2" charset="77"/>
            </a:endParaRPr>
          </a:p>
        </p:txBody>
      </p:sp>
      <p:sp>
        <p:nvSpPr>
          <p:cNvPr id="8" name="Rectangle 7">
            <a:extLst>
              <a:ext uri="{FF2B5EF4-FFF2-40B4-BE49-F238E27FC236}">
                <a16:creationId xmlns:a16="http://schemas.microsoft.com/office/drawing/2014/main" id="{99735770-71C7-0ADC-4086-C288DD3D02CC}"/>
              </a:ext>
            </a:extLst>
          </p:cNvPr>
          <p:cNvSpPr/>
          <p:nvPr/>
        </p:nvSpPr>
        <p:spPr>
          <a:xfrm>
            <a:off x="3452373" y="4734223"/>
            <a:ext cx="4734507" cy="15070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10" name="Rounded Rectangle 9">
            <a:extLst>
              <a:ext uri="{FF2B5EF4-FFF2-40B4-BE49-F238E27FC236}">
                <a16:creationId xmlns:a16="http://schemas.microsoft.com/office/drawing/2014/main" id="{8ECC71F9-0A26-5B67-F64C-8AFE2B61E204}"/>
              </a:ext>
            </a:extLst>
          </p:cNvPr>
          <p:cNvSpPr/>
          <p:nvPr/>
        </p:nvSpPr>
        <p:spPr>
          <a:xfrm>
            <a:off x="3496589" y="5091586"/>
            <a:ext cx="3061139" cy="58318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6D8EED"/>
                </a:solidFill>
                <a:latin typeface="Poppins" pitchFamily="2" charset="77"/>
                <a:cs typeface="Poppins" pitchFamily="2" charset="77"/>
              </a:rPr>
              <a:t>Y</a:t>
            </a:r>
            <a:r>
              <a:rPr lang="en-FR" dirty="0">
                <a:solidFill>
                  <a:srgbClr val="6D8EED"/>
                </a:solidFill>
                <a:latin typeface="Poppins" pitchFamily="2" charset="77"/>
                <a:cs typeface="Poppins" pitchFamily="2" charset="77"/>
              </a:rPr>
              <a:t>es. </a:t>
            </a:r>
            <a:r>
              <a:rPr lang="en-GB" dirty="0">
                <a:solidFill>
                  <a:srgbClr val="6D8EED"/>
                </a:solidFill>
                <a:latin typeface="Poppins" pitchFamily="2" charset="77"/>
                <a:cs typeface="Poppins" pitchFamily="2" charset="77"/>
              </a:rPr>
              <a:t>F</a:t>
            </a:r>
            <a:r>
              <a:rPr lang="en-FR" dirty="0">
                <a:solidFill>
                  <a:srgbClr val="6D8EED"/>
                </a:solidFill>
                <a:latin typeface="Poppins" pitchFamily="2" charset="77"/>
                <a:cs typeface="Poppins" pitchFamily="2" charset="77"/>
              </a:rPr>
              <a:t>ive pm.</a:t>
            </a:r>
          </a:p>
          <a:p>
            <a:pPr algn="ctr"/>
            <a:r>
              <a:rPr lang="en-GB" dirty="0">
                <a:solidFill>
                  <a:srgbClr val="6D8EED"/>
                </a:solidFill>
                <a:latin typeface="Poppins" pitchFamily="2" charset="77"/>
                <a:cs typeface="Poppins" pitchFamily="2" charset="77"/>
              </a:rPr>
              <a:t>O</a:t>
            </a:r>
            <a:r>
              <a:rPr lang="en-FR" dirty="0">
                <a:solidFill>
                  <a:srgbClr val="6D8EED"/>
                </a:solidFill>
                <a:latin typeface="Poppins" pitchFamily="2" charset="77"/>
                <a:cs typeface="Poppins" pitchFamily="2" charset="77"/>
              </a:rPr>
              <a:t>k, perfect! thank you.</a:t>
            </a:r>
          </a:p>
        </p:txBody>
      </p:sp>
      <p:sp>
        <p:nvSpPr>
          <p:cNvPr id="19" name="Rounded Rectangle 18">
            <a:extLst>
              <a:ext uri="{FF2B5EF4-FFF2-40B4-BE49-F238E27FC236}">
                <a16:creationId xmlns:a16="http://schemas.microsoft.com/office/drawing/2014/main" id="{B63C6EFF-DF13-A98B-FE3F-E81AB9AF8063}"/>
              </a:ext>
            </a:extLst>
          </p:cNvPr>
          <p:cNvSpPr/>
          <p:nvPr/>
        </p:nvSpPr>
        <p:spPr>
          <a:xfrm>
            <a:off x="3496589" y="5091586"/>
            <a:ext cx="3061139" cy="58318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6D8EED"/>
                </a:solidFill>
                <a:latin typeface="Poppins" pitchFamily="2" charset="77"/>
                <a:cs typeface="Poppins" pitchFamily="2" charset="77"/>
              </a:rPr>
              <a:t>Y</a:t>
            </a:r>
            <a:r>
              <a:rPr lang="en-FR" dirty="0">
                <a:solidFill>
                  <a:srgbClr val="6D8EED"/>
                </a:solidFill>
                <a:latin typeface="Poppins" pitchFamily="2" charset="77"/>
                <a:cs typeface="Poppins" pitchFamily="2" charset="77"/>
              </a:rPr>
              <a:t>es. </a:t>
            </a:r>
            <a:r>
              <a:rPr lang="en-GB" dirty="0">
                <a:solidFill>
                  <a:srgbClr val="6D8EED"/>
                </a:solidFill>
                <a:latin typeface="Poppins" pitchFamily="2" charset="77"/>
                <a:cs typeface="Poppins" pitchFamily="2" charset="77"/>
              </a:rPr>
              <a:t>F</a:t>
            </a:r>
            <a:r>
              <a:rPr lang="en-FR" dirty="0">
                <a:solidFill>
                  <a:srgbClr val="6D8EED"/>
                </a:solidFill>
                <a:latin typeface="Poppins" pitchFamily="2" charset="77"/>
                <a:cs typeface="Poppins" pitchFamily="2" charset="77"/>
              </a:rPr>
              <a:t>ive pm.</a:t>
            </a:r>
          </a:p>
          <a:p>
            <a:pPr algn="ctr"/>
            <a:r>
              <a:rPr lang="en-GB" dirty="0">
                <a:solidFill>
                  <a:srgbClr val="6D8EED"/>
                </a:solidFill>
                <a:latin typeface="Poppins" pitchFamily="2" charset="77"/>
                <a:cs typeface="Poppins" pitchFamily="2" charset="77"/>
              </a:rPr>
              <a:t>O</a:t>
            </a:r>
            <a:r>
              <a:rPr lang="en-FR" dirty="0">
                <a:solidFill>
                  <a:srgbClr val="6D8EED"/>
                </a:solidFill>
                <a:latin typeface="Poppins" pitchFamily="2" charset="77"/>
                <a:cs typeface="Poppins" pitchFamily="2" charset="77"/>
              </a:rPr>
              <a:t>k, </a:t>
            </a:r>
            <a:r>
              <a:rPr lang="en-FR" b="1" u="sng" dirty="0">
                <a:solidFill>
                  <a:srgbClr val="6D8EED"/>
                </a:solidFill>
                <a:latin typeface="Poppins" pitchFamily="2" charset="77"/>
                <a:cs typeface="Poppins" pitchFamily="2" charset="77"/>
              </a:rPr>
              <a:t>perfect!</a:t>
            </a:r>
            <a:r>
              <a:rPr lang="en-FR" dirty="0">
                <a:solidFill>
                  <a:srgbClr val="6D8EED"/>
                </a:solidFill>
                <a:latin typeface="Poppins" pitchFamily="2" charset="77"/>
                <a:cs typeface="Poppins" pitchFamily="2" charset="77"/>
              </a:rPr>
              <a:t> thank you.</a:t>
            </a:r>
          </a:p>
        </p:txBody>
      </p:sp>
      <p:sp>
        <p:nvSpPr>
          <p:cNvPr id="20" name="TextBox 19">
            <a:extLst>
              <a:ext uri="{FF2B5EF4-FFF2-40B4-BE49-F238E27FC236}">
                <a16:creationId xmlns:a16="http://schemas.microsoft.com/office/drawing/2014/main" id="{69DF67A7-5F6C-0143-6CC9-C8933DB78ECC}"/>
              </a:ext>
            </a:extLst>
          </p:cNvPr>
          <p:cNvSpPr txBox="1"/>
          <p:nvPr/>
        </p:nvSpPr>
        <p:spPr>
          <a:xfrm>
            <a:off x="6779479" y="5104911"/>
            <a:ext cx="1295547" cy="307777"/>
          </a:xfrm>
          <a:prstGeom prst="rect">
            <a:avLst/>
          </a:prstGeom>
          <a:noFill/>
        </p:spPr>
        <p:txBody>
          <a:bodyPr wrap="none" rtlCol="0">
            <a:spAutoFit/>
          </a:bodyPr>
          <a:lstStyle/>
          <a:p>
            <a:r>
              <a:rPr lang="en-FR" sz="1400" b="1" u="sng" dirty="0">
                <a:solidFill>
                  <a:srgbClr val="6D8EED"/>
                </a:solidFill>
                <a:latin typeface="Poppins" pitchFamily="2" charset="77"/>
                <a:cs typeface="Poppins" pitchFamily="2" charset="77"/>
              </a:rPr>
              <a:t>Satisfaction</a:t>
            </a:r>
            <a:endParaRPr lang="en-FR" b="1" u="sng" dirty="0">
              <a:solidFill>
                <a:srgbClr val="6D8EED"/>
              </a:solidFill>
              <a:latin typeface="Poppins" pitchFamily="2" charset="77"/>
              <a:cs typeface="Poppins" pitchFamily="2" charset="77"/>
            </a:endParaRPr>
          </a:p>
        </p:txBody>
      </p:sp>
      <p:sp>
        <p:nvSpPr>
          <p:cNvPr id="21" name="Rounded Rectangle 20">
            <a:extLst>
              <a:ext uri="{FF2B5EF4-FFF2-40B4-BE49-F238E27FC236}">
                <a16:creationId xmlns:a16="http://schemas.microsoft.com/office/drawing/2014/main" id="{6910F9F4-B6FB-2A3C-EFBC-6B17293BDF11}"/>
              </a:ext>
            </a:extLst>
          </p:cNvPr>
          <p:cNvSpPr/>
          <p:nvPr/>
        </p:nvSpPr>
        <p:spPr>
          <a:xfrm>
            <a:off x="3496589" y="5091586"/>
            <a:ext cx="3061139" cy="58318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F2B781"/>
                </a:solidFill>
                <a:latin typeface="Poppins" pitchFamily="2" charset="77"/>
                <a:cs typeface="Poppins" pitchFamily="2" charset="77"/>
              </a:rPr>
              <a:t>Y</a:t>
            </a:r>
            <a:r>
              <a:rPr lang="en-FR" dirty="0">
                <a:solidFill>
                  <a:srgbClr val="F2B781"/>
                </a:solidFill>
                <a:latin typeface="Poppins" pitchFamily="2" charset="77"/>
                <a:cs typeface="Poppins" pitchFamily="2" charset="77"/>
              </a:rPr>
              <a:t>es. </a:t>
            </a:r>
            <a:r>
              <a:rPr lang="en-GB" dirty="0">
                <a:solidFill>
                  <a:srgbClr val="E3ABCC"/>
                </a:solidFill>
                <a:latin typeface="Poppins" pitchFamily="2" charset="77"/>
                <a:cs typeface="Poppins" pitchFamily="2" charset="77"/>
              </a:rPr>
              <a:t>F</a:t>
            </a:r>
            <a:r>
              <a:rPr lang="en-FR" dirty="0">
                <a:solidFill>
                  <a:srgbClr val="E3ABCC"/>
                </a:solidFill>
                <a:latin typeface="Poppins" pitchFamily="2" charset="77"/>
                <a:cs typeface="Poppins" pitchFamily="2" charset="77"/>
              </a:rPr>
              <a:t>ive pm.</a:t>
            </a:r>
          </a:p>
          <a:p>
            <a:pPr algn="ctr"/>
            <a:r>
              <a:rPr lang="en-GB" dirty="0">
                <a:solidFill>
                  <a:srgbClr val="F2B781"/>
                </a:solidFill>
                <a:latin typeface="Poppins" pitchFamily="2" charset="77"/>
                <a:cs typeface="Poppins" pitchFamily="2" charset="77"/>
              </a:rPr>
              <a:t>O</a:t>
            </a:r>
            <a:r>
              <a:rPr lang="en-FR" dirty="0">
                <a:solidFill>
                  <a:srgbClr val="F2B781"/>
                </a:solidFill>
                <a:latin typeface="Poppins" pitchFamily="2" charset="77"/>
                <a:cs typeface="Poppins" pitchFamily="2" charset="77"/>
              </a:rPr>
              <a:t>k, </a:t>
            </a:r>
            <a:r>
              <a:rPr lang="en-FR" b="1" u="sng" dirty="0">
                <a:solidFill>
                  <a:srgbClr val="F2B781"/>
                </a:solidFill>
                <a:latin typeface="Poppins" pitchFamily="2" charset="77"/>
                <a:cs typeface="Poppins" pitchFamily="2" charset="77"/>
              </a:rPr>
              <a:t>perfect!</a:t>
            </a:r>
            <a:r>
              <a:rPr lang="en-FR" dirty="0">
                <a:solidFill>
                  <a:srgbClr val="6D8EED"/>
                </a:solidFill>
                <a:latin typeface="Poppins" pitchFamily="2" charset="77"/>
                <a:cs typeface="Poppins" pitchFamily="2" charset="77"/>
              </a:rPr>
              <a:t> </a:t>
            </a:r>
            <a:r>
              <a:rPr lang="en-FR" dirty="0">
                <a:solidFill>
                  <a:srgbClr val="6FD192"/>
                </a:solidFill>
                <a:latin typeface="Poppins" pitchFamily="2" charset="77"/>
                <a:cs typeface="Poppins" pitchFamily="2" charset="77"/>
              </a:rPr>
              <a:t>thank you.</a:t>
            </a:r>
          </a:p>
        </p:txBody>
      </p:sp>
      <p:sp>
        <p:nvSpPr>
          <p:cNvPr id="22" name="TextBox 21">
            <a:extLst>
              <a:ext uri="{FF2B5EF4-FFF2-40B4-BE49-F238E27FC236}">
                <a16:creationId xmlns:a16="http://schemas.microsoft.com/office/drawing/2014/main" id="{2A43AF9C-FDC2-4C05-1546-9106746FD481}"/>
              </a:ext>
            </a:extLst>
          </p:cNvPr>
          <p:cNvSpPr txBox="1"/>
          <p:nvPr/>
        </p:nvSpPr>
        <p:spPr>
          <a:xfrm>
            <a:off x="6796889" y="5467582"/>
            <a:ext cx="1217064" cy="369332"/>
          </a:xfrm>
          <a:prstGeom prst="rect">
            <a:avLst/>
          </a:prstGeom>
          <a:noFill/>
        </p:spPr>
        <p:txBody>
          <a:bodyPr wrap="square" rtlCol="0">
            <a:spAutoFit/>
          </a:bodyPr>
          <a:lstStyle/>
          <a:p>
            <a:pPr algn="ctr"/>
            <a:r>
              <a:rPr lang="en-FR" dirty="0">
                <a:solidFill>
                  <a:srgbClr val="F2B781"/>
                </a:solidFill>
                <a:latin typeface="Poppins" pitchFamily="2" charset="77"/>
                <a:cs typeface="Poppins" pitchFamily="2" charset="77"/>
              </a:rPr>
              <a:t>I, </a:t>
            </a:r>
            <a:r>
              <a:rPr lang="en-FR" dirty="0">
                <a:solidFill>
                  <a:srgbClr val="E3ABCC"/>
                </a:solidFill>
                <a:latin typeface="Poppins" pitchFamily="2" charset="77"/>
                <a:cs typeface="Poppins" pitchFamily="2" charset="77"/>
              </a:rPr>
              <a:t>R,</a:t>
            </a:r>
            <a:r>
              <a:rPr lang="en-FR" dirty="0">
                <a:solidFill>
                  <a:srgbClr val="F2B781"/>
                </a:solidFill>
                <a:latin typeface="Poppins" pitchFamily="2" charset="77"/>
                <a:cs typeface="Poppins" pitchFamily="2" charset="77"/>
              </a:rPr>
              <a:t> I, </a:t>
            </a:r>
            <a:r>
              <a:rPr lang="en-FR" dirty="0">
                <a:solidFill>
                  <a:srgbClr val="6FD192"/>
                </a:solidFill>
                <a:latin typeface="Poppins" pitchFamily="2" charset="77"/>
                <a:cs typeface="Poppins" pitchFamily="2" charset="77"/>
              </a:rPr>
              <a:t>P</a:t>
            </a:r>
          </a:p>
        </p:txBody>
      </p:sp>
      <p:sp>
        <p:nvSpPr>
          <p:cNvPr id="9" name="Title 8">
            <a:extLst>
              <a:ext uri="{FF2B5EF4-FFF2-40B4-BE49-F238E27FC236}">
                <a16:creationId xmlns:a16="http://schemas.microsoft.com/office/drawing/2014/main" id="{60233F8D-9F41-6433-606D-4180A8A191D3}"/>
              </a:ext>
            </a:extLst>
          </p:cNvPr>
          <p:cNvSpPr>
            <a:spLocks noGrp="1"/>
          </p:cNvSpPr>
          <p:nvPr>
            <p:ph type="title"/>
          </p:nvPr>
        </p:nvSpPr>
        <p:spPr/>
        <p:txBody>
          <a:bodyPr>
            <a:normAutofit fontScale="90000"/>
          </a:bodyPr>
          <a:lstStyle/>
          <a:p>
            <a:r>
              <a:rPr lang="en-GB" sz="3600" b="1" dirty="0"/>
              <a:t>DATA-</a:t>
            </a:r>
            <a:r>
              <a:rPr lang="en-GB" sz="3600" b="1" dirty="0" err="1"/>
              <a:t>SERGe</a:t>
            </a:r>
            <a:br>
              <a:rPr lang="en-GB" dirty="0"/>
            </a:br>
            <a:r>
              <a:rPr lang="en-GB" sz="3100" dirty="0"/>
              <a:t>A </a:t>
            </a:r>
            <a:r>
              <a:rPr lang="en-GB" sz="3100" b="1" u="sng" dirty="0" err="1"/>
              <a:t>DATA</a:t>
            </a:r>
            <a:r>
              <a:rPr lang="en-GB" sz="3100" dirty="0" err="1"/>
              <a:t>set</a:t>
            </a:r>
            <a:r>
              <a:rPr lang="en-GB" sz="3100" dirty="0"/>
              <a:t> for </a:t>
            </a:r>
            <a:r>
              <a:rPr lang="en-GB" sz="3100" b="1" u="sng" dirty="0"/>
              <a:t>S</a:t>
            </a:r>
            <a:r>
              <a:rPr lang="en-GB" sz="3100" dirty="0"/>
              <a:t>ocio-</a:t>
            </a:r>
            <a:r>
              <a:rPr lang="en-GB" sz="3100" b="1" u="sng" dirty="0"/>
              <a:t>E</a:t>
            </a:r>
            <a:r>
              <a:rPr lang="en-GB" sz="3100" dirty="0"/>
              <a:t>motional </a:t>
            </a:r>
            <a:r>
              <a:rPr lang="en-GB" sz="3100" b="1" u="sng" dirty="0"/>
              <a:t>R</a:t>
            </a:r>
            <a:r>
              <a:rPr lang="en-GB" sz="3100" dirty="0"/>
              <a:t>esponse </a:t>
            </a:r>
            <a:r>
              <a:rPr lang="en-GB" sz="3100" b="1" u="sng" dirty="0"/>
              <a:t>Ge</a:t>
            </a:r>
            <a:r>
              <a:rPr lang="en-GB" sz="3100" dirty="0"/>
              <a:t>neration</a:t>
            </a:r>
            <a:endParaRPr lang="en-FR" dirty="0"/>
          </a:p>
        </p:txBody>
      </p:sp>
    </p:spTree>
    <p:extLst>
      <p:ext uri="{BB962C8B-B14F-4D97-AF65-F5344CB8AC3E}">
        <p14:creationId xmlns:p14="http://schemas.microsoft.com/office/powerpoint/2010/main" val="4243654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24" grpId="0" animBg="1"/>
      <p:bldP spid="37" grpId="0" animBg="1"/>
      <p:bldP spid="4" grpId="0" animBg="1"/>
      <p:bldP spid="5" grpId="0" animBg="1"/>
      <p:bldP spid="6" grpId="0" animBg="1"/>
      <p:bldP spid="8" grpId="0" animBg="1"/>
      <p:bldP spid="10" grpId="0" animBg="1"/>
      <p:bldP spid="19" grpId="0" animBg="1"/>
      <p:bldP spid="20" grpId="0"/>
      <p:bldP spid="21" grpId="0" animBg="1"/>
      <p:bldP spid="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CFE58-6780-D9C4-A738-D1F04BBAD8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A12BD-8F6B-0B8E-47B5-2E9B27974338}"/>
              </a:ext>
            </a:extLst>
          </p:cNvPr>
          <p:cNvSpPr>
            <a:spLocks noGrp="1"/>
          </p:cNvSpPr>
          <p:nvPr>
            <p:ph type="title"/>
          </p:nvPr>
        </p:nvSpPr>
        <p:spPr/>
        <p:txBody>
          <a:bodyPr/>
          <a:lstStyle/>
          <a:p>
            <a:r>
              <a:rPr lang="en-FR" dirty="0"/>
              <a:t>DATA-SERGe: Annotation</a:t>
            </a:r>
          </a:p>
        </p:txBody>
      </p:sp>
      <p:sp>
        <p:nvSpPr>
          <p:cNvPr id="9" name="Rectangle 8">
            <a:extLst>
              <a:ext uri="{FF2B5EF4-FFF2-40B4-BE49-F238E27FC236}">
                <a16:creationId xmlns:a16="http://schemas.microsoft.com/office/drawing/2014/main" id="{4354655F-A41F-1AD4-D8B9-2EA33A734B03}"/>
              </a:ext>
            </a:extLst>
          </p:cNvPr>
          <p:cNvSpPr/>
          <p:nvPr/>
        </p:nvSpPr>
        <p:spPr>
          <a:xfrm>
            <a:off x="499771" y="1903935"/>
            <a:ext cx="3322320" cy="1525065"/>
          </a:xfrm>
          <a:prstGeom prst="rect">
            <a:avLst/>
          </a:prstGeom>
          <a:solidFill>
            <a:srgbClr val="D0DBF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endParaRPr lang="en-FR" sz="2400" dirty="0">
              <a:solidFill>
                <a:srgbClr val="0055FF"/>
              </a:solidFill>
              <a:latin typeface="Poppins" pitchFamily="2" charset="77"/>
              <a:cs typeface="Poppins" pitchFamily="2" charset="77"/>
            </a:endParaRPr>
          </a:p>
          <a:p>
            <a:pPr algn="ctr"/>
            <a:r>
              <a:rPr lang="en-GB" sz="2400" b="1" dirty="0">
                <a:solidFill>
                  <a:srgbClr val="0055FF"/>
                </a:solidFill>
                <a:latin typeface="Poppins"/>
                <a:cs typeface="Poppins"/>
              </a:rPr>
              <a:t>CALIBRATION</a:t>
            </a:r>
            <a:br>
              <a:rPr lang="en-GB" sz="2400" b="1" dirty="0">
                <a:solidFill>
                  <a:srgbClr val="0055FF"/>
                </a:solidFill>
                <a:latin typeface="Poppins"/>
                <a:cs typeface="Poppins"/>
              </a:rPr>
            </a:br>
            <a:r>
              <a:rPr lang="en-GB" sz="2400" b="1" dirty="0">
                <a:solidFill>
                  <a:srgbClr val="0055FF"/>
                </a:solidFill>
                <a:latin typeface="Poppins"/>
                <a:cs typeface="Poppins"/>
              </a:rPr>
              <a:t>PHASE</a:t>
            </a:r>
            <a:endParaRPr lang="en-FR" sz="2400" b="1" dirty="0">
              <a:solidFill>
                <a:srgbClr val="0055FF"/>
              </a:solidFill>
              <a:latin typeface="Poppins" pitchFamily="2" charset="77"/>
              <a:cs typeface="Poppins" pitchFamily="2" charset="77"/>
            </a:endParaRPr>
          </a:p>
        </p:txBody>
      </p:sp>
      <p:sp>
        <p:nvSpPr>
          <p:cNvPr id="10" name="Rectangle 9">
            <a:extLst>
              <a:ext uri="{FF2B5EF4-FFF2-40B4-BE49-F238E27FC236}">
                <a16:creationId xmlns:a16="http://schemas.microsoft.com/office/drawing/2014/main" id="{ECB9E005-D4D0-7571-B445-5E02584F24B4}"/>
              </a:ext>
            </a:extLst>
          </p:cNvPr>
          <p:cNvSpPr/>
          <p:nvPr/>
        </p:nvSpPr>
        <p:spPr>
          <a:xfrm>
            <a:off x="499771" y="4304700"/>
            <a:ext cx="3322320" cy="1525065"/>
          </a:xfrm>
          <a:prstGeom prst="rect">
            <a:avLst/>
          </a:prstGeom>
          <a:solidFill>
            <a:srgbClr val="D0DB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FR" sz="2400" dirty="0">
              <a:solidFill>
                <a:srgbClr val="0055FF"/>
              </a:solidFill>
              <a:latin typeface="Poppins" pitchFamily="2" charset="77"/>
              <a:cs typeface="Poppins" pitchFamily="2" charset="77"/>
            </a:endParaRPr>
          </a:p>
          <a:p>
            <a:pPr algn="ctr"/>
            <a:r>
              <a:rPr lang="en-GB" sz="2400" b="1" dirty="0">
                <a:solidFill>
                  <a:srgbClr val="0055FF"/>
                </a:solidFill>
                <a:latin typeface="Poppins" pitchFamily="2" charset="77"/>
                <a:cs typeface="Poppins" pitchFamily="2" charset="77"/>
              </a:rPr>
              <a:t>FULL</a:t>
            </a:r>
            <a:br>
              <a:rPr lang="en-GB" sz="2400" b="1" dirty="0">
                <a:solidFill>
                  <a:srgbClr val="0055FF"/>
                </a:solidFill>
                <a:latin typeface="Poppins" pitchFamily="2" charset="77"/>
                <a:cs typeface="Poppins" pitchFamily="2" charset="77"/>
              </a:rPr>
            </a:br>
            <a:r>
              <a:rPr lang="en-GB" sz="2400" b="1" dirty="0">
                <a:solidFill>
                  <a:srgbClr val="0055FF"/>
                </a:solidFill>
                <a:latin typeface="Poppins" pitchFamily="2" charset="77"/>
                <a:cs typeface="Poppins" pitchFamily="2" charset="77"/>
              </a:rPr>
              <a:t>ANNOTATION</a:t>
            </a:r>
            <a:endParaRPr lang="en-FR" sz="2400" b="1" dirty="0">
              <a:solidFill>
                <a:srgbClr val="0055FF"/>
              </a:solidFill>
              <a:latin typeface="Poppins" pitchFamily="2" charset="77"/>
              <a:cs typeface="Poppins" pitchFamily="2" charset="77"/>
            </a:endParaRPr>
          </a:p>
        </p:txBody>
      </p:sp>
      <p:sp>
        <p:nvSpPr>
          <p:cNvPr id="11" name="Rectangle 10">
            <a:extLst>
              <a:ext uri="{FF2B5EF4-FFF2-40B4-BE49-F238E27FC236}">
                <a16:creationId xmlns:a16="http://schemas.microsoft.com/office/drawing/2014/main" id="{6061D984-85FD-239C-963A-D48ABA2E3592}"/>
              </a:ext>
            </a:extLst>
          </p:cNvPr>
          <p:cNvSpPr/>
          <p:nvPr/>
        </p:nvSpPr>
        <p:spPr>
          <a:xfrm>
            <a:off x="4378568" y="1903934"/>
            <a:ext cx="7367954" cy="1525065"/>
          </a:xfrm>
          <a:prstGeom prst="rect">
            <a:avLst/>
          </a:prstGeom>
          <a:solidFill>
            <a:schemeClr val="bg1"/>
          </a:solidFill>
          <a:ln w="38100">
            <a:solidFill>
              <a:srgbClr val="A5AFF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rgbClr val="0055FF"/>
                </a:solidFill>
                <a:latin typeface="Poppins"/>
                <a:cs typeface="Poppins"/>
              </a:rPr>
              <a:t>The objective of this phase was to introduce the annotators to the labelling tasks. The five annotators each evaluated the randomly selected samples on each task</a:t>
            </a:r>
            <a:br>
              <a:rPr lang="en-GB" dirty="0">
                <a:latin typeface="Poppins" pitchFamily="2" charset="77"/>
                <a:cs typeface="Poppins" pitchFamily="2" charset="77"/>
              </a:rPr>
            </a:br>
            <a:r>
              <a:rPr lang="en-GB" u="sng" dirty="0">
                <a:solidFill>
                  <a:srgbClr val="0055FF"/>
                </a:solidFill>
                <a:latin typeface="Poppins"/>
                <a:cs typeface="Poppins"/>
              </a:rPr>
              <a:t>Inter-annotator Agreement: </a:t>
            </a:r>
            <a:r>
              <a:rPr lang="en-GB" b="1" dirty="0">
                <a:solidFill>
                  <a:srgbClr val="0055FF"/>
                </a:solidFill>
                <a:latin typeface="Poppins"/>
                <a:cs typeface="Poppins"/>
              </a:rPr>
              <a:t>alpha de </a:t>
            </a:r>
            <a:r>
              <a:rPr lang="en-GB" b="1" dirty="0" err="1">
                <a:solidFill>
                  <a:srgbClr val="0055FF"/>
                </a:solidFill>
                <a:latin typeface="Poppins"/>
                <a:cs typeface="Poppins"/>
              </a:rPr>
              <a:t>Krippendorff</a:t>
            </a:r>
            <a:r>
              <a:rPr lang="en-GB" b="1" dirty="0">
                <a:solidFill>
                  <a:srgbClr val="0055FF"/>
                </a:solidFill>
                <a:latin typeface="Poppins"/>
                <a:cs typeface="Poppins"/>
              </a:rPr>
              <a:t> </a:t>
            </a:r>
            <a:r>
              <a:rPr lang="en-GB" dirty="0">
                <a:solidFill>
                  <a:srgbClr val="0055FF"/>
                </a:solidFill>
                <a:latin typeface="Poppins"/>
                <a:cs typeface="Poppins"/>
              </a:rPr>
              <a:t>of </a:t>
            </a:r>
            <a:r>
              <a:rPr lang="en-GB" b="1" dirty="0">
                <a:solidFill>
                  <a:srgbClr val="0055FF"/>
                </a:solidFill>
                <a:latin typeface="Poppins"/>
                <a:cs typeface="Poppins"/>
              </a:rPr>
              <a:t>0,674.</a:t>
            </a:r>
            <a:endParaRPr lang="en-FR" sz="2400" b="1" dirty="0">
              <a:solidFill>
                <a:srgbClr val="0055FF"/>
              </a:solidFill>
              <a:latin typeface="Poppins"/>
              <a:cs typeface="Poppins"/>
            </a:endParaRPr>
          </a:p>
        </p:txBody>
      </p:sp>
      <p:sp>
        <p:nvSpPr>
          <p:cNvPr id="12" name="Rectangle 11">
            <a:extLst>
              <a:ext uri="{FF2B5EF4-FFF2-40B4-BE49-F238E27FC236}">
                <a16:creationId xmlns:a16="http://schemas.microsoft.com/office/drawing/2014/main" id="{47B0BA9E-9EA8-2119-304E-A84BE6F3BD61}"/>
              </a:ext>
            </a:extLst>
          </p:cNvPr>
          <p:cNvSpPr/>
          <p:nvPr/>
        </p:nvSpPr>
        <p:spPr>
          <a:xfrm>
            <a:off x="4378568" y="4304700"/>
            <a:ext cx="7367954" cy="1525065"/>
          </a:xfrm>
          <a:prstGeom prst="rect">
            <a:avLst/>
          </a:prstGeom>
          <a:solidFill>
            <a:schemeClr val="bg1"/>
          </a:solidFill>
          <a:ln w="38100">
            <a:solidFill>
              <a:srgbClr val="A5AFF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55FF"/>
                </a:solidFill>
                <a:latin typeface="Poppins" pitchFamily="2" charset="77"/>
                <a:cs typeface="Poppins" pitchFamily="2" charset="77"/>
              </a:rPr>
              <a:t>After controlling the agreement measure, we ran the annotation process on the 67 remaining samples.</a:t>
            </a:r>
            <a:endParaRPr lang="en-FR" dirty="0">
              <a:solidFill>
                <a:srgbClr val="0055FF"/>
              </a:solidFill>
              <a:latin typeface="Poppins" pitchFamily="2" charset="77"/>
              <a:cs typeface="Poppins" pitchFamily="2" charset="77"/>
            </a:endParaRPr>
          </a:p>
        </p:txBody>
      </p:sp>
      <p:pic>
        <p:nvPicPr>
          <p:cNvPr id="13" name="Picture 12">
            <a:extLst>
              <a:ext uri="{FF2B5EF4-FFF2-40B4-BE49-F238E27FC236}">
                <a16:creationId xmlns:a16="http://schemas.microsoft.com/office/drawing/2014/main" id="{AC915CA6-6561-7A55-53EB-093E3CC78359}"/>
              </a:ext>
            </a:extLst>
          </p:cNvPr>
          <p:cNvPicPr>
            <a:picLocks noChangeAspect="1"/>
          </p:cNvPicPr>
          <p:nvPr/>
        </p:nvPicPr>
        <p:blipFill>
          <a:blip r:embed="rId3">
            <a:alphaModFix amt="51000"/>
            <a:extLst>
              <a:ext uri="{BEBA8EAE-BF5A-486C-A8C5-ECC9F3942E4B}">
                <a14:imgProps xmlns:a14="http://schemas.microsoft.com/office/drawing/2010/main">
                  <a14:imgLayer r:embed="rId4">
                    <a14:imgEffect>
                      <a14:artisticPhotocopy/>
                    </a14:imgEffect>
                    <a14:imgEffect>
                      <a14:colorTemperature colorTemp="2989"/>
                    </a14:imgEffect>
                  </a14:imgLayer>
                </a14:imgProps>
              </a:ext>
            </a:extLst>
          </a:blip>
          <a:stretch>
            <a:fillRect/>
          </a:stretch>
        </p:blipFill>
        <p:spPr>
          <a:xfrm>
            <a:off x="179856" y="298642"/>
            <a:ext cx="759258" cy="759258"/>
          </a:xfrm>
          <a:prstGeom prst="rect">
            <a:avLst/>
          </a:prstGeom>
          <a:ln>
            <a:noFill/>
          </a:ln>
        </p:spPr>
      </p:pic>
    </p:spTree>
    <p:extLst>
      <p:ext uri="{BB962C8B-B14F-4D97-AF65-F5344CB8AC3E}">
        <p14:creationId xmlns:p14="http://schemas.microsoft.com/office/powerpoint/2010/main" val="3658359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8F28F-E4AE-EA31-3100-A0D8E237E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E477F-777D-B225-800E-7E240675C614}"/>
              </a:ext>
            </a:extLst>
          </p:cNvPr>
          <p:cNvSpPr>
            <a:spLocks noGrp="1"/>
          </p:cNvSpPr>
          <p:nvPr>
            <p:ph type="title"/>
          </p:nvPr>
        </p:nvSpPr>
        <p:spPr/>
        <p:txBody>
          <a:bodyPr/>
          <a:lstStyle/>
          <a:p>
            <a:r>
              <a:rPr lang="en-FR" dirty="0"/>
              <a:t>DATA-SERGe: Analysis</a:t>
            </a:r>
          </a:p>
        </p:txBody>
      </p:sp>
      <p:pic>
        <p:nvPicPr>
          <p:cNvPr id="3" name="Picture 2">
            <a:extLst>
              <a:ext uri="{FF2B5EF4-FFF2-40B4-BE49-F238E27FC236}">
                <a16:creationId xmlns:a16="http://schemas.microsoft.com/office/drawing/2014/main" id="{D1A804C0-D055-7BFF-1B9B-76FBD4C78E28}"/>
              </a:ext>
            </a:extLst>
          </p:cNvPr>
          <p:cNvPicPr>
            <a:picLocks noChangeAspect="1"/>
          </p:cNvPicPr>
          <p:nvPr/>
        </p:nvPicPr>
        <p:blipFill>
          <a:blip r:embed="rId3">
            <a:alphaModFix amt="51000"/>
            <a:extLst>
              <a:ext uri="{BEBA8EAE-BF5A-486C-A8C5-ECC9F3942E4B}">
                <a14:imgProps xmlns:a14="http://schemas.microsoft.com/office/drawing/2010/main">
                  <a14:imgLayer r:embed="rId4">
                    <a14:imgEffect>
                      <a14:artisticPhotocopy/>
                    </a14:imgEffect>
                    <a14:imgEffect>
                      <a14:colorTemperature colorTemp="2989"/>
                    </a14:imgEffect>
                  </a14:imgLayer>
                </a14:imgProps>
              </a:ext>
            </a:extLst>
          </a:blip>
          <a:stretch>
            <a:fillRect/>
          </a:stretch>
        </p:blipFill>
        <p:spPr>
          <a:xfrm>
            <a:off x="179856" y="298642"/>
            <a:ext cx="759258" cy="759258"/>
          </a:xfrm>
          <a:prstGeom prst="rect">
            <a:avLst/>
          </a:prstGeom>
          <a:ln>
            <a:noFill/>
          </a:ln>
        </p:spPr>
      </p:pic>
      <p:pic>
        <p:nvPicPr>
          <p:cNvPr id="4" name="Image 4" descr="Une image contenant texte, nombre, capture d’écran, Police&#10;&#10;Description générée automatiquement">
            <a:extLst>
              <a:ext uri="{FF2B5EF4-FFF2-40B4-BE49-F238E27FC236}">
                <a16:creationId xmlns:a16="http://schemas.microsoft.com/office/drawing/2014/main" id="{9DB2BE40-BA01-7A36-A386-435B9AD7894D}"/>
              </a:ext>
            </a:extLst>
          </p:cNvPr>
          <p:cNvPicPr>
            <a:picLocks noChangeAspect="1"/>
          </p:cNvPicPr>
          <p:nvPr/>
        </p:nvPicPr>
        <p:blipFill>
          <a:blip r:embed="rId5"/>
          <a:stretch>
            <a:fillRect/>
          </a:stretch>
        </p:blipFill>
        <p:spPr>
          <a:xfrm>
            <a:off x="939114" y="3808296"/>
            <a:ext cx="4206462" cy="1456886"/>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A49D07A-B62B-6049-38E6-3B24CD728D2F}"/>
                  </a:ext>
                </a:extLst>
              </p:cNvPr>
              <p:cNvSpPr txBox="1"/>
              <p:nvPr/>
            </p:nvSpPr>
            <p:spPr>
              <a:xfrm>
                <a:off x="1135262" y="5340326"/>
                <a:ext cx="3979560" cy="646331"/>
              </a:xfrm>
              <a:prstGeom prst="rect">
                <a:avLst/>
              </a:prstGeom>
              <a:noFill/>
            </p:spPr>
            <p:txBody>
              <a:bodyPr wrap="square" rtlCol="0">
                <a:spAutoFit/>
              </a:bodyPr>
              <a:lstStyle/>
              <a:p>
                <a:r>
                  <a:rPr lang="en-GB" sz="1200" b="0" i="1" dirty="0">
                    <a:solidFill>
                      <a:srgbClr val="4B84F4"/>
                    </a:solidFill>
                    <a:effectLst/>
                    <a:latin typeface="Poppins" pitchFamily="2" charset="77"/>
                    <a:cs typeface="Poppins" pitchFamily="2" charset="77"/>
                  </a:rPr>
                  <a:t>Statistics on </a:t>
                </a:r>
                <a14:m>
                  <m:oMath xmlns:m="http://schemas.openxmlformats.org/officeDocument/2006/math">
                    <m:sSub>
                      <m:sSubPr>
                        <m:ctrlPr>
                          <a:rPr lang="en-GB" sz="1200" i="1" smtClean="0">
                            <a:solidFill>
                              <a:srgbClr val="4B84F4"/>
                            </a:solidFill>
                            <a:latin typeface="Cambria Math" panose="02040503050406030204" pitchFamily="18" charset="0"/>
                          </a:rPr>
                        </m:ctrlPr>
                      </m:sSubPr>
                      <m:e>
                        <m:r>
                          <a:rPr lang="fr-FR" sz="1200" i="1">
                            <a:solidFill>
                              <a:srgbClr val="4B84F4"/>
                            </a:solidFill>
                            <a:latin typeface="Cambria Math" panose="02040503050406030204" pitchFamily="18" charset="0"/>
                          </a:rPr>
                          <m:t>𝑙</m:t>
                        </m:r>
                      </m:e>
                      <m:sub>
                        <m:r>
                          <a:rPr lang="fr-FR" sz="1200" i="1">
                            <a:solidFill>
                              <a:srgbClr val="4B84F4"/>
                            </a:solidFill>
                            <a:latin typeface="Cambria Math" panose="02040503050406030204" pitchFamily="18" charset="0"/>
                          </a:rPr>
                          <m:t>𝑖</m:t>
                        </m:r>
                      </m:sub>
                    </m:sSub>
                    <m:r>
                      <a:rPr lang="fr-FR" sz="1200" i="1">
                        <a:solidFill>
                          <a:srgbClr val="4B84F4"/>
                        </a:solidFill>
                        <a:latin typeface="Cambria Math" panose="02040503050406030204" pitchFamily="18" charset="0"/>
                      </a:rPr>
                      <m:t> </m:t>
                    </m:r>
                  </m:oMath>
                </a14:m>
                <a:r>
                  <a:rPr lang="en-GB" sz="1200" b="0" i="1" dirty="0">
                    <a:solidFill>
                      <a:srgbClr val="4B84F4"/>
                    </a:solidFill>
                    <a:effectLst/>
                    <a:latin typeface="Poppins" pitchFamily="2" charset="77"/>
                    <a:cs typeface="Poppins" pitchFamily="2" charset="77"/>
                  </a:rPr>
                  <a:t>the number of socio-emotional labels associated with the speaker turn </a:t>
                </a:r>
                <a14:m>
                  <m:oMath xmlns:m="http://schemas.openxmlformats.org/officeDocument/2006/math">
                    <m:sSub>
                      <m:sSubPr>
                        <m:ctrlPr>
                          <a:rPr lang="en-GB" sz="1200" i="1">
                            <a:solidFill>
                              <a:srgbClr val="4B84F4"/>
                            </a:solidFill>
                            <a:latin typeface="Cambria Math" panose="02040503050406030204" pitchFamily="18" charset="0"/>
                          </a:rPr>
                        </m:ctrlPr>
                      </m:sSubPr>
                      <m:e>
                        <m:r>
                          <a:rPr lang="fr-FR" sz="1200" b="0" i="1" smtClean="0">
                            <a:solidFill>
                              <a:srgbClr val="4B84F4"/>
                            </a:solidFill>
                            <a:latin typeface="Cambria Math" panose="02040503050406030204" pitchFamily="18" charset="0"/>
                          </a:rPr>
                          <m:t>𝑐</m:t>
                        </m:r>
                      </m:e>
                      <m:sub>
                        <m:r>
                          <a:rPr lang="fr-FR" sz="1200" i="1">
                            <a:solidFill>
                              <a:srgbClr val="4B84F4"/>
                            </a:solidFill>
                            <a:latin typeface="Cambria Math" panose="02040503050406030204" pitchFamily="18" charset="0"/>
                          </a:rPr>
                          <m:t>𝑖</m:t>
                        </m:r>
                      </m:sub>
                    </m:sSub>
                  </m:oMath>
                </a14:m>
                <a:r>
                  <a:rPr lang="en-GB" sz="1200" b="0" i="1" dirty="0">
                    <a:solidFill>
                      <a:srgbClr val="4B84F4"/>
                    </a:solidFill>
                    <a:effectLst/>
                    <a:latin typeface="Poppins" pitchFamily="2" charset="77"/>
                    <a:cs typeface="Poppins" pitchFamily="2" charset="77"/>
                  </a:rPr>
                  <a:t>.</a:t>
                </a:r>
                <a:br>
                  <a:rPr lang="en-GB" sz="1200" dirty="0">
                    <a:solidFill>
                      <a:srgbClr val="4B84F4"/>
                    </a:solidFill>
                    <a:latin typeface="Poppins" pitchFamily="2" charset="77"/>
                    <a:cs typeface="Poppins" pitchFamily="2" charset="77"/>
                  </a:rPr>
                </a:br>
                <a:endParaRPr lang="en-FR" sz="1200" dirty="0">
                  <a:solidFill>
                    <a:srgbClr val="4B84F4"/>
                  </a:solidFill>
                  <a:latin typeface="Poppins" pitchFamily="2" charset="77"/>
                  <a:cs typeface="Poppins" pitchFamily="2" charset="77"/>
                </a:endParaRPr>
              </a:p>
            </p:txBody>
          </p:sp>
        </mc:Choice>
        <mc:Fallback xmlns="">
          <p:sp>
            <p:nvSpPr>
              <p:cNvPr id="5" name="TextBox 4">
                <a:extLst>
                  <a:ext uri="{FF2B5EF4-FFF2-40B4-BE49-F238E27FC236}">
                    <a16:creationId xmlns:a16="http://schemas.microsoft.com/office/drawing/2014/main" id="{1A49D07A-B62B-6049-38E6-3B24CD728D2F}"/>
                  </a:ext>
                </a:extLst>
              </p:cNvPr>
              <p:cNvSpPr txBox="1">
                <a:spLocks noRot="1" noChangeAspect="1" noMove="1" noResize="1" noEditPoints="1" noAdjustHandles="1" noChangeArrowheads="1" noChangeShapeType="1" noTextEdit="1"/>
              </p:cNvSpPr>
              <p:nvPr/>
            </p:nvSpPr>
            <p:spPr>
              <a:xfrm>
                <a:off x="1135262" y="5340326"/>
                <a:ext cx="3979560" cy="646331"/>
              </a:xfrm>
              <a:prstGeom prst="rect">
                <a:avLst/>
              </a:prstGeom>
              <a:blipFill>
                <a:blip r:embed="rId6"/>
                <a:stretch>
                  <a:fillRect/>
                </a:stretch>
              </a:blipFill>
            </p:spPr>
            <p:txBody>
              <a:bodyPr/>
              <a:lstStyle/>
              <a:p>
                <a:r>
                  <a:rPr lang="en-FR">
                    <a:noFill/>
                  </a:rPr>
                  <a:t> </a:t>
                </a:r>
              </a:p>
            </p:txBody>
          </p:sp>
        </mc:Fallback>
      </mc:AlternateContent>
      <p:sp>
        <p:nvSpPr>
          <p:cNvPr id="9" name="Rectangle 8">
            <a:extLst>
              <a:ext uri="{FF2B5EF4-FFF2-40B4-BE49-F238E27FC236}">
                <a16:creationId xmlns:a16="http://schemas.microsoft.com/office/drawing/2014/main" id="{D594B037-2AF8-F4D2-16D1-ACE9C1B94550}"/>
              </a:ext>
            </a:extLst>
          </p:cNvPr>
          <p:cNvSpPr/>
          <p:nvPr/>
        </p:nvSpPr>
        <p:spPr>
          <a:xfrm>
            <a:off x="2761137" y="4661933"/>
            <a:ext cx="2285834" cy="440368"/>
          </a:xfrm>
          <a:prstGeom prst="rect">
            <a:avLst/>
          </a:prstGeom>
          <a:noFill/>
          <a:ln w="28575">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Image 4" descr="Une image contenant texte, reçu, nombre, Police&#10;&#10;Description générée automatiquement">
            <a:extLst>
              <a:ext uri="{FF2B5EF4-FFF2-40B4-BE49-F238E27FC236}">
                <a16:creationId xmlns:a16="http://schemas.microsoft.com/office/drawing/2014/main" id="{C17B3EA3-61DA-63CC-17DB-53ADF606016D}"/>
              </a:ext>
            </a:extLst>
          </p:cNvPr>
          <p:cNvPicPr>
            <a:picLocks noChangeAspect="1"/>
          </p:cNvPicPr>
          <p:nvPr/>
        </p:nvPicPr>
        <p:blipFill rotWithShape="1">
          <a:blip r:embed="rId7"/>
          <a:srcRect t="35011" r="201" b="219"/>
          <a:stretch/>
        </p:blipFill>
        <p:spPr>
          <a:xfrm>
            <a:off x="6090478" y="3125883"/>
            <a:ext cx="5313749" cy="3168445"/>
          </a:xfrm>
          <a:prstGeom prst="rect">
            <a:avLst/>
          </a:prstGeom>
        </p:spPr>
      </p:pic>
      <p:pic>
        <p:nvPicPr>
          <p:cNvPr id="11" name="Image 2" descr="Une image contenant texte, reçu, nombre, Police&#10;&#10;Description générée automatiquement">
            <a:extLst>
              <a:ext uri="{FF2B5EF4-FFF2-40B4-BE49-F238E27FC236}">
                <a16:creationId xmlns:a16="http://schemas.microsoft.com/office/drawing/2014/main" id="{FEBEA70C-1BB2-132A-F047-EA28CC684C65}"/>
              </a:ext>
            </a:extLst>
          </p:cNvPr>
          <p:cNvPicPr>
            <a:picLocks noChangeAspect="1"/>
          </p:cNvPicPr>
          <p:nvPr/>
        </p:nvPicPr>
        <p:blipFill rotWithShape="1">
          <a:blip r:embed="rId7"/>
          <a:srcRect t="172" r="258" b="65213"/>
          <a:stretch/>
        </p:blipFill>
        <p:spPr>
          <a:xfrm>
            <a:off x="6096000" y="1384561"/>
            <a:ext cx="5376358" cy="1692235"/>
          </a:xfrm>
          <a:prstGeom prst="rect">
            <a:avLst/>
          </a:prstGeom>
        </p:spPr>
      </p:pic>
      <p:sp>
        <p:nvSpPr>
          <p:cNvPr id="12" name="TextBox 11">
            <a:extLst>
              <a:ext uri="{FF2B5EF4-FFF2-40B4-BE49-F238E27FC236}">
                <a16:creationId xmlns:a16="http://schemas.microsoft.com/office/drawing/2014/main" id="{A32AD8D2-F60D-AC37-D89F-119012D9479E}"/>
              </a:ext>
            </a:extLst>
          </p:cNvPr>
          <p:cNvSpPr txBox="1"/>
          <p:nvPr/>
        </p:nvSpPr>
        <p:spPr>
          <a:xfrm>
            <a:off x="6201580" y="1148823"/>
            <a:ext cx="5165197" cy="276999"/>
          </a:xfrm>
          <a:prstGeom prst="rect">
            <a:avLst/>
          </a:prstGeom>
          <a:noFill/>
        </p:spPr>
        <p:txBody>
          <a:bodyPr wrap="none" rtlCol="0">
            <a:spAutoFit/>
          </a:bodyPr>
          <a:lstStyle/>
          <a:p>
            <a:r>
              <a:rPr lang="en-GB" sz="1200" b="0" i="1" dirty="0">
                <a:solidFill>
                  <a:srgbClr val="4B84F4"/>
                </a:solidFill>
                <a:effectLst/>
                <a:latin typeface="Poppins" pitchFamily="2" charset="77"/>
                <a:cs typeface="Poppins" pitchFamily="2" charset="77"/>
              </a:rPr>
              <a:t>Number of labels annotated per emotion and dialogue strategy.</a:t>
            </a:r>
            <a:endParaRPr lang="en-FR" sz="1600" i="1" dirty="0">
              <a:solidFill>
                <a:srgbClr val="4B84F4"/>
              </a:solidFill>
              <a:latin typeface="Poppins" pitchFamily="2" charset="77"/>
              <a:cs typeface="Poppins" pitchFamily="2" charset="77"/>
            </a:endParaRPr>
          </a:p>
        </p:txBody>
      </p:sp>
      <p:sp>
        <p:nvSpPr>
          <p:cNvPr id="13" name="Rectangle 12">
            <a:extLst>
              <a:ext uri="{FF2B5EF4-FFF2-40B4-BE49-F238E27FC236}">
                <a16:creationId xmlns:a16="http://schemas.microsoft.com/office/drawing/2014/main" id="{E48C812E-ECDB-3E9E-5857-1F1D7F729F2E}"/>
              </a:ext>
            </a:extLst>
          </p:cNvPr>
          <p:cNvSpPr/>
          <p:nvPr/>
        </p:nvSpPr>
        <p:spPr>
          <a:xfrm>
            <a:off x="6346010" y="4537854"/>
            <a:ext cx="4734767" cy="151966"/>
          </a:xfrm>
          <a:prstGeom prst="rect">
            <a:avLst/>
          </a:prstGeom>
          <a:noFill/>
          <a:ln w="28575">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40971862-8366-6E8D-BA06-F7E6474486E2}"/>
              </a:ext>
            </a:extLst>
          </p:cNvPr>
          <p:cNvSpPr/>
          <p:nvPr/>
        </p:nvSpPr>
        <p:spPr>
          <a:xfrm>
            <a:off x="6347012" y="5050123"/>
            <a:ext cx="4733766" cy="151967"/>
          </a:xfrm>
          <a:prstGeom prst="rect">
            <a:avLst/>
          </a:prstGeom>
          <a:noFill/>
          <a:ln w="28575">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9C60A319-EFEA-A568-735D-FCD3EEC9CDBE}"/>
              </a:ext>
            </a:extLst>
          </p:cNvPr>
          <p:cNvSpPr/>
          <p:nvPr/>
        </p:nvSpPr>
        <p:spPr>
          <a:xfrm>
            <a:off x="9197753" y="2249442"/>
            <a:ext cx="1944669" cy="194568"/>
          </a:xfrm>
          <a:prstGeom prst="rect">
            <a:avLst/>
          </a:prstGeom>
          <a:noFill/>
          <a:ln w="28575">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5C21CCB8-FDD0-005C-FB57-4212F2E933BE}"/>
              </a:ext>
            </a:extLst>
          </p:cNvPr>
          <p:cNvSpPr/>
          <p:nvPr/>
        </p:nvSpPr>
        <p:spPr>
          <a:xfrm>
            <a:off x="10522784" y="1724086"/>
            <a:ext cx="619638" cy="210792"/>
          </a:xfrm>
          <a:prstGeom prst="rect">
            <a:avLst/>
          </a:prstGeom>
          <a:noFill/>
          <a:ln w="28575">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766FB580-B470-0388-23B2-285F372D7F16}"/>
              </a:ext>
            </a:extLst>
          </p:cNvPr>
          <p:cNvSpPr/>
          <p:nvPr/>
        </p:nvSpPr>
        <p:spPr>
          <a:xfrm>
            <a:off x="1496760" y="1506488"/>
            <a:ext cx="3042841" cy="1680476"/>
          </a:xfrm>
          <a:prstGeom prst="rect">
            <a:avLst/>
          </a:prstGeom>
          <a:solidFill>
            <a:schemeClr val="bg1"/>
          </a:solidFill>
          <a:ln w="57150">
            <a:solidFill>
              <a:srgbClr val="B08AB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000" dirty="0">
                <a:solidFill>
                  <a:srgbClr val="0055FF"/>
                </a:solidFill>
                <a:latin typeface="Poppins"/>
                <a:cs typeface="Poppins"/>
              </a:rPr>
              <a:t>67 conversations</a:t>
            </a:r>
            <a:br>
              <a:rPr lang="en-GB" sz="2000" dirty="0">
                <a:latin typeface="Poppins" pitchFamily="2" charset="77"/>
                <a:cs typeface="Poppins" pitchFamily="2" charset="77"/>
              </a:rPr>
            </a:br>
            <a:r>
              <a:rPr lang="en-GB" sz="2000" dirty="0">
                <a:solidFill>
                  <a:srgbClr val="0055FF"/>
                </a:solidFill>
                <a:latin typeface="Poppins"/>
                <a:cs typeface="Poppins"/>
              </a:rPr>
              <a:t>3051 utterances </a:t>
            </a:r>
            <a:br>
              <a:rPr lang="en-GB" sz="2000" dirty="0">
                <a:latin typeface="Poppins" pitchFamily="2" charset="77"/>
                <a:cs typeface="Poppins" pitchFamily="2" charset="77"/>
              </a:rPr>
            </a:br>
            <a:r>
              <a:rPr lang="en-GB" sz="2000" dirty="0">
                <a:solidFill>
                  <a:srgbClr val="0055FF"/>
                </a:solidFill>
                <a:latin typeface="Poppins"/>
                <a:cs typeface="Poppins"/>
              </a:rPr>
              <a:t>109 841 tokens</a:t>
            </a:r>
            <a:endParaRPr lang="en-FR" sz="2000" dirty="0">
              <a:solidFill>
                <a:srgbClr val="0055FF"/>
              </a:solidFill>
              <a:latin typeface="Poppins"/>
              <a:cs typeface="Poppins"/>
            </a:endParaRPr>
          </a:p>
        </p:txBody>
      </p:sp>
    </p:spTree>
    <p:extLst>
      <p:ext uri="{BB962C8B-B14F-4D97-AF65-F5344CB8AC3E}">
        <p14:creationId xmlns:p14="http://schemas.microsoft.com/office/powerpoint/2010/main" val="4063503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P spid="13" grpId="0" animBg="1"/>
      <p:bldP spid="14" grpId="0" animBg="1"/>
      <p:bldP spid="15" grpId="0" animBg="1"/>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F5E4E-D92D-5738-4C92-52C7D667C3F7}"/>
            </a:ext>
          </a:extLst>
        </p:cNvPr>
        <p:cNvGrpSpPr/>
        <p:nvPr/>
      </p:nvGrpSpPr>
      <p:grpSpPr>
        <a:xfrm>
          <a:off x="0" y="0"/>
          <a:ext cx="0" cy="0"/>
          <a:chOff x="0" y="0"/>
          <a:chExt cx="0" cy="0"/>
        </a:xfrm>
      </p:grpSpPr>
      <p:pic>
        <p:nvPicPr>
          <p:cNvPr id="5" name="Graphic 4" descr="Gears with solid fill">
            <a:extLst>
              <a:ext uri="{FF2B5EF4-FFF2-40B4-BE49-F238E27FC236}">
                <a16:creationId xmlns:a16="http://schemas.microsoft.com/office/drawing/2014/main" id="{9811D733-1403-D397-1B44-DACF5831C7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3608" y="1442446"/>
            <a:ext cx="5334049" cy="5334049"/>
          </a:xfrm>
          <a:prstGeom prst="rect">
            <a:avLst/>
          </a:prstGeom>
        </p:spPr>
      </p:pic>
      <p:sp>
        <p:nvSpPr>
          <p:cNvPr id="6" name="TextBox 5">
            <a:extLst>
              <a:ext uri="{FF2B5EF4-FFF2-40B4-BE49-F238E27FC236}">
                <a16:creationId xmlns:a16="http://schemas.microsoft.com/office/drawing/2014/main" id="{B5A9ECFE-970E-6111-CF6A-7CF52F63EB28}"/>
              </a:ext>
            </a:extLst>
          </p:cNvPr>
          <p:cNvSpPr txBox="1"/>
          <p:nvPr/>
        </p:nvSpPr>
        <p:spPr>
          <a:xfrm>
            <a:off x="8462288" y="-464374"/>
            <a:ext cx="3059185" cy="7786747"/>
          </a:xfrm>
          <a:prstGeom prst="rect">
            <a:avLst/>
          </a:prstGeom>
          <a:noFill/>
        </p:spPr>
        <p:txBody>
          <a:bodyPr wrap="square" rtlCol="0">
            <a:spAutoFit/>
          </a:bodyPr>
          <a:lstStyle/>
          <a:p>
            <a:r>
              <a:rPr lang="en-FR" sz="50000" dirty="0">
                <a:solidFill>
                  <a:srgbClr val="AEC8FB"/>
                </a:solidFill>
                <a:latin typeface="Cambria" panose="02040503050406030204" pitchFamily="18" charset="0"/>
                <a:cs typeface="Poppins" pitchFamily="2" charset="77"/>
              </a:rPr>
              <a:t>3</a:t>
            </a:r>
          </a:p>
        </p:txBody>
      </p:sp>
      <p:sp>
        <p:nvSpPr>
          <p:cNvPr id="9" name="TextBox 8">
            <a:extLst>
              <a:ext uri="{FF2B5EF4-FFF2-40B4-BE49-F238E27FC236}">
                <a16:creationId xmlns:a16="http://schemas.microsoft.com/office/drawing/2014/main" id="{3557E70F-EA0F-F4D6-8980-5EE04A82F994}"/>
              </a:ext>
            </a:extLst>
          </p:cNvPr>
          <p:cNvSpPr txBox="1"/>
          <p:nvPr/>
        </p:nvSpPr>
        <p:spPr>
          <a:xfrm>
            <a:off x="5170836" y="3241318"/>
            <a:ext cx="6631867" cy="1107996"/>
          </a:xfrm>
          <a:prstGeom prst="rect">
            <a:avLst/>
          </a:prstGeom>
          <a:noFill/>
        </p:spPr>
        <p:txBody>
          <a:bodyPr wrap="square" lIns="91440" tIns="45720" rIns="91440" bIns="45720" anchor="t">
            <a:spAutoFit/>
          </a:bodyPr>
          <a:lstStyle/>
          <a:p>
            <a:pPr algn="ctr"/>
            <a:r>
              <a:rPr lang="en-FR" sz="6600" dirty="0">
                <a:ln>
                  <a:solidFill>
                    <a:srgbClr val="4B85F4">
                      <a:alpha val="10000"/>
                    </a:srgbClr>
                  </a:solidFill>
                </a:ln>
                <a:solidFill>
                  <a:schemeClr val="bg1"/>
                </a:solidFill>
                <a:latin typeface="Poppins"/>
                <a:cs typeface="Poppins"/>
              </a:rPr>
              <a:t>Experiments</a:t>
            </a:r>
          </a:p>
        </p:txBody>
      </p:sp>
      <p:sp>
        <p:nvSpPr>
          <p:cNvPr id="24" name="Chevron 23">
            <a:extLst>
              <a:ext uri="{FF2B5EF4-FFF2-40B4-BE49-F238E27FC236}">
                <a16:creationId xmlns:a16="http://schemas.microsoft.com/office/drawing/2014/main" id="{E3B7C975-D3C1-19C6-BDD8-FBBE25C18691}"/>
              </a:ext>
            </a:extLst>
          </p:cNvPr>
          <p:cNvSpPr/>
          <p:nvPr/>
        </p:nvSpPr>
        <p:spPr>
          <a:xfrm>
            <a:off x="3124871" y="204719"/>
            <a:ext cx="2932625" cy="595085"/>
          </a:xfrm>
          <a:prstGeom prst="chevron">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4B84F4"/>
                </a:solidFill>
                <a:latin typeface="Poppins" pitchFamily="2" charset="77"/>
                <a:cs typeface="Poppins" pitchFamily="2" charset="77"/>
              </a:rPr>
              <a:t>DATA-SERGe</a:t>
            </a:r>
          </a:p>
        </p:txBody>
      </p:sp>
      <p:sp>
        <p:nvSpPr>
          <p:cNvPr id="25" name="Chevron 24">
            <a:extLst>
              <a:ext uri="{FF2B5EF4-FFF2-40B4-BE49-F238E27FC236}">
                <a16:creationId xmlns:a16="http://schemas.microsoft.com/office/drawing/2014/main" id="{B7E25546-09A0-CE48-DDFE-CBFEB447E2F5}"/>
              </a:ext>
            </a:extLst>
          </p:cNvPr>
          <p:cNvSpPr/>
          <p:nvPr/>
        </p:nvSpPr>
        <p:spPr>
          <a:xfrm>
            <a:off x="6130778" y="204718"/>
            <a:ext cx="2932624" cy="595085"/>
          </a:xfrm>
          <a:prstGeom prst="chevron">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4B84F4"/>
                </a:solidFill>
                <a:latin typeface="Poppins" pitchFamily="2" charset="77"/>
                <a:cs typeface="Poppins" pitchFamily="2" charset="77"/>
              </a:rPr>
              <a:t>Experiments</a:t>
            </a:r>
          </a:p>
        </p:txBody>
      </p:sp>
      <p:sp>
        <p:nvSpPr>
          <p:cNvPr id="27" name="Chevron 26">
            <a:extLst>
              <a:ext uri="{FF2B5EF4-FFF2-40B4-BE49-F238E27FC236}">
                <a16:creationId xmlns:a16="http://schemas.microsoft.com/office/drawing/2014/main" id="{A7790646-C80C-02FB-36E6-9CB10E5246D4}"/>
              </a:ext>
            </a:extLst>
          </p:cNvPr>
          <p:cNvSpPr/>
          <p:nvPr/>
        </p:nvSpPr>
        <p:spPr>
          <a:xfrm>
            <a:off x="9136683" y="204715"/>
            <a:ext cx="2932624" cy="595085"/>
          </a:xfrm>
          <a:prstGeom prst="chevron">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6D8EED"/>
                </a:solidFill>
                <a:latin typeface="Poppins" pitchFamily="2" charset="77"/>
                <a:cs typeface="Poppins" pitchFamily="2" charset="77"/>
              </a:rPr>
              <a:t>Conclusions</a:t>
            </a:r>
          </a:p>
        </p:txBody>
      </p:sp>
      <p:sp>
        <p:nvSpPr>
          <p:cNvPr id="28" name="Pentagon 27">
            <a:extLst>
              <a:ext uri="{FF2B5EF4-FFF2-40B4-BE49-F238E27FC236}">
                <a16:creationId xmlns:a16="http://schemas.microsoft.com/office/drawing/2014/main" id="{0297B4C7-5FB3-322B-45C0-0114A67DB0B8}"/>
              </a:ext>
            </a:extLst>
          </p:cNvPr>
          <p:cNvSpPr/>
          <p:nvPr/>
        </p:nvSpPr>
        <p:spPr>
          <a:xfrm>
            <a:off x="122693" y="204714"/>
            <a:ext cx="2928896" cy="595085"/>
          </a:xfrm>
          <a:prstGeom prst="homePlate">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4B84F4"/>
                </a:solidFill>
                <a:latin typeface="Poppins" pitchFamily="2" charset="77"/>
                <a:cs typeface="Poppins" pitchFamily="2" charset="77"/>
              </a:rPr>
              <a:t>Approach</a:t>
            </a:r>
          </a:p>
        </p:txBody>
      </p:sp>
    </p:spTree>
    <p:extLst>
      <p:ext uri="{BB962C8B-B14F-4D97-AF65-F5344CB8AC3E}">
        <p14:creationId xmlns:p14="http://schemas.microsoft.com/office/powerpoint/2010/main" val="846668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2C61B-DB1A-026E-F824-2A72F224F589}"/>
            </a:ext>
          </a:extLst>
        </p:cNvPr>
        <p:cNvGrpSpPr/>
        <p:nvPr/>
      </p:nvGrpSpPr>
      <p:grpSpPr>
        <a:xfrm>
          <a:off x="0" y="0"/>
          <a:ext cx="0" cy="0"/>
          <a:chOff x="0" y="0"/>
          <a:chExt cx="0" cy="0"/>
        </a:xfrm>
      </p:grpSpPr>
      <p:pic>
        <p:nvPicPr>
          <p:cNvPr id="2" name="Graphic 1" descr="Gears with solid fill">
            <a:extLst>
              <a:ext uri="{FF2B5EF4-FFF2-40B4-BE49-F238E27FC236}">
                <a16:creationId xmlns:a16="http://schemas.microsoft.com/office/drawing/2014/main" id="{A5B430C9-CCBD-7006-D530-B9506EC3AEC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884" y="164201"/>
            <a:ext cx="1065059" cy="1065059"/>
          </a:xfrm>
          <a:prstGeom prst="rect">
            <a:avLst/>
          </a:prstGeom>
        </p:spPr>
      </p:pic>
      <p:sp>
        <p:nvSpPr>
          <p:cNvPr id="5" name="Title 4">
            <a:extLst>
              <a:ext uri="{FF2B5EF4-FFF2-40B4-BE49-F238E27FC236}">
                <a16:creationId xmlns:a16="http://schemas.microsoft.com/office/drawing/2014/main" id="{917E58DE-DE1C-2F08-9C71-E3B22F994F6D}"/>
              </a:ext>
            </a:extLst>
          </p:cNvPr>
          <p:cNvSpPr>
            <a:spLocks noGrp="1"/>
          </p:cNvSpPr>
          <p:nvPr>
            <p:ph type="title"/>
          </p:nvPr>
        </p:nvSpPr>
        <p:spPr/>
        <p:txBody>
          <a:bodyPr/>
          <a:lstStyle/>
          <a:p>
            <a:r>
              <a:rPr lang="en-FR" dirty="0"/>
              <a:t>Experimental Setting</a:t>
            </a:r>
          </a:p>
        </p:txBody>
      </p:sp>
      <p:sp>
        <p:nvSpPr>
          <p:cNvPr id="24" name="Rectangle 23">
            <a:extLst>
              <a:ext uri="{FF2B5EF4-FFF2-40B4-BE49-F238E27FC236}">
                <a16:creationId xmlns:a16="http://schemas.microsoft.com/office/drawing/2014/main" id="{17ED5E14-2218-256D-2557-05C57332F410}"/>
              </a:ext>
            </a:extLst>
          </p:cNvPr>
          <p:cNvSpPr/>
          <p:nvPr/>
        </p:nvSpPr>
        <p:spPr>
          <a:xfrm>
            <a:off x="3793067" y="1715847"/>
            <a:ext cx="7968696" cy="4049868"/>
          </a:xfrm>
          <a:prstGeom prst="rect">
            <a:avLst/>
          </a:prstGeom>
          <a:solidFill>
            <a:schemeClr val="bg1"/>
          </a:solidFill>
          <a:ln w="28575">
            <a:solidFill>
              <a:srgbClr val="A5B0F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800100" lvl="1" indent="-342900">
              <a:buFont typeface="Arial" panose="020B0604020202020204" pitchFamily="34" charset="0"/>
              <a:buChar char="•"/>
            </a:pPr>
            <a:endParaRPr lang="en-FR" sz="2000" dirty="0">
              <a:solidFill>
                <a:srgbClr val="A5B0F6"/>
              </a:solidFill>
              <a:latin typeface="Poppins" pitchFamily="2" charset="77"/>
              <a:cs typeface="Poppins" pitchFamily="2" charset="77"/>
            </a:endParaRPr>
          </a:p>
          <a:p>
            <a:pPr marL="342900" indent="-342900">
              <a:buFont typeface="Arial" panose="020B0604020202020204" pitchFamily="34" charset="0"/>
              <a:buChar char="•"/>
            </a:pPr>
            <a:endParaRPr lang="en-FR" sz="2000" dirty="0">
              <a:solidFill>
                <a:srgbClr val="A5B0F6"/>
              </a:solidFill>
              <a:latin typeface="Poppins" pitchFamily="2" charset="77"/>
              <a:cs typeface="Poppins" pitchFamily="2" charset="77"/>
            </a:endParaRPr>
          </a:p>
          <a:p>
            <a:pPr marL="342900" indent="-342900">
              <a:buFont typeface="Arial" panose="020B0604020202020204" pitchFamily="34" charset="0"/>
              <a:buChar char="•"/>
            </a:pPr>
            <a:endParaRPr lang="en-FR" sz="2000" dirty="0">
              <a:solidFill>
                <a:srgbClr val="A5B0F6"/>
              </a:solidFill>
              <a:latin typeface="Poppins" pitchFamily="2" charset="77"/>
              <a:cs typeface="Poppins" pitchFamily="2" charset="77"/>
            </a:endParaRPr>
          </a:p>
          <a:p>
            <a:pPr marL="342900" indent="-342900">
              <a:buFont typeface="Arial" panose="020B0604020202020204" pitchFamily="34" charset="0"/>
              <a:buChar char="•"/>
            </a:pPr>
            <a:endParaRPr lang="en-FR" sz="2000" dirty="0">
              <a:solidFill>
                <a:srgbClr val="A5B0F6"/>
              </a:solidFill>
              <a:latin typeface="Poppins" pitchFamily="2" charset="77"/>
              <a:cs typeface="Poppins" pitchFamily="2" charset="77"/>
            </a:endParaRPr>
          </a:p>
          <a:p>
            <a:pPr marL="342900" indent="-342900">
              <a:buFont typeface="Arial" panose="020B0604020202020204" pitchFamily="34" charset="0"/>
              <a:buChar char="•"/>
            </a:pPr>
            <a:endParaRPr lang="en-FR" sz="2000" dirty="0">
              <a:solidFill>
                <a:srgbClr val="A5B0F6"/>
              </a:solidFill>
              <a:latin typeface="Poppins" pitchFamily="2" charset="77"/>
              <a:cs typeface="Poppins" pitchFamily="2" charset="77"/>
            </a:endParaRPr>
          </a:p>
          <a:p>
            <a:pPr marL="342900" indent="-342900">
              <a:buFont typeface="Arial" panose="020B0604020202020204" pitchFamily="34" charset="0"/>
              <a:buChar char="•"/>
            </a:pPr>
            <a:endParaRPr lang="en-FR" sz="2000" dirty="0">
              <a:solidFill>
                <a:srgbClr val="A5B0F6"/>
              </a:solidFill>
              <a:latin typeface="Poppins" pitchFamily="2" charset="77"/>
              <a:cs typeface="Poppins" pitchFamily="2" charset="77"/>
            </a:endParaRPr>
          </a:p>
          <a:p>
            <a:endParaRPr lang="en-FR" sz="2000" dirty="0">
              <a:solidFill>
                <a:srgbClr val="A5B0F6"/>
              </a:solidFill>
              <a:latin typeface="Poppins" pitchFamily="2" charset="77"/>
              <a:cs typeface="Poppins" pitchFamily="2" charset="77"/>
            </a:endParaRPr>
          </a:p>
        </p:txBody>
      </p:sp>
      <p:sp>
        <p:nvSpPr>
          <p:cNvPr id="25" name="TextBox 24">
            <a:extLst>
              <a:ext uri="{FF2B5EF4-FFF2-40B4-BE49-F238E27FC236}">
                <a16:creationId xmlns:a16="http://schemas.microsoft.com/office/drawing/2014/main" id="{D873B8DD-F2F3-5BF2-0966-C773AB4DCA43}"/>
              </a:ext>
            </a:extLst>
          </p:cNvPr>
          <p:cNvSpPr txBox="1"/>
          <p:nvPr/>
        </p:nvSpPr>
        <p:spPr>
          <a:xfrm>
            <a:off x="4285581" y="1558928"/>
            <a:ext cx="3387466" cy="400110"/>
          </a:xfrm>
          <a:prstGeom prst="rect">
            <a:avLst/>
          </a:prstGeom>
          <a:solidFill>
            <a:schemeClr val="bg1"/>
          </a:solidFill>
        </p:spPr>
        <p:txBody>
          <a:bodyPr wrap="none" rtlCol="0">
            <a:spAutoFit/>
          </a:bodyPr>
          <a:lstStyle/>
          <a:p>
            <a:r>
              <a:rPr lang="en-FR" sz="2000" b="1" dirty="0">
                <a:solidFill>
                  <a:srgbClr val="A5B0F6"/>
                </a:solidFill>
                <a:latin typeface="Poppins" pitchFamily="2" charset="77"/>
                <a:cs typeface="Poppins" pitchFamily="2" charset="77"/>
              </a:rPr>
              <a:t>CONDITIONING SCHEMES</a:t>
            </a:r>
          </a:p>
        </p:txBody>
      </p:sp>
      <p:sp>
        <p:nvSpPr>
          <p:cNvPr id="26" name="TextBox 25">
            <a:extLst>
              <a:ext uri="{FF2B5EF4-FFF2-40B4-BE49-F238E27FC236}">
                <a16:creationId xmlns:a16="http://schemas.microsoft.com/office/drawing/2014/main" id="{6729EF1C-2C99-08A0-814F-A81BE17D250D}"/>
              </a:ext>
            </a:extLst>
          </p:cNvPr>
          <p:cNvSpPr txBox="1"/>
          <p:nvPr/>
        </p:nvSpPr>
        <p:spPr>
          <a:xfrm>
            <a:off x="4002425" y="2032576"/>
            <a:ext cx="7512240" cy="646331"/>
          </a:xfrm>
          <a:prstGeom prst="rect">
            <a:avLst/>
          </a:prstGeom>
          <a:noFill/>
        </p:spPr>
        <p:txBody>
          <a:bodyPr wrap="square" rtlCol="0">
            <a:spAutoFit/>
          </a:bodyPr>
          <a:lstStyle/>
          <a:p>
            <a:pPr marL="342900" indent="-342900">
              <a:buFont typeface="Arial" panose="020B0604020202020204" pitchFamily="34" charset="0"/>
              <a:buChar char="•"/>
            </a:pPr>
            <a:r>
              <a:rPr lang="en-FR" b="1" u="sng" dirty="0">
                <a:solidFill>
                  <a:srgbClr val="A5B0F6"/>
                </a:solidFill>
                <a:latin typeface="Poppins" pitchFamily="2" charset="77"/>
                <a:cs typeface="Poppins" pitchFamily="2" charset="77"/>
              </a:rPr>
              <a:t>End-to-End</a:t>
            </a:r>
            <a:r>
              <a:rPr lang="en-FR" dirty="0">
                <a:solidFill>
                  <a:srgbClr val="A5B0F6"/>
                </a:solidFill>
                <a:latin typeface="Poppins" pitchFamily="2" charset="77"/>
                <a:cs typeface="Poppins" pitchFamily="2" charset="77"/>
              </a:rPr>
              <a:t>: direct prompt to generate the response based on the dialogue history</a:t>
            </a:r>
          </a:p>
        </p:txBody>
      </p:sp>
      <p:sp>
        <p:nvSpPr>
          <p:cNvPr id="27" name="TextBox 26">
            <a:extLst>
              <a:ext uri="{FF2B5EF4-FFF2-40B4-BE49-F238E27FC236}">
                <a16:creationId xmlns:a16="http://schemas.microsoft.com/office/drawing/2014/main" id="{0E875121-7F23-74C9-C6A5-7418BE9BC8CC}"/>
              </a:ext>
            </a:extLst>
          </p:cNvPr>
          <p:cNvSpPr txBox="1"/>
          <p:nvPr/>
        </p:nvSpPr>
        <p:spPr>
          <a:xfrm>
            <a:off x="3992143" y="3364062"/>
            <a:ext cx="7512239" cy="369332"/>
          </a:xfrm>
          <a:prstGeom prst="rect">
            <a:avLst/>
          </a:prstGeom>
          <a:noFill/>
        </p:spPr>
        <p:txBody>
          <a:bodyPr wrap="square">
            <a:spAutoFit/>
          </a:bodyPr>
          <a:lstStyle/>
          <a:p>
            <a:pPr marL="342900" indent="-342900">
              <a:buFont typeface="Arial" panose="020B0604020202020204" pitchFamily="34" charset="0"/>
              <a:buChar char="•"/>
            </a:pPr>
            <a:r>
              <a:rPr lang="en-FR" sz="1800" b="1" u="sng" dirty="0">
                <a:solidFill>
                  <a:srgbClr val="A5B0F6"/>
                </a:solidFill>
                <a:latin typeface="Poppins" pitchFamily="2" charset="77"/>
                <a:cs typeface="Poppins" pitchFamily="2" charset="77"/>
              </a:rPr>
              <a:t>1-Step Generation</a:t>
            </a:r>
            <a:endParaRPr lang="en-FR" sz="1800" dirty="0">
              <a:solidFill>
                <a:srgbClr val="A5B0F6"/>
              </a:solidFill>
              <a:latin typeface="Poppins" pitchFamily="2" charset="77"/>
              <a:cs typeface="Poppins" pitchFamily="2" charset="77"/>
            </a:endParaRPr>
          </a:p>
        </p:txBody>
      </p:sp>
      <p:sp>
        <p:nvSpPr>
          <p:cNvPr id="28" name="TextBox 27">
            <a:extLst>
              <a:ext uri="{FF2B5EF4-FFF2-40B4-BE49-F238E27FC236}">
                <a16:creationId xmlns:a16="http://schemas.microsoft.com/office/drawing/2014/main" id="{5B297C44-12CE-3C7D-09BB-41C3C1219545}"/>
              </a:ext>
            </a:extLst>
          </p:cNvPr>
          <p:cNvSpPr txBox="1"/>
          <p:nvPr/>
        </p:nvSpPr>
        <p:spPr>
          <a:xfrm>
            <a:off x="4002424" y="3960002"/>
            <a:ext cx="7512239" cy="923330"/>
          </a:xfrm>
          <a:prstGeom prst="rect">
            <a:avLst/>
          </a:prstGeom>
          <a:noFill/>
        </p:spPr>
        <p:txBody>
          <a:bodyPr wrap="square">
            <a:spAutoFit/>
          </a:bodyPr>
          <a:lstStyle/>
          <a:p>
            <a:pPr marL="342900" indent="-342900">
              <a:buFont typeface="Arial" panose="020B0604020202020204" pitchFamily="34" charset="0"/>
              <a:buChar char="•"/>
            </a:pPr>
            <a:r>
              <a:rPr lang="en-FR" b="1" u="sng" dirty="0">
                <a:solidFill>
                  <a:srgbClr val="A5B0F6"/>
                </a:solidFill>
                <a:latin typeface="Poppins" pitchFamily="2" charset="77"/>
                <a:cs typeface="Poppins" pitchFamily="2" charset="77"/>
              </a:rPr>
              <a:t>2-Step Generation</a:t>
            </a:r>
            <a:r>
              <a:rPr lang="en-FR" dirty="0">
                <a:solidFill>
                  <a:srgbClr val="A5B0F6"/>
                </a:solidFill>
                <a:latin typeface="Poppins" pitchFamily="2" charset="77"/>
                <a:cs typeface="Poppins" pitchFamily="2" charset="77"/>
              </a:rPr>
              <a:t>: </a:t>
            </a:r>
          </a:p>
          <a:p>
            <a:pPr marL="800100" lvl="1" indent="-342900">
              <a:buFont typeface="Arial" panose="020B0604020202020204" pitchFamily="34" charset="0"/>
              <a:buChar char="•"/>
            </a:pPr>
            <a:r>
              <a:rPr lang="en-FR" dirty="0">
                <a:solidFill>
                  <a:srgbClr val="A5B0F6"/>
                </a:solidFill>
                <a:latin typeface="Poppins" pitchFamily="2" charset="77"/>
                <a:cs typeface="Poppins" pitchFamily="2" charset="77"/>
              </a:rPr>
              <a:t>Create a response plan from label sequence + history</a:t>
            </a:r>
          </a:p>
          <a:p>
            <a:pPr marL="800100" lvl="1" indent="-342900">
              <a:buFont typeface="Arial" panose="020B0604020202020204" pitchFamily="34" charset="0"/>
              <a:buChar char="•"/>
            </a:pPr>
            <a:r>
              <a:rPr lang="en-FR" dirty="0">
                <a:solidFill>
                  <a:srgbClr val="A5B0F6"/>
                </a:solidFill>
                <a:latin typeface="Poppins" pitchFamily="2" charset="77"/>
                <a:cs typeface="Poppins" pitchFamily="2" charset="77"/>
              </a:rPr>
              <a:t>Generate the response using this response plan</a:t>
            </a:r>
          </a:p>
        </p:txBody>
      </p:sp>
      <p:sp>
        <p:nvSpPr>
          <p:cNvPr id="29" name="TextBox 28">
            <a:extLst>
              <a:ext uri="{FF2B5EF4-FFF2-40B4-BE49-F238E27FC236}">
                <a16:creationId xmlns:a16="http://schemas.microsoft.com/office/drawing/2014/main" id="{909CBA64-7848-DDB2-8525-CCF8186FFB34}"/>
              </a:ext>
            </a:extLst>
          </p:cNvPr>
          <p:cNvSpPr txBox="1"/>
          <p:nvPr/>
        </p:nvSpPr>
        <p:spPr>
          <a:xfrm>
            <a:off x="3992142" y="4957812"/>
            <a:ext cx="7512239" cy="646331"/>
          </a:xfrm>
          <a:prstGeom prst="rect">
            <a:avLst/>
          </a:prstGeom>
          <a:noFill/>
        </p:spPr>
        <p:txBody>
          <a:bodyPr wrap="square">
            <a:spAutoFit/>
          </a:bodyPr>
          <a:lstStyle/>
          <a:p>
            <a:pPr marL="342900" indent="-342900">
              <a:buFont typeface="Arial" panose="020B0604020202020204" pitchFamily="34" charset="0"/>
              <a:buChar char="•"/>
            </a:pPr>
            <a:r>
              <a:rPr lang="en-FR" b="1" u="sng" dirty="0">
                <a:solidFill>
                  <a:srgbClr val="A5B0F6"/>
                </a:solidFill>
                <a:latin typeface="Poppins" pitchFamily="2" charset="77"/>
                <a:cs typeface="Poppins" pitchFamily="2" charset="77"/>
              </a:rPr>
              <a:t>3-Step Generation </a:t>
            </a:r>
            <a:r>
              <a:rPr lang="en-FR" dirty="0">
                <a:solidFill>
                  <a:srgbClr val="A5B0F6"/>
                </a:solidFill>
                <a:latin typeface="Poppins" pitchFamily="2" charset="77"/>
                <a:cs typeface="Poppins" pitchFamily="2" charset="77"/>
              </a:rPr>
              <a:t>:  </a:t>
            </a:r>
            <a:r>
              <a:rPr lang="en-FR" b="1" u="sng" dirty="0">
                <a:solidFill>
                  <a:srgbClr val="A5B0F6"/>
                </a:solidFill>
                <a:latin typeface="Poppins" pitchFamily="2" charset="77"/>
                <a:cs typeface="Poppins" pitchFamily="2" charset="77"/>
              </a:rPr>
              <a:t>2-Step scheme </a:t>
            </a:r>
            <a:r>
              <a:rPr lang="en-FR" dirty="0">
                <a:solidFill>
                  <a:srgbClr val="A5B0F6"/>
                </a:solidFill>
                <a:latin typeface="Poppins" pitchFamily="2" charset="77"/>
                <a:cs typeface="Poppins" pitchFamily="2" charset="77"/>
              </a:rPr>
              <a:t>+ an additional prompt to adjust style and shorten the response</a:t>
            </a:r>
          </a:p>
        </p:txBody>
      </p:sp>
      <p:sp>
        <p:nvSpPr>
          <p:cNvPr id="30" name="Rounded Rectangle 29">
            <a:extLst>
              <a:ext uri="{FF2B5EF4-FFF2-40B4-BE49-F238E27FC236}">
                <a16:creationId xmlns:a16="http://schemas.microsoft.com/office/drawing/2014/main" id="{29D32302-C01F-41FE-19CD-F4BC4B3A95C1}"/>
              </a:ext>
            </a:extLst>
          </p:cNvPr>
          <p:cNvSpPr/>
          <p:nvPr/>
        </p:nvSpPr>
        <p:spPr>
          <a:xfrm>
            <a:off x="394584" y="3525547"/>
            <a:ext cx="2939266" cy="2240168"/>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FR" sz="2000" b="1" dirty="0">
                <a:solidFill>
                  <a:schemeClr val="bg1"/>
                </a:solidFill>
                <a:latin typeface="Poppins" pitchFamily="2" charset="77"/>
                <a:cs typeface="Poppins" pitchFamily="2" charset="77"/>
              </a:rPr>
              <a:t>Focus on prompt-based LLMs</a:t>
            </a:r>
            <a:endParaRPr lang="en-FR" sz="2000" dirty="0">
              <a:solidFill>
                <a:schemeClr val="bg1"/>
              </a:solidFill>
              <a:latin typeface="Poppins" pitchFamily="2" charset="77"/>
              <a:cs typeface="Poppins" pitchFamily="2" charset="77"/>
            </a:endParaRPr>
          </a:p>
          <a:p>
            <a:pPr algn="ctr"/>
            <a:endParaRPr lang="en-FR" b="1" dirty="0">
              <a:solidFill>
                <a:schemeClr val="bg1"/>
              </a:solidFill>
              <a:latin typeface="Poppins" pitchFamily="2" charset="77"/>
              <a:cs typeface="Poppins" pitchFamily="2" charset="77"/>
            </a:endParaRPr>
          </a:p>
          <a:p>
            <a:pPr marL="342900" indent="-342900">
              <a:buFont typeface="Arial" panose="020B0604020202020204" pitchFamily="34" charset="0"/>
              <a:buChar char="•"/>
            </a:pPr>
            <a:r>
              <a:rPr lang="en-GB" b="1" dirty="0">
                <a:solidFill>
                  <a:schemeClr val="bg1"/>
                </a:solidFill>
                <a:latin typeface="Poppins" pitchFamily="2" charset="77"/>
                <a:cs typeface="Poppins" pitchFamily="2" charset="77"/>
              </a:rPr>
              <a:t>Qwen 2.5-7B</a:t>
            </a:r>
            <a:endParaRPr lang="en-FR" b="1" dirty="0">
              <a:solidFill>
                <a:schemeClr val="bg1"/>
              </a:solidFill>
              <a:latin typeface="Poppins" pitchFamily="2" charset="77"/>
              <a:cs typeface="Poppins" pitchFamily="2" charset="77"/>
            </a:endParaRPr>
          </a:p>
          <a:p>
            <a:pPr marL="342900" indent="-342900">
              <a:buFont typeface="Arial" panose="020B0604020202020204" pitchFamily="34" charset="0"/>
              <a:buChar char="•"/>
            </a:pPr>
            <a:r>
              <a:rPr lang="en-GB" b="1" dirty="0">
                <a:solidFill>
                  <a:schemeClr val="bg1"/>
                </a:solidFill>
                <a:latin typeface="Poppins" pitchFamily="2" charset="77"/>
                <a:cs typeface="Poppins" pitchFamily="2" charset="77"/>
              </a:rPr>
              <a:t>Mixtral-8×7B</a:t>
            </a:r>
            <a:endParaRPr lang="en-FR" b="1" dirty="0">
              <a:solidFill>
                <a:schemeClr val="bg1"/>
              </a:solidFill>
              <a:latin typeface="Poppins" pitchFamily="2" charset="77"/>
              <a:cs typeface="Poppins" pitchFamily="2" charset="77"/>
            </a:endParaRPr>
          </a:p>
          <a:p>
            <a:pPr marL="342900" indent="-342900">
              <a:buFont typeface="Arial" panose="020B0604020202020204" pitchFamily="34" charset="0"/>
              <a:buChar char="•"/>
            </a:pPr>
            <a:r>
              <a:rPr lang="en-GB" b="1" dirty="0" err="1">
                <a:solidFill>
                  <a:schemeClr val="bg1"/>
                </a:solidFill>
                <a:latin typeface="Poppins" pitchFamily="2" charset="77"/>
                <a:cs typeface="Poppins" pitchFamily="2" charset="77"/>
              </a:rPr>
              <a:t>LLaMA</a:t>
            </a:r>
            <a:r>
              <a:rPr lang="en-GB" b="1" dirty="0">
                <a:solidFill>
                  <a:schemeClr val="bg1"/>
                </a:solidFill>
                <a:latin typeface="Poppins" pitchFamily="2" charset="77"/>
                <a:cs typeface="Poppins" pitchFamily="2" charset="77"/>
              </a:rPr>
              <a:t> 3-8B </a:t>
            </a:r>
            <a:endParaRPr lang="en-FR" b="1" dirty="0">
              <a:solidFill>
                <a:schemeClr val="bg1"/>
              </a:solidFill>
              <a:latin typeface="Poppins" pitchFamily="2" charset="77"/>
              <a:cs typeface="Poppins" pitchFamily="2" charset="77"/>
            </a:endParaRPr>
          </a:p>
        </p:txBody>
      </p:sp>
      <p:sp>
        <p:nvSpPr>
          <p:cNvPr id="31" name="Rounded Rectangle 30">
            <a:extLst>
              <a:ext uri="{FF2B5EF4-FFF2-40B4-BE49-F238E27FC236}">
                <a16:creationId xmlns:a16="http://schemas.microsoft.com/office/drawing/2014/main" id="{72B436AE-EFCD-388D-61AF-2DE51219CD05}"/>
              </a:ext>
            </a:extLst>
          </p:cNvPr>
          <p:cNvSpPr/>
          <p:nvPr/>
        </p:nvSpPr>
        <p:spPr>
          <a:xfrm>
            <a:off x="399020" y="1618913"/>
            <a:ext cx="2797640" cy="432072"/>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FR" sz="2000" b="1" dirty="0">
                <a:solidFill>
                  <a:schemeClr val="bg1"/>
                </a:solidFill>
                <a:latin typeface="Poppins" pitchFamily="2" charset="77"/>
                <a:cs typeface="Poppins" pitchFamily="2" charset="77"/>
              </a:rPr>
              <a:t>DATA-SERGe</a:t>
            </a:r>
            <a:endParaRPr lang="en-FR" sz="2000" dirty="0">
              <a:solidFill>
                <a:schemeClr val="bg1"/>
              </a:solidFill>
              <a:latin typeface="Poppins" pitchFamily="2" charset="77"/>
              <a:cs typeface="Poppins" pitchFamily="2" charset="77"/>
            </a:endParaRPr>
          </a:p>
        </p:txBody>
      </p:sp>
      <p:sp>
        <p:nvSpPr>
          <p:cNvPr id="36" name="TextBox 35">
            <a:extLst>
              <a:ext uri="{FF2B5EF4-FFF2-40B4-BE49-F238E27FC236}">
                <a16:creationId xmlns:a16="http://schemas.microsoft.com/office/drawing/2014/main" id="{C4193CC7-52EB-788F-5223-F1610D9A56E6}"/>
              </a:ext>
            </a:extLst>
          </p:cNvPr>
          <p:cNvSpPr txBox="1"/>
          <p:nvPr/>
        </p:nvSpPr>
        <p:spPr>
          <a:xfrm>
            <a:off x="394584" y="2129464"/>
            <a:ext cx="2797640" cy="984885"/>
          </a:xfrm>
          <a:prstGeom prst="rect">
            <a:avLst/>
          </a:prstGeom>
          <a:noFill/>
        </p:spPr>
        <p:txBody>
          <a:bodyPr wrap="square" rtlCol="0">
            <a:spAutoFit/>
          </a:bodyPr>
          <a:lstStyle/>
          <a:p>
            <a:pPr algn="ctr"/>
            <a:r>
              <a:rPr lang="en-FR" sz="2000" b="1" u="sng" dirty="0">
                <a:solidFill>
                  <a:srgbClr val="A5B0F6"/>
                </a:solidFill>
                <a:latin typeface="Poppins" pitchFamily="2" charset="77"/>
                <a:cs typeface="Poppins" pitchFamily="2" charset="77"/>
              </a:rPr>
              <a:t>5 turns as context</a:t>
            </a:r>
            <a:r>
              <a:rPr lang="en-FR" sz="2000" b="1" dirty="0">
                <a:solidFill>
                  <a:srgbClr val="A5B0F6"/>
                </a:solidFill>
                <a:latin typeface="Poppins" pitchFamily="2" charset="77"/>
                <a:cs typeface="Poppins" pitchFamily="2" charset="77"/>
              </a:rPr>
              <a:t>: 213 test samples</a:t>
            </a:r>
            <a:br>
              <a:rPr lang="en-FR" sz="2000" b="1" dirty="0">
                <a:solidFill>
                  <a:srgbClr val="A5B0F6"/>
                </a:solidFill>
                <a:latin typeface="Poppins" pitchFamily="2" charset="77"/>
                <a:cs typeface="Poppins" pitchFamily="2" charset="77"/>
              </a:rPr>
            </a:br>
            <a:r>
              <a:rPr lang="en-FR" sz="1600" b="1" dirty="0">
                <a:solidFill>
                  <a:srgbClr val="A5B0F6"/>
                </a:solidFill>
                <a:latin typeface="Poppins" pitchFamily="2" charset="77"/>
                <a:cs typeface="Poppins" pitchFamily="2" charset="77"/>
              </a:rPr>
              <a:t>(context +response)</a:t>
            </a:r>
            <a:endParaRPr lang="en-FR" sz="2000" b="1" dirty="0">
              <a:solidFill>
                <a:srgbClr val="A5B0F6"/>
              </a:solidFill>
              <a:latin typeface="Poppins" pitchFamily="2" charset="77"/>
              <a:cs typeface="Poppins" pitchFamily="2" charset="77"/>
            </a:endParaRPr>
          </a:p>
        </p:txBody>
      </p:sp>
      <p:cxnSp>
        <p:nvCxnSpPr>
          <p:cNvPr id="42" name="Straight Connector 41">
            <a:extLst>
              <a:ext uri="{FF2B5EF4-FFF2-40B4-BE49-F238E27FC236}">
                <a16:creationId xmlns:a16="http://schemas.microsoft.com/office/drawing/2014/main" id="{C95B33AB-FB91-C36F-10F7-0497BEA258A2}"/>
              </a:ext>
            </a:extLst>
          </p:cNvPr>
          <p:cNvCxnSpPr>
            <a:cxnSpLocks/>
          </p:cNvCxnSpPr>
          <p:nvPr/>
        </p:nvCxnSpPr>
        <p:spPr>
          <a:xfrm>
            <a:off x="4399269" y="3074414"/>
            <a:ext cx="6716485" cy="0"/>
          </a:xfrm>
          <a:prstGeom prst="line">
            <a:avLst/>
          </a:prstGeom>
          <a:ln w="19050">
            <a:solidFill>
              <a:srgbClr val="A5AFF5"/>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2B9B4B2-3A42-834A-C319-AB47D5FEB1EE}"/>
              </a:ext>
            </a:extLst>
          </p:cNvPr>
          <p:cNvSpPr txBox="1"/>
          <p:nvPr/>
        </p:nvSpPr>
        <p:spPr>
          <a:xfrm>
            <a:off x="4808543" y="2889748"/>
            <a:ext cx="5937744" cy="369332"/>
          </a:xfrm>
          <a:prstGeom prst="rect">
            <a:avLst/>
          </a:prstGeom>
          <a:solidFill>
            <a:schemeClr val="bg1"/>
          </a:solidFill>
        </p:spPr>
        <p:txBody>
          <a:bodyPr wrap="square">
            <a:spAutoFit/>
          </a:bodyPr>
          <a:lstStyle/>
          <a:p>
            <a:r>
              <a:rPr lang="en-FR" sz="1800" b="1" dirty="0">
                <a:solidFill>
                  <a:srgbClr val="A5B0F6"/>
                </a:solidFill>
                <a:latin typeface="Poppins" pitchFamily="2" charset="77"/>
                <a:cs typeface="Poppins" pitchFamily="2" charset="77"/>
              </a:rPr>
              <a:t>Conditioning  on ground truth sequence of labels  </a:t>
            </a:r>
            <a:endParaRPr lang="en-FR" sz="1800" dirty="0">
              <a:solidFill>
                <a:srgbClr val="A5B0F6"/>
              </a:solidFill>
              <a:latin typeface="Poppins" pitchFamily="2" charset="77"/>
              <a:cs typeface="Poppins" pitchFamily="2" charset="77"/>
            </a:endParaRPr>
          </a:p>
        </p:txBody>
      </p:sp>
      <p:sp>
        <p:nvSpPr>
          <p:cNvPr id="7" name="TextBox 6">
            <a:extLst>
              <a:ext uri="{FF2B5EF4-FFF2-40B4-BE49-F238E27FC236}">
                <a16:creationId xmlns:a16="http://schemas.microsoft.com/office/drawing/2014/main" id="{93A22285-859B-B118-788A-45CE70D72555}"/>
              </a:ext>
            </a:extLst>
          </p:cNvPr>
          <p:cNvSpPr txBox="1"/>
          <p:nvPr/>
        </p:nvSpPr>
        <p:spPr>
          <a:xfrm>
            <a:off x="2913077" y="6545086"/>
            <a:ext cx="6365846" cy="253916"/>
          </a:xfrm>
          <a:prstGeom prst="rect">
            <a:avLst/>
          </a:prstGeom>
          <a:noFill/>
          <a:ln w="19050">
            <a:noFill/>
            <a:prstDash val="sysDash"/>
          </a:ln>
        </p:spPr>
        <p:txBody>
          <a:bodyPr wrap="none" rtlCol="0">
            <a:spAutoFit/>
          </a:bodyPr>
          <a:lstStyle>
            <a:defPPr>
              <a:defRPr lang="en-FR"/>
            </a:defPPr>
            <a:lvl1pPr algn="ctr">
              <a:defRPr sz="1050">
                <a:solidFill>
                  <a:srgbClr val="A5AFF5"/>
                </a:solidFill>
                <a:latin typeface="Poppins" pitchFamily="2" charset="77"/>
                <a:cs typeface="Poppins" pitchFamily="2" charset="77"/>
              </a:defRPr>
            </a:lvl1pPr>
          </a:lstStyle>
          <a:p>
            <a:r>
              <a:rPr lang="en-GB" dirty="0"/>
              <a:t>[</a:t>
            </a:r>
            <a:r>
              <a:rPr lang="en-GB" b="1" dirty="0"/>
              <a:t>Planning Like Human: A Dual-process Framework for Dialogue Planning</a:t>
            </a:r>
            <a:r>
              <a:rPr lang="en-GB" dirty="0"/>
              <a:t>, He et al. (2024)] </a:t>
            </a:r>
            <a:endParaRPr lang="en-FR" dirty="0"/>
          </a:p>
        </p:txBody>
      </p:sp>
    </p:spTree>
    <p:extLst>
      <p:ext uri="{BB962C8B-B14F-4D97-AF65-F5344CB8AC3E}">
        <p14:creationId xmlns:p14="http://schemas.microsoft.com/office/powerpoint/2010/main" val="3974067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p:bldP spid="27" grpId="0"/>
      <p:bldP spid="28" grpId="0"/>
      <p:bldP spid="29" grpId="0"/>
      <p:bldP spid="30" grpId="0" animBg="1"/>
      <p:bldP spid="31" grpId="0" animBg="1"/>
      <p:bldP spid="36" grpId="0"/>
      <p:bldP spid="40" grpId="0" animBg="1"/>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23096-B2CC-56E1-EA30-2960E06DF417}"/>
            </a:ext>
          </a:extLst>
        </p:cNvPr>
        <p:cNvGrpSpPr/>
        <p:nvPr/>
      </p:nvGrpSpPr>
      <p:grpSpPr>
        <a:xfrm>
          <a:off x="0" y="0"/>
          <a:ext cx="0" cy="0"/>
          <a:chOff x="0" y="0"/>
          <a:chExt cx="0" cy="0"/>
        </a:xfrm>
      </p:grpSpPr>
      <p:sp>
        <p:nvSpPr>
          <p:cNvPr id="26" name="Left Bracket 25">
            <a:extLst>
              <a:ext uri="{FF2B5EF4-FFF2-40B4-BE49-F238E27FC236}">
                <a16:creationId xmlns:a16="http://schemas.microsoft.com/office/drawing/2014/main" id="{B01957FE-9D1B-C85D-688D-B6C805D45ADE}"/>
              </a:ext>
            </a:extLst>
          </p:cNvPr>
          <p:cNvSpPr/>
          <p:nvPr/>
        </p:nvSpPr>
        <p:spPr>
          <a:xfrm rot="5400000">
            <a:off x="5791162" y="-1620653"/>
            <a:ext cx="378583" cy="5597433"/>
          </a:xfrm>
          <a:prstGeom prst="leftBracket">
            <a:avLst/>
          </a:prstGeom>
          <a:ln w="28575">
            <a:solidFill>
              <a:srgbClr val="6D8EED"/>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R"/>
          </a:p>
        </p:txBody>
      </p:sp>
      <p:pic>
        <p:nvPicPr>
          <p:cNvPr id="23" name="Picture 22" descr="A table with numbers and symbols&#10;&#10;AI-generated content may be incorrect.">
            <a:extLst>
              <a:ext uri="{FF2B5EF4-FFF2-40B4-BE49-F238E27FC236}">
                <a16:creationId xmlns:a16="http://schemas.microsoft.com/office/drawing/2014/main" id="{667A288F-8283-D0EC-11CD-C7686F2C9A12}"/>
              </a:ext>
            </a:extLst>
          </p:cNvPr>
          <p:cNvPicPr>
            <a:picLocks noChangeAspect="1"/>
          </p:cNvPicPr>
          <p:nvPr/>
        </p:nvPicPr>
        <p:blipFill>
          <a:blip r:embed="rId3"/>
          <a:srcRect l="18778"/>
          <a:stretch>
            <a:fillRect/>
          </a:stretch>
        </p:blipFill>
        <p:spPr>
          <a:xfrm rot="16200000">
            <a:off x="994329" y="3023330"/>
            <a:ext cx="4157277" cy="1872550"/>
          </a:xfrm>
          <a:prstGeom prst="rect">
            <a:avLst/>
          </a:prstGeom>
        </p:spPr>
      </p:pic>
      <p:sp>
        <p:nvSpPr>
          <p:cNvPr id="2" name="Title 1">
            <a:extLst>
              <a:ext uri="{FF2B5EF4-FFF2-40B4-BE49-F238E27FC236}">
                <a16:creationId xmlns:a16="http://schemas.microsoft.com/office/drawing/2014/main" id="{3AECC4AA-A8B8-0EEB-711D-B31C54353892}"/>
              </a:ext>
            </a:extLst>
          </p:cNvPr>
          <p:cNvSpPr>
            <a:spLocks noGrp="1"/>
          </p:cNvSpPr>
          <p:nvPr>
            <p:ph type="title"/>
          </p:nvPr>
        </p:nvSpPr>
        <p:spPr/>
        <p:txBody>
          <a:bodyPr/>
          <a:lstStyle/>
          <a:p>
            <a:r>
              <a:rPr lang="en-FR" dirty="0"/>
              <a:t>Results</a:t>
            </a:r>
          </a:p>
        </p:txBody>
      </p:sp>
      <p:pic>
        <p:nvPicPr>
          <p:cNvPr id="5" name="Graphic 4" descr="Gears with solid fill">
            <a:extLst>
              <a:ext uri="{FF2B5EF4-FFF2-40B4-BE49-F238E27FC236}">
                <a16:creationId xmlns:a16="http://schemas.microsoft.com/office/drawing/2014/main" id="{1767BD1D-0E41-B168-3AA1-54D61A4AA5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884" y="164201"/>
            <a:ext cx="1065059" cy="1065059"/>
          </a:xfrm>
          <a:prstGeom prst="rect">
            <a:avLst/>
          </a:prstGeom>
        </p:spPr>
      </p:pic>
      <p:sp>
        <p:nvSpPr>
          <p:cNvPr id="7" name="TextBox 6">
            <a:extLst>
              <a:ext uri="{FF2B5EF4-FFF2-40B4-BE49-F238E27FC236}">
                <a16:creationId xmlns:a16="http://schemas.microsoft.com/office/drawing/2014/main" id="{13A98620-B71E-684A-48EF-9E5F31E81CAD}"/>
              </a:ext>
            </a:extLst>
          </p:cNvPr>
          <p:cNvSpPr txBox="1"/>
          <p:nvPr/>
        </p:nvSpPr>
        <p:spPr>
          <a:xfrm>
            <a:off x="3232330" y="1523210"/>
            <a:ext cx="841897" cy="369332"/>
          </a:xfrm>
          <a:prstGeom prst="rect">
            <a:avLst/>
          </a:prstGeom>
          <a:noFill/>
        </p:spPr>
        <p:txBody>
          <a:bodyPr wrap="none" rtlCol="0">
            <a:spAutoFit/>
          </a:bodyPr>
          <a:lstStyle/>
          <a:p>
            <a:r>
              <a:rPr lang="en-FR" dirty="0">
                <a:solidFill>
                  <a:srgbClr val="F2B781"/>
                </a:solidFill>
                <a:latin typeface="Poppins" pitchFamily="2" charset="77"/>
                <a:cs typeface="Poppins" pitchFamily="2" charset="77"/>
              </a:rPr>
              <a:t>FILTER</a:t>
            </a:r>
          </a:p>
        </p:txBody>
      </p:sp>
      <p:sp>
        <p:nvSpPr>
          <p:cNvPr id="8" name="TextBox 7">
            <a:extLst>
              <a:ext uri="{FF2B5EF4-FFF2-40B4-BE49-F238E27FC236}">
                <a16:creationId xmlns:a16="http://schemas.microsoft.com/office/drawing/2014/main" id="{D6BB0FEC-6306-82A0-47FF-041CB93C93EF}"/>
              </a:ext>
            </a:extLst>
          </p:cNvPr>
          <p:cNvSpPr txBox="1"/>
          <p:nvPr/>
        </p:nvSpPr>
        <p:spPr>
          <a:xfrm>
            <a:off x="4121219" y="1544668"/>
            <a:ext cx="760144" cy="369332"/>
          </a:xfrm>
          <a:prstGeom prst="rect">
            <a:avLst/>
          </a:prstGeom>
          <a:noFill/>
        </p:spPr>
        <p:txBody>
          <a:bodyPr wrap="none" rtlCol="0">
            <a:spAutoFit/>
          </a:bodyPr>
          <a:lstStyle/>
          <a:p>
            <a:r>
              <a:rPr lang="en-FR" dirty="0">
                <a:solidFill>
                  <a:srgbClr val="B08AB4"/>
                </a:solidFill>
                <a:latin typeface="Poppins" pitchFamily="2" charset="77"/>
                <a:cs typeface="Poppins" pitchFamily="2" charset="77"/>
              </a:rPr>
              <a:t>TOP3</a:t>
            </a:r>
          </a:p>
        </p:txBody>
      </p:sp>
      <p:sp>
        <p:nvSpPr>
          <p:cNvPr id="11" name="TextBox 10">
            <a:extLst>
              <a:ext uri="{FF2B5EF4-FFF2-40B4-BE49-F238E27FC236}">
                <a16:creationId xmlns:a16="http://schemas.microsoft.com/office/drawing/2014/main" id="{6C25CC5B-CBFF-881E-F7B9-B6EEC4447133}"/>
              </a:ext>
            </a:extLst>
          </p:cNvPr>
          <p:cNvSpPr txBox="1"/>
          <p:nvPr/>
        </p:nvSpPr>
        <p:spPr>
          <a:xfrm>
            <a:off x="9123414" y="1440712"/>
            <a:ext cx="2529860" cy="369332"/>
          </a:xfrm>
          <a:prstGeom prst="rect">
            <a:avLst/>
          </a:prstGeom>
          <a:noFill/>
        </p:spPr>
        <p:txBody>
          <a:bodyPr wrap="none" rtlCol="0">
            <a:spAutoFit/>
          </a:bodyPr>
          <a:lstStyle/>
          <a:p>
            <a:r>
              <a:rPr lang="en-FR" dirty="0">
                <a:solidFill>
                  <a:srgbClr val="6D8EED"/>
                </a:solidFill>
                <a:latin typeface="Poppins" pitchFamily="2" charset="77"/>
                <a:cs typeface="Poppins" pitchFamily="2" charset="77"/>
              </a:rPr>
              <a:t>AUTOMATIC METRICS</a:t>
            </a:r>
          </a:p>
        </p:txBody>
      </p:sp>
      <p:sp>
        <p:nvSpPr>
          <p:cNvPr id="19" name="TextBox 18">
            <a:extLst>
              <a:ext uri="{FF2B5EF4-FFF2-40B4-BE49-F238E27FC236}">
                <a16:creationId xmlns:a16="http://schemas.microsoft.com/office/drawing/2014/main" id="{E77FE564-7504-E7F6-C9FE-97428064D029}"/>
              </a:ext>
            </a:extLst>
          </p:cNvPr>
          <p:cNvSpPr txBox="1"/>
          <p:nvPr/>
        </p:nvSpPr>
        <p:spPr>
          <a:xfrm>
            <a:off x="5694055" y="1524251"/>
            <a:ext cx="2704587" cy="369332"/>
          </a:xfrm>
          <a:prstGeom prst="rect">
            <a:avLst/>
          </a:prstGeom>
          <a:noFill/>
        </p:spPr>
        <p:txBody>
          <a:bodyPr wrap="none" rtlCol="0">
            <a:spAutoFit/>
          </a:bodyPr>
          <a:lstStyle/>
          <a:p>
            <a:r>
              <a:rPr lang="en-FR" dirty="0">
                <a:solidFill>
                  <a:srgbClr val="6FD192"/>
                </a:solidFill>
                <a:latin typeface="Poppins" pitchFamily="2" charset="77"/>
                <a:cs typeface="Poppins" pitchFamily="2" charset="77"/>
              </a:rPr>
              <a:t>SOCEMO ANNOTATION</a:t>
            </a:r>
          </a:p>
        </p:txBody>
      </p:sp>
      <p:sp>
        <p:nvSpPr>
          <p:cNvPr id="25" name="TextBox 24">
            <a:extLst>
              <a:ext uri="{FF2B5EF4-FFF2-40B4-BE49-F238E27FC236}">
                <a16:creationId xmlns:a16="http://schemas.microsoft.com/office/drawing/2014/main" id="{230E2589-5F9E-5CB0-001A-DF45B577E8A8}"/>
              </a:ext>
            </a:extLst>
          </p:cNvPr>
          <p:cNvSpPr txBox="1"/>
          <p:nvPr/>
        </p:nvSpPr>
        <p:spPr>
          <a:xfrm>
            <a:off x="4140149" y="826701"/>
            <a:ext cx="2441694" cy="369332"/>
          </a:xfrm>
          <a:prstGeom prst="rect">
            <a:avLst/>
          </a:prstGeom>
          <a:solidFill>
            <a:schemeClr val="bg1"/>
          </a:solidFill>
        </p:spPr>
        <p:txBody>
          <a:bodyPr wrap="none" rtlCol="0">
            <a:spAutoFit/>
          </a:bodyPr>
          <a:lstStyle/>
          <a:p>
            <a:r>
              <a:rPr lang="en-FR" dirty="0">
                <a:solidFill>
                  <a:srgbClr val="6D8EED"/>
                </a:solidFill>
                <a:latin typeface="Poppins" pitchFamily="2" charset="77"/>
                <a:cs typeface="Poppins" pitchFamily="2" charset="77"/>
              </a:rPr>
              <a:t>HUMAN EVALUATION</a:t>
            </a:r>
          </a:p>
        </p:txBody>
      </p:sp>
      <p:pic>
        <p:nvPicPr>
          <p:cNvPr id="27" name="Picture 26" descr="A table with numbers and symbols&#10;&#10;AI-generated content may be incorrect.">
            <a:extLst>
              <a:ext uri="{FF2B5EF4-FFF2-40B4-BE49-F238E27FC236}">
                <a16:creationId xmlns:a16="http://schemas.microsoft.com/office/drawing/2014/main" id="{4E3A2E51-4E74-E865-5278-84C970F8F242}"/>
              </a:ext>
            </a:extLst>
          </p:cNvPr>
          <p:cNvPicPr>
            <a:picLocks noChangeAspect="1"/>
          </p:cNvPicPr>
          <p:nvPr/>
        </p:nvPicPr>
        <p:blipFill>
          <a:blip r:embed="rId3"/>
          <a:srcRect r="93832"/>
          <a:stretch>
            <a:fillRect/>
          </a:stretch>
        </p:blipFill>
        <p:spPr>
          <a:xfrm rot="16200000">
            <a:off x="2915107" y="5249561"/>
            <a:ext cx="315719" cy="1872549"/>
          </a:xfrm>
          <a:prstGeom prst="rect">
            <a:avLst/>
          </a:prstGeom>
        </p:spPr>
      </p:pic>
      <p:pic>
        <p:nvPicPr>
          <p:cNvPr id="28" name="Picture 27" descr="A table of numbers and letters&#10;&#10;AI-generated content may be incorrect.">
            <a:extLst>
              <a:ext uri="{FF2B5EF4-FFF2-40B4-BE49-F238E27FC236}">
                <a16:creationId xmlns:a16="http://schemas.microsoft.com/office/drawing/2014/main" id="{28119E8E-29CA-CF4C-D399-111FC19C448C}"/>
              </a:ext>
            </a:extLst>
          </p:cNvPr>
          <p:cNvPicPr>
            <a:picLocks noChangeAspect="1"/>
          </p:cNvPicPr>
          <p:nvPr/>
        </p:nvPicPr>
        <p:blipFill>
          <a:blip r:embed="rId6"/>
          <a:srcRect l="854" t="39447" r="92701" b="387"/>
          <a:stretch>
            <a:fillRect/>
          </a:stretch>
        </p:blipFill>
        <p:spPr>
          <a:xfrm rot="16200000">
            <a:off x="6196495" y="3767208"/>
            <a:ext cx="333726" cy="4831626"/>
          </a:xfrm>
          <a:prstGeom prst="rect">
            <a:avLst/>
          </a:prstGeom>
        </p:spPr>
      </p:pic>
      <p:pic>
        <p:nvPicPr>
          <p:cNvPr id="29" name="Picture 28" descr="A table of numbers and numbers&#10;&#10;AI-generated content may be incorrect.">
            <a:extLst>
              <a:ext uri="{FF2B5EF4-FFF2-40B4-BE49-F238E27FC236}">
                <a16:creationId xmlns:a16="http://schemas.microsoft.com/office/drawing/2014/main" id="{490CB37E-321E-382C-CC91-DA309A9E41B6}"/>
              </a:ext>
            </a:extLst>
          </p:cNvPr>
          <p:cNvPicPr>
            <a:picLocks noChangeAspect="1"/>
          </p:cNvPicPr>
          <p:nvPr/>
        </p:nvPicPr>
        <p:blipFill>
          <a:blip r:embed="rId7"/>
          <a:srcRect l="8536" t="15098" r="85612" b="52127"/>
          <a:stretch>
            <a:fillRect/>
          </a:stretch>
        </p:blipFill>
        <p:spPr>
          <a:xfrm rot="16200000">
            <a:off x="10211399" y="4582288"/>
            <a:ext cx="333729" cy="3238501"/>
          </a:xfrm>
          <a:prstGeom prst="rect">
            <a:avLst/>
          </a:prstGeom>
        </p:spPr>
      </p:pic>
      <p:pic>
        <p:nvPicPr>
          <p:cNvPr id="9" name="Picture 8" descr="A table of numbers and letters&#10;&#10;AI-generated content may be incorrect.">
            <a:extLst>
              <a:ext uri="{FF2B5EF4-FFF2-40B4-BE49-F238E27FC236}">
                <a16:creationId xmlns:a16="http://schemas.microsoft.com/office/drawing/2014/main" id="{D80EDEA9-4DBF-33B4-511A-D953A76B72D3}"/>
              </a:ext>
            </a:extLst>
          </p:cNvPr>
          <p:cNvPicPr>
            <a:picLocks noChangeAspect="1"/>
          </p:cNvPicPr>
          <p:nvPr/>
        </p:nvPicPr>
        <p:blipFill>
          <a:blip r:embed="rId6"/>
          <a:srcRect l="18899" t="39447" r="819" b="387"/>
          <a:stretch>
            <a:fillRect/>
          </a:stretch>
        </p:blipFill>
        <p:spPr>
          <a:xfrm rot="16200000">
            <a:off x="4284723" y="1574049"/>
            <a:ext cx="4157275" cy="4831626"/>
          </a:xfrm>
          <a:prstGeom prst="rect">
            <a:avLst/>
          </a:prstGeom>
        </p:spPr>
      </p:pic>
      <p:pic>
        <p:nvPicPr>
          <p:cNvPr id="17" name="Picture 16" descr="A table of numbers and numbers&#10;&#10;AI-generated content may be incorrect.">
            <a:extLst>
              <a:ext uri="{FF2B5EF4-FFF2-40B4-BE49-F238E27FC236}">
                <a16:creationId xmlns:a16="http://schemas.microsoft.com/office/drawing/2014/main" id="{4D4EF7A0-8B07-C52B-EB74-CFB31B67BD3B}"/>
              </a:ext>
            </a:extLst>
          </p:cNvPr>
          <p:cNvPicPr>
            <a:picLocks noChangeAspect="1"/>
          </p:cNvPicPr>
          <p:nvPr/>
        </p:nvPicPr>
        <p:blipFill>
          <a:blip r:embed="rId7"/>
          <a:srcRect l="25462" t="15098" r="1709" b="52127"/>
          <a:stretch>
            <a:fillRect/>
          </a:stretch>
        </p:blipFill>
        <p:spPr>
          <a:xfrm rot="16200000">
            <a:off x="8301680" y="2341849"/>
            <a:ext cx="4153167" cy="3238501"/>
          </a:xfrm>
          <a:prstGeom prst="rect">
            <a:avLst/>
          </a:prstGeom>
        </p:spPr>
      </p:pic>
      <p:sp>
        <p:nvSpPr>
          <p:cNvPr id="3" name="Rectangle 2">
            <a:extLst>
              <a:ext uri="{FF2B5EF4-FFF2-40B4-BE49-F238E27FC236}">
                <a16:creationId xmlns:a16="http://schemas.microsoft.com/office/drawing/2014/main" id="{C7055F01-C819-409C-3E5C-8148D6014F25}"/>
              </a:ext>
            </a:extLst>
          </p:cNvPr>
          <p:cNvSpPr/>
          <p:nvPr/>
        </p:nvSpPr>
        <p:spPr>
          <a:xfrm>
            <a:off x="3375072" y="1902423"/>
            <a:ext cx="564849" cy="4409361"/>
          </a:xfrm>
          <a:prstGeom prst="rect">
            <a:avLst/>
          </a:prstGeom>
          <a:noFill/>
          <a:ln w="28575">
            <a:solidFill>
              <a:srgbClr val="F2B7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4" name="Rectangle 3">
            <a:extLst>
              <a:ext uri="{FF2B5EF4-FFF2-40B4-BE49-F238E27FC236}">
                <a16:creationId xmlns:a16="http://schemas.microsoft.com/office/drawing/2014/main" id="{66104313-2D0A-1CE5-D1E0-D37045774369}"/>
              </a:ext>
            </a:extLst>
          </p:cNvPr>
          <p:cNvSpPr/>
          <p:nvPr/>
        </p:nvSpPr>
        <p:spPr>
          <a:xfrm>
            <a:off x="3968241" y="1899067"/>
            <a:ext cx="1141276" cy="4412381"/>
          </a:xfrm>
          <a:prstGeom prst="rect">
            <a:avLst/>
          </a:prstGeom>
          <a:noFill/>
          <a:ln w="28575">
            <a:solidFill>
              <a:srgbClr val="B08A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2" name="Rectangle 11">
            <a:extLst>
              <a:ext uri="{FF2B5EF4-FFF2-40B4-BE49-F238E27FC236}">
                <a16:creationId xmlns:a16="http://schemas.microsoft.com/office/drawing/2014/main" id="{AA1A29F5-5921-A805-E6A1-DE6D523758BA}"/>
              </a:ext>
            </a:extLst>
          </p:cNvPr>
          <p:cNvSpPr/>
          <p:nvPr/>
        </p:nvSpPr>
        <p:spPr>
          <a:xfrm>
            <a:off x="3382696" y="2231193"/>
            <a:ext cx="1716742" cy="320716"/>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3" name="Rectangle 12">
            <a:extLst>
              <a:ext uri="{FF2B5EF4-FFF2-40B4-BE49-F238E27FC236}">
                <a16:creationId xmlns:a16="http://schemas.microsoft.com/office/drawing/2014/main" id="{84D6766A-F64D-1A06-B50E-85200B98D264}"/>
              </a:ext>
            </a:extLst>
          </p:cNvPr>
          <p:cNvSpPr/>
          <p:nvPr/>
        </p:nvSpPr>
        <p:spPr>
          <a:xfrm>
            <a:off x="3382695" y="3516264"/>
            <a:ext cx="1716742" cy="596360"/>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4" name="Rectangle 13">
            <a:extLst>
              <a:ext uri="{FF2B5EF4-FFF2-40B4-BE49-F238E27FC236}">
                <a16:creationId xmlns:a16="http://schemas.microsoft.com/office/drawing/2014/main" id="{96AF48B9-5A36-9F73-59F9-CAF8BC569921}"/>
              </a:ext>
            </a:extLst>
          </p:cNvPr>
          <p:cNvSpPr/>
          <p:nvPr/>
        </p:nvSpPr>
        <p:spPr>
          <a:xfrm>
            <a:off x="3385964" y="4793666"/>
            <a:ext cx="1733631" cy="596360"/>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8" name="Rectangle 17">
            <a:extLst>
              <a:ext uri="{FF2B5EF4-FFF2-40B4-BE49-F238E27FC236}">
                <a16:creationId xmlns:a16="http://schemas.microsoft.com/office/drawing/2014/main" id="{9C13BF70-D2EA-6F14-1E4C-4422387E4CEB}"/>
              </a:ext>
            </a:extLst>
          </p:cNvPr>
          <p:cNvSpPr/>
          <p:nvPr/>
        </p:nvSpPr>
        <p:spPr>
          <a:xfrm>
            <a:off x="8779173" y="1911223"/>
            <a:ext cx="3218343" cy="4438661"/>
          </a:xfrm>
          <a:prstGeom prst="rect">
            <a:avLst/>
          </a:prstGeom>
          <a:noFill/>
          <a:ln w="28575">
            <a:solidFill>
              <a:srgbClr val="0055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0" name="Rectangle 19">
            <a:extLst>
              <a:ext uri="{FF2B5EF4-FFF2-40B4-BE49-F238E27FC236}">
                <a16:creationId xmlns:a16="http://schemas.microsoft.com/office/drawing/2014/main" id="{00BC2919-E3B4-34E7-E856-65AFD209EA91}"/>
              </a:ext>
            </a:extLst>
          </p:cNvPr>
          <p:cNvSpPr/>
          <p:nvPr/>
        </p:nvSpPr>
        <p:spPr>
          <a:xfrm>
            <a:off x="8779171" y="2549109"/>
            <a:ext cx="3218343" cy="298180"/>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1" name="Rectangle 20">
            <a:extLst>
              <a:ext uri="{FF2B5EF4-FFF2-40B4-BE49-F238E27FC236}">
                <a16:creationId xmlns:a16="http://schemas.microsoft.com/office/drawing/2014/main" id="{5964DC60-EB82-7F37-73D1-D26753A57E15}"/>
              </a:ext>
            </a:extLst>
          </p:cNvPr>
          <p:cNvSpPr/>
          <p:nvPr/>
        </p:nvSpPr>
        <p:spPr>
          <a:xfrm>
            <a:off x="8769093" y="3807186"/>
            <a:ext cx="3218343" cy="298180"/>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2" name="TextBox 21">
            <a:extLst>
              <a:ext uri="{FF2B5EF4-FFF2-40B4-BE49-F238E27FC236}">
                <a16:creationId xmlns:a16="http://schemas.microsoft.com/office/drawing/2014/main" id="{C3B226DC-F797-993F-A686-4770E3012AE2}"/>
              </a:ext>
            </a:extLst>
          </p:cNvPr>
          <p:cNvSpPr txBox="1"/>
          <p:nvPr/>
        </p:nvSpPr>
        <p:spPr>
          <a:xfrm>
            <a:off x="3580540" y="1182660"/>
            <a:ext cx="1119217" cy="276999"/>
          </a:xfrm>
          <a:prstGeom prst="rect">
            <a:avLst/>
          </a:prstGeom>
          <a:solidFill>
            <a:schemeClr val="bg1"/>
          </a:solidFill>
        </p:spPr>
        <p:txBody>
          <a:bodyPr wrap="none" rtlCol="0">
            <a:spAutoFit/>
          </a:bodyPr>
          <a:lstStyle/>
          <a:p>
            <a:r>
              <a:rPr lang="en-FR" sz="1200" dirty="0">
                <a:solidFill>
                  <a:srgbClr val="6D8EED"/>
                </a:solidFill>
                <a:latin typeface="Poppins" pitchFamily="2" charset="77"/>
                <a:cs typeface="Poppins" pitchFamily="2" charset="77"/>
              </a:rPr>
              <a:t>100 contexts</a:t>
            </a:r>
          </a:p>
        </p:txBody>
      </p:sp>
      <p:sp>
        <p:nvSpPr>
          <p:cNvPr id="24" name="TextBox 23">
            <a:extLst>
              <a:ext uri="{FF2B5EF4-FFF2-40B4-BE49-F238E27FC236}">
                <a16:creationId xmlns:a16="http://schemas.microsoft.com/office/drawing/2014/main" id="{129641BD-5FA7-0214-5529-69A10DD98122}"/>
              </a:ext>
            </a:extLst>
          </p:cNvPr>
          <p:cNvSpPr txBox="1"/>
          <p:nvPr/>
        </p:nvSpPr>
        <p:spPr>
          <a:xfrm>
            <a:off x="6141491" y="1151487"/>
            <a:ext cx="2074607" cy="438582"/>
          </a:xfrm>
          <a:prstGeom prst="rect">
            <a:avLst/>
          </a:prstGeom>
          <a:solidFill>
            <a:schemeClr val="bg1"/>
          </a:solidFill>
        </p:spPr>
        <p:txBody>
          <a:bodyPr wrap="none" rtlCol="0">
            <a:spAutoFit/>
          </a:bodyPr>
          <a:lstStyle/>
          <a:p>
            <a:pPr algn="ctr"/>
            <a:r>
              <a:rPr lang="en-FR" sz="1200" dirty="0">
                <a:solidFill>
                  <a:srgbClr val="6D8EED"/>
                </a:solidFill>
                <a:latin typeface="Poppins" pitchFamily="2" charset="77"/>
                <a:cs typeface="Poppins" pitchFamily="2" charset="77"/>
              </a:rPr>
              <a:t>120 responses </a:t>
            </a:r>
            <a:br>
              <a:rPr lang="en-FR" sz="1200" dirty="0">
                <a:solidFill>
                  <a:srgbClr val="6D8EED"/>
                </a:solidFill>
                <a:latin typeface="Poppins" pitchFamily="2" charset="77"/>
                <a:cs typeface="Poppins" pitchFamily="2" charset="77"/>
              </a:rPr>
            </a:br>
            <a:r>
              <a:rPr lang="en-FR" sz="1050" dirty="0">
                <a:solidFill>
                  <a:srgbClr val="6D8EED"/>
                </a:solidFill>
                <a:latin typeface="Poppins" pitchFamily="2" charset="77"/>
                <a:cs typeface="Poppins" pitchFamily="2" charset="77"/>
              </a:rPr>
              <a:t>(20 each e2e &amp; 1-step + GT)</a:t>
            </a:r>
            <a:endParaRPr lang="en-FR" sz="1200" dirty="0">
              <a:solidFill>
                <a:srgbClr val="6D8EED"/>
              </a:solidFill>
              <a:latin typeface="Poppins" pitchFamily="2" charset="77"/>
              <a:cs typeface="Poppins" pitchFamily="2" charset="77"/>
            </a:endParaRPr>
          </a:p>
        </p:txBody>
      </p:sp>
      <p:sp>
        <p:nvSpPr>
          <p:cNvPr id="30" name="TextBox 29">
            <a:extLst>
              <a:ext uri="{FF2B5EF4-FFF2-40B4-BE49-F238E27FC236}">
                <a16:creationId xmlns:a16="http://schemas.microsoft.com/office/drawing/2014/main" id="{3421266B-6D8F-8448-08C4-243659142B75}"/>
              </a:ext>
            </a:extLst>
          </p:cNvPr>
          <p:cNvSpPr txBox="1"/>
          <p:nvPr/>
        </p:nvSpPr>
        <p:spPr>
          <a:xfrm>
            <a:off x="9363061" y="1107562"/>
            <a:ext cx="2201244" cy="276999"/>
          </a:xfrm>
          <a:prstGeom prst="rect">
            <a:avLst/>
          </a:prstGeom>
          <a:solidFill>
            <a:schemeClr val="bg1"/>
          </a:solidFill>
        </p:spPr>
        <p:txBody>
          <a:bodyPr wrap="none" rtlCol="0">
            <a:spAutoFit/>
          </a:bodyPr>
          <a:lstStyle/>
          <a:p>
            <a:r>
              <a:rPr lang="en-FR" sz="1200" dirty="0">
                <a:solidFill>
                  <a:srgbClr val="6D8EED"/>
                </a:solidFill>
                <a:latin typeface="Poppins" pitchFamily="2" charset="77"/>
                <a:cs typeface="Poppins" pitchFamily="2" charset="77"/>
              </a:rPr>
              <a:t>213 samples (full test set)</a:t>
            </a:r>
          </a:p>
        </p:txBody>
      </p:sp>
      <p:sp>
        <p:nvSpPr>
          <p:cNvPr id="32" name="Rectangle 31">
            <a:extLst>
              <a:ext uri="{FF2B5EF4-FFF2-40B4-BE49-F238E27FC236}">
                <a16:creationId xmlns:a16="http://schemas.microsoft.com/office/drawing/2014/main" id="{7BC2D614-55D9-3C3E-50AB-38DA3A4607C2}"/>
              </a:ext>
            </a:extLst>
          </p:cNvPr>
          <p:cNvSpPr/>
          <p:nvPr/>
        </p:nvSpPr>
        <p:spPr>
          <a:xfrm>
            <a:off x="8893311" y="4522976"/>
            <a:ext cx="3238501" cy="18283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rgbClr val="A5AFF5"/>
                </a:solidFill>
              </a:rPr>
              <a:t>2. The poor performance of multi-step generation imply that despite their superior generative capabilities, LLMs struggle to achieve good results on planning tasks.</a:t>
            </a:r>
          </a:p>
        </p:txBody>
      </p:sp>
      <p:sp>
        <p:nvSpPr>
          <p:cNvPr id="33" name="Rectangle 32">
            <a:extLst>
              <a:ext uri="{FF2B5EF4-FFF2-40B4-BE49-F238E27FC236}">
                <a16:creationId xmlns:a16="http://schemas.microsoft.com/office/drawing/2014/main" id="{8993DCA3-09F8-9E24-1626-D1DF80F5F37F}"/>
              </a:ext>
            </a:extLst>
          </p:cNvPr>
          <p:cNvSpPr/>
          <p:nvPr/>
        </p:nvSpPr>
        <p:spPr>
          <a:xfrm>
            <a:off x="8873153" y="2544650"/>
            <a:ext cx="3238501" cy="17686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sz="1700" dirty="0">
                <a:solidFill>
                  <a:srgbClr val="A5AFF5"/>
                </a:solidFill>
              </a:rPr>
              <a:t>While Llama 1-step and </a:t>
            </a:r>
            <a:r>
              <a:rPr lang="en-GB" sz="1700" dirty="0" err="1">
                <a:solidFill>
                  <a:srgbClr val="A5AFF5"/>
                </a:solidFill>
              </a:rPr>
              <a:t>Mixtral</a:t>
            </a:r>
            <a:r>
              <a:rPr lang="en-GB" sz="1700" dirty="0">
                <a:solidFill>
                  <a:srgbClr val="A5AFF5"/>
                </a:solidFill>
              </a:rPr>
              <a:t> 1-step have the best Top@3, Top@1 shows that Qwen 1-step, when selected in the top-3, was always ranked first.</a:t>
            </a:r>
          </a:p>
        </p:txBody>
      </p:sp>
      <p:sp>
        <p:nvSpPr>
          <p:cNvPr id="34" name="Rectangle 33">
            <a:extLst>
              <a:ext uri="{FF2B5EF4-FFF2-40B4-BE49-F238E27FC236}">
                <a16:creationId xmlns:a16="http://schemas.microsoft.com/office/drawing/2014/main" id="{FF133F06-F556-A3B0-E7ED-5DA0545A9FB8}"/>
              </a:ext>
            </a:extLst>
          </p:cNvPr>
          <p:cNvSpPr/>
          <p:nvPr/>
        </p:nvSpPr>
        <p:spPr>
          <a:xfrm>
            <a:off x="8873153" y="1323410"/>
            <a:ext cx="3238501" cy="14589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sz="1700" dirty="0">
                <a:solidFill>
                  <a:srgbClr val="A5AFF5"/>
                </a:solidFill>
              </a:rPr>
              <a:t>Both the filtering and ranking phases shows that 1-step and e2e generation are preferred in direct comparison to the others</a:t>
            </a:r>
          </a:p>
        </p:txBody>
      </p:sp>
      <p:sp>
        <p:nvSpPr>
          <p:cNvPr id="35" name="Rectangle 34">
            <a:extLst>
              <a:ext uri="{FF2B5EF4-FFF2-40B4-BE49-F238E27FC236}">
                <a16:creationId xmlns:a16="http://schemas.microsoft.com/office/drawing/2014/main" id="{CBE4D206-4701-9885-2920-0F8E8268EBC8}"/>
              </a:ext>
            </a:extLst>
          </p:cNvPr>
          <p:cNvSpPr/>
          <p:nvPr/>
        </p:nvSpPr>
        <p:spPr>
          <a:xfrm>
            <a:off x="8893311" y="2969877"/>
            <a:ext cx="3238501" cy="16451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rgbClr val="A5AFF5"/>
                </a:solidFill>
              </a:rPr>
              <a:t>1. The selection of 1-step over end-to-end shows that planning does have a positive impact on the quality of the response</a:t>
            </a:r>
          </a:p>
        </p:txBody>
      </p:sp>
      <p:sp>
        <p:nvSpPr>
          <p:cNvPr id="36" name="Rectangle 35">
            <a:extLst>
              <a:ext uri="{FF2B5EF4-FFF2-40B4-BE49-F238E27FC236}">
                <a16:creationId xmlns:a16="http://schemas.microsoft.com/office/drawing/2014/main" id="{23CC6DA8-AE73-1F66-7A5B-F30790E09D4C}"/>
              </a:ext>
            </a:extLst>
          </p:cNvPr>
          <p:cNvSpPr/>
          <p:nvPr/>
        </p:nvSpPr>
        <p:spPr>
          <a:xfrm>
            <a:off x="8893311" y="2141519"/>
            <a:ext cx="3238501" cy="8382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rgbClr val="A5AFF5"/>
                </a:solidFill>
              </a:rPr>
              <a:t>The preference for the 1-step schemes seems to yield two conclusions:</a:t>
            </a:r>
          </a:p>
        </p:txBody>
      </p:sp>
      <p:sp>
        <p:nvSpPr>
          <p:cNvPr id="31" name="Rectangle 30">
            <a:extLst>
              <a:ext uri="{FF2B5EF4-FFF2-40B4-BE49-F238E27FC236}">
                <a16:creationId xmlns:a16="http://schemas.microsoft.com/office/drawing/2014/main" id="{BBB73CCD-E2D0-452B-EBED-DD0BF22E93FC}"/>
              </a:ext>
            </a:extLst>
          </p:cNvPr>
          <p:cNvSpPr/>
          <p:nvPr/>
        </p:nvSpPr>
        <p:spPr>
          <a:xfrm>
            <a:off x="8873150" y="4055900"/>
            <a:ext cx="3238501" cy="23379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GB" sz="1700" dirty="0">
              <a:solidFill>
                <a:srgbClr val="A5AFF5"/>
              </a:solidFill>
            </a:endParaRPr>
          </a:p>
          <a:p>
            <a:pPr marL="285750" indent="-285750">
              <a:buFont typeface="Arial" panose="020B0604020202020204" pitchFamily="34" charset="0"/>
              <a:buChar char="•"/>
            </a:pPr>
            <a:r>
              <a:rPr lang="en-GB" sz="1700" dirty="0">
                <a:solidFill>
                  <a:srgbClr val="A5AFF5"/>
                </a:solidFill>
              </a:rPr>
              <a:t>Overall, Qwen 1-step seems to be the preferred model, as it shows a general socio-emotional (</a:t>
            </a:r>
            <a:r>
              <a:rPr lang="en-GB" sz="1700" dirty="0" err="1">
                <a:solidFill>
                  <a:srgbClr val="A5AFF5"/>
                </a:solidFill>
              </a:rPr>
              <a:t>SocEmo</a:t>
            </a:r>
            <a:r>
              <a:rPr lang="en-GB" sz="1700" dirty="0">
                <a:solidFill>
                  <a:srgbClr val="A5AFF5"/>
                </a:solidFill>
              </a:rPr>
              <a:t>) and Logical scores on par with human responses and even outperforms the ground truth on the emotional and Social scores.</a:t>
            </a:r>
          </a:p>
        </p:txBody>
      </p:sp>
      <p:sp>
        <p:nvSpPr>
          <p:cNvPr id="37" name="TextBox 36">
            <a:extLst>
              <a:ext uri="{FF2B5EF4-FFF2-40B4-BE49-F238E27FC236}">
                <a16:creationId xmlns:a16="http://schemas.microsoft.com/office/drawing/2014/main" id="{64C0FD7C-C133-DC20-057F-310D232F7303}"/>
              </a:ext>
            </a:extLst>
          </p:cNvPr>
          <p:cNvSpPr txBox="1"/>
          <p:nvPr/>
        </p:nvSpPr>
        <p:spPr>
          <a:xfrm>
            <a:off x="5298646" y="1931547"/>
            <a:ext cx="790819" cy="292388"/>
          </a:xfrm>
          <a:prstGeom prst="rect">
            <a:avLst/>
          </a:prstGeom>
          <a:solidFill>
            <a:schemeClr val="bg1"/>
          </a:solidFill>
        </p:spPr>
        <p:txBody>
          <a:bodyPr wrap="square" rtlCol="0">
            <a:spAutoFit/>
          </a:bodyPr>
          <a:lstStyle/>
          <a:p>
            <a:pPr algn="ctr"/>
            <a:r>
              <a:rPr lang="en-FR" sz="1300" dirty="0">
                <a:latin typeface="Times New Roman" panose="02020603050405020304" pitchFamily="18" charset="0"/>
                <a:cs typeface="Times New Roman" panose="02020603050405020304" pitchFamily="18" charset="0"/>
              </a:rPr>
              <a:t>Socemo</a:t>
            </a:r>
          </a:p>
        </p:txBody>
      </p:sp>
      <p:sp>
        <p:nvSpPr>
          <p:cNvPr id="6" name="Rectangle 5">
            <a:extLst>
              <a:ext uri="{FF2B5EF4-FFF2-40B4-BE49-F238E27FC236}">
                <a16:creationId xmlns:a16="http://schemas.microsoft.com/office/drawing/2014/main" id="{951B0CE4-9D84-F529-C981-A957B1F48F17}"/>
              </a:ext>
            </a:extLst>
          </p:cNvPr>
          <p:cNvSpPr/>
          <p:nvPr/>
        </p:nvSpPr>
        <p:spPr>
          <a:xfrm>
            <a:off x="5274213" y="1921269"/>
            <a:ext cx="3443638" cy="4412381"/>
          </a:xfrm>
          <a:prstGeom prst="rect">
            <a:avLst/>
          </a:prstGeom>
          <a:noFill/>
          <a:ln w="28575">
            <a:solidFill>
              <a:srgbClr val="6FD19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5" name="Rectangle 14">
            <a:extLst>
              <a:ext uri="{FF2B5EF4-FFF2-40B4-BE49-F238E27FC236}">
                <a16:creationId xmlns:a16="http://schemas.microsoft.com/office/drawing/2014/main" id="{9C9451AE-233D-E14D-C70C-C9757E2CB5F0}"/>
              </a:ext>
            </a:extLst>
          </p:cNvPr>
          <p:cNvSpPr/>
          <p:nvPr/>
        </p:nvSpPr>
        <p:spPr>
          <a:xfrm>
            <a:off x="5298649" y="2206005"/>
            <a:ext cx="3419202" cy="369760"/>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38" name="Rectangle 37">
            <a:extLst>
              <a:ext uri="{FF2B5EF4-FFF2-40B4-BE49-F238E27FC236}">
                <a16:creationId xmlns:a16="http://schemas.microsoft.com/office/drawing/2014/main" id="{61B3009E-7B3C-F8E3-2936-BE3AFC7C9EA2}"/>
              </a:ext>
            </a:extLst>
          </p:cNvPr>
          <p:cNvSpPr/>
          <p:nvPr/>
        </p:nvSpPr>
        <p:spPr>
          <a:xfrm>
            <a:off x="156283" y="2465143"/>
            <a:ext cx="1815713" cy="3184020"/>
          </a:xfrm>
          <a:prstGeom prst="rect">
            <a:avLst/>
          </a:prstGeom>
          <a:solidFill>
            <a:schemeClr val="bg1"/>
          </a:solidFill>
          <a:ln w="28575">
            <a:solidFill>
              <a:srgbClr val="A5B0F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800100" lvl="1" indent="-342900">
              <a:buFont typeface="Arial" panose="020B0604020202020204" pitchFamily="34" charset="0"/>
              <a:buChar char="•"/>
            </a:pPr>
            <a:endParaRPr lang="en-FR" sz="900" dirty="0">
              <a:solidFill>
                <a:srgbClr val="A5B0F6"/>
              </a:solidFill>
              <a:latin typeface="Poppins" pitchFamily="2" charset="77"/>
              <a:cs typeface="Poppins" pitchFamily="2" charset="77"/>
            </a:endParaRPr>
          </a:p>
          <a:p>
            <a:pPr marL="342900" indent="-342900">
              <a:buFont typeface="Arial" panose="020B0604020202020204" pitchFamily="34" charset="0"/>
              <a:buChar char="•"/>
            </a:pPr>
            <a:endParaRPr lang="en-FR" sz="900" dirty="0">
              <a:solidFill>
                <a:srgbClr val="A5B0F6"/>
              </a:solidFill>
              <a:latin typeface="Poppins" pitchFamily="2" charset="77"/>
              <a:cs typeface="Poppins" pitchFamily="2" charset="77"/>
            </a:endParaRPr>
          </a:p>
          <a:p>
            <a:pPr marL="342900" indent="-342900">
              <a:buFont typeface="Arial" panose="020B0604020202020204" pitchFamily="34" charset="0"/>
              <a:buChar char="•"/>
            </a:pPr>
            <a:endParaRPr lang="en-FR" sz="900" dirty="0">
              <a:solidFill>
                <a:srgbClr val="A5B0F6"/>
              </a:solidFill>
              <a:latin typeface="Poppins" pitchFamily="2" charset="77"/>
              <a:cs typeface="Poppins" pitchFamily="2" charset="77"/>
            </a:endParaRPr>
          </a:p>
          <a:p>
            <a:pPr marL="342900" indent="-342900">
              <a:buFont typeface="Arial" panose="020B0604020202020204" pitchFamily="34" charset="0"/>
              <a:buChar char="•"/>
            </a:pPr>
            <a:endParaRPr lang="en-FR" sz="900" dirty="0">
              <a:solidFill>
                <a:srgbClr val="A5B0F6"/>
              </a:solidFill>
              <a:latin typeface="Poppins" pitchFamily="2" charset="77"/>
              <a:cs typeface="Poppins" pitchFamily="2" charset="77"/>
            </a:endParaRPr>
          </a:p>
          <a:p>
            <a:pPr marL="342900" indent="-342900">
              <a:buFont typeface="Arial" panose="020B0604020202020204" pitchFamily="34" charset="0"/>
              <a:buChar char="•"/>
            </a:pPr>
            <a:endParaRPr lang="en-FR" sz="900" dirty="0">
              <a:solidFill>
                <a:srgbClr val="A5B0F6"/>
              </a:solidFill>
              <a:latin typeface="Poppins" pitchFamily="2" charset="77"/>
              <a:cs typeface="Poppins" pitchFamily="2" charset="77"/>
            </a:endParaRPr>
          </a:p>
          <a:p>
            <a:pPr marL="342900" indent="-342900">
              <a:buFont typeface="Arial" panose="020B0604020202020204" pitchFamily="34" charset="0"/>
              <a:buChar char="•"/>
            </a:pPr>
            <a:endParaRPr lang="en-FR" sz="900" dirty="0">
              <a:solidFill>
                <a:srgbClr val="A5B0F6"/>
              </a:solidFill>
              <a:latin typeface="Poppins" pitchFamily="2" charset="77"/>
              <a:cs typeface="Poppins" pitchFamily="2" charset="77"/>
            </a:endParaRPr>
          </a:p>
          <a:p>
            <a:endParaRPr lang="en-FR" sz="900" dirty="0">
              <a:solidFill>
                <a:srgbClr val="A5B0F6"/>
              </a:solidFill>
              <a:latin typeface="Poppins" pitchFamily="2" charset="77"/>
              <a:cs typeface="Poppins" pitchFamily="2" charset="77"/>
            </a:endParaRPr>
          </a:p>
        </p:txBody>
      </p:sp>
      <p:sp>
        <p:nvSpPr>
          <p:cNvPr id="39" name="TextBox 38">
            <a:extLst>
              <a:ext uri="{FF2B5EF4-FFF2-40B4-BE49-F238E27FC236}">
                <a16:creationId xmlns:a16="http://schemas.microsoft.com/office/drawing/2014/main" id="{13063F7B-28E0-2364-1379-31B5640A7549}"/>
              </a:ext>
            </a:extLst>
          </p:cNvPr>
          <p:cNvSpPr txBox="1"/>
          <p:nvPr/>
        </p:nvSpPr>
        <p:spPr>
          <a:xfrm>
            <a:off x="262051" y="2344933"/>
            <a:ext cx="1637761" cy="230832"/>
          </a:xfrm>
          <a:prstGeom prst="rect">
            <a:avLst/>
          </a:prstGeom>
          <a:solidFill>
            <a:schemeClr val="bg1"/>
          </a:solidFill>
        </p:spPr>
        <p:txBody>
          <a:bodyPr wrap="square" rtlCol="0">
            <a:spAutoFit/>
          </a:bodyPr>
          <a:lstStyle/>
          <a:p>
            <a:r>
              <a:rPr lang="en-FR" sz="900" b="1" dirty="0">
                <a:solidFill>
                  <a:srgbClr val="A5B0F6"/>
                </a:solidFill>
                <a:latin typeface="Poppins" pitchFamily="2" charset="77"/>
                <a:cs typeface="Poppins" pitchFamily="2" charset="77"/>
              </a:rPr>
              <a:t>CONDITIONING SCHEMES</a:t>
            </a:r>
          </a:p>
        </p:txBody>
      </p:sp>
      <p:sp>
        <p:nvSpPr>
          <p:cNvPr id="40" name="TextBox 39">
            <a:extLst>
              <a:ext uri="{FF2B5EF4-FFF2-40B4-BE49-F238E27FC236}">
                <a16:creationId xmlns:a16="http://schemas.microsoft.com/office/drawing/2014/main" id="{5154D955-C0FD-359C-D866-167562CF2484}"/>
              </a:ext>
            </a:extLst>
          </p:cNvPr>
          <p:cNvSpPr txBox="1"/>
          <p:nvPr/>
        </p:nvSpPr>
        <p:spPr>
          <a:xfrm>
            <a:off x="220326" y="2570891"/>
            <a:ext cx="1613979" cy="584775"/>
          </a:xfrm>
          <a:prstGeom prst="rect">
            <a:avLst/>
          </a:prstGeom>
          <a:noFill/>
        </p:spPr>
        <p:txBody>
          <a:bodyPr wrap="square" rtlCol="0">
            <a:spAutoFit/>
          </a:bodyPr>
          <a:lstStyle/>
          <a:p>
            <a:r>
              <a:rPr lang="en-FR" sz="800" b="1" u="sng" dirty="0">
                <a:solidFill>
                  <a:srgbClr val="A5B0F6"/>
                </a:solidFill>
                <a:latin typeface="Poppins" pitchFamily="2" charset="77"/>
                <a:cs typeface="Poppins" pitchFamily="2" charset="77"/>
              </a:rPr>
              <a:t>End-to-End</a:t>
            </a:r>
            <a:r>
              <a:rPr lang="en-FR" sz="800" dirty="0">
                <a:solidFill>
                  <a:srgbClr val="A5B0F6"/>
                </a:solidFill>
                <a:latin typeface="Poppins" pitchFamily="2" charset="77"/>
                <a:cs typeface="Poppins" pitchFamily="2" charset="77"/>
              </a:rPr>
              <a:t>: direct prompt to generate the response based on the dialogue history</a:t>
            </a:r>
          </a:p>
        </p:txBody>
      </p:sp>
      <p:sp>
        <p:nvSpPr>
          <p:cNvPr id="41" name="TextBox 40">
            <a:extLst>
              <a:ext uri="{FF2B5EF4-FFF2-40B4-BE49-F238E27FC236}">
                <a16:creationId xmlns:a16="http://schemas.microsoft.com/office/drawing/2014/main" id="{525B4225-D953-60DE-F8F4-332390230164}"/>
              </a:ext>
            </a:extLst>
          </p:cNvPr>
          <p:cNvSpPr txBox="1"/>
          <p:nvPr/>
        </p:nvSpPr>
        <p:spPr>
          <a:xfrm>
            <a:off x="220326" y="3297968"/>
            <a:ext cx="1711707" cy="215444"/>
          </a:xfrm>
          <a:prstGeom prst="rect">
            <a:avLst/>
          </a:prstGeom>
          <a:noFill/>
        </p:spPr>
        <p:txBody>
          <a:bodyPr wrap="square">
            <a:spAutoFit/>
          </a:bodyPr>
          <a:lstStyle/>
          <a:p>
            <a:r>
              <a:rPr lang="en-FR" sz="800" b="1" u="sng" dirty="0">
                <a:solidFill>
                  <a:srgbClr val="A5B0F6"/>
                </a:solidFill>
                <a:latin typeface="Poppins" pitchFamily="2" charset="77"/>
                <a:cs typeface="Poppins" pitchFamily="2" charset="77"/>
              </a:rPr>
              <a:t>1-Step Generation:</a:t>
            </a:r>
            <a:endParaRPr lang="en-FR" sz="800" dirty="0">
              <a:solidFill>
                <a:srgbClr val="A5B0F6"/>
              </a:solidFill>
              <a:latin typeface="Poppins" pitchFamily="2" charset="77"/>
              <a:cs typeface="Poppins" pitchFamily="2" charset="77"/>
            </a:endParaRPr>
          </a:p>
        </p:txBody>
      </p:sp>
      <p:sp>
        <p:nvSpPr>
          <p:cNvPr id="42" name="TextBox 41">
            <a:extLst>
              <a:ext uri="{FF2B5EF4-FFF2-40B4-BE49-F238E27FC236}">
                <a16:creationId xmlns:a16="http://schemas.microsoft.com/office/drawing/2014/main" id="{9B97A306-7CF1-1DF3-8646-24FC04A7B98F}"/>
              </a:ext>
            </a:extLst>
          </p:cNvPr>
          <p:cNvSpPr txBox="1"/>
          <p:nvPr/>
        </p:nvSpPr>
        <p:spPr>
          <a:xfrm>
            <a:off x="220326" y="3910766"/>
            <a:ext cx="1711707" cy="954107"/>
          </a:xfrm>
          <a:prstGeom prst="rect">
            <a:avLst/>
          </a:prstGeom>
          <a:noFill/>
        </p:spPr>
        <p:txBody>
          <a:bodyPr wrap="square">
            <a:spAutoFit/>
          </a:bodyPr>
          <a:lstStyle/>
          <a:p>
            <a:r>
              <a:rPr lang="en-FR" sz="800" b="1" u="sng" dirty="0">
                <a:solidFill>
                  <a:srgbClr val="A5B0F6"/>
                </a:solidFill>
                <a:latin typeface="Poppins" pitchFamily="2" charset="77"/>
                <a:cs typeface="Poppins" pitchFamily="2" charset="77"/>
              </a:rPr>
              <a:t>2-Step Generation</a:t>
            </a:r>
            <a:r>
              <a:rPr lang="en-FR" sz="800" dirty="0">
                <a:solidFill>
                  <a:srgbClr val="A5B0F6"/>
                </a:solidFill>
                <a:latin typeface="Poppins" pitchFamily="2" charset="77"/>
                <a:cs typeface="Poppins" pitchFamily="2" charset="77"/>
              </a:rPr>
              <a:t>: </a:t>
            </a:r>
          </a:p>
          <a:p>
            <a:pPr marL="342900" indent="-342900">
              <a:buFont typeface="Arial" panose="020B0604020202020204" pitchFamily="34" charset="0"/>
              <a:buChar char="•"/>
            </a:pPr>
            <a:r>
              <a:rPr lang="en-FR" sz="800" dirty="0">
                <a:solidFill>
                  <a:srgbClr val="A5B0F6"/>
                </a:solidFill>
                <a:latin typeface="Poppins" pitchFamily="2" charset="77"/>
                <a:cs typeface="Poppins" pitchFamily="2" charset="77"/>
              </a:rPr>
              <a:t>Create a response plan from label sequence + history</a:t>
            </a:r>
          </a:p>
          <a:p>
            <a:pPr marL="342900" indent="-342900">
              <a:buFont typeface="Arial" panose="020B0604020202020204" pitchFamily="34" charset="0"/>
              <a:buChar char="•"/>
            </a:pPr>
            <a:r>
              <a:rPr lang="en-FR" sz="800" dirty="0">
                <a:solidFill>
                  <a:srgbClr val="A5B0F6"/>
                </a:solidFill>
                <a:latin typeface="Poppins" pitchFamily="2" charset="77"/>
                <a:cs typeface="Poppins" pitchFamily="2" charset="77"/>
              </a:rPr>
              <a:t>Generate the response using this response plan</a:t>
            </a:r>
          </a:p>
        </p:txBody>
      </p:sp>
      <p:sp>
        <p:nvSpPr>
          <p:cNvPr id="43" name="TextBox 42">
            <a:extLst>
              <a:ext uri="{FF2B5EF4-FFF2-40B4-BE49-F238E27FC236}">
                <a16:creationId xmlns:a16="http://schemas.microsoft.com/office/drawing/2014/main" id="{95C83464-8FC7-9015-35F1-C56101DE619D}"/>
              </a:ext>
            </a:extLst>
          </p:cNvPr>
          <p:cNvSpPr txBox="1"/>
          <p:nvPr/>
        </p:nvSpPr>
        <p:spPr>
          <a:xfrm>
            <a:off x="220326" y="4921037"/>
            <a:ext cx="1711707" cy="584775"/>
          </a:xfrm>
          <a:prstGeom prst="rect">
            <a:avLst/>
          </a:prstGeom>
          <a:noFill/>
        </p:spPr>
        <p:txBody>
          <a:bodyPr wrap="square">
            <a:spAutoFit/>
          </a:bodyPr>
          <a:lstStyle/>
          <a:p>
            <a:r>
              <a:rPr lang="en-FR" sz="800" b="1" u="sng" dirty="0">
                <a:solidFill>
                  <a:srgbClr val="A5B0F6"/>
                </a:solidFill>
                <a:latin typeface="Poppins" pitchFamily="2" charset="77"/>
                <a:cs typeface="Poppins" pitchFamily="2" charset="77"/>
              </a:rPr>
              <a:t>3-Step Generation </a:t>
            </a:r>
            <a:r>
              <a:rPr lang="en-FR" sz="800" dirty="0">
                <a:solidFill>
                  <a:srgbClr val="A5B0F6"/>
                </a:solidFill>
                <a:latin typeface="Poppins" pitchFamily="2" charset="77"/>
                <a:cs typeface="Poppins" pitchFamily="2" charset="77"/>
              </a:rPr>
              <a:t>:  </a:t>
            </a:r>
            <a:r>
              <a:rPr lang="en-FR" sz="800" b="1" u="sng" dirty="0">
                <a:solidFill>
                  <a:srgbClr val="A5B0F6"/>
                </a:solidFill>
                <a:latin typeface="Poppins" pitchFamily="2" charset="77"/>
                <a:cs typeface="Poppins" pitchFamily="2" charset="77"/>
              </a:rPr>
              <a:t>2-Step scheme </a:t>
            </a:r>
            <a:r>
              <a:rPr lang="en-FR" sz="800" dirty="0">
                <a:solidFill>
                  <a:srgbClr val="A5B0F6"/>
                </a:solidFill>
                <a:latin typeface="Poppins" pitchFamily="2" charset="77"/>
                <a:cs typeface="Poppins" pitchFamily="2" charset="77"/>
              </a:rPr>
              <a:t>+ an additional prompt to adjust style and shorten the response</a:t>
            </a:r>
          </a:p>
        </p:txBody>
      </p:sp>
      <p:sp>
        <p:nvSpPr>
          <p:cNvPr id="49" name="TextBox 48">
            <a:extLst>
              <a:ext uri="{FF2B5EF4-FFF2-40B4-BE49-F238E27FC236}">
                <a16:creationId xmlns:a16="http://schemas.microsoft.com/office/drawing/2014/main" id="{8DB9F2E6-1432-E916-3766-69AE214F19F2}"/>
              </a:ext>
            </a:extLst>
          </p:cNvPr>
          <p:cNvSpPr txBox="1"/>
          <p:nvPr/>
        </p:nvSpPr>
        <p:spPr>
          <a:xfrm>
            <a:off x="220324" y="3477827"/>
            <a:ext cx="1613979" cy="338554"/>
          </a:xfrm>
          <a:prstGeom prst="rect">
            <a:avLst/>
          </a:prstGeom>
          <a:noFill/>
        </p:spPr>
        <p:txBody>
          <a:bodyPr wrap="square">
            <a:spAutoFit/>
          </a:bodyPr>
          <a:lstStyle/>
          <a:p>
            <a:r>
              <a:rPr lang="en-FR" sz="800" dirty="0">
                <a:solidFill>
                  <a:srgbClr val="A5B0F6"/>
                </a:solidFill>
                <a:latin typeface="Poppins" pitchFamily="2" charset="77"/>
                <a:cs typeface="Poppins" pitchFamily="2" charset="77"/>
              </a:rPr>
              <a:t>Conditioning  on ground truth sequence of labels  </a:t>
            </a:r>
          </a:p>
        </p:txBody>
      </p:sp>
    </p:spTree>
    <p:extLst>
      <p:ext uri="{BB962C8B-B14F-4D97-AF65-F5344CB8AC3E}">
        <p14:creationId xmlns:p14="http://schemas.microsoft.com/office/powerpoint/2010/main" val="6266000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34"/>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33"/>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31"/>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1"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1"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11"/>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29"/>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7"/>
                                        </p:tgtEl>
                                        <p:attrNameLst>
                                          <p:attrName>style.visibility</p:attrName>
                                        </p:attrNameLst>
                                      </p:cBhvr>
                                      <p:to>
                                        <p:strVal val="hidden"/>
                                      </p:to>
                                    </p:set>
                                  </p:childTnLst>
                                </p:cTn>
                              </p:par>
                              <p:par>
                                <p:cTn id="55" presetID="1" presetClass="exit" presetSubtype="0" fill="hold" grpId="2" nodeType="withEffect">
                                  <p:stCondLst>
                                    <p:cond delay="0"/>
                                  </p:stCondLst>
                                  <p:childTnLst>
                                    <p:set>
                                      <p:cBhvr>
                                        <p:cTn id="56" dur="1" fill="hold">
                                          <p:stCondLst>
                                            <p:cond delay="0"/>
                                          </p:stCondLst>
                                        </p:cTn>
                                        <p:tgtEl>
                                          <p:spTgt spid="18"/>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20"/>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21"/>
                                        </p:tgtEl>
                                        <p:attrNameLst>
                                          <p:attrName>style.visibility</p:attrName>
                                        </p:attrNameLst>
                                      </p:cBhvr>
                                      <p:to>
                                        <p:strVal val="hidden"/>
                                      </p:to>
                                    </p:set>
                                  </p:childTnLst>
                                </p:cTn>
                              </p:par>
                              <p:par>
                                <p:cTn id="61" presetID="1" presetClass="exit"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hidden"/>
                                      </p:to>
                                    </p:set>
                                  </p:childTnLst>
                                </p:cTn>
                              </p:par>
                              <p:par>
                                <p:cTn id="63" presetID="1" presetClass="entr" presetSubtype="0"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2" grpId="0" animBg="1"/>
      <p:bldP spid="13" grpId="0" animBg="1"/>
      <p:bldP spid="14" grpId="0" animBg="1"/>
      <p:bldP spid="18" grpId="0" animBg="1"/>
      <p:bldP spid="18" grpId="1" animBg="1"/>
      <p:bldP spid="18" grpId="2" animBg="1"/>
      <p:bldP spid="20" grpId="0" animBg="1"/>
      <p:bldP spid="20" grpId="1" animBg="1"/>
      <p:bldP spid="21" grpId="0" animBg="1"/>
      <p:bldP spid="21" grpId="1" animBg="1"/>
      <p:bldP spid="30" grpId="0" animBg="1"/>
      <p:bldP spid="30" grpId="1" animBg="1"/>
      <p:bldP spid="32" grpId="0" animBg="1"/>
      <p:bldP spid="33" grpId="0" animBg="1"/>
      <p:bldP spid="33" grpId="1" animBg="1"/>
      <p:bldP spid="34" grpId="0" animBg="1"/>
      <p:bldP spid="34" grpId="1" animBg="1"/>
      <p:bldP spid="35" grpId="0" animBg="1"/>
      <p:bldP spid="36" grpId="0" animBg="1"/>
      <p:bldP spid="31" grpId="0" animBg="1"/>
      <p:bldP spid="31" grpId="1" animBg="1"/>
      <p:bldP spid="1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3C155-C52F-97D2-FB84-66CF6403F193}"/>
            </a:ext>
          </a:extLst>
        </p:cNvPr>
        <p:cNvGrpSpPr/>
        <p:nvPr/>
      </p:nvGrpSpPr>
      <p:grpSpPr>
        <a:xfrm>
          <a:off x="0" y="0"/>
          <a:ext cx="0" cy="0"/>
          <a:chOff x="0" y="0"/>
          <a:chExt cx="0" cy="0"/>
        </a:xfrm>
      </p:grpSpPr>
      <p:pic>
        <p:nvPicPr>
          <p:cNvPr id="2" name="Graphic 1" descr="Gears with solid fill">
            <a:extLst>
              <a:ext uri="{FF2B5EF4-FFF2-40B4-BE49-F238E27FC236}">
                <a16:creationId xmlns:a16="http://schemas.microsoft.com/office/drawing/2014/main" id="{4F9816C0-0C07-6C2D-8DBC-1952B94DDB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884" y="164201"/>
            <a:ext cx="1065059" cy="1065059"/>
          </a:xfrm>
          <a:prstGeom prst="rect">
            <a:avLst/>
          </a:prstGeom>
        </p:spPr>
      </p:pic>
      <p:sp>
        <p:nvSpPr>
          <p:cNvPr id="5" name="Title 4">
            <a:extLst>
              <a:ext uri="{FF2B5EF4-FFF2-40B4-BE49-F238E27FC236}">
                <a16:creationId xmlns:a16="http://schemas.microsoft.com/office/drawing/2014/main" id="{347D1BF1-72F0-7844-D04C-A1EB581695A4}"/>
              </a:ext>
            </a:extLst>
          </p:cNvPr>
          <p:cNvSpPr>
            <a:spLocks noGrp="1"/>
          </p:cNvSpPr>
          <p:nvPr>
            <p:ph type="title"/>
          </p:nvPr>
        </p:nvSpPr>
        <p:spPr/>
        <p:txBody>
          <a:bodyPr/>
          <a:lstStyle/>
          <a:p>
            <a:r>
              <a:rPr lang="en-FR" dirty="0"/>
              <a:t>Annotators’ Qualitative feedback</a:t>
            </a:r>
          </a:p>
        </p:txBody>
      </p:sp>
      <p:graphicFrame>
        <p:nvGraphicFramePr>
          <p:cNvPr id="9" name="Table 8">
            <a:extLst>
              <a:ext uri="{FF2B5EF4-FFF2-40B4-BE49-F238E27FC236}">
                <a16:creationId xmlns:a16="http://schemas.microsoft.com/office/drawing/2014/main" id="{4822211A-16C7-8D4E-6814-557EE19DB123}"/>
              </a:ext>
            </a:extLst>
          </p:cNvPr>
          <p:cNvGraphicFramePr>
            <a:graphicFrameLocks noGrp="1"/>
          </p:cNvGraphicFramePr>
          <p:nvPr>
            <p:extLst>
              <p:ext uri="{D42A27DB-BD31-4B8C-83A1-F6EECF244321}">
                <p14:modId xmlns:p14="http://schemas.microsoft.com/office/powerpoint/2010/main" val="1213218817"/>
              </p:ext>
            </p:extLst>
          </p:nvPr>
        </p:nvGraphicFramePr>
        <p:xfrm>
          <a:off x="430237" y="1229260"/>
          <a:ext cx="11479240" cy="5203084"/>
        </p:xfrm>
        <a:graphic>
          <a:graphicData uri="http://schemas.openxmlformats.org/drawingml/2006/table">
            <a:tbl>
              <a:tblPr firstRow="1" bandRow="1">
                <a:tableStyleId>{5C22544A-7EE6-4342-B048-85BDC9FD1C3A}</a:tableStyleId>
              </a:tblPr>
              <a:tblGrid>
                <a:gridCol w="5739620">
                  <a:extLst>
                    <a:ext uri="{9D8B030D-6E8A-4147-A177-3AD203B41FA5}">
                      <a16:colId xmlns:a16="http://schemas.microsoft.com/office/drawing/2014/main" val="2297366174"/>
                    </a:ext>
                  </a:extLst>
                </a:gridCol>
                <a:gridCol w="5739620">
                  <a:extLst>
                    <a:ext uri="{9D8B030D-6E8A-4147-A177-3AD203B41FA5}">
                      <a16:colId xmlns:a16="http://schemas.microsoft.com/office/drawing/2014/main" val="3475049121"/>
                    </a:ext>
                  </a:extLst>
                </a:gridCol>
              </a:tblGrid>
              <a:tr h="264796">
                <a:tc>
                  <a:txBody>
                    <a:bodyPr/>
                    <a:lstStyle/>
                    <a:p>
                      <a:pPr algn="ctr"/>
                      <a:r>
                        <a:rPr lang="en-FR" sz="1400" dirty="0">
                          <a:latin typeface="Poppins" pitchFamily="2" charset="77"/>
                          <a:cs typeface="Poppins" pitchFamily="2" charset="77"/>
                        </a:rPr>
                        <a:t>Observation</a:t>
                      </a:r>
                    </a:p>
                  </a:txBody>
                  <a:tcPr>
                    <a:solidFill>
                      <a:srgbClr val="4B84F4"/>
                    </a:solidFill>
                  </a:tcPr>
                </a:tc>
                <a:tc>
                  <a:txBody>
                    <a:bodyPr/>
                    <a:lstStyle/>
                    <a:p>
                      <a:pPr algn="ctr"/>
                      <a:r>
                        <a:rPr lang="en-FR" sz="1400" dirty="0">
                          <a:latin typeface="Poppins" pitchFamily="2" charset="77"/>
                          <a:cs typeface="Poppins" pitchFamily="2" charset="77"/>
                        </a:rPr>
                        <a:t>Example</a:t>
                      </a:r>
                    </a:p>
                  </a:txBody>
                  <a:tcPr>
                    <a:solidFill>
                      <a:srgbClr val="4B84F4"/>
                    </a:solidFill>
                  </a:tcPr>
                </a:tc>
                <a:extLst>
                  <a:ext uri="{0D108BD9-81ED-4DB2-BD59-A6C34878D82A}">
                    <a16:rowId xmlns:a16="http://schemas.microsoft.com/office/drawing/2014/main" val="1046940276"/>
                  </a:ext>
                </a:extLst>
              </a:tr>
              <a:tr h="264796">
                <a:tc gridSpan="2">
                  <a:txBody>
                    <a:bodyPr/>
                    <a:lstStyle/>
                    <a:p>
                      <a:pPr algn="ctr"/>
                      <a:r>
                        <a:rPr lang="en-FR" sz="1400" b="1" dirty="0">
                          <a:solidFill>
                            <a:srgbClr val="4B84F4"/>
                          </a:solidFill>
                          <a:latin typeface="Poppins" pitchFamily="2" charset="77"/>
                          <a:cs typeface="Poppins" pitchFamily="2" charset="77"/>
                        </a:rPr>
                        <a:t>Style</a:t>
                      </a:r>
                    </a:p>
                  </a:txBody>
                  <a:tcPr/>
                </a:tc>
                <a:tc hMerge="1">
                  <a:txBody>
                    <a:bodyPr/>
                    <a:lstStyle/>
                    <a:p>
                      <a:endParaRPr lang="en-FR" dirty="0"/>
                    </a:p>
                  </a:txBody>
                  <a:tcPr/>
                </a:tc>
                <a:extLst>
                  <a:ext uri="{0D108BD9-81ED-4DB2-BD59-A6C34878D82A}">
                    <a16:rowId xmlns:a16="http://schemas.microsoft.com/office/drawing/2014/main" val="3993912028"/>
                  </a:ext>
                </a:extLst>
              </a:tr>
              <a:tr h="1301644">
                <a:tc>
                  <a:txBody>
                    <a:bodyPr/>
                    <a:lstStyle/>
                    <a:p>
                      <a:r>
                        <a:rPr lang="en-FR" sz="1400" dirty="0">
                          <a:latin typeface="Poppins" pitchFamily="2" charset="77"/>
                          <a:cs typeface="Poppins" pitchFamily="2" charset="77"/>
                        </a:rPr>
                        <a:t>Overly formal sentences, including abusive and lengthy reformulations of the entire exchange (more common in written conversation)</a:t>
                      </a:r>
                    </a:p>
                  </a:txBody>
                  <a:tcPr/>
                </a:tc>
                <a:tc>
                  <a:txBody>
                    <a:bodyPr/>
                    <a:lstStyle/>
                    <a:p>
                      <a:r>
                        <a:rPr lang="en-GB" sz="1200" dirty="0">
                          <a:latin typeface="Poppins" pitchFamily="2" charset="77"/>
                          <a:cs typeface="Poppins" pitchFamily="2" charset="77"/>
                        </a:rPr>
                        <a:t>"Of course, I understand that certain letters such as double H's and G's can be difficult to pronounce and cover in our car insurance. For these particular cases, we have to invoice outside our insurance. To clarify, can you tell me what types of vehicles or specific situations with these letters concern you most? This will help us determine the best possible cover for your needs."</a:t>
                      </a:r>
                    </a:p>
                  </a:txBody>
                  <a:tcPr/>
                </a:tc>
                <a:extLst>
                  <a:ext uri="{0D108BD9-81ED-4DB2-BD59-A6C34878D82A}">
                    <a16:rowId xmlns:a16="http://schemas.microsoft.com/office/drawing/2014/main" val="333925661"/>
                  </a:ext>
                </a:extLst>
              </a:tr>
              <a:tr h="450153">
                <a:tc>
                  <a:txBody>
                    <a:bodyPr/>
                    <a:lstStyle/>
                    <a:p>
                      <a:r>
                        <a:rPr lang="en-FR" sz="1400" dirty="0">
                          <a:latin typeface="Poppins" pitchFamily="2" charset="77"/>
                          <a:cs typeface="Poppins" pitchFamily="2" charset="77"/>
                        </a:rPr>
                        <a:t>Uses "I", instead of speaking as a representative of a business </a:t>
                      </a:r>
                    </a:p>
                  </a:txBody>
                  <a:tcPr/>
                </a:tc>
                <a:tc>
                  <a:txBody>
                    <a:bodyPr/>
                    <a:lstStyle/>
                    <a:p>
                      <a:r>
                        <a:rPr lang="en-GB" sz="1400" dirty="0">
                          <a:latin typeface="Poppins" pitchFamily="2" charset="77"/>
                          <a:cs typeface="Poppins" pitchFamily="2" charset="77"/>
                        </a:rPr>
                        <a:t>"If you have any further questions, please don't hesitate to contact </a:t>
                      </a:r>
                      <a:r>
                        <a:rPr lang="en-GB" sz="1400" b="1" dirty="0">
                          <a:latin typeface="Poppins" pitchFamily="2" charset="77"/>
                          <a:cs typeface="Poppins" pitchFamily="2" charset="77"/>
                        </a:rPr>
                        <a:t>me</a:t>
                      </a:r>
                      <a:r>
                        <a:rPr lang="en-FR" sz="1400" dirty="0">
                          <a:latin typeface="Poppins" pitchFamily="2" charset="77"/>
                          <a:cs typeface="Poppins" pitchFamily="2" charset="77"/>
                        </a:rPr>
                        <a:t>" </a:t>
                      </a:r>
                    </a:p>
                  </a:txBody>
                  <a:tcPr/>
                </a:tc>
                <a:extLst>
                  <a:ext uri="{0D108BD9-81ED-4DB2-BD59-A6C34878D82A}">
                    <a16:rowId xmlns:a16="http://schemas.microsoft.com/office/drawing/2014/main" val="3218863861"/>
                  </a:ext>
                </a:extLst>
              </a:tr>
              <a:tr h="450153">
                <a:tc>
                  <a:txBody>
                    <a:bodyPr/>
                    <a:lstStyle/>
                    <a:p>
                      <a:r>
                        <a:rPr lang="en-FR" sz="1400" dirty="0">
                          <a:latin typeface="Poppins" pitchFamily="2" charset="77"/>
                          <a:cs typeface="Poppins" pitchFamily="2" charset="77"/>
                        </a:rPr>
                        <a:t>Confusing phrases when there is no misunderstanding.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FR" sz="1400" dirty="0">
                          <a:latin typeface="Poppins" pitchFamily="2" charset="77"/>
                          <a:cs typeface="Poppins" pitchFamily="2" charset="77"/>
                        </a:rPr>
                        <a:t>CLIENT: “What information do you need?”</a:t>
                      </a:r>
                      <a:br>
                        <a:rPr lang="en-FR" sz="1400" dirty="0">
                          <a:latin typeface="Poppins" pitchFamily="2" charset="77"/>
                          <a:cs typeface="Poppins" pitchFamily="2" charset="77"/>
                        </a:rPr>
                      </a:br>
                      <a:r>
                        <a:rPr lang="en-FR" sz="1400" dirty="0">
                          <a:latin typeface="Poppins" pitchFamily="2" charset="77"/>
                          <a:cs typeface="Poppins" pitchFamily="2" charset="77"/>
                        </a:rPr>
                        <a:t> AGENT: </a:t>
                      </a:r>
                      <a:r>
                        <a:rPr lang="en-FR" sz="1400" b="1" dirty="0">
                          <a:latin typeface="Poppins" pitchFamily="2" charset="77"/>
                          <a:cs typeface="Poppins" pitchFamily="2" charset="77"/>
                        </a:rPr>
                        <a:t>”Ah, I understand better now..."</a:t>
                      </a:r>
                    </a:p>
                  </a:txBody>
                  <a:tcPr/>
                </a:tc>
                <a:extLst>
                  <a:ext uri="{0D108BD9-81ED-4DB2-BD59-A6C34878D82A}">
                    <a16:rowId xmlns:a16="http://schemas.microsoft.com/office/drawing/2014/main" val="1753959653"/>
                  </a:ext>
                </a:extLst>
              </a:tr>
              <a:tr h="264796">
                <a:tc gridSpan="2">
                  <a:txBody>
                    <a:bodyPr/>
                    <a:lstStyle/>
                    <a:p>
                      <a:pPr algn="ctr"/>
                      <a:r>
                        <a:rPr lang="en-FR" sz="1400" b="1" dirty="0">
                          <a:solidFill>
                            <a:srgbClr val="4B84F4"/>
                          </a:solidFill>
                          <a:latin typeface="Poppins" pitchFamily="2" charset="77"/>
                          <a:cs typeface="Poppins" pitchFamily="2" charset="77"/>
                        </a:rPr>
                        <a:t>Other Errors</a:t>
                      </a:r>
                    </a:p>
                  </a:txBody>
                  <a:tcPr/>
                </a:tc>
                <a:tc hMerge="1">
                  <a:txBody>
                    <a:bodyPr/>
                    <a:lstStyle/>
                    <a:p>
                      <a:endParaRPr lang="en-FR" dirty="0"/>
                    </a:p>
                  </a:txBody>
                  <a:tcPr/>
                </a:tc>
                <a:extLst>
                  <a:ext uri="{0D108BD9-81ED-4DB2-BD59-A6C34878D82A}">
                    <a16:rowId xmlns:a16="http://schemas.microsoft.com/office/drawing/2014/main" val="3862691959"/>
                  </a:ext>
                </a:extLst>
              </a:tr>
              <a:tr h="450153">
                <a:tc>
                  <a:txBody>
                    <a:bodyPr/>
                    <a:lstStyle/>
                    <a:p>
                      <a:r>
                        <a:rPr lang="en-FR" sz="1400" dirty="0">
                          <a:latin typeface="Poppins" pitchFamily="2" charset="77"/>
                          <a:cs typeface="Poppins" pitchFamily="2" charset="77"/>
                        </a:rPr>
                        <a:t>Difficulty to understand some native speaking habits</a:t>
                      </a:r>
                    </a:p>
                  </a:txBody>
                  <a:tcPr/>
                </a:tc>
                <a:tc>
                  <a:txBody>
                    <a:bodyPr/>
                    <a:lstStyle/>
                    <a:p>
                      <a:r>
                        <a:rPr lang="en-FR" sz="1400" dirty="0">
                          <a:latin typeface="Poppins" pitchFamily="2" charset="77"/>
                          <a:cs typeface="Poppins" pitchFamily="2" charset="77"/>
                        </a:rPr>
                        <a:t>Client spells out their license plate ("D de David") and the bot thinks the client is called David</a:t>
                      </a:r>
                    </a:p>
                  </a:txBody>
                  <a:tcPr/>
                </a:tc>
                <a:extLst>
                  <a:ext uri="{0D108BD9-81ED-4DB2-BD59-A6C34878D82A}">
                    <a16:rowId xmlns:a16="http://schemas.microsoft.com/office/drawing/2014/main" val="3546669349"/>
                  </a:ext>
                </a:extLst>
              </a:tr>
              <a:tr h="264796">
                <a:tc>
                  <a:txBody>
                    <a:bodyPr/>
                    <a:lstStyle/>
                    <a:p>
                      <a:r>
                        <a:rPr lang="en-FR" sz="1400" dirty="0">
                          <a:latin typeface="Poppins" pitchFamily="2" charset="77"/>
                          <a:cs typeface="Poppins" pitchFamily="2" charset="77"/>
                        </a:rPr>
                        <a:t>Errors in units </a:t>
                      </a:r>
                    </a:p>
                  </a:txBody>
                  <a:tcPr/>
                </a:tc>
                <a:tc>
                  <a:txBody>
                    <a:bodyPr/>
                    <a:lstStyle/>
                    <a:p>
                      <a:r>
                        <a:rPr lang="en-FR" sz="1400" dirty="0">
                          <a:latin typeface="Poppins" pitchFamily="2" charset="77"/>
                          <a:cs typeface="Poppins" pitchFamily="2" charset="77"/>
                        </a:rPr>
                        <a:t>"</a:t>
                      </a:r>
                      <a:r>
                        <a:rPr lang="en-GB" sz="1400" dirty="0">
                          <a:latin typeface="Poppins" pitchFamily="2" charset="77"/>
                          <a:cs typeface="Poppins" pitchFamily="2" charset="77"/>
                        </a:rPr>
                        <a:t>The crack is less than </a:t>
                      </a:r>
                      <a:r>
                        <a:rPr lang="en-GB" sz="1400" b="1" dirty="0">
                          <a:latin typeface="Poppins" pitchFamily="2" charset="77"/>
                          <a:cs typeface="Poppins" pitchFamily="2" charset="77"/>
                        </a:rPr>
                        <a:t>two euros</a:t>
                      </a:r>
                      <a:r>
                        <a:rPr lang="en-GB" sz="1400" dirty="0">
                          <a:latin typeface="Poppins" pitchFamily="2" charset="77"/>
                          <a:cs typeface="Poppins" pitchFamily="2" charset="77"/>
                        </a:rPr>
                        <a:t> in diameter.</a:t>
                      </a:r>
                      <a:r>
                        <a:rPr lang="en-FR" sz="1400" dirty="0">
                          <a:latin typeface="Poppins" pitchFamily="2" charset="77"/>
                          <a:cs typeface="Poppins" pitchFamily="2" charset="77"/>
                        </a:rPr>
                        <a:t>"</a:t>
                      </a:r>
                    </a:p>
                  </a:txBody>
                  <a:tcPr/>
                </a:tc>
                <a:extLst>
                  <a:ext uri="{0D108BD9-81ED-4DB2-BD59-A6C34878D82A}">
                    <a16:rowId xmlns:a16="http://schemas.microsoft.com/office/drawing/2014/main" val="4148347066"/>
                  </a:ext>
                </a:extLst>
              </a:tr>
              <a:tr h="264796">
                <a:tc>
                  <a:txBody>
                    <a:bodyPr/>
                    <a:lstStyle/>
                    <a:p>
                      <a:r>
                        <a:rPr lang="en-FR" sz="1400" dirty="0">
                          <a:latin typeface="Poppins" pitchFamily="2" charset="77"/>
                          <a:cs typeface="Poppins" pitchFamily="2" charset="77"/>
                        </a:rPr>
                        <a:t>Grammatical mistakes</a:t>
                      </a:r>
                    </a:p>
                  </a:txBody>
                  <a:tcPr/>
                </a:tc>
                <a:tc>
                  <a:txBody>
                    <a:bodyPr/>
                    <a:lstStyle/>
                    <a:p>
                      <a:r>
                        <a:rPr lang="en-FR" sz="1400" dirty="0">
                          <a:latin typeface="Poppins" pitchFamily="2" charset="77"/>
                          <a:cs typeface="Poppins" pitchFamily="2" charset="77"/>
                        </a:rPr>
                        <a:t>"la erreur" </a:t>
                      </a:r>
                    </a:p>
                  </a:txBody>
                  <a:tcPr/>
                </a:tc>
                <a:extLst>
                  <a:ext uri="{0D108BD9-81ED-4DB2-BD59-A6C34878D82A}">
                    <a16:rowId xmlns:a16="http://schemas.microsoft.com/office/drawing/2014/main" val="3493860702"/>
                  </a:ext>
                </a:extLst>
              </a:tr>
              <a:tr h="264796">
                <a:tc>
                  <a:txBody>
                    <a:bodyPr/>
                    <a:lstStyle/>
                    <a:p>
                      <a:r>
                        <a:rPr lang="en-GB" sz="1400" dirty="0">
                          <a:latin typeface="Poppins" pitchFamily="2" charset="77"/>
                          <a:cs typeface="Poppins" pitchFamily="2" charset="77"/>
                        </a:rPr>
                        <a:t>Code-switching</a:t>
                      </a:r>
                      <a:endParaRPr lang="en-FR" sz="1400" dirty="0">
                        <a:latin typeface="Poppins" pitchFamily="2" charset="77"/>
                        <a:cs typeface="Poppins" pitchFamily="2" charset="77"/>
                      </a:endParaRPr>
                    </a:p>
                  </a:txBody>
                  <a:tcPr/>
                </a:tc>
                <a:tc>
                  <a:txBody>
                    <a:bodyPr/>
                    <a:lstStyle/>
                    <a:p>
                      <a:r>
                        <a:rPr lang="en-FR" sz="1400" dirty="0">
                          <a:latin typeface="Poppins" pitchFamily="2" charset="77"/>
                          <a:cs typeface="Poppins" pitchFamily="2" charset="77"/>
                        </a:rPr>
                        <a:t>"Merci pour votre aide et </a:t>
                      </a:r>
                      <a:r>
                        <a:rPr lang="en-FR" sz="1400" b="1" dirty="0">
                          <a:latin typeface="Poppins" pitchFamily="2" charset="77"/>
                          <a:cs typeface="Poppins" pitchFamily="2" charset="77"/>
                        </a:rPr>
                        <a:t>have a good day!</a:t>
                      </a:r>
                      <a:r>
                        <a:rPr lang="en-FR" sz="1400" dirty="0">
                          <a:latin typeface="Poppins" pitchFamily="2" charset="77"/>
                          <a:cs typeface="Poppins" pitchFamily="2" charset="77"/>
                        </a:rPr>
                        <a:t>" </a:t>
                      </a:r>
                    </a:p>
                  </a:txBody>
                  <a:tcPr/>
                </a:tc>
                <a:extLst>
                  <a:ext uri="{0D108BD9-81ED-4DB2-BD59-A6C34878D82A}">
                    <a16:rowId xmlns:a16="http://schemas.microsoft.com/office/drawing/2014/main" val="2196969900"/>
                  </a:ext>
                </a:extLst>
              </a:tr>
              <a:tr h="424129">
                <a:tc>
                  <a:txBody>
                    <a:bodyPr/>
                    <a:lstStyle/>
                    <a:p>
                      <a:r>
                        <a:rPr lang="en-FR" sz="1400" dirty="0">
                          <a:latin typeface="Poppins" pitchFamily="2" charset="77"/>
                          <a:cs typeface="Poppins" pitchFamily="2" charset="77"/>
                        </a:rPr>
                        <a:t>Word loops</a:t>
                      </a:r>
                    </a:p>
                  </a:txBody>
                  <a:tcPr/>
                </a:tc>
                <a:tc>
                  <a:txBody>
                    <a:bodyPr/>
                    <a:lstStyle/>
                    <a:p>
                      <a:r>
                        <a:rPr lang="en-FR" sz="1400" dirty="0">
                          <a:latin typeface="Poppins" pitchFamily="2" charset="77"/>
                          <a:cs typeface="Poppins" pitchFamily="2" charset="77"/>
                        </a:rPr>
                        <a:t>”That’s right thank you thank thank thank thank you thank thank thanks...” (</a:t>
                      </a:r>
                      <a:r>
                        <a:rPr lang="en-GB" sz="1400" dirty="0">
                          <a:latin typeface="Poppins" pitchFamily="2" charset="77"/>
                          <a:cs typeface="Poppins" pitchFamily="2" charset="77"/>
                        </a:rPr>
                        <a:t>phrase repeated dozens of times)</a:t>
                      </a:r>
                      <a:endParaRPr lang="en-FR" sz="1400" dirty="0">
                        <a:latin typeface="Poppins" pitchFamily="2" charset="77"/>
                        <a:cs typeface="Poppins" pitchFamily="2" charset="77"/>
                      </a:endParaRPr>
                    </a:p>
                  </a:txBody>
                  <a:tcPr/>
                </a:tc>
                <a:extLst>
                  <a:ext uri="{0D108BD9-81ED-4DB2-BD59-A6C34878D82A}">
                    <a16:rowId xmlns:a16="http://schemas.microsoft.com/office/drawing/2014/main" val="3866556358"/>
                  </a:ext>
                </a:extLst>
              </a:tr>
            </a:tbl>
          </a:graphicData>
        </a:graphic>
      </p:graphicFrame>
      <p:sp>
        <p:nvSpPr>
          <p:cNvPr id="3" name="Rectangle 2">
            <a:extLst>
              <a:ext uri="{FF2B5EF4-FFF2-40B4-BE49-F238E27FC236}">
                <a16:creationId xmlns:a16="http://schemas.microsoft.com/office/drawing/2014/main" id="{9BA1F760-FC7F-81E3-ED0B-1ECAE82DA9D7}"/>
              </a:ext>
            </a:extLst>
          </p:cNvPr>
          <p:cNvSpPr/>
          <p:nvPr/>
        </p:nvSpPr>
        <p:spPr>
          <a:xfrm>
            <a:off x="219330" y="1541432"/>
            <a:ext cx="11901054" cy="26287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4" name="Rectangle 3">
            <a:extLst>
              <a:ext uri="{FF2B5EF4-FFF2-40B4-BE49-F238E27FC236}">
                <a16:creationId xmlns:a16="http://schemas.microsoft.com/office/drawing/2014/main" id="{AB7F54F9-FFFB-FEF5-0AC2-4C58FF01A6CD}"/>
              </a:ext>
            </a:extLst>
          </p:cNvPr>
          <p:cNvSpPr/>
          <p:nvPr/>
        </p:nvSpPr>
        <p:spPr>
          <a:xfrm>
            <a:off x="145473" y="4170217"/>
            <a:ext cx="11901054" cy="22621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Tree>
    <p:extLst>
      <p:ext uri="{BB962C8B-B14F-4D97-AF65-F5344CB8AC3E}">
        <p14:creationId xmlns:p14="http://schemas.microsoft.com/office/powerpoint/2010/main" val="1883078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AD36-7BDC-EF9C-05FE-36AF017CF054}"/>
            </a:ext>
          </a:extLst>
        </p:cNvPr>
        <p:cNvGrpSpPr/>
        <p:nvPr/>
      </p:nvGrpSpPr>
      <p:grpSpPr>
        <a:xfrm>
          <a:off x="0" y="0"/>
          <a:ext cx="0" cy="0"/>
          <a:chOff x="0" y="0"/>
          <a:chExt cx="0" cy="0"/>
        </a:xfrm>
      </p:grpSpPr>
      <p:pic>
        <p:nvPicPr>
          <p:cNvPr id="2" name="Graphic 1" descr="Gears with solid fill">
            <a:extLst>
              <a:ext uri="{FF2B5EF4-FFF2-40B4-BE49-F238E27FC236}">
                <a16:creationId xmlns:a16="http://schemas.microsoft.com/office/drawing/2014/main" id="{72BFD775-1CA4-7EF1-E19C-951FA6AA66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884" y="164201"/>
            <a:ext cx="1065059" cy="1065059"/>
          </a:xfrm>
          <a:prstGeom prst="rect">
            <a:avLst/>
          </a:prstGeom>
        </p:spPr>
      </p:pic>
      <p:sp>
        <p:nvSpPr>
          <p:cNvPr id="5" name="Title 4">
            <a:extLst>
              <a:ext uri="{FF2B5EF4-FFF2-40B4-BE49-F238E27FC236}">
                <a16:creationId xmlns:a16="http://schemas.microsoft.com/office/drawing/2014/main" id="{65D7F69D-C304-2885-83B7-11C6A59C0251}"/>
              </a:ext>
            </a:extLst>
          </p:cNvPr>
          <p:cNvSpPr>
            <a:spLocks noGrp="1"/>
          </p:cNvSpPr>
          <p:nvPr>
            <p:ph type="title"/>
          </p:nvPr>
        </p:nvSpPr>
        <p:spPr/>
        <p:txBody>
          <a:bodyPr/>
          <a:lstStyle/>
          <a:p>
            <a:r>
              <a:rPr lang="en-FR" dirty="0"/>
              <a:t>Additional Experiment on DailyDialog</a:t>
            </a:r>
          </a:p>
        </p:txBody>
      </p:sp>
      <p:sp>
        <p:nvSpPr>
          <p:cNvPr id="3" name="TextBox 2">
            <a:extLst>
              <a:ext uri="{FF2B5EF4-FFF2-40B4-BE49-F238E27FC236}">
                <a16:creationId xmlns:a16="http://schemas.microsoft.com/office/drawing/2014/main" id="{DF888BFC-43D3-2CBA-74C5-A20F03654049}"/>
              </a:ext>
            </a:extLst>
          </p:cNvPr>
          <p:cNvSpPr txBox="1"/>
          <p:nvPr/>
        </p:nvSpPr>
        <p:spPr>
          <a:xfrm>
            <a:off x="1246163" y="1229260"/>
            <a:ext cx="9879588" cy="1015663"/>
          </a:xfrm>
          <a:prstGeom prst="rect">
            <a:avLst/>
          </a:prstGeom>
          <a:noFill/>
        </p:spPr>
        <p:txBody>
          <a:bodyPr wrap="square" rtlCol="0">
            <a:spAutoFit/>
          </a:bodyPr>
          <a:lstStyle/>
          <a:p>
            <a:pPr marL="285750" indent="-285750">
              <a:buFont typeface="Arial" panose="020B0604020202020204" pitchFamily="34" charset="0"/>
              <a:buChar char="•"/>
            </a:pPr>
            <a:r>
              <a:rPr lang="en-FR" sz="2000" dirty="0">
                <a:solidFill>
                  <a:srgbClr val="4B84F4"/>
                </a:solidFill>
                <a:latin typeface="Poppins" pitchFamily="2" charset="77"/>
                <a:cs typeface="Poppins" pitchFamily="2" charset="77"/>
              </a:rPr>
              <a:t>An experiment on a widely different dataset: DailyDialog </a:t>
            </a:r>
            <a:r>
              <a:rPr lang="en-FR" sz="1200" dirty="0">
                <a:solidFill>
                  <a:srgbClr val="4B84F4"/>
                </a:solidFill>
                <a:latin typeface="Poppins" pitchFamily="2" charset="77"/>
                <a:cs typeface="Poppins" pitchFamily="2" charset="77"/>
              </a:rPr>
              <a:t>(Li et al., 2017)</a:t>
            </a:r>
          </a:p>
          <a:p>
            <a:pPr marL="742950" lvl="1" indent="-285750">
              <a:buFont typeface="Arial" panose="020B0604020202020204" pitchFamily="34" charset="0"/>
              <a:buChar char="•"/>
            </a:pPr>
            <a:r>
              <a:rPr lang="en-FR" sz="2000" dirty="0">
                <a:solidFill>
                  <a:srgbClr val="4B84F4"/>
                </a:solidFill>
                <a:latin typeface="Poppins" pitchFamily="2" charset="77"/>
                <a:cs typeface="Poppins" pitchFamily="2" charset="77"/>
              </a:rPr>
              <a:t>Open-domain, English scripted conversations</a:t>
            </a:r>
          </a:p>
          <a:p>
            <a:pPr marL="742950" lvl="1" indent="-285750">
              <a:buFont typeface="Arial" panose="020B0604020202020204" pitchFamily="34" charset="0"/>
              <a:buChar char="•"/>
            </a:pPr>
            <a:r>
              <a:rPr lang="en-FR" sz="2000" dirty="0">
                <a:solidFill>
                  <a:srgbClr val="4B84F4"/>
                </a:solidFill>
                <a:latin typeface="Poppins" pitchFamily="2" charset="77"/>
                <a:cs typeface="Poppins" pitchFamily="2" charset="77"/>
              </a:rPr>
              <a:t>Annotated in emotions and dialogue acts on the speaker turn</a:t>
            </a:r>
          </a:p>
        </p:txBody>
      </p:sp>
      <p:sp>
        <p:nvSpPr>
          <p:cNvPr id="6" name="Rectangle 5">
            <a:extLst>
              <a:ext uri="{FF2B5EF4-FFF2-40B4-BE49-F238E27FC236}">
                <a16:creationId xmlns:a16="http://schemas.microsoft.com/office/drawing/2014/main" id="{5DC0002F-8752-6B4B-CAA0-C8D9D01F10A2}"/>
              </a:ext>
            </a:extLst>
          </p:cNvPr>
          <p:cNvSpPr/>
          <p:nvPr/>
        </p:nvSpPr>
        <p:spPr>
          <a:xfrm>
            <a:off x="2174238" y="2433763"/>
            <a:ext cx="3851176" cy="1323438"/>
          </a:xfrm>
          <a:prstGeom prst="rect">
            <a:avLst/>
          </a:prstGeom>
          <a:solidFill>
            <a:srgbClr val="4B8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000" b="1" dirty="0">
                <a:latin typeface="Poppins" pitchFamily="2" charset="77"/>
                <a:cs typeface="Poppins" pitchFamily="2" charset="77"/>
              </a:rPr>
              <a:t>Planning module</a:t>
            </a:r>
          </a:p>
          <a:p>
            <a:pPr algn="ctr"/>
            <a:br>
              <a:rPr lang="en-FR" sz="2000" b="1" dirty="0">
                <a:latin typeface="Poppins" pitchFamily="2" charset="77"/>
                <a:cs typeface="Poppins" pitchFamily="2" charset="77"/>
              </a:rPr>
            </a:br>
            <a:endParaRPr lang="en-FR" sz="2000" b="1" dirty="0">
              <a:latin typeface="Poppins" pitchFamily="2" charset="77"/>
              <a:cs typeface="Poppins" pitchFamily="2" charset="77"/>
            </a:endParaRPr>
          </a:p>
        </p:txBody>
      </p:sp>
      <p:sp>
        <p:nvSpPr>
          <p:cNvPr id="7" name="Rectangle 6">
            <a:extLst>
              <a:ext uri="{FF2B5EF4-FFF2-40B4-BE49-F238E27FC236}">
                <a16:creationId xmlns:a16="http://schemas.microsoft.com/office/drawing/2014/main" id="{C0592E83-2E69-AD68-B111-7F5E4AF20876}"/>
              </a:ext>
            </a:extLst>
          </p:cNvPr>
          <p:cNvSpPr/>
          <p:nvPr/>
        </p:nvSpPr>
        <p:spPr>
          <a:xfrm>
            <a:off x="6492753" y="2433763"/>
            <a:ext cx="3851176" cy="1323438"/>
          </a:xfrm>
          <a:prstGeom prst="rect">
            <a:avLst/>
          </a:prstGeom>
          <a:solidFill>
            <a:srgbClr val="4B8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000" b="1" dirty="0">
                <a:latin typeface="Poppins" pitchFamily="2" charset="77"/>
                <a:cs typeface="Poppins" pitchFamily="2" charset="77"/>
              </a:rPr>
              <a:t>Generative module</a:t>
            </a:r>
          </a:p>
          <a:p>
            <a:pPr algn="ctr"/>
            <a:endParaRPr lang="en-FR" sz="2000" b="1" dirty="0">
              <a:latin typeface="Poppins" pitchFamily="2" charset="77"/>
              <a:cs typeface="Poppins" pitchFamily="2" charset="77"/>
            </a:endParaRPr>
          </a:p>
          <a:p>
            <a:pPr algn="ctr"/>
            <a:endParaRPr lang="en-FR" sz="2000" b="1" dirty="0">
              <a:latin typeface="Poppins" pitchFamily="2" charset="77"/>
              <a:cs typeface="Poppins" pitchFamily="2" charset="77"/>
            </a:endParaRPr>
          </a:p>
        </p:txBody>
      </p:sp>
      <p:sp>
        <p:nvSpPr>
          <p:cNvPr id="9" name="TextBox 8">
            <a:extLst>
              <a:ext uri="{FF2B5EF4-FFF2-40B4-BE49-F238E27FC236}">
                <a16:creationId xmlns:a16="http://schemas.microsoft.com/office/drawing/2014/main" id="{E8638604-D094-0CC5-84EB-2AB2172D13F6}"/>
              </a:ext>
            </a:extLst>
          </p:cNvPr>
          <p:cNvSpPr txBox="1"/>
          <p:nvPr/>
        </p:nvSpPr>
        <p:spPr>
          <a:xfrm>
            <a:off x="2589636" y="2936986"/>
            <a:ext cx="3020379" cy="738664"/>
          </a:xfrm>
          <a:prstGeom prst="rect">
            <a:avLst/>
          </a:prstGeom>
          <a:noFill/>
        </p:spPr>
        <p:txBody>
          <a:bodyPr wrap="none" rtlCol="0">
            <a:spAutoFit/>
          </a:bodyPr>
          <a:lstStyle/>
          <a:p>
            <a:pPr algn="ctr"/>
            <a:r>
              <a:rPr lang="en-FR" dirty="0">
                <a:solidFill>
                  <a:schemeClr val="bg1"/>
                </a:solidFill>
                <a:latin typeface="Poppins" pitchFamily="2" charset="77"/>
                <a:cs typeface="Poppins" pitchFamily="2" charset="77"/>
              </a:rPr>
              <a:t>Bart performed the best</a:t>
            </a:r>
            <a:r>
              <a:rPr lang="en-FR" sz="2400" dirty="0">
                <a:solidFill>
                  <a:schemeClr val="bg1"/>
                </a:solidFill>
                <a:latin typeface="Poppins" pitchFamily="2" charset="77"/>
                <a:cs typeface="Poppins" pitchFamily="2" charset="77"/>
              </a:rPr>
              <a:t> </a:t>
            </a:r>
            <a:br>
              <a:rPr lang="en-FR" sz="2400" dirty="0">
                <a:solidFill>
                  <a:schemeClr val="bg1"/>
                </a:solidFill>
                <a:latin typeface="Poppins" pitchFamily="2" charset="77"/>
                <a:cs typeface="Poppins" pitchFamily="2" charset="77"/>
              </a:rPr>
            </a:br>
            <a:r>
              <a:rPr lang="en-FR" dirty="0">
                <a:solidFill>
                  <a:schemeClr val="bg1"/>
                </a:solidFill>
                <a:latin typeface="Poppins" pitchFamily="2" charset="77"/>
                <a:cs typeface="Poppins" pitchFamily="2" charset="77"/>
              </a:rPr>
              <a:t>overall</a:t>
            </a:r>
          </a:p>
        </p:txBody>
      </p:sp>
      <p:sp>
        <p:nvSpPr>
          <p:cNvPr id="11" name="TextBox 10">
            <a:extLst>
              <a:ext uri="{FF2B5EF4-FFF2-40B4-BE49-F238E27FC236}">
                <a16:creationId xmlns:a16="http://schemas.microsoft.com/office/drawing/2014/main" id="{A233519C-3E5B-24E3-EB8C-6A4BBF992610}"/>
              </a:ext>
            </a:extLst>
          </p:cNvPr>
          <p:cNvSpPr txBox="1"/>
          <p:nvPr/>
        </p:nvSpPr>
        <p:spPr>
          <a:xfrm>
            <a:off x="6708123" y="2983153"/>
            <a:ext cx="3420436" cy="646331"/>
          </a:xfrm>
          <a:prstGeom prst="rect">
            <a:avLst/>
          </a:prstGeom>
          <a:noFill/>
        </p:spPr>
        <p:txBody>
          <a:bodyPr wrap="square">
            <a:spAutoFit/>
          </a:bodyPr>
          <a:lstStyle/>
          <a:p>
            <a:pPr algn="ctr"/>
            <a:r>
              <a:rPr lang="en-FR" sz="1800" dirty="0">
                <a:solidFill>
                  <a:schemeClr val="bg1"/>
                </a:solidFill>
                <a:latin typeface="Poppins" pitchFamily="2" charset="77"/>
                <a:cs typeface="Poppins" pitchFamily="2" charset="77"/>
              </a:rPr>
              <a:t>Prompt-based approaches </a:t>
            </a:r>
            <a:br>
              <a:rPr lang="en-FR" sz="1800" dirty="0">
                <a:solidFill>
                  <a:schemeClr val="bg1"/>
                </a:solidFill>
                <a:latin typeface="Poppins" pitchFamily="2" charset="77"/>
                <a:cs typeface="Poppins" pitchFamily="2" charset="77"/>
              </a:rPr>
            </a:br>
            <a:r>
              <a:rPr lang="en-FR" sz="1800" dirty="0">
                <a:solidFill>
                  <a:schemeClr val="bg1"/>
                </a:solidFill>
                <a:latin typeface="Poppins" pitchFamily="2" charset="77"/>
                <a:cs typeface="Poppins" pitchFamily="2" charset="77"/>
              </a:rPr>
              <a:t>were preferred</a:t>
            </a:r>
            <a:endParaRPr lang="en-FR" sz="2400" dirty="0">
              <a:solidFill>
                <a:schemeClr val="bg1"/>
              </a:solidFill>
              <a:latin typeface="Poppins" pitchFamily="2" charset="77"/>
              <a:cs typeface="Poppins" pitchFamily="2" charset="77"/>
            </a:endParaRPr>
          </a:p>
        </p:txBody>
      </p:sp>
      <p:sp>
        <p:nvSpPr>
          <p:cNvPr id="14" name="TextBox 13">
            <a:extLst>
              <a:ext uri="{FF2B5EF4-FFF2-40B4-BE49-F238E27FC236}">
                <a16:creationId xmlns:a16="http://schemas.microsoft.com/office/drawing/2014/main" id="{B38269CB-78C3-B8DB-107A-488747B790B1}"/>
              </a:ext>
            </a:extLst>
          </p:cNvPr>
          <p:cNvSpPr txBox="1"/>
          <p:nvPr/>
        </p:nvSpPr>
        <p:spPr>
          <a:xfrm>
            <a:off x="2337176" y="6333908"/>
            <a:ext cx="7843814" cy="415498"/>
          </a:xfrm>
          <a:prstGeom prst="rect">
            <a:avLst/>
          </a:prstGeom>
          <a:noFill/>
          <a:ln w="19050">
            <a:solidFill>
              <a:srgbClr val="A5AFF5"/>
            </a:solidFill>
            <a:prstDash val="sysDash"/>
          </a:ln>
        </p:spPr>
        <p:txBody>
          <a:bodyPr wrap="none" rtlCol="0">
            <a:spAutoFit/>
          </a:bodyPr>
          <a:lstStyle>
            <a:defPPr>
              <a:defRPr lang="en-FR"/>
            </a:defPPr>
            <a:lvl1pPr algn="ctr">
              <a:defRPr sz="1050">
                <a:solidFill>
                  <a:srgbClr val="A5AFF5"/>
                </a:solidFill>
                <a:latin typeface="Poppins" pitchFamily="2" charset="77"/>
                <a:cs typeface="Poppins" pitchFamily="2" charset="77"/>
              </a:defRPr>
            </a:lvl1pPr>
          </a:lstStyle>
          <a:p>
            <a:r>
              <a:rPr lang="en-GB" dirty="0"/>
              <a:t>[</a:t>
            </a:r>
            <a:r>
              <a:rPr lang="en-FR" b="1" dirty="0"/>
              <a:t>Socio-Emotional Response Generation: A Human Evaluation Protocol for LLM-Based Conversational Systems </a:t>
            </a:r>
            <a:r>
              <a:rPr lang="en-FR" dirty="0"/>
              <a:t>, </a:t>
            </a:r>
          </a:p>
          <a:p>
            <a:r>
              <a:rPr lang="en-GB" dirty="0"/>
              <a:t>Vanel, Ramos Vela, Yacoubi and Clavel, AHRI 2024</a:t>
            </a:r>
            <a:r>
              <a:rPr lang="en-FR" dirty="0"/>
              <a:t>]</a:t>
            </a:r>
          </a:p>
        </p:txBody>
      </p:sp>
    </p:spTree>
    <p:extLst>
      <p:ext uri="{BB962C8B-B14F-4D97-AF65-F5344CB8AC3E}">
        <p14:creationId xmlns:p14="http://schemas.microsoft.com/office/powerpoint/2010/main" val="1830103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P spid="7" grpId="0" animBg="1"/>
      <p:bldP spid="9" grpId="0"/>
      <p:bldP spid="11" grpId="0"/>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CBA5A-B25C-A891-3ED0-29AF6369F9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E604FA-3DAD-B10A-0C2C-BFCADA68EF8B}"/>
              </a:ext>
            </a:extLst>
          </p:cNvPr>
          <p:cNvSpPr>
            <a:spLocks noGrp="1"/>
          </p:cNvSpPr>
          <p:nvPr>
            <p:ph type="title"/>
          </p:nvPr>
        </p:nvSpPr>
        <p:spPr/>
        <p:txBody>
          <a:bodyPr/>
          <a:lstStyle/>
          <a:p>
            <a:r>
              <a:rPr lang="en-FR" dirty="0"/>
              <a:t>Main Experimental Takeaways</a:t>
            </a:r>
          </a:p>
        </p:txBody>
      </p:sp>
      <p:pic>
        <p:nvPicPr>
          <p:cNvPr id="5" name="Graphic 4" descr="Gears with solid fill">
            <a:extLst>
              <a:ext uri="{FF2B5EF4-FFF2-40B4-BE49-F238E27FC236}">
                <a16:creationId xmlns:a16="http://schemas.microsoft.com/office/drawing/2014/main" id="{0747A646-B716-AD50-153B-C8FC410F73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884" y="164201"/>
            <a:ext cx="1065059" cy="1065059"/>
          </a:xfrm>
          <a:prstGeom prst="rect">
            <a:avLst/>
          </a:prstGeom>
        </p:spPr>
      </p:pic>
      <p:sp>
        <p:nvSpPr>
          <p:cNvPr id="3" name="Rounded Rectangle 2">
            <a:extLst>
              <a:ext uri="{FF2B5EF4-FFF2-40B4-BE49-F238E27FC236}">
                <a16:creationId xmlns:a16="http://schemas.microsoft.com/office/drawing/2014/main" id="{4CAFA8E8-FCAE-B2B3-6BCF-1459BF264557}"/>
              </a:ext>
            </a:extLst>
          </p:cNvPr>
          <p:cNvSpPr/>
          <p:nvPr/>
        </p:nvSpPr>
        <p:spPr>
          <a:xfrm>
            <a:off x="713160" y="1532345"/>
            <a:ext cx="3116421" cy="4189582"/>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latin typeface="Poppins" pitchFamily="2" charset="77"/>
                <a:cs typeface="Poppins" pitchFamily="2" charset="77"/>
              </a:rPr>
              <a:t>Planning sequences of labels  improves both the global and socio-emotional quality of the</a:t>
            </a:r>
            <a:br>
              <a:rPr lang="en-GB" sz="2400" b="1" dirty="0">
                <a:latin typeface="Poppins" pitchFamily="2" charset="77"/>
                <a:cs typeface="Poppins" pitchFamily="2" charset="77"/>
              </a:rPr>
            </a:br>
            <a:r>
              <a:rPr lang="en-GB" sz="2400" b="1" dirty="0">
                <a:latin typeface="Poppins" pitchFamily="2" charset="77"/>
                <a:cs typeface="Poppins" pitchFamily="2" charset="77"/>
              </a:rPr>
              <a:t>response</a:t>
            </a:r>
            <a:endParaRPr lang="en-FR" sz="2400" dirty="0">
              <a:latin typeface="Poppins" pitchFamily="2" charset="77"/>
              <a:cs typeface="Poppins" pitchFamily="2" charset="77"/>
            </a:endParaRPr>
          </a:p>
        </p:txBody>
      </p:sp>
      <p:sp>
        <p:nvSpPr>
          <p:cNvPr id="4" name="Rounded Rectangle 3">
            <a:extLst>
              <a:ext uri="{FF2B5EF4-FFF2-40B4-BE49-F238E27FC236}">
                <a16:creationId xmlns:a16="http://schemas.microsoft.com/office/drawing/2014/main" id="{F9C0491D-9FB3-EB5F-F1C1-B4197E38700E}"/>
              </a:ext>
            </a:extLst>
          </p:cNvPr>
          <p:cNvSpPr/>
          <p:nvPr/>
        </p:nvSpPr>
        <p:spPr>
          <a:xfrm>
            <a:off x="4523275" y="1551260"/>
            <a:ext cx="3116422" cy="4172705"/>
          </a:xfrm>
          <a:prstGeom prst="roundRect">
            <a:avLst/>
          </a:prstGeom>
          <a:solidFill>
            <a:schemeClr val="bg1"/>
          </a:solidFill>
          <a:ln w="57150">
            <a:solidFill>
              <a:srgbClr val="A5AF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A5AFF5"/>
                </a:solidFill>
                <a:latin typeface="Poppins" pitchFamily="2" charset="77"/>
                <a:cs typeface="Poppins" pitchFamily="2" charset="77"/>
              </a:rPr>
              <a:t>LLMs seem superior when it comes to response generation but struggle with planning tasks</a:t>
            </a:r>
            <a:endParaRPr lang="en-FR" sz="2400" b="1" dirty="0">
              <a:solidFill>
                <a:srgbClr val="A5AFF5"/>
              </a:solidFill>
              <a:latin typeface="Poppins" pitchFamily="2" charset="77"/>
              <a:cs typeface="Poppins" pitchFamily="2" charset="77"/>
            </a:endParaRPr>
          </a:p>
        </p:txBody>
      </p:sp>
      <p:sp>
        <p:nvSpPr>
          <p:cNvPr id="7" name="Rounded Rectangle 6">
            <a:extLst>
              <a:ext uri="{FF2B5EF4-FFF2-40B4-BE49-F238E27FC236}">
                <a16:creationId xmlns:a16="http://schemas.microsoft.com/office/drawing/2014/main" id="{1F2FC310-8D96-3BDF-4CF3-BF73245FB6B0}"/>
              </a:ext>
            </a:extLst>
          </p:cNvPr>
          <p:cNvSpPr/>
          <p:nvPr/>
        </p:nvSpPr>
        <p:spPr>
          <a:xfrm>
            <a:off x="8333391" y="1532345"/>
            <a:ext cx="3116422" cy="4189582"/>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latin typeface="Poppins" pitchFamily="2" charset="77"/>
                <a:cs typeface="Poppins" pitchFamily="2" charset="77"/>
              </a:rPr>
              <a:t>There is a definite need for better metrics to capture the complexity of social or emotional consistency</a:t>
            </a:r>
            <a:endParaRPr lang="en-FR" sz="2400" b="1" dirty="0">
              <a:latin typeface="Poppins" pitchFamily="2" charset="77"/>
              <a:cs typeface="Poppins" pitchFamily="2" charset="77"/>
            </a:endParaRPr>
          </a:p>
        </p:txBody>
      </p:sp>
    </p:spTree>
    <p:extLst>
      <p:ext uri="{BB962C8B-B14F-4D97-AF65-F5344CB8AC3E}">
        <p14:creationId xmlns:p14="http://schemas.microsoft.com/office/powerpoint/2010/main" val="76539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A46B3-8292-8BD3-D1EE-48E70083DAC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78B48DF-63C4-9F52-8D3D-49D93CA04C95}"/>
              </a:ext>
            </a:extLst>
          </p:cNvPr>
          <p:cNvPicPr>
            <a:picLocks noChangeAspect="1"/>
          </p:cNvPicPr>
          <p:nvPr/>
        </p:nvPicPr>
        <p:blipFill>
          <a:blip r:embed="rId3">
            <a:lum bright="70000" contrast="-70000"/>
            <a:alphaModFix amt="49000"/>
            <a:extLst>
              <a:ext uri="{BEBA8EAE-BF5A-486C-A8C5-ECC9F3942E4B}">
                <a14:imgProps xmlns:a14="http://schemas.microsoft.com/office/drawing/2010/main">
                  <a14:imgLayer r:embed="rId4">
                    <a14:imgEffect>
                      <a14:artisticPhotocopy/>
                    </a14:imgEffect>
                  </a14:imgLayer>
                </a14:imgProps>
              </a:ext>
            </a:extLst>
          </a:blip>
          <a:stretch>
            <a:fillRect/>
          </a:stretch>
        </p:blipFill>
        <p:spPr>
          <a:xfrm>
            <a:off x="469127" y="1319237"/>
            <a:ext cx="5005934" cy="5005934"/>
          </a:xfrm>
          <a:prstGeom prst="rect">
            <a:avLst/>
          </a:prstGeom>
        </p:spPr>
      </p:pic>
      <p:sp>
        <p:nvSpPr>
          <p:cNvPr id="5" name="TextBox 4">
            <a:extLst>
              <a:ext uri="{FF2B5EF4-FFF2-40B4-BE49-F238E27FC236}">
                <a16:creationId xmlns:a16="http://schemas.microsoft.com/office/drawing/2014/main" id="{EB70BD4D-F3D9-0B0C-E709-5530AF8A6F64}"/>
              </a:ext>
            </a:extLst>
          </p:cNvPr>
          <p:cNvSpPr txBox="1"/>
          <p:nvPr/>
        </p:nvSpPr>
        <p:spPr>
          <a:xfrm>
            <a:off x="8437806" y="-587584"/>
            <a:ext cx="3059185" cy="7786747"/>
          </a:xfrm>
          <a:prstGeom prst="rect">
            <a:avLst/>
          </a:prstGeom>
          <a:noFill/>
        </p:spPr>
        <p:txBody>
          <a:bodyPr wrap="square" rtlCol="0">
            <a:spAutoFit/>
          </a:bodyPr>
          <a:lstStyle/>
          <a:p>
            <a:r>
              <a:rPr lang="en-FR" sz="50000" dirty="0">
                <a:solidFill>
                  <a:srgbClr val="AEC8FB"/>
                </a:solidFill>
                <a:latin typeface="Cambria" panose="02040503050406030204" pitchFamily="18" charset="0"/>
                <a:cs typeface="Poppins" pitchFamily="2" charset="77"/>
              </a:rPr>
              <a:t>4</a:t>
            </a:r>
          </a:p>
        </p:txBody>
      </p:sp>
      <p:sp>
        <p:nvSpPr>
          <p:cNvPr id="9" name="TextBox 8">
            <a:extLst>
              <a:ext uri="{FF2B5EF4-FFF2-40B4-BE49-F238E27FC236}">
                <a16:creationId xmlns:a16="http://schemas.microsoft.com/office/drawing/2014/main" id="{C398A2D9-5AB9-5C91-6E06-7C368BAB0355}"/>
              </a:ext>
            </a:extLst>
          </p:cNvPr>
          <p:cNvSpPr txBox="1"/>
          <p:nvPr/>
        </p:nvSpPr>
        <p:spPr>
          <a:xfrm>
            <a:off x="5146354" y="3118108"/>
            <a:ext cx="6631867" cy="1107996"/>
          </a:xfrm>
          <a:prstGeom prst="rect">
            <a:avLst/>
          </a:prstGeom>
          <a:noFill/>
        </p:spPr>
        <p:txBody>
          <a:bodyPr wrap="square" lIns="91440" tIns="45720" rIns="91440" bIns="45720" anchor="t">
            <a:spAutoFit/>
          </a:bodyPr>
          <a:lstStyle/>
          <a:p>
            <a:pPr algn="ctr"/>
            <a:r>
              <a:rPr lang="en-FR" sz="6600" dirty="0">
                <a:ln>
                  <a:solidFill>
                    <a:srgbClr val="4B85F4">
                      <a:alpha val="10000"/>
                    </a:srgbClr>
                  </a:solidFill>
                </a:ln>
                <a:solidFill>
                  <a:schemeClr val="bg1"/>
                </a:solidFill>
                <a:latin typeface="Poppins"/>
                <a:cs typeface="Poppins"/>
              </a:rPr>
              <a:t>Conclusions</a:t>
            </a:r>
          </a:p>
        </p:txBody>
      </p:sp>
      <p:sp>
        <p:nvSpPr>
          <p:cNvPr id="2" name="Chevron 1">
            <a:extLst>
              <a:ext uri="{FF2B5EF4-FFF2-40B4-BE49-F238E27FC236}">
                <a16:creationId xmlns:a16="http://schemas.microsoft.com/office/drawing/2014/main" id="{CBBFA645-FA68-2BAA-4B70-FAF5D42B4736}"/>
              </a:ext>
            </a:extLst>
          </p:cNvPr>
          <p:cNvSpPr/>
          <p:nvPr/>
        </p:nvSpPr>
        <p:spPr>
          <a:xfrm>
            <a:off x="3124871" y="204719"/>
            <a:ext cx="2932625" cy="595085"/>
          </a:xfrm>
          <a:prstGeom prst="chevron">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4B84F4"/>
                </a:solidFill>
                <a:latin typeface="Poppins" pitchFamily="2" charset="77"/>
                <a:cs typeface="Poppins" pitchFamily="2" charset="77"/>
              </a:rPr>
              <a:t>DATA-SERGe</a:t>
            </a:r>
          </a:p>
        </p:txBody>
      </p:sp>
      <p:sp>
        <p:nvSpPr>
          <p:cNvPr id="3" name="Chevron 2">
            <a:extLst>
              <a:ext uri="{FF2B5EF4-FFF2-40B4-BE49-F238E27FC236}">
                <a16:creationId xmlns:a16="http://schemas.microsoft.com/office/drawing/2014/main" id="{2B9A00FF-ABC1-CFF9-0DB8-42DA029EA5BD}"/>
              </a:ext>
            </a:extLst>
          </p:cNvPr>
          <p:cNvSpPr/>
          <p:nvPr/>
        </p:nvSpPr>
        <p:spPr>
          <a:xfrm>
            <a:off x="6130778" y="204718"/>
            <a:ext cx="2932624" cy="595085"/>
          </a:xfrm>
          <a:prstGeom prst="chevron">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4B84F4"/>
                </a:solidFill>
                <a:latin typeface="Poppins" pitchFamily="2" charset="77"/>
                <a:cs typeface="Poppins" pitchFamily="2" charset="77"/>
              </a:rPr>
              <a:t>Experiments</a:t>
            </a:r>
          </a:p>
        </p:txBody>
      </p:sp>
      <p:sp>
        <p:nvSpPr>
          <p:cNvPr id="6" name="Chevron 5">
            <a:extLst>
              <a:ext uri="{FF2B5EF4-FFF2-40B4-BE49-F238E27FC236}">
                <a16:creationId xmlns:a16="http://schemas.microsoft.com/office/drawing/2014/main" id="{298E9FC8-A957-CA9D-E579-987A25F27B1F}"/>
              </a:ext>
            </a:extLst>
          </p:cNvPr>
          <p:cNvSpPr/>
          <p:nvPr/>
        </p:nvSpPr>
        <p:spPr>
          <a:xfrm>
            <a:off x="9136683" y="204715"/>
            <a:ext cx="2932624" cy="595085"/>
          </a:xfrm>
          <a:prstGeom prst="chevron">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4B84F4"/>
                </a:solidFill>
                <a:latin typeface="Poppins" pitchFamily="2" charset="77"/>
                <a:cs typeface="Poppins" pitchFamily="2" charset="77"/>
              </a:rPr>
              <a:t>Conclusions</a:t>
            </a:r>
          </a:p>
        </p:txBody>
      </p:sp>
      <p:sp>
        <p:nvSpPr>
          <p:cNvPr id="7" name="Pentagon 6">
            <a:extLst>
              <a:ext uri="{FF2B5EF4-FFF2-40B4-BE49-F238E27FC236}">
                <a16:creationId xmlns:a16="http://schemas.microsoft.com/office/drawing/2014/main" id="{18AFBAFA-25B1-F187-DFF0-A8F84DD35E44}"/>
              </a:ext>
            </a:extLst>
          </p:cNvPr>
          <p:cNvSpPr/>
          <p:nvPr/>
        </p:nvSpPr>
        <p:spPr>
          <a:xfrm>
            <a:off x="122693" y="204714"/>
            <a:ext cx="2928896" cy="595085"/>
          </a:xfrm>
          <a:prstGeom prst="homePlate">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dirty="0">
                <a:solidFill>
                  <a:srgbClr val="4B84F4"/>
                </a:solidFill>
                <a:latin typeface="Poppins" pitchFamily="2" charset="77"/>
                <a:cs typeface="Poppins" pitchFamily="2" charset="77"/>
              </a:rPr>
              <a:t>Approach</a:t>
            </a:r>
          </a:p>
        </p:txBody>
      </p:sp>
    </p:spTree>
    <p:extLst>
      <p:ext uri="{BB962C8B-B14F-4D97-AF65-F5344CB8AC3E}">
        <p14:creationId xmlns:p14="http://schemas.microsoft.com/office/powerpoint/2010/main" val="24694740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BCB26-5DA4-9470-80A9-A0592B0EA828}"/>
            </a:ext>
          </a:extLst>
        </p:cNvPr>
        <p:cNvGrpSpPr/>
        <p:nvPr/>
      </p:nvGrpSpPr>
      <p:grpSpPr>
        <a:xfrm>
          <a:off x="0" y="0"/>
          <a:ext cx="0" cy="0"/>
          <a:chOff x="0" y="0"/>
          <a:chExt cx="0" cy="0"/>
        </a:xfrm>
      </p:grpSpPr>
      <p:pic>
        <p:nvPicPr>
          <p:cNvPr id="17" name="Graphic 16" descr="Blueprint with solid fill">
            <a:extLst>
              <a:ext uri="{FF2B5EF4-FFF2-40B4-BE49-F238E27FC236}">
                <a16:creationId xmlns:a16="http://schemas.microsoft.com/office/drawing/2014/main" id="{D47FF65A-A02C-377E-4A75-7018B3E59529}"/>
              </a:ext>
            </a:extLst>
          </p:cNvPr>
          <p:cNvPicPr>
            <a:picLocks noChangeAspect="1"/>
          </p:cNvPicPr>
          <p:nvPr/>
        </p:nvPicPr>
        <p:blipFill>
          <a:blip r:embed="rId3">
            <a:alphaModFix amt="46000"/>
            <a:extLst>
              <a:ext uri="{96DAC541-7B7A-43D3-8B79-37D633B846F1}">
                <asvg:svgBlip xmlns:asvg="http://schemas.microsoft.com/office/drawing/2016/SVG/main" r:embed="rId4"/>
              </a:ext>
            </a:extLst>
          </a:blip>
          <a:stretch>
            <a:fillRect/>
          </a:stretch>
        </p:blipFill>
        <p:spPr>
          <a:xfrm>
            <a:off x="721822" y="2693967"/>
            <a:ext cx="3093924" cy="3093924"/>
          </a:xfrm>
          <a:prstGeom prst="rect">
            <a:avLst/>
          </a:prstGeom>
        </p:spPr>
      </p:pic>
      <p:sp>
        <p:nvSpPr>
          <p:cNvPr id="4" name="Rectangle 3">
            <a:extLst>
              <a:ext uri="{FF2B5EF4-FFF2-40B4-BE49-F238E27FC236}">
                <a16:creationId xmlns:a16="http://schemas.microsoft.com/office/drawing/2014/main" id="{0C116509-FCA0-D87C-4100-671D68B062E5}"/>
              </a:ext>
            </a:extLst>
          </p:cNvPr>
          <p:cNvSpPr/>
          <p:nvPr/>
        </p:nvSpPr>
        <p:spPr>
          <a:xfrm>
            <a:off x="517357" y="1992476"/>
            <a:ext cx="3502855" cy="3795416"/>
          </a:xfrm>
          <a:prstGeom prst="rect">
            <a:avLst/>
          </a:prstGeom>
          <a:noFill/>
          <a:ln w="38100">
            <a:solidFill>
              <a:srgbClr val="D43F49"/>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endParaRPr lang="en-GB" sz="2800" b="1" dirty="0">
              <a:solidFill>
                <a:srgbClr val="D43F49"/>
              </a:solidFill>
              <a:latin typeface="Poppins" pitchFamily="2" charset="77"/>
              <a:cs typeface="Poppins" pitchFamily="2" charset="77"/>
            </a:endParaRPr>
          </a:p>
          <a:p>
            <a:pPr algn="ctr"/>
            <a:r>
              <a:rPr lang="en-GB" sz="2800" b="1" dirty="0">
                <a:solidFill>
                  <a:srgbClr val="D43F49"/>
                </a:solidFill>
                <a:latin typeface="Poppins" pitchFamily="2" charset="77"/>
                <a:cs typeface="Poppins" pitchFamily="2" charset="77"/>
              </a:rPr>
              <a:t>RQ.1</a:t>
            </a:r>
          </a:p>
          <a:p>
            <a:pPr algn="ctr"/>
            <a:endParaRPr lang="en-GB" dirty="0">
              <a:solidFill>
                <a:srgbClr val="D43F49"/>
              </a:solidFill>
              <a:latin typeface="Poppins" pitchFamily="2" charset="77"/>
              <a:cs typeface="Poppins" pitchFamily="2" charset="77"/>
            </a:endParaRPr>
          </a:p>
          <a:p>
            <a:pPr algn="ctr"/>
            <a:endParaRPr lang="en-GB" sz="2000" dirty="0">
              <a:solidFill>
                <a:srgbClr val="D43F49"/>
              </a:solidFill>
              <a:latin typeface="Poppins" pitchFamily="2" charset="77"/>
              <a:cs typeface="Poppins" pitchFamily="2" charset="77"/>
            </a:endParaRPr>
          </a:p>
        </p:txBody>
      </p:sp>
      <p:sp>
        <p:nvSpPr>
          <p:cNvPr id="2" name="Title 1">
            <a:extLst>
              <a:ext uri="{FF2B5EF4-FFF2-40B4-BE49-F238E27FC236}">
                <a16:creationId xmlns:a16="http://schemas.microsoft.com/office/drawing/2014/main" id="{CDF25456-D139-8909-790A-76DFA40D5E7C}"/>
              </a:ext>
            </a:extLst>
          </p:cNvPr>
          <p:cNvSpPr>
            <a:spLocks noGrp="1"/>
          </p:cNvSpPr>
          <p:nvPr>
            <p:ph type="title"/>
          </p:nvPr>
        </p:nvSpPr>
        <p:spPr>
          <a:xfrm>
            <a:off x="1246163" y="58998"/>
            <a:ext cx="10515600" cy="1325563"/>
          </a:xfrm>
        </p:spPr>
        <p:txBody>
          <a:bodyPr>
            <a:normAutofit fontScale="90000"/>
          </a:bodyPr>
          <a:lstStyle/>
          <a:p>
            <a:r>
              <a:rPr lang="en-FR" b="1" u="sng" dirty="0"/>
              <a:t>RQ1. Discussion &amp; Conclusion </a:t>
            </a:r>
            <a:br>
              <a:rPr lang="en-FR" dirty="0"/>
            </a:br>
            <a:r>
              <a:rPr lang="en-GB" sz="2200" dirty="0">
                <a:solidFill>
                  <a:srgbClr val="4B84F4"/>
                </a:solidFill>
              </a:rPr>
              <a:t>How to improve the socio-emotional response generation for task-oriented dialogue while meeting the industry technological requirements?</a:t>
            </a:r>
            <a:endParaRPr lang="en-FR" i="1" dirty="0"/>
          </a:p>
        </p:txBody>
      </p:sp>
      <p:pic>
        <p:nvPicPr>
          <p:cNvPr id="5" name="Picture 4">
            <a:extLst>
              <a:ext uri="{FF2B5EF4-FFF2-40B4-BE49-F238E27FC236}">
                <a16:creationId xmlns:a16="http://schemas.microsoft.com/office/drawing/2014/main" id="{DAA373D0-19FB-7331-D4B7-DCD659BF909D}"/>
              </a:ext>
            </a:extLst>
          </p:cNvPr>
          <p:cNvPicPr>
            <a:picLocks noChangeAspect="1"/>
          </p:cNvPicPr>
          <p:nvPr/>
        </p:nvPicPr>
        <p:blipFill>
          <a:blip r:embed="rId5">
            <a:alphaModFix/>
            <a:extLst>
              <a:ext uri="{BEBA8EAE-BF5A-486C-A8C5-ECC9F3942E4B}">
                <a14:imgProps xmlns:a14="http://schemas.microsoft.com/office/drawing/2010/main">
                  <a14:imgLayer r:embed="rId6">
                    <a14:imgEffect>
                      <a14:artisticPhotocopy/>
                    </a14:imgEffect>
                    <a14:imgEffect>
                      <a14:colorTemperature colorTemp="3831"/>
                    </a14:imgEffect>
                  </a14:imgLayer>
                </a14:imgProps>
              </a:ext>
            </a:extLst>
          </a:blip>
          <a:stretch>
            <a:fillRect/>
          </a:stretch>
        </p:blipFill>
        <p:spPr>
          <a:xfrm>
            <a:off x="145961" y="279131"/>
            <a:ext cx="844389" cy="844389"/>
          </a:xfrm>
          <a:prstGeom prst="rect">
            <a:avLst/>
          </a:prstGeom>
        </p:spPr>
      </p:pic>
      <p:sp>
        <p:nvSpPr>
          <p:cNvPr id="3" name="Rectangle 2">
            <a:extLst>
              <a:ext uri="{FF2B5EF4-FFF2-40B4-BE49-F238E27FC236}">
                <a16:creationId xmlns:a16="http://schemas.microsoft.com/office/drawing/2014/main" id="{B780DCBC-E042-D95D-7164-C2C9E75C745F}"/>
              </a:ext>
            </a:extLst>
          </p:cNvPr>
          <p:cNvSpPr/>
          <p:nvPr/>
        </p:nvSpPr>
        <p:spPr>
          <a:xfrm>
            <a:off x="4362515" y="1992476"/>
            <a:ext cx="7399247" cy="1011672"/>
          </a:xfrm>
          <a:prstGeom prst="rect">
            <a:avLst/>
          </a:prstGeom>
          <a:solidFill>
            <a:srgbClr val="D43F49"/>
          </a:solidFill>
          <a:ln w="38100">
            <a:solidFill>
              <a:srgbClr val="D43F49"/>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sz="2200" b="1" dirty="0">
                <a:solidFill>
                  <a:schemeClr val="bg1"/>
                </a:solidFill>
                <a:latin typeface="Poppins" pitchFamily="2" charset="77"/>
                <a:cs typeface="Poppins" pitchFamily="2" charset="77"/>
              </a:rPr>
              <a:t>Combining planning of sequences of socio-emotional labels with LLMs</a:t>
            </a:r>
          </a:p>
        </p:txBody>
      </p:sp>
      <p:sp>
        <p:nvSpPr>
          <p:cNvPr id="6" name="Rectangle 5">
            <a:extLst>
              <a:ext uri="{FF2B5EF4-FFF2-40B4-BE49-F238E27FC236}">
                <a16:creationId xmlns:a16="http://schemas.microsoft.com/office/drawing/2014/main" id="{A9F40820-35D1-93F5-13F6-34A20E854D5C}"/>
              </a:ext>
            </a:extLst>
          </p:cNvPr>
          <p:cNvSpPr/>
          <p:nvPr/>
        </p:nvSpPr>
        <p:spPr>
          <a:xfrm>
            <a:off x="4376371" y="3106227"/>
            <a:ext cx="3502856" cy="505836"/>
          </a:xfrm>
          <a:prstGeom prst="rect">
            <a:avLst/>
          </a:prstGeom>
          <a:solidFill>
            <a:srgbClr val="D43F49"/>
          </a:solidFill>
          <a:ln w="38100">
            <a:solidFill>
              <a:srgbClr val="D43F49"/>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sz="2400" b="1" dirty="0">
                <a:solidFill>
                  <a:schemeClr val="bg1"/>
                </a:solidFill>
                <a:latin typeface="Poppins" pitchFamily="2" charset="77"/>
                <a:cs typeface="Poppins" pitchFamily="2" charset="77"/>
              </a:rPr>
              <a:t>Contribution</a:t>
            </a:r>
          </a:p>
        </p:txBody>
      </p:sp>
      <p:sp>
        <p:nvSpPr>
          <p:cNvPr id="7" name="Rectangle 6">
            <a:extLst>
              <a:ext uri="{FF2B5EF4-FFF2-40B4-BE49-F238E27FC236}">
                <a16:creationId xmlns:a16="http://schemas.microsoft.com/office/drawing/2014/main" id="{0D77D8CA-FA47-49E2-6D3B-C4AF7BF50ED6}"/>
              </a:ext>
            </a:extLst>
          </p:cNvPr>
          <p:cNvSpPr/>
          <p:nvPr/>
        </p:nvSpPr>
        <p:spPr>
          <a:xfrm>
            <a:off x="8258906" y="3106227"/>
            <a:ext cx="3502856" cy="505836"/>
          </a:xfrm>
          <a:prstGeom prst="rect">
            <a:avLst/>
          </a:prstGeom>
          <a:solidFill>
            <a:srgbClr val="D43F49"/>
          </a:solidFill>
          <a:ln w="38100">
            <a:solidFill>
              <a:srgbClr val="D43F49"/>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sz="2400" b="1" dirty="0">
                <a:solidFill>
                  <a:schemeClr val="bg1"/>
                </a:solidFill>
                <a:latin typeface="Poppins" pitchFamily="2" charset="77"/>
                <a:cs typeface="Poppins" pitchFamily="2" charset="77"/>
              </a:rPr>
              <a:t>Perspectives</a:t>
            </a:r>
          </a:p>
        </p:txBody>
      </p:sp>
      <p:sp>
        <p:nvSpPr>
          <p:cNvPr id="8" name="Rectangle 7">
            <a:extLst>
              <a:ext uri="{FF2B5EF4-FFF2-40B4-BE49-F238E27FC236}">
                <a16:creationId xmlns:a16="http://schemas.microsoft.com/office/drawing/2014/main" id="{2698CBF8-11D7-2889-A152-C4729CE20287}"/>
              </a:ext>
            </a:extLst>
          </p:cNvPr>
          <p:cNvSpPr/>
          <p:nvPr/>
        </p:nvSpPr>
        <p:spPr>
          <a:xfrm>
            <a:off x="8258906" y="3588319"/>
            <a:ext cx="3502855" cy="2199573"/>
          </a:xfrm>
          <a:prstGeom prst="rect">
            <a:avLst/>
          </a:prstGeom>
          <a:noFill/>
          <a:ln w="38100">
            <a:solidFill>
              <a:srgbClr val="D43F49"/>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sz="2800" b="1" dirty="0">
                <a:solidFill>
                  <a:srgbClr val="D43F49"/>
                </a:solidFill>
                <a:latin typeface="Poppins"/>
                <a:cs typeface="Poppins"/>
              </a:rPr>
              <a:t>Optimise our</a:t>
            </a:r>
          </a:p>
          <a:p>
            <a:pPr algn="ctr"/>
            <a:r>
              <a:rPr lang="en-FR" sz="2800" b="1" dirty="0">
                <a:solidFill>
                  <a:srgbClr val="D43F49"/>
                </a:solidFill>
                <a:latin typeface="Poppins"/>
                <a:cs typeface="Poppins"/>
              </a:rPr>
              <a:t>architecture </a:t>
            </a:r>
            <a:endParaRPr lang="en-FR" sz="2800" b="1" dirty="0">
              <a:solidFill>
                <a:srgbClr val="D43F49"/>
              </a:solidFill>
              <a:latin typeface="Poppins" pitchFamily="2" charset="77"/>
              <a:cs typeface="Poppins" pitchFamily="2" charset="77"/>
            </a:endParaRPr>
          </a:p>
        </p:txBody>
      </p:sp>
      <p:sp>
        <p:nvSpPr>
          <p:cNvPr id="16" name="Rectangle 15">
            <a:extLst>
              <a:ext uri="{FF2B5EF4-FFF2-40B4-BE49-F238E27FC236}">
                <a16:creationId xmlns:a16="http://schemas.microsoft.com/office/drawing/2014/main" id="{FAE7B598-7957-67B1-508C-E91701940A67}"/>
              </a:ext>
            </a:extLst>
          </p:cNvPr>
          <p:cNvSpPr/>
          <p:nvPr/>
        </p:nvSpPr>
        <p:spPr>
          <a:xfrm>
            <a:off x="4376370" y="3588318"/>
            <a:ext cx="3502857" cy="2199573"/>
          </a:xfrm>
          <a:prstGeom prst="rect">
            <a:avLst/>
          </a:prstGeom>
          <a:noFill/>
          <a:ln w="38100">
            <a:solidFill>
              <a:srgbClr val="D43F49"/>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500" b="1" dirty="0">
                <a:solidFill>
                  <a:srgbClr val="D43F49"/>
                </a:solidFill>
                <a:latin typeface="Poppins" pitchFamily="2" charset="77"/>
                <a:cs typeface="Poppins" pitchFamily="2" charset="77"/>
              </a:rPr>
              <a:t>A two-module architecture for socio-emotional response generation</a:t>
            </a:r>
          </a:p>
        </p:txBody>
      </p:sp>
    </p:spTree>
    <p:extLst>
      <p:ext uri="{BB962C8B-B14F-4D97-AF65-F5344CB8AC3E}">
        <p14:creationId xmlns:p14="http://schemas.microsoft.com/office/powerpoint/2010/main" val="1776423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1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10F16-3597-3818-7061-3D0D0172E8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1E2A9-A7F5-0869-CFE7-5620D6A6EC92}"/>
              </a:ext>
            </a:extLst>
          </p:cNvPr>
          <p:cNvSpPr>
            <a:spLocks noGrp="1"/>
          </p:cNvSpPr>
          <p:nvPr>
            <p:ph type="title"/>
          </p:nvPr>
        </p:nvSpPr>
        <p:spPr>
          <a:xfrm>
            <a:off x="1246163" y="58998"/>
            <a:ext cx="10515600" cy="1325563"/>
          </a:xfrm>
        </p:spPr>
        <p:txBody>
          <a:bodyPr>
            <a:normAutofit/>
          </a:bodyPr>
          <a:lstStyle/>
          <a:p>
            <a:r>
              <a:rPr lang="en-FR" sz="2900" b="1" u="sng" dirty="0"/>
              <a:t>RQ2. Discussion &amp; Conclusion </a:t>
            </a:r>
            <a:br>
              <a:rPr lang="en-FR" dirty="0"/>
            </a:br>
            <a:r>
              <a:rPr lang="en-GB" sz="2000" dirty="0">
                <a:solidFill>
                  <a:srgbClr val="4B84F4"/>
                </a:solidFill>
              </a:rPr>
              <a:t>What data can be used to implement this approach in the specific context of French, customer service dialogue?</a:t>
            </a:r>
            <a:endParaRPr lang="en-FR" sz="2200" dirty="0">
              <a:solidFill>
                <a:srgbClr val="4B84F4"/>
              </a:solidFill>
            </a:endParaRPr>
          </a:p>
        </p:txBody>
      </p:sp>
      <p:pic>
        <p:nvPicPr>
          <p:cNvPr id="5" name="Picture 4">
            <a:extLst>
              <a:ext uri="{FF2B5EF4-FFF2-40B4-BE49-F238E27FC236}">
                <a16:creationId xmlns:a16="http://schemas.microsoft.com/office/drawing/2014/main" id="{4AFF47D6-9D5E-2A74-2F9C-0C1B49F5C161}"/>
              </a:ext>
            </a:extLst>
          </p:cNvPr>
          <p:cNvPicPr>
            <a:picLocks noChangeAspect="1"/>
          </p:cNvPicPr>
          <p:nvPr/>
        </p:nvPicPr>
        <p:blipFill>
          <a:blip r:embed="rId3">
            <a:alphaModFix/>
            <a:extLst>
              <a:ext uri="{BEBA8EAE-BF5A-486C-A8C5-ECC9F3942E4B}">
                <a14:imgProps xmlns:a14="http://schemas.microsoft.com/office/drawing/2010/main">
                  <a14:imgLayer r:embed="rId4">
                    <a14:imgEffect>
                      <a14:artisticPhotocopy/>
                    </a14:imgEffect>
                    <a14:imgEffect>
                      <a14:colorTemperature colorTemp="3831"/>
                    </a14:imgEffect>
                  </a14:imgLayer>
                </a14:imgProps>
              </a:ext>
            </a:extLst>
          </a:blip>
          <a:stretch>
            <a:fillRect/>
          </a:stretch>
        </p:blipFill>
        <p:spPr>
          <a:xfrm>
            <a:off x="145961" y="279131"/>
            <a:ext cx="844389" cy="844389"/>
          </a:xfrm>
          <a:prstGeom prst="rect">
            <a:avLst/>
          </a:prstGeom>
        </p:spPr>
      </p:pic>
      <p:sp>
        <p:nvSpPr>
          <p:cNvPr id="3" name="Rectangle 2">
            <a:extLst>
              <a:ext uri="{FF2B5EF4-FFF2-40B4-BE49-F238E27FC236}">
                <a16:creationId xmlns:a16="http://schemas.microsoft.com/office/drawing/2014/main" id="{A8969D08-755B-7DE9-8353-0BE22D3DB812}"/>
              </a:ext>
            </a:extLst>
          </p:cNvPr>
          <p:cNvSpPr/>
          <p:nvPr/>
        </p:nvSpPr>
        <p:spPr>
          <a:xfrm>
            <a:off x="4362515" y="1992476"/>
            <a:ext cx="7399247" cy="1011672"/>
          </a:xfrm>
          <a:prstGeom prst="rect">
            <a:avLst/>
          </a:prstGeom>
          <a:solidFill>
            <a:srgbClr val="B08AB4"/>
          </a:solidFill>
          <a:ln w="38100">
            <a:solidFill>
              <a:srgbClr val="B08AB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sz="2200" b="1" dirty="0">
                <a:solidFill>
                  <a:schemeClr val="bg1"/>
                </a:solidFill>
                <a:latin typeface="Poppins" pitchFamily="2" charset="77"/>
                <a:cs typeface="Poppins" pitchFamily="2" charset="77"/>
              </a:rPr>
              <a:t>Remaining challenges for annotating </a:t>
            </a:r>
            <a:br>
              <a:rPr lang="en-FR" sz="2200" b="1" dirty="0">
                <a:solidFill>
                  <a:schemeClr val="bg1"/>
                </a:solidFill>
                <a:latin typeface="Poppins" pitchFamily="2" charset="77"/>
                <a:cs typeface="Poppins" pitchFamily="2" charset="77"/>
              </a:rPr>
            </a:br>
            <a:r>
              <a:rPr lang="en-FR" sz="2200" b="1" dirty="0">
                <a:solidFill>
                  <a:schemeClr val="bg1"/>
                </a:solidFill>
                <a:latin typeface="Poppins" pitchFamily="2" charset="77"/>
                <a:cs typeface="Poppins" pitchFamily="2" charset="77"/>
              </a:rPr>
              <a:t>task-oriented data</a:t>
            </a:r>
          </a:p>
        </p:txBody>
      </p:sp>
      <p:sp>
        <p:nvSpPr>
          <p:cNvPr id="6" name="Rectangle 5">
            <a:extLst>
              <a:ext uri="{FF2B5EF4-FFF2-40B4-BE49-F238E27FC236}">
                <a16:creationId xmlns:a16="http://schemas.microsoft.com/office/drawing/2014/main" id="{9AC9E0B9-2333-13FA-41C9-24AA46F1C54A}"/>
              </a:ext>
            </a:extLst>
          </p:cNvPr>
          <p:cNvSpPr/>
          <p:nvPr/>
        </p:nvSpPr>
        <p:spPr>
          <a:xfrm>
            <a:off x="4362516" y="3106227"/>
            <a:ext cx="3502856" cy="505836"/>
          </a:xfrm>
          <a:prstGeom prst="rect">
            <a:avLst/>
          </a:prstGeom>
          <a:solidFill>
            <a:srgbClr val="B08AB4"/>
          </a:solidFill>
          <a:ln w="38100">
            <a:solidFill>
              <a:srgbClr val="B08AB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sz="2400" b="1" dirty="0">
                <a:solidFill>
                  <a:schemeClr val="bg1"/>
                </a:solidFill>
                <a:latin typeface="Poppins" pitchFamily="2" charset="77"/>
                <a:cs typeface="Poppins" pitchFamily="2" charset="77"/>
              </a:rPr>
              <a:t>Contribution</a:t>
            </a:r>
          </a:p>
        </p:txBody>
      </p:sp>
      <p:sp>
        <p:nvSpPr>
          <p:cNvPr id="7" name="Rectangle 6">
            <a:extLst>
              <a:ext uri="{FF2B5EF4-FFF2-40B4-BE49-F238E27FC236}">
                <a16:creationId xmlns:a16="http://schemas.microsoft.com/office/drawing/2014/main" id="{82234F6D-F193-FB07-9042-995C2F871E1D}"/>
              </a:ext>
            </a:extLst>
          </p:cNvPr>
          <p:cNvSpPr/>
          <p:nvPr/>
        </p:nvSpPr>
        <p:spPr>
          <a:xfrm>
            <a:off x="8258906" y="3106227"/>
            <a:ext cx="3502856" cy="505836"/>
          </a:xfrm>
          <a:prstGeom prst="rect">
            <a:avLst/>
          </a:prstGeom>
          <a:solidFill>
            <a:srgbClr val="B08AB4"/>
          </a:solidFill>
          <a:ln w="38100">
            <a:solidFill>
              <a:srgbClr val="B08AB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sz="2400" b="1" dirty="0">
                <a:solidFill>
                  <a:schemeClr val="bg1"/>
                </a:solidFill>
                <a:latin typeface="Poppins" pitchFamily="2" charset="77"/>
                <a:cs typeface="Poppins" pitchFamily="2" charset="77"/>
              </a:rPr>
              <a:t>Perspectives</a:t>
            </a:r>
          </a:p>
        </p:txBody>
      </p:sp>
      <p:sp>
        <p:nvSpPr>
          <p:cNvPr id="8" name="Rectangle 7">
            <a:extLst>
              <a:ext uri="{FF2B5EF4-FFF2-40B4-BE49-F238E27FC236}">
                <a16:creationId xmlns:a16="http://schemas.microsoft.com/office/drawing/2014/main" id="{CCE56F43-C995-FA52-9A6E-FCBD1F871FD9}"/>
              </a:ext>
            </a:extLst>
          </p:cNvPr>
          <p:cNvSpPr/>
          <p:nvPr/>
        </p:nvSpPr>
        <p:spPr>
          <a:xfrm>
            <a:off x="8258906" y="3588319"/>
            <a:ext cx="3502855" cy="2199573"/>
          </a:xfrm>
          <a:prstGeom prst="rect">
            <a:avLst/>
          </a:prstGeom>
          <a:noFill/>
          <a:ln w="38100">
            <a:solidFill>
              <a:srgbClr val="B08AB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sz="2800" b="1" dirty="0">
                <a:solidFill>
                  <a:srgbClr val="B08AB4"/>
                </a:solidFill>
                <a:latin typeface="Poppins"/>
                <a:cs typeface="Poppins"/>
              </a:rPr>
              <a:t>Gather more Adequate Data</a:t>
            </a:r>
          </a:p>
        </p:txBody>
      </p:sp>
      <p:sp>
        <p:nvSpPr>
          <p:cNvPr id="16" name="Rectangle 15">
            <a:extLst>
              <a:ext uri="{FF2B5EF4-FFF2-40B4-BE49-F238E27FC236}">
                <a16:creationId xmlns:a16="http://schemas.microsoft.com/office/drawing/2014/main" id="{8D3FAE1C-5B77-48BA-96BA-C104A6115A44}"/>
              </a:ext>
            </a:extLst>
          </p:cNvPr>
          <p:cNvSpPr/>
          <p:nvPr/>
        </p:nvSpPr>
        <p:spPr>
          <a:xfrm>
            <a:off x="4362515" y="3588318"/>
            <a:ext cx="3502857" cy="2199573"/>
          </a:xfrm>
          <a:prstGeom prst="rect">
            <a:avLst/>
          </a:prstGeom>
          <a:noFill/>
          <a:ln w="38100">
            <a:solidFill>
              <a:srgbClr val="B08AB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800" b="1" dirty="0">
                <a:solidFill>
                  <a:srgbClr val="B08AB4"/>
                </a:solidFill>
                <a:latin typeface="Poppins" pitchFamily="2" charset="77"/>
                <a:cs typeface="Poppins" pitchFamily="2" charset="77"/>
              </a:rPr>
              <a:t>A new dataset: </a:t>
            </a:r>
          </a:p>
          <a:p>
            <a:pPr algn="ctr"/>
            <a:r>
              <a:rPr lang="en-GB" sz="2800" b="1" dirty="0">
                <a:solidFill>
                  <a:srgbClr val="B08AB4"/>
                </a:solidFill>
                <a:latin typeface="Poppins" pitchFamily="2" charset="77"/>
                <a:cs typeface="Poppins" pitchFamily="2" charset="77"/>
              </a:rPr>
              <a:t>DATA-</a:t>
            </a:r>
            <a:r>
              <a:rPr lang="en-GB" sz="2800" b="1" dirty="0" err="1">
                <a:solidFill>
                  <a:srgbClr val="B08AB4"/>
                </a:solidFill>
                <a:latin typeface="Poppins" pitchFamily="2" charset="77"/>
                <a:cs typeface="Poppins" pitchFamily="2" charset="77"/>
              </a:rPr>
              <a:t>SERGe</a:t>
            </a:r>
            <a:endParaRPr lang="en-GB" sz="2800" b="1" dirty="0">
              <a:solidFill>
                <a:srgbClr val="B08AB4"/>
              </a:solidFill>
              <a:latin typeface="Poppins" pitchFamily="2" charset="77"/>
              <a:cs typeface="Poppins" pitchFamily="2" charset="77"/>
            </a:endParaRPr>
          </a:p>
        </p:txBody>
      </p:sp>
      <p:sp>
        <p:nvSpPr>
          <p:cNvPr id="9" name="Rectangle 8">
            <a:extLst>
              <a:ext uri="{FF2B5EF4-FFF2-40B4-BE49-F238E27FC236}">
                <a16:creationId xmlns:a16="http://schemas.microsoft.com/office/drawing/2014/main" id="{BDBA8F69-79BA-D9A5-8BCC-77A513C72984}"/>
              </a:ext>
            </a:extLst>
          </p:cNvPr>
          <p:cNvSpPr/>
          <p:nvPr/>
        </p:nvSpPr>
        <p:spPr>
          <a:xfrm>
            <a:off x="517357" y="1992475"/>
            <a:ext cx="3502855" cy="3795415"/>
          </a:xfrm>
          <a:prstGeom prst="rect">
            <a:avLst/>
          </a:prstGeom>
          <a:noFill/>
          <a:ln w="38100">
            <a:solidFill>
              <a:srgbClr val="B08AB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endParaRPr lang="en-FR" sz="2800" b="1" dirty="0">
              <a:solidFill>
                <a:srgbClr val="B08AB4"/>
              </a:solidFill>
              <a:latin typeface="Poppins" pitchFamily="2" charset="77"/>
              <a:cs typeface="Poppins" pitchFamily="2" charset="77"/>
            </a:endParaRPr>
          </a:p>
          <a:p>
            <a:pPr algn="ctr"/>
            <a:r>
              <a:rPr lang="en-GB" sz="2800" b="1" dirty="0">
                <a:solidFill>
                  <a:srgbClr val="B08AB4"/>
                </a:solidFill>
                <a:latin typeface="Poppins" pitchFamily="2" charset="77"/>
                <a:cs typeface="Poppins" pitchFamily="2" charset="77"/>
              </a:rPr>
              <a:t>RQ.2 </a:t>
            </a:r>
          </a:p>
          <a:p>
            <a:pPr algn="ctr"/>
            <a:endParaRPr lang="en-GB" sz="2000" dirty="0">
              <a:solidFill>
                <a:srgbClr val="B08AB4"/>
              </a:solidFill>
              <a:latin typeface="Poppins" pitchFamily="2" charset="77"/>
              <a:cs typeface="Poppins" pitchFamily="2" charset="77"/>
            </a:endParaRPr>
          </a:p>
        </p:txBody>
      </p:sp>
      <p:pic>
        <p:nvPicPr>
          <p:cNvPr id="13" name="Graphic 12" descr="Chat with solid fill">
            <a:extLst>
              <a:ext uri="{FF2B5EF4-FFF2-40B4-BE49-F238E27FC236}">
                <a16:creationId xmlns:a16="http://schemas.microsoft.com/office/drawing/2014/main" id="{FE00C432-1753-4BCA-84EB-6617B09A668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1597" y="2703670"/>
            <a:ext cx="3534374" cy="3534374"/>
          </a:xfrm>
          <a:prstGeom prst="rect">
            <a:avLst/>
          </a:prstGeom>
        </p:spPr>
      </p:pic>
    </p:spTree>
    <p:extLst>
      <p:ext uri="{BB962C8B-B14F-4D97-AF65-F5344CB8AC3E}">
        <p14:creationId xmlns:p14="http://schemas.microsoft.com/office/powerpoint/2010/main" val="356734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1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alpha val="44000"/>
          </a:schemeClr>
        </a:solidFill>
        <a:effectLst/>
      </p:bgPr>
    </p:bg>
    <p:spTree>
      <p:nvGrpSpPr>
        <p:cNvPr id="1" name="">
          <a:extLst>
            <a:ext uri="{FF2B5EF4-FFF2-40B4-BE49-F238E27FC236}">
              <a16:creationId xmlns:a16="http://schemas.microsoft.com/office/drawing/2014/main" id="{3D6BFB8F-2661-10E8-A0DB-74B5386CBB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72BC32-2C15-4037-16EF-59B7E612A3CE}"/>
              </a:ext>
            </a:extLst>
          </p:cNvPr>
          <p:cNvSpPr>
            <a:spLocks noGrp="1"/>
          </p:cNvSpPr>
          <p:nvPr>
            <p:ph type="title"/>
          </p:nvPr>
        </p:nvSpPr>
        <p:spPr>
          <a:xfrm>
            <a:off x="1246163" y="58998"/>
            <a:ext cx="10515600" cy="1325563"/>
          </a:xfrm>
        </p:spPr>
        <p:txBody>
          <a:bodyPr>
            <a:normAutofit/>
          </a:bodyPr>
          <a:lstStyle/>
          <a:p>
            <a:r>
              <a:rPr lang="en-FR" sz="2900" b="1" u="sng" dirty="0"/>
              <a:t>RQ3. Discussion &amp; Conclusion </a:t>
            </a:r>
            <a:br>
              <a:rPr lang="en-FR" dirty="0"/>
            </a:br>
            <a:r>
              <a:rPr lang="en-GB" sz="2000" dirty="0">
                <a:solidFill>
                  <a:srgbClr val="4B84F4"/>
                </a:solidFill>
              </a:rPr>
              <a:t>How to evaluate the general quality as well as the social and emotional consistency of a generative conversational system?</a:t>
            </a:r>
            <a:endParaRPr lang="en-FR" sz="2200" dirty="0">
              <a:solidFill>
                <a:srgbClr val="4B84F4"/>
              </a:solidFill>
            </a:endParaRPr>
          </a:p>
        </p:txBody>
      </p:sp>
      <p:pic>
        <p:nvPicPr>
          <p:cNvPr id="5" name="Picture 4">
            <a:extLst>
              <a:ext uri="{FF2B5EF4-FFF2-40B4-BE49-F238E27FC236}">
                <a16:creationId xmlns:a16="http://schemas.microsoft.com/office/drawing/2014/main" id="{3EC3E9EB-9768-3540-B69B-E4B70FF95EE2}"/>
              </a:ext>
            </a:extLst>
          </p:cNvPr>
          <p:cNvPicPr>
            <a:picLocks noChangeAspect="1"/>
          </p:cNvPicPr>
          <p:nvPr/>
        </p:nvPicPr>
        <p:blipFill>
          <a:blip r:embed="rId3">
            <a:alphaModFix/>
            <a:extLst>
              <a:ext uri="{BEBA8EAE-BF5A-486C-A8C5-ECC9F3942E4B}">
                <a14:imgProps xmlns:a14="http://schemas.microsoft.com/office/drawing/2010/main">
                  <a14:imgLayer r:embed="rId4">
                    <a14:imgEffect>
                      <a14:artisticPhotocopy/>
                    </a14:imgEffect>
                    <a14:imgEffect>
                      <a14:colorTemperature colorTemp="3831"/>
                    </a14:imgEffect>
                  </a14:imgLayer>
                </a14:imgProps>
              </a:ext>
            </a:extLst>
          </a:blip>
          <a:stretch>
            <a:fillRect/>
          </a:stretch>
        </p:blipFill>
        <p:spPr>
          <a:xfrm>
            <a:off x="145961" y="279131"/>
            <a:ext cx="844389" cy="844389"/>
          </a:xfrm>
          <a:prstGeom prst="rect">
            <a:avLst/>
          </a:prstGeom>
        </p:spPr>
      </p:pic>
      <p:sp>
        <p:nvSpPr>
          <p:cNvPr id="3" name="Rectangle 2">
            <a:extLst>
              <a:ext uri="{FF2B5EF4-FFF2-40B4-BE49-F238E27FC236}">
                <a16:creationId xmlns:a16="http://schemas.microsoft.com/office/drawing/2014/main" id="{7EC6939B-8212-E4D4-6CBB-E33B0A636E3C}"/>
              </a:ext>
            </a:extLst>
          </p:cNvPr>
          <p:cNvSpPr/>
          <p:nvPr/>
        </p:nvSpPr>
        <p:spPr>
          <a:xfrm>
            <a:off x="517357" y="1992475"/>
            <a:ext cx="3502855" cy="3795415"/>
          </a:xfrm>
          <a:prstGeom prst="rect">
            <a:avLst/>
          </a:prstGeom>
          <a:noFill/>
          <a:ln w="38100">
            <a:solidFill>
              <a:srgbClr val="FFC49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endParaRPr lang="en-GB" sz="2800" dirty="0">
              <a:solidFill>
                <a:srgbClr val="FFC49B"/>
              </a:solidFill>
              <a:latin typeface="Poppins" pitchFamily="2" charset="77"/>
              <a:cs typeface="Poppins" pitchFamily="2" charset="77"/>
            </a:endParaRPr>
          </a:p>
          <a:p>
            <a:pPr algn="ctr"/>
            <a:r>
              <a:rPr lang="en-GB" sz="2800" b="1" dirty="0">
                <a:solidFill>
                  <a:srgbClr val="FFC49B"/>
                </a:solidFill>
                <a:latin typeface="Poppins" pitchFamily="2" charset="77"/>
                <a:cs typeface="Poppins" pitchFamily="2" charset="77"/>
              </a:rPr>
              <a:t>RQ.3</a:t>
            </a:r>
          </a:p>
          <a:p>
            <a:pPr algn="ctr"/>
            <a:endParaRPr lang="en-GB" sz="2000" dirty="0">
              <a:solidFill>
                <a:srgbClr val="FFC49B"/>
              </a:solidFill>
              <a:latin typeface="Poppins" pitchFamily="2" charset="77"/>
              <a:cs typeface="Poppins" pitchFamily="2" charset="77"/>
            </a:endParaRPr>
          </a:p>
        </p:txBody>
      </p:sp>
      <p:sp>
        <p:nvSpPr>
          <p:cNvPr id="10" name="Rectangle 9">
            <a:extLst>
              <a:ext uri="{FF2B5EF4-FFF2-40B4-BE49-F238E27FC236}">
                <a16:creationId xmlns:a16="http://schemas.microsoft.com/office/drawing/2014/main" id="{D3D3A2EB-6E2C-FBEA-5D94-6C9F7BE41FB7}"/>
              </a:ext>
            </a:extLst>
          </p:cNvPr>
          <p:cNvSpPr/>
          <p:nvPr/>
        </p:nvSpPr>
        <p:spPr>
          <a:xfrm>
            <a:off x="4362515" y="1992476"/>
            <a:ext cx="7399247" cy="1011672"/>
          </a:xfrm>
          <a:prstGeom prst="rect">
            <a:avLst/>
          </a:prstGeom>
          <a:solidFill>
            <a:srgbClr val="F2B781"/>
          </a:solidFill>
          <a:ln w="38100">
            <a:solidFill>
              <a:srgbClr val="F2B78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2200" b="1" dirty="0">
                <a:solidFill>
                  <a:schemeClr val="bg1"/>
                </a:solidFill>
                <a:latin typeface="Poppins" pitchFamily="2" charset="77"/>
                <a:cs typeface="Poppins" pitchFamily="2" charset="77"/>
              </a:rPr>
              <a:t>There </a:t>
            </a:r>
            <a:r>
              <a:rPr lang="fr-FR" sz="2200" b="1" dirty="0" err="1">
                <a:solidFill>
                  <a:schemeClr val="bg1"/>
                </a:solidFill>
                <a:latin typeface="Poppins" pitchFamily="2" charset="77"/>
                <a:cs typeface="Poppins" pitchFamily="2" charset="77"/>
              </a:rPr>
              <a:t>is</a:t>
            </a:r>
            <a:r>
              <a:rPr lang="fr-FR" sz="2200" b="1" dirty="0">
                <a:solidFill>
                  <a:schemeClr val="bg1"/>
                </a:solidFill>
                <a:latin typeface="Poppins" pitchFamily="2" charset="77"/>
                <a:cs typeface="Poppins" pitchFamily="2" charset="77"/>
              </a:rPr>
              <a:t> a </a:t>
            </a:r>
            <a:r>
              <a:rPr lang="fr-FR" sz="2200" b="1" dirty="0" err="1">
                <a:solidFill>
                  <a:schemeClr val="bg1"/>
                </a:solidFill>
                <a:latin typeface="Poppins" pitchFamily="2" charset="77"/>
                <a:cs typeface="Poppins" pitchFamily="2" charset="77"/>
              </a:rPr>
              <a:t>need</a:t>
            </a:r>
            <a:r>
              <a:rPr lang="fr-FR" sz="2200" b="1" dirty="0">
                <a:solidFill>
                  <a:schemeClr val="bg1"/>
                </a:solidFill>
                <a:latin typeface="Poppins" pitchFamily="2" charset="77"/>
                <a:cs typeface="Poppins" pitchFamily="2" charset="77"/>
              </a:rPr>
              <a:t> for </a:t>
            </a:r>
            <a:r>
              <a:rPr lang="fr-FR" sz="2200" b="1" dirty="0" err="1">
                <a:solidFill>
                  <a:schemeClr val="bg1"/>
                </a:solidFill>
                <a:latin typeface="Poppins" pitchFamily="2" charset="77"/>
                <a:cs typeface="Poppins" pitchFamily="2" charset="77"/>
              </a:rPr>
              <a:t>better</a:t>
            </a:r>
            <a:r>
              <a:rPr lang="fr-FR" sz="2200" b="1" dirty="0">
                <a:solidFill>
                  <a:schemeClr val="bg1"/>
                </a:solidFill>
                <a:latin typeface="Poppins" pitchFamily="2" charset="77"/>
                <a:cs typeface="Poppins" pitchFamily="2" charset="77"/>
              </a:rPr>
              <a:t> </a:t>
            </a:r>
            <a:r>
              <a:rPr lang="fr-FR" sz="2200" b="1" dirty="0" err="1">
                <a:solidFill>
                  <a:schemeClr val="bg1"/>
                </a:solidFill>
                <a:latin typeface="Poppins" pitchFamily="2" charset="77"/>
                <a:cs typeface="Poppins" pitchFamily="2" charset="77"/>
              </a:rPr>
              <a:t>automatic</a:t>
            </a:r>
            <a:r>
              <a:rPr lang="fr-FR" sz="2200" b="1" dirty="0">
                <a:solidFill>
                  <a:schemeClr val="bg1"/>
                </a:solidFill>
                <a:latin typeface="Poppins" pitchFamily="2" charset="77"/>
                <a:cs typeface="Poppins" pitchFamily="2" charset="77"/>
              </a:rPr>
              <a:t> alternatives to </a:t>
            </a:r>
            <a:r>
              <a:rPr lang="fr-FR" sz="2200" b="1" dirty="0" err="1">
                <a:solidFill>
                  <a:schemeClr val="bg1"/>
                </a:solidFill>
                <a:latin typeface="Poppins" pitchFamily="2" charset="77"/>
                <a:cs typeface="Poppins" pitchFamily="2" charset="77"/>
              </a:rPr>
              <a:t>human</a:t>
            </a:r>
            <a:r>
              <a:rPr lang="fr-FR" sz="2200" b="1" dirty="0">
                <a:solidFill>
                  <a:schemeClr val="bg1"/>
                </a:solidFill>
                <a:latin typeface="Poppins" pitchFamily="2" charset="77"/>
                <a:cs typeface="Poppins" pitchFamily="2" charset="77"/>
              </a:rPr>
              <a:t> </a:t>
            </a:r>
            <a:r>
              <a:rPr lang="fr-FR" sz="2200" b="1" dirty="0" err="1">
                <a:solidFill>
                  <a:schemeClr val="bg1"/>
                </a:solidFill>
                <a:latin typeface="Poppins" pitchFamily="2" charset="77"/>
                <a:cs typeface="Poppins" pitchFamily="2" charset="77"/>
              </a:rPr>
              <a:t>evaluation</a:t>
            </a:r>
            <a:endParaRPr lang="en-FR" sz="2200" b="1" dirty="0">
              <a:solidFill>
                <a:schemeClr val="bg1"/>
              </a:solidFill>
              <a:latin typeface="Poppins" pitchFamily="2" charset="77"/>
              <a:cs typeface="Poppins" pitchFamily="2" charset="77"/>
            </a:endParaRPr>
          </a:p>
        </p:txBody>
      </p:sp>
      <p:sp>
        <p:nvSpPr>
          <p:cNvPr id="11" name="Rectangle 10">
            <a:extLst>
              <a:ext uri="{FF2B5EF4-FFF2-40B4-BE49-F238E27FC236}">
                <a16:creationId xmlns:a16="http://schemas.microsoft.com/office/drawing/2014/main" id="{E830657B-088B-5C60-8DB8-3D0A284FE8AD}"/>
              </a:ext>
            </a:extLst>
          </p:cNvPr>
          <p:cNvSpPr/>
          <p:nvPr/>
        </p:nvSpPr>
        <p:spPr>
          <a:xfrm>
            <a:off x="4362516" y="3106227"/>
            <a:ext cx="3502856" cy="505836"/>
          </a:xfrm>
          <a:prstGeom prst="rect">
            <a:avLst/>
          </a:prstGeom>
          <a:solidFill>
            <a:srgbClr val="F2B781"/>
          </a:solidFill>
          <a:ln w="38100">
            <a:solidFill>
              <a:srgbClr val="F2B78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sz="2400" b="1" dirty="0">
                <a:solidFill>
                  <a:schemeClr val="bg1"/>
                </a:solidFill>
                <a:latin typeface="Poppins" pitchFamily="2" charset="77"/>
                <a:cs typeface="Poppins" pitchFamily="2" charset="77"/>
              </a:rPr>
              <a:t>Contribution</a:t>
            </a:r>
          </a:p>
        </p:txBody>
      </p:sp>
      <p:sp>
        <p:nvSpPr>
          <p:cNvPr id="12" name="Rectangle 11">
            <a:extLst>
              <a:ext uri="{FF2B5EF4-FFF2-40B4-BE49-F238E27FC236}">
                <a16:creationId xmlns:a16="http://schemas.microsoft.com/office/drawing/2014/main" id="{EE8AFA92-1EDD-F7CC-6A76-6405FBB83BE0}"/>
              </a:ext>
            </a:extLst>
          </p:cNvPr>
          <p:cNvSpPr/>
          <p:nvPr/>
        </p:nvSpPr>
        <p:spPr>
          <a:xfrm>
            <a:off x="8258906" y="3106227"/>
            <a:ext cx="3502856" cy="505836"/>
          </a:xfrm>
          <a:prstGeom prst="rect">
            <a:avLst/>
          </a:prstGeom>
          <a:solidFill>
            <a:srgbClr val="F2B781"/>
          </a:solidFill>
          <a:ln w="38100">
            <a:solidFill>
              <a:srgbClr val="F2B78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sz="2400" b="1" dirty="0">
                <a:solidFill>
                  <a:schemeClr val="bg1"/>
                </a:solidFill>
                <a:latin typeface="Poppins" pitchFamily="2" charset="77"/>
                <a:cs typeface="Poppins" pitchFamily="2" charset="77"/>
              </a:rPr>
              <a:t>Perspectives</a:t>
            </a:r>
          </a:p>
        </p:txBody>
      </p:sp>
      <p:sp>
        <p:nvSpPr>
          <p:cNvPr id="15" name="Rectangle 14">
            <a:extLst>
              <a:ext uri="{FF2B5EF4-FFF2-40B4-BE49-F238E27FC236}">
                <a16:creationId xmlns:a16="http://schemas.microsoft.com/office/drawing/2014/main" id="{AFB561F4-E947-52AB-25F4-A401EC168F3D}"/>
              </a:ext>
            </a:extLst>
          </p:cNvPr>
          <p:cNvSpPr/>
          <p:nvPr/>
        </p:nvSpPr>
        <p:spPr>
          <a:xfrm>
            <a:off x="8258906" y="3588319"/>
            <a:ext cx="3502855" cy="2199573"/>
          </a:xfrm>
          <a:prstGeom prst="rect">
            <a:avLst/>
          </a:prstGeom>
          <a:noFill/>
          <a:ln w="38100">
            <a:solidFill>
              <a:srgbClr val="F2B78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FR" sz="2800" b="1" dirty="0">
                <a:solidFill>
                  <a:srgbClr val="F2B781"/>
                </a:solidFill>
                <a:latin typeface="Poppins"/>
                <a:cs typeface="Poppins"/>
              </a:rPr>
              <a:t>Improve the evaluation methods</a:t>
            </a:r>
          </a:p>
        </p:txBody>
      </p:sp>
      <p:sp>
        <p:nvSpPr>
          <p:cNvPr id="16" name="Rectangle 15">
            <a:extLst>
              <a:ext uri="{FF2B5EF4-FFF2-40B4-BE49-F238E27FC236}">
                <a16:creationId xmlns:a16="http://schemas.microsoft.com/office/drawing/2014/main" id="{FA78F6A9-D216-556D-FEBC-E712F83EF84A}"/>
              </a:ext>
            </a:extLst>
          </p:cNvPr>
          <p:cNvSpPr/>
          <p:nvPr/>
        </p:nvSpPr>
        <p:spPr>
          <a:xfrm>
            <a:off x="4362515" y="3588318"/>
            <a:ext cx="3502857" cy="2199573"/>
          </a:xfrm>
          <a:prstGeom prst="rect">
            <a:avLst/>
          </a:prstGeom>
          <a:noFill/>
          <a:ln w="38100">
            <a:solidFill>
              <a:srgbClr val="F2B78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500" b="1" dirty="0">
                <a:solidFill>
                  <a:srgbClr val="F2B781"/>
                </a:solidFill>
                <a:latin typeface="Poppins" pitchFamily="2" charset="77"/>
                <a:cs typeface="Poppins" pitchFamily="2" charset="77"/>
              </a:rPr>
              <a:t>A comprehensive evaluation benchmark</a:t>
            </a:r>
          </a:p>
        </p:txBody>
      </p:sp>
      <p:pic>
        <p:nvPicPr>
          <p:cNvPr id="4" name="Graphic 3" descr="Alterations &amp; Tailoring with solid fill">
            <a:extLst>
              <a:ext uri="{FF2B5EF4-FFF2-40B4-BE49-F238E27FC236}">
                <a16:creationId xmlns:a16="http://schemas.microsoft.com/office/drawing/2014/main" id="{E6C2F895-FAD3-C357-437E-9F3D5678C3F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9316634">
            <a:off x="868130" y="2726267"/>
            <a:ext cx="2907334" cy="2907334"/>
          </a:xfrm>
          <a:prstGeom prst="rect">
            <a:avLst/>
          </a:prstGeom>
        </p:spPr>
      </p:pic>
    </p:spTree>
    <p:extLst>
      <p:ext uri="{BB962C8B-B14F-4D97-AF65-F5344CB8AC3E}">
        <p14:creationId xmlns:p14="http://schemas.microsoft.com/office/powerpoint/2010/main" val="3676048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5" grpId="0" animBg="1"/>
      <p:bldP spid="1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3F3F5-D719-B082-7E69-FD2D2C44A84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EFC8DC9-E2DE-A262-98C5-790F6BEF9423}"/>
              </a:ext>
            </a:extLst>
          </p:cNvPr>
          <p:cNvSpPr/>
          <p:nvPr/>
        </p:nvSpPr>
        <p:spPr>
          <a:xfrm>
            <a:off x="517357" y="1992476"/>
            <a:ext cx="3502855" cy="3742004"/>
          </a:xfrm>
          <a:prstGeom prst="rect">
            <a:avLst/>
          </a:prstGeom>
          <a:solidFill>
            <a:srgbClr val="6FD19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FR" sz="2400" dirty="0">
              <a:latin typeface="Poppins" pitchFamily="2" charset="77"/>
              <a:cs typeface="Poppins" pitchFamily="2" charset="77"/>
            </a:endParaRPr>
          </a:p>
        </p:txBody>
      </p:sp>
      <p:sp>
        <p:nvSpPr>
          <p:cNvPr id="2" name="Title 1">
            <a:extLst>
              <a:ext uri="{FF2B5EF4-FFF2-40B4-BE49-F238E27FC236}">
                <a16:creationId xmlns:a16="http://schemas.microsoft.com/office/drawing/2014/main" id="{89D1D8FD-5D2F-0F25-1ED3-524C0919BBB0}"/>
              </a:ext>
            </a:extLst>
          </p:cNvPr>
          <p:cNvSpPr>
            <a:spLocks noGrp="1"/>
          </p:cNvSpPr>
          <p:nvPr>
            <p:ph type="title"/>
          </p:nvPr>
        </p:nvSpPr>
        <p:spPr>
          <a:xfrm>
            <a:off x="1246163" y="58998"/>
            <a:ext cx="10515600" cy="1325563"/>
          </a:xfrm>
        </p:spPr>
        <p:txBody>
          <a:bodyPr>
            <a:normAutofit/>
          </a:bodyPr>
          <a:lstStyle/>
          <a:p>
            <a:r>
              <a:rPr lang="en-FR" sz="2900" b="1" u="sng" dirty="0"/>
              <a:t>Ethical considerations </a:t>
            </a:r>
            <a:br>
              <a:rPr lang="en-FR" dirty="0"/>
            </a:br>
            <a:r>
              <a:rPr lang="en-FR" sz="2000" dirty="0"/>
              <a:t>Assessing the impact of our system</a:t>
            </a:r>
            <a:endParaRPr lang="en-FR" dirty="0"/>
          </a:p>
        </p:txBody>
      </p:sp>
      <p:pic>
        <p:nvPicPr>
          <p:cNvPr id="5" name="Picture 4">
            <a:extLst>
              <a:ext uri="{FF2B5EF4-FFF2-40B4-BE49-F238E27FC236}">
                <a16:creationId xmlns:a16="http://schemas.microsoft.com/office/drawing/2014/main" id="{B5945A73-4276-6A8A-74DB-24014C313273}"/>
              </a:ext>
            </a:extLst>
          </p:cNvPr>
          <p:cNvPicPr>
            <a:picLocks noChangeAspect="1"/>
          </p:cNvPicPr>
          <p:nvPr/>
        </p:nvPicPr>
        <p:blipFill>
          <a:blip r:embed="rId3">
            <a:alphaModFix/>
            <a:extLst>
              <a:ext uri="{BEBA8EAE-BF5A-486C-A8C5-ECC9F3942E4B}">
                <a14:imgProps xmlns:a14="http://schemas.microsoft.com/office/drawing/2010/main">
                  <a14:imgLayer r:embed="rId4">
                    <a14:imgEffect>
                      <a14:artisticPhotocopy/>
                    </a14:imgEffect>
                    <a14:imgEffect>
                      <a14:colorTemperature colorTemp="3831"/>
                    </a14:imgEffect>
                  </a14:imgLayer>
                </a14:imgProps>
              </a:ext>
            </a:extLst>
          </a:blip>
          <a:stretch>
            <a:fillRect/>
          </a:stretch>
        </p:blipFill>
        <p:spPr>
          <a:xfrm>
            <a:off x="145961" y="279131"/>
            <a:ext cx="844389" cy="844389"/>
          </a:xfrm>
          <a:prstGeom prst="rect">
            <a:avLst/>
          </a:prstGeom>
        </p:spPr>
      </p:pic>
      <p:sp>
        <p:nvSpPr>
          <p:cNvPr id="8" name="Rectangle 7">
            <a:extLst>
              <a:ext uri="{FF2B5EF4-FFF2-40B4-BE49-F238E27FC236}">
                <a16:creationId xmlns:a16="http://schemas.microsoft.com/office/drawing/2014/main" id="{16C4FFCC-5526-0A83-3027-34930A6F2C13}"/>
              </a:ext>
            </a:extLst>
          </p:cNvPr>
          <p:cNvSpPr/>
          <p:nvPr/>
        </p:nvSpPr>
        <p:spPr>
          <a:xfrm>
            <a:off x="4536300" y="1992477"/>
            <a:ext cx="6783971" cy="1153059"/>
          </a:xfrm>
          <a:prstGeom prst="rect">
            <a:avLst/>
          </a:prstGeom>
          <a:noFill/>
          <a:ln w="28575">
            <a:solidFill>
              <a:srgbClr val="6FD1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u="sng" dirty="0">
                <a:solidFill>
                  <a:srgbClr val="6FD192"/>
                </a:solidFill>
                <a:latin typeface="Poppins" pitchFamily="2" charset="77"/>
                <a:cs typeface="Poppins" pitchFamily="2" charset="77"/>
              </a:rPr>
              <a:t>About the Ethics of Socio-Emotional </a:t>
            </a:r>
            <a:br>
              <a:rPr lang="en-GB" sz="2000" b="1" u="sng" dirty="0">
                <a:solidFill>
                  <a:srgbClr val="6FD192"/>
                </a:solidFill>
                <a:latin typeface="Poppins" pitchFamily="2" charset="77"/>
                <a:cs typeface="Poppins" pitchFamily="2" charset="77"/>
              </a:rPr>
            </a:br>
            <a:r>
              <a:rPr lang="en-GB" sz="2000" b="1" u="sng" dirty="0">
                <a:solidFill>
                  <a:srgbClr val="6FD192"/>
                </a:solidFill>
                <a:latin typeface="Poppins" pitchFamily="2" charset="77"/>
                <a:cs typeface="Poppins" pitchFamily="2" charset="77"/>
              </a:rPr>
              <a:t>Conversational Models</a:t>
            </a:r>
          </a:p>
        </p:txBody>
      </p:sp>
      <p:sp>
        <p:nvSpPr>
          <p:cNvPr id="9" name="Rectangle 8">
            <a:extLst>
              <a:ext uri="{FF2B5EF4-FFF2-40B4-BE49-F238E27FC236}">
                <a16:creationId xmlns:a16="http://schemas.microsoft.com/office/drawing/2014/main" id="{0D533793-68A3-79F6-107B-ED2F148FEA20}"/>
              </a:ext>
            </a:extLst>
          </p:cNvPr>
          <p:cNvSpPr/>
          <p:nvPr/>
        </p:nvSpPr>
        <p:spPr>
          <a:xfrm>
            <a:off x="4536299" y="3286948"/>
            <a:ext cx="6783971" cy="1153059"/>
          </a:xfrm>
          <a:prstGeom prst="rect">
            <a:avLst/>
          </a:prstGeom>
          <a:noFill/>
          <a:ln w="28575">
            <a:solidFill>
              <a:srgbClr val="6FD1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GB" sz="2000" b="1" u="sng" dirty="0">
                <a:solidFill>
                  <a:srgbClr val="6FD192"/>
                </a:solidFill>
                <a:latin typeface="Poppins" pitchFamily="2" charset="77"/>
                <a:cs typeface="Poppins" pitchFamily="2" charset="77"/>
              </a:rPr>
              <a:t>About the Ethics of Data in AI</a:t>
            </a:r>
            <a:endParaRPr lang="en-FR" sz="2000" b="1" u="sng" dirty="0">
              <a:solidFill>
                <a:srgbClr val="6FD192"/>
              </a:solidFill>
              <a:latin typeface="Poppins" pitchFamily="2" charset="77"/>
              <a:cs typeface="Poppins" pitchFamily="2" charset="77"/>
            </a:endParaRPr>
          </a:p>
        </p:txBody>
      </p:sp>
      <p:sp>
        <p:nvSpPr>
          <p:cNvPr id="12" name="Rectangle 11">
            <a:extLst>
              <a:ext uri="{FF2B5EF4-FFF2-40B4-BE49-F238E27FC236}">
                <a16:creationId xmlns:a16="http://schemas.microsoft.com/office/drawing/2014/main" id="{50A9FE81-1E6A-67BD-5E57-75C4328CDABD}"/>
              </a:ext>
            </a:extLst>
          </p:cNvPr>
          <p:cNvSpPr/>
          <p:nvPr/>
        </p:nvSpPr>
        <p:spPr>
          <a:xfrm>
            <a:off x="4536299" y="4582059"/>
            <a:ext cx="6783971" cy="1153059"/>
          </a:xfrm>
          <a:prstGeom prst="rect">
            <a:avLst/>
          </a:prstGeom>
          <a:noFill/>
          <a:ln w="28575">
            <a:solidFill>
              <a:srgbClr val="6FD1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GB" sz="2000" b="1" u="sng" dirty="0">
                <a:solidFill>
                  <a:srgbClr val="6FD192"/>
                </a:solidFill>
                <a:latin typeface="Poppins" pitchFamily="2" charset="77"/>
                <a:cs typeface="Poppins" pitchFamily="2" charset="77"/>
              </a:rPr>
              <a:t>About the Ethics of Socio-Emotional Systems </a:t>
            </a:r>
            <a:br>
              <a:rPr lang="en-GB" sz="2000" b="1" u="sng" dirty="0">
                <a:solidFill>
                  <a:srgbClr val="6FD192"/>
                </a:solidFill>
                <a:latin typeface="Poppins" pitchFamily="2" charset="77"/>
                <a:cs typeface="Poppins" pitchFamily="2" charset="77"/>
              </a:rPr>
            </a:br>
            <a:r>
              <a:rPr lang="en-GB" sz="2000" b="1" u="sng" dirty="0">
                <a:solidFill>
                  <a:srgbClr val="6FD192"/>
                </a:solidFill>
                <a:latin typeface="Poppins" pitchFamily="2" charset="77"/>
                <a:cs typeface="Poppins" pitchFamily="2" charset="77"/>
              </a:rPr>
              <a:t>in the Industry</a:t>
            </a:r>
            <a:endParaRPr lang="en-GB" sz="2000" dirty="0">
              <a:solidFill>
                <a:srgbClr val="6FD192"/>
              </a:solidFill>
              <a:latin typeface="Poppins" pitchFamily="2" charset="77"/>
              <a:cs typeface="Poppins" pitchFamily="2" charset="77"/>
            </a:endParaRPr>
          </a:p>
        </p:txBody>
      </p:sp>
      <p:pic>
        <p:nvPicPr>
          <p:cNvPr id="3" name="Graphic 2" descr="Weights Uneven with solid fill">
            <a:extLst>
              <a:ext uri="{FF2B5EF4-FFF2-40B4-BE49-F238E27FC236}">
                <a16:creationId xmlns:a16="http://schemas.microsoft.com/office/drawing/2014/main" id="{5A352BD7-D209-3ABC-FED5-9E37531EFC9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5145" y="2253517"/>
            <a:ext cx="3307278" cy="3307278"/>
          </a:xfrm>
          <a:prstGeom prst="rect">
            <a:avLst/>
          </a:prstGeom>
        </p:spPr>
      </p:pic>
    </p:spTree>
    <p:extLst>
      <p:ext uri="{BB962C8B-B14F-4D97-AF65-F5344CB8AC3E}">
        <p14:creationId xmlns:p14="http://schemas.microsoft.com/office/powerpoint/2010/main" val="3728887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5E51A-1E5E-0475-E7CA-50CD4FF5700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A0FAB1E-0F8E-6D73-241F-83F769D43459}"/>
              </a:ext>
            </a:extLst>
          </p:cNvPr>
          <p:cNvSpPr txBox="1"/>
          <p:nvPr/>
        </p:nvSpPr>
        <p:spPr>
          <a:xfrm>
            <a:off x="5296363" y="2771668"/>
            <a:ext cx="6631867" cy="3416320"/>
          </a:xfrm>
          <a:prstGeom prst="rect">
            <a:avLst/>
          </a:prstGeom>
          <a:noFill/>
        </p:spPr>
        <p:txBody>
          <a:bodyPr wrap="square" lIns="91440" tIns="45720" rIns="91440" bIns="45720" anchor="t">
            <a:spAutoFit/>
          </a:bodyPr>
          <a:lstStyle/>
          <a:p>
            <a:pPr algn="ctr"/>
            <a:r>
              <a:rPr lang="en-FR" sz="7200" dirty="0">
                <a:ln>
                  <a:solidFill>
                    <a:srgbClr val="4B85F4">
                      <a:alpha val="10000"/>
                    </a:srgbClr>
                  </a:solidFill>
                </a:ln>
                <a:solidFill>
                  <a:schemeClr val="bg1"/>
                </a:solidFill>
                <a:latin typeface="Poppins"/>
                <a:cs typeface="Poppins"/>
              </a:rPr>
              <a:t>Thank you </a:t>
            </a:r>
            <a:br>
              <a:rPr lang="en-FR" sz="7200" dirty="0">
                <a:ln>
                  <a:solidFill>
                    <a:srgbClr val="4B85F4">
                      <a:alpha val="10000"/>
                    </a:srgbClr>
                  </a:solidFill>
                </a:ln>
                <a:solidFill>
                  <a:schemeClr val="bg1"/>
                </a:solidFill>
                <a:latin typeface="Poppins"/>
                <a:cs typeface="Poppins"/>
              </a:rPr>
            </a:br>
            <a:r>
              <a:rPr lang="en-FR" sz="7200" dirty="0">
                <a:ln>
                  <a:solidFill>
                    <a:srgbClr val="4B85F4">
                      <a:alpha val="10000"/>
                    </a:srgbClr>
                  </a:solidFill>
                </a:ln>
                <a:solidFill>
                  <a:schemeClr val="bg1"/>
                </a:solidFill>
                <a:latin typeface="Poppins"/>
                <a:cs typeface="Poppins"/>
              </a:rPr>
              <a:t>for your attention</a:t>
            </a:r>
          </a:p>
        </p:txBody>
      </p:sp>
      <p:pic>
        <p:nvPicPr>
          <p:cNvPr id="4" name="Graphic 3" descr="Flower without stem with solid fill">
            <a:extLst>
              <a:ext uri="{FF2B5EF4-FFF2-40B4-BE49-F238E27FC236}">
                <a16:creationId xmlns:a16="http://schemas.microsoft.com/office/drawing/2014/main" id="{82001762-A5C4-F6D6-B6A3-F70D908E0E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1996" y="1717819"/>
            <a:ext cx="5334049" cy="5334049"/>
          </a:xfrm>
          <a:prstGeom prst="rect">
            <a:avLst/>
          </a:prstGeom>
        </p:spPr>
      </p:pic>
      <p:pic>
        <p:nvPicPr>
          <p:cNvPr id="5" name="Graphic 4" descr="Flower without stem with solid fill">
            <a:extLst>
              <a:ext uri="{FF2B5EF4-FFF2-40B4-BE49-F238E27FC236}">
                <a16:creationId xmlns:a16="http://schemas.microsoft.com/office/drawing/2014/main" id="{E8790130-C776-C7FD-F9FA-9B18F8DFE3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1282140">
            <a:off x="1616346" y="-342806"/>
            <a:ext cx="3309972" cy="3309972"/>
          </a:xfrm>
          <a:prstGeom prst="rect">
            <a:avLst/>
          </a:prstGeom>
        </p:spPr>
      </p:pic>
      <p:pic>
        <p:nvPicPr>
          <p:cNvPr id="6" name="Graphic 5" descr="Flower without stem with solid fill">
            <a:extLst>
              <a:ext uri="{FF2B5EF4-FFF2-40B4-BE49-F238E27FC236}">
                <a16:creationId xmlns:a16="http://schemas.microsoft.com/office/drawing/2014/main" id="{92176EEC-5597-3DCA-AEA7-7F75B8A2C5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1282140">
            <a:off x="3702943" y="1709815"/>
            <a:ext cx="2123706" cy="2123706"/>
          </a:xfrm>
          <a:prstGeom prst="rect">
            <a:avLst/>
          </a:prstGeom>
        </p:spPr>
      </p:pic>
    </p:spTree>
    <p:extLst>
      <p:ext uri="{BB962C8B-B14F-4D97-AF65-F5344CB8AC3E}">
        <p14:creationId xmlns:p14="http://schemas.microsoft.com/office/powerpoint/2010/main" val="12299842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E9D2F-EEE6-F409-B74E-34B68BC33A6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3DEA1B5-57D4-392E-E10D-9F3B75671BC8}"/>
              </a:ext>
            </a:extLst>
          </p:cNvPr>
          <p:cNvSpPr>
            <a:spLocks noGrp="1"/>
          </p:cNvSpPr>
          <p:nvPr>
            <p:ph type="subTitle" idx="4294967295"/>
          </p:nvPr>
        </p:nvSpPr>
        <p:spPr>
          <a:xfrm>
            <a:off x="-1" y="2979545"/>
            <a:ext cx="12192000" cy="622921"/>
          </a:xfrm>
        </p:spPr>
        <p:txBody>
          <a:bodyPr>
            <a:normAutofit/>
          </a:bodyPr>
          <a:lstStyle/>
          <a:p>
            <a:pPr marL="0" indent="0" algn="ctr">
              <a:buNone/>
            </a:pPr>
            <a:r>
              <a:rPr lang="en-FR" sz="2000" i="1" dirty="0"/>
              <a:t>Defended by Lorraine Vanel on July 8th</a:t>
            </a:r>
          </a:p>
        </p:txBody>
      </p:sp>
      <p:sp>
        <p:nvSpPr>
          <p:cNvPr id="6" name="Title 5">
            <a:extLst>
              <a:ext uri="{FF2B5EF4-FFF2-40B4-BE49-F238E27FC236}">
                <a16:creationId xmlns:a16="http://schemas.microsoft.com/office/drawing/2014/main" id="{FE451781-E74A-2470-5200-6BEA92A0912E}"/>
              </a:ext>
            </a:extLst>
          </p:cNvPr>
          <p:cNvSpPr>
            <a:spLocks noGrp="1"/>
          </p:cNvSpPr>
          <p:nvPr>
            <p:ph type="ctrTitle" idx="4294967295"/>
          </p:nvPr>
        </p:nvSpPr>
        <p:spPr>
          <a:xfrm>
            <a:off x="-1" y="1038494"/>
            <a:ext cx="12191999" cy="1957388"/>
          </a:xfrm>
        </p:spPr>
        <p:txBody>
          <a:bodyPr>
            <a:normAutofit/>
          </a:bodyPr>
          <a:lstStyle/>
          <a:p>
            <a:pPr algn="ctr"/>
            <a:r>
              <a:rPr lang="en-GB" sz="3200" dirty="0">
                <a:latin typeface="Poppins"/>
                <a:ea typeface="+mj-lt"/>
                <a:cs typeface="+mj-lt"/>
              </a:rPr>
              <a:t>Planning Socio-Emotional </a:t>
            </a:r>
            <a:br>
              <a:rPr lang="en-GB" sz="3200" dirty="0">
                <a:latin typeface="Poppins"/>
                <a:ea typeface="+mj-lt"/>
                <a:cs typeface="+mj-lt"/>
              </a:rPr>
            </a:br>
            <a:r>
              <a:rPr lang="en-GB" sz="3200" dirty="0">
                <a:latin typeface="Poppins"/>
                <a:ea typeface="+mj-lt"/>
                <a:cs typeface="+mj-lt"/>
              </a:rPr>
              <a:t>Response Generation </a:t>
            </a:r>
            <a:br>
              <a:rPr lang="en-GB" sz="3200" dirty="0">
                <a:latin typeface="Poppins"/>
                <a:ea typeface="+mj-lt"/>
                <a:cs typeface="+mj-lt"/>
              </a:rPr>
            </a:br>
            <a:r>
              <a:rPr lang="en-GB" sz="3200" dirty="0">
                <a:latin typeface="Poppins"/>
                <a:ea typeface="+mj-lt"/>
                <a:cs typeface="+mj-lt"/>
              </a:rPr>
              <a:t>for Conversational Agents</a:t>
            </a:r>
            <a:endParaRPr lang="fr-FR" sz="3200" dirty="0">
              <a:latin typeface="Poppins"/>
            </a:endParaRPr>
          </a:p>
        </p:txBody>
      </p:sp>
      <p:cxnSp>
        <p:nvCxnSpPr>
          <p:cNvPr id="8" name="Straight Connector 7">
            <a:extLst>
              <a:ext uri="{FF2B5EF4-FFF2-40B4-BE49-F238E27FC236}">
                <a16:creationId xmlns:a16="http://schemas.microsoft.com/office/drawing/2014/main" id="{1E5A18D4-DAD7-FFA8-2F01-CF125AA9872D}"/>
              </a:ext>
            </a:extLst>
          </p:cNvPr>
          <p:cNvCxnSpPr/>
          <p:nvPr/>
        </p:nvCxnSpPr>
        <p:spPr>
          <a:xfrm>
            <a:off x="2071433" y="2836227"/>
            <a:ext cx="8049127" cy="0"/>
          </a:xfrm>
          <a:prstGeom prst="line">
            <a:avLst/>
          </a:prstGeom>
          <a:ln w="28575">
            <a:solidFill>
              <a:srgbClr val="4B85F4"/>
            </a:solidFill>
          </a:ln>
        </p:spPr>
        <p:style>
          <a:lnRef idx="1">
            <a:schemeClr val="accent1"/>
          </a:lnRef>
          <a:fillRef idx="0">
            <a:schemeClr val="accent1"/>
          </a:fillRef>
          <a:effectRef idx="0">
            <a:schemeClr val="accent1"/>
          </a:effectRef>
          <a:fontRef idx="minor">
            <a:schemeClr val="tx1"/>
          </a:fontRef>
        </p:style>
      </p:cxnSp>
      <p:pic>
        <p:nvPicPr>
          <p:cNvPr id="4" name="Picture 3" descr="Logo&#10;&#10;Description automatically generated">
            <a:extLst>
              <a:ext uri="{FF2B5EF4-FFF2-40B4-BE49-F238E27FC236}">
                <a16:creationId xmlns:a16="http://schemas.microsoft.com/office/drawing/2014/main" id="{C31AC1E5-CB7A-A2A9-51B7-B779295A76A0}"/>
              </a:ext>
            </a:extLst>
          </p:cNvPr>
          <p:cNvPicPr>
            <a:picLocks noChangeAspect="1"/>
          </p:cNvPicPr>
          <p:nvPr/>
        </p:nvPicPr>
        <p:blipFill>
          <a:blip r:embed="rId3"/>
          <a:srcRect l="9984" t="17485" r="7790" b="16667"/>
          <a:stretch>
            <a:fillRect/>
          </a:stretch>
        </p:blipFill>
        <p:spPr>
          <a:xfrm>
            <a:off x="206829" y="184315"/>
            <a:ext cx="2984915" cy="1159328"/>
          </a:xfrm>
          <a:prstGeom prst="rect">
            <a:avLst/>
          </a:prstGeom>
          <a:ln>
            <a:noFill/>
          </a:ln>
        </p:spPr>
      </p:pic>
      <p:pic>
        <p:nvPicPr>
          <p:cNvPr id="1026" name="Picture 2" descr="Télécom Paris — Wikipédia">
            <a:extLst>
              <a:ext uri="{FF2B5EF4-FFF2-40B4-BE49-F238E27FC236}">
                <a16:creationId xmlns:a16="http://schemas.microsoft.com/office/drawing/2014/main" id="{8FBBC91D-D12B-9736-D98D-FF60910D7D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18087" y="184315"/>
            <a:ext cx="1367084" cy="21475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nria - Institut National de Recherche en sciences et technologies du  numérique - Amcsti">
            <a:extLst>
              <a:ext uri="{FF2B5EF4-FFF2-40B4-BE49-F238E27FC236}">
                <a16:creationId xmlns:a16="http://schemas.microsoft.com/office/drawing/2014/main" id="{F8CCE479-3AC3-6E1D-28C7-F98931FF65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6898" y="184315"/>
            <a:ext cx="2283056" cy="80349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Table 9">
            <a:extLst>
              <a:ext uri="{FF2B5EF4-FFF2-40B4-BE49-F238E27FC236}">
                <a16:creationId xmlns:a16="http://schemas.microsoft.com/office/drawing/2014/main" id="{D1B61D03-4767-55A0-B17B-26B85B00D3C3}"/>
              </a:ext>
            </a:extLst>
          </p:cNvPr>
          <p:cNvGraphicFramePr>
            <a:graphicFrameLocks noGrp="1"/>
          </p:cNvGraphicFramePr>
          <p:nvPr>
            <p:extLst>
              <p:ext uri="{D42A27DB-BD31-4B8C-83A1-F6EECF244321}">
                <p14:modId xmlns:p14="http://schemas.microsoft.com/office/powerpoint/2010/main" val="2945162102"/>
              </p:ext>
            </p:extLst>
          </p:nvPr>
        </p:nvGraphicFramePr>
        <p:xfrm>
          <a:off x="788200" y="3823805"/>
          <a:ext cx="11020453" cy="2849880"/>
        </p:xfrm>
        <a:graphic>
          <a:graphicData uri="http://schemas.openxmlformats.org/drawingml/2006/table">
            <a:tbl>
              <a:tblPr>
                <a:tableStyleId>{5C22544A-7EE6-4342-B048-85BDC9FD1C3A}</a:tableStyleId>
              </a:tblPr>
              <a:tblGrid>
                <a:gridCol w="1678339">
                  <a:extLst>
                    <a:ext uri="{9D8B030D-6E8A-4147-A177-3AD203B41FA5}">
                      <a16:colId xmlns:a16="http://schemas.microsoft.com/office/drawing/2014/main" val="561806802"/>
                    </a:ext>
                  </a:extLst>
                </a:gridCol>
                <a:gridCol w="9342114">
                  <a:extLst>
                    <a:ext uri="{9D8B030D-6E8A-4147-A177-3AD203B41FA5}">
                      <a16:colId xmlns:a16="http://schemas.microsoft.com/office/drawing/2014/main" val="2940642070"/>
                    </a:ext>
                  </a:extLst>
                </a:gridCol>
              </a:tblGrid>
              <a:tr h="370840">
                <a:tc rowSpan="2">
                  <a:txBody>
                    <a:bodyPr/>
                    <a:lstStyle/>
                    <a:p>
                      <a:pPr algn="l"/>
                      <a:r>
                        <a:rPr lang="en-FR" sz="1600" b="1" dirty="0">
                          <a:solidFill>
                            <a:srgbClr val="4B84F4"/>
                          </a:solidFill>
                          <a:latin typeface="Poppins" pitchFamily="2" charset="77"/>
                          <a:cs typeface="Poppins" pitchFamily="2" charset="77"/>
                        </a:rPr>
                        <a:t>Reviewers</a:t>
                      </a:r>
                    </a:p>
                  </a:txBody>
                  <a:tcPr>
                    <a:noFill/>
                  </a:tcPr>
                </a:tc>
                <a:tc>
                  <a:txBody>
                    <a:bodyPr/>
                    <a:lstStyle/>
                    <a:p>
                      <a:pPr algn="l"/>
                      <a:endParaRPr lang="fr-FR" sz="1600" i="1" dirty="0">
                        <a:latin typeface="Poppins" pitchFamily="2" charset="77"/>
                        <a:ea typeface="Calibri"/>
                        <a:cs typeface="Poppins" pitchFamily="2" charset="77"/>
                      </a:endParaRPr>
                    </a:p>
                    <a:p>
                      <a:pPr algn="l"/>
                      <a:r>
                        <a:rPr lang="fr-FR" sz="1600" i="1" dirty="0">
                          <a:latin typeface="Poppins" pitchFamily="2" charset="77"/>
                          <a:ea typeface="Calibri"/>
                          <a:cs typeface="Poppins" pitchFamily="2" charset="77"/>
                        </a:rPr>
                        <a:t>Magalie Ochs ……………………………………………………… Professor at Aix Marseille Université</a:t>
                      </a:r>
                      <a:endParaRPr lang="en-FR" sz="1600" dirty="0">
                        <a:latin typeface="Poppins" pitchFamily="2" charset="77"/>
                        <a:cs typeface="Poppins" pitchFamily="2" charset="77"/>
                      </a:endParaRPr>
                    </a:p>
                  </a:txBody>
                  <a:tcPr anchor="ctr">
                    <a:noFill/>
                  </a:tcPr>
                </a:tc>
                <a:extLst>
                  <a:ext uri="{0D108BD9-81ED-4DB2-BD59-A6C34878D82A}">
                    <a16:rowId xmlns:a16="http://schemas.microsoft.com/office/drawing/2014/main" val="3068132312"/>
                  </a:ext>
                </a:extLst>
              </a:tr>
              <a:tr h="370840">
                <a:tc vMerge="1">
                  <a:txBody>
                    <a:bodyPr/>
                    <a:lstStyle/>
                    <a:p>
                      <a:endParaRPr lang="en-FR" dirty="0"/>
                    </a:p>
                  </a:txBody>
                  <a:tcPr/>
                </a:tc>
                <a:tc>
                  <a:txBody>
                    <a:bodyPr/>
                    <a:lstStyle/>
                    <a:p>
                      <a:pPr marL="0" algn="l" defTabSz="914400" rtl="0" eaLnBrk="1" latinLnBrk="0" hangingPunct="1"/>
                      <a:r>
                        <a:rPr lang="en-FR" sz="1600" i="1" kern="1200" dirty="0">
                          <a:solidFill>
                            <a:schemeClr val="dk1"/>
                          </a:solidFill>
                          <a:latin typeface="Poppins" pitchFamily="2" charset="77"/>
                          <a:cs typeface="Poppins" pitchFamily="2" charset="77"/>
                        </a:rPr>
                        <a:t>Lina Maria Rojas Barahona…………………………. </a:t>
                      </a:r>
                      <a:r>
                        <a:rPr lang="en-GB" sz="1600" i="1" kern="1200" dirty="0">
                          <a:solidFill>
                            <a:schemeClr val="dk1"/>
                          </a:solidFill>
                          <a:latin typeface="Poppins" pitchFamily="2" charset="77"/>
                          <a:cs typeface="Poppins" pitchFamily="2" charset="77"/>
                        </a:rPr>
                        <a:t>Senior Research Scientist at Orange</a:t>
                      </a:r>
                      <a:endParaRPr lang="en-FR" sz="1600" i="1" kern="1200" dirty="0">
                        <a:solidFill>
                          <a:schemeClr val="dk1"/>
                        </a:solidFill>
                        <a:latin typeface="Poppins" pitchFamily="2" charset="77"/>
                        <a:cs typeface="Poppins" pitchFamily="2" charset="77"/>
                      </a:endParaRPr>
                    </a:p>
                  </a:txBody>
                  <a:tcPr anchor="ctr">
                    <a:noFill/>
                  </a:tcPr>
                </a:tc>
                <a:extLst>
                  <a:ext uri="{0D108BD9-81ED-4DB2-BD59-A6C34878D82A}">
                    <a16:rowId xmlns:a16="http://schemas.microsoft.com/office/drawing/2014/main" val="1826611207"/>
                  </a:ext>
                </a:extLst>
              </a:tr>
              <a:tr h="370840">
                <a:tc rowSpan="2">
                  <a:txBody>
                    <a:bodyPr/>
                    <a:lstStyle/>
                    <a:p>
                      <a:pPr algn="l"/>
                      <a:r>
                        <a:rPr lang="en-FR" sz="1600" b="1" i="0" dirty="0">
                          <a:solidFill>
                            <a:srgbClr val="4B84F4"/>
                          </a:solidFill>
                          <a:latin typeface="Poppins" pitchFamily="2" charset="77"/>
                          <a:ea typeface="Calibri"/>
                          <a:cs typeface="Poppins" pitchFamily="2" charset="77"/>
                        </a:rPr>
                        <a:t>Examiners</a:t>
                      </a:r>
                    </a:p>
                  </a:txBody>
                  <a:tcPr>
                    <a:noFill/>
                  </a:tcPr>
                </a:tc>
                <a:tc>
                  <a:txBody>
                    <a:bodyPr/>
                    <a:lstStyle/>
                    <a:p>
                      <a:pPr marL="0" algn="l" defTabSz="914400" rtl="0" eaLnBrk="1" latinLnBrk="0" hangingPunct="1"/>
                      <a:endParaRPr lang="en-FR" sz="1600" i="1" dirty="0">
                        <a:latin typeface="Poppins" pitchFamily="2" charset="77"/>
                        <a:ea typeface="Calibri"/>
                        <a:cs typeface="Poppins" pitchFamily="2" charset="77"/>
                      </a:endParaRPr>
                    </a:p>
                    <a:p>
                      <a:pPr marL="0" algn="l" defTabSz="914400" rtl="0" eaLnBrk="1" latinLnBrk="0" hangingPunct="1"/>
                      <a:r>
                        <a:rPr lang="en-FR" sz="1600" i="1" dirty="0">
                          <a:latin typeface="Poppins" pitchFamily="2" charset="77"/>
                          <a:ea typeface="Calibri"/>
                          <a:cs typeface="Poppins" pitchFamily="2" charset="77"/>
                        </a:rPr>
                        <a:t>Fabrice Lefèvre</a:t>
                      </a:r>
                      <a:r>
                        <a:rPr lang="fr-FR" sz="1600" i="1" dirty="0">
                          <a:latin typeface="Poppins" pitchFamily="2" charset="77"/>
                          <a:ea typeface="Calibri"/>
                          <a:cs typeface="Poppins" pitchFamily="2" charset="77"/>
                        </a:rPr>
                        <a:t> ………………………………………………….. Professor at Avignon Université</a:t>
                      </a:r>
                      <a:endParaRPr lang="en-FR" sz="1600" i="1" kern="1200" dirty="0">
                        <a:solidFill>
                          <a:schemeClr val="dk1"/>
                        </a:solidFill>
                        <a:latin typeface="Poppins" pitchFamily="2" charset="77"/>
                        <a:cs typeface="Poppins" pitchFamily="2" charset="77"/>
                      </a:endParaRPr>
                    </a:p>
                  </a:txBody>
                  <a:tcPr anchor="ctr">
                    <a:noFill/>
                  </a:tcPr>
                </a:tc>
                <a:extLst>
                  <a:ext uri="{0D108BD9-81ED-4DB2-BD59-A6C34878D82A}">
                    <a16:rowId xmlns:a16="http://schemas.microsoft.com/office/drawing/2014/main" val="2771860142"/>
                  </a:ext>
                </a:extLst>
              </a:tr>
              <a:tr h="370840">
                <a:tc vMerge="1">
                  <a:txBody>
                    <a:bodyPr/>
                    <a:lstStyle/>
                    <a:p>
                      <a:endParaRPr lang="en-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FR" sz="1600" i="1" dirty="0">
                          <a:latin typeface="Poppins" pitchFamily="2" charset="77"/>
                          <a:ea typeface="Calibri"/>
                          <a:cs typeface="Poppins" pitchFamily="2" charset="77"/>
                        </a:rPr>
                        <a:t>Jonathan Gratch</a:t>
                      </a:r>
                      <a:r>
                        <a:rPr lang="fr-FR" sz="1600" i="1" dirty="0">
                          <a:latin typeface="Poppins" pitchFamily="2" charset="77"/>
                          <a:ea typeface="Calibri"/>
                          <a:cs typeface="Poppins" pitchFamily="2" charset="77"/>
                        </a:rPr>
                        <a:t> ……………………………………………… Professor at </a:t>
                      </a:r>
                      <a:r>
                        <a:rPr lang="fr-FR" sz="1600" i="1" dirty="0" err="1">
                          <a:latin typeface="Poppins" pitchFamily="2" charset="77"/>
                          <a:ea typeface="Calibri"/>
                          <a:cs typeface="Poppins" pitchFamily="2" charset="77"/>
                        </a:rPr>
                        <a:t>University</a:t>
                      </a:r>
                      <a:r>
                        <a:rPr lang="fr-FR" sz="1600" i="1" dirty="0">
                          <a:latin typeface="Poppins" pitchFamily="2" charset="77"/>
                          <a:ea typeface="Calibri"/>
                          <a:cs typeface="Poppins" pitchFamily="2" charset="77"/>
                        </a:rPr>
                        <a:t> of </a:t>
                      </a:r>
                      <a:r>
                        <a:rPr lang="fr-FR" sz="1600" i="1" dirty="0" err="1">
                          <a:latin typeface="Poppins" pitchFamily="2" charset="77"/>
                          <a:ea typeface="Calibri"/>
                          <a:cs typeface="Poppins" pitchFamily="2" charset="77"/>
                        </a:rPr>
                        <a:t>Southern</a:t>
                      </a:r>
                      <a:r>
                        <a:rPr lang="fr-FR" sz="1600" i="1" dirty="0">
                          <a:latin typeface="Poppins" pitchFamily="2" charset="77"/>
                          <a:ea typeface="Calibri"/>
                          <a:cs typeface="Poppins" pitchFamily="2" charset="77"/>
                        </a:rPr>
                        <a:t> California</a:t>
                      </a:r>
                      <a:endParaRPr lang="en-FR" sz="1600" i="1" dirty="0">
                        <a:latin typeface="Poppins" pitchFamily="2" charset="77"/>
                        <a:ea typeface="Calibri"/>
                        <a:cs typeface="Poppins" pitchFamily="2" charset="77"/>
                      </a:endParaRPr>
                    </a:p>
                  </a:txBody>
                  <a:tcPr anchor="ctr">
                    <a:noFill/>
                  </a:tcPr>
                </a:tc>
                <a:extLst>
                  <a:ext uri="{0D108BD9-81ED-4DB2-BD59-A6C34878D82A}">
                    <a16:rowId xmlns:a16="http://schemas.microsoft.com/office/drawing/2014/main" val="473234955"/>
                  </a:ext>
                </a:extLst>
              </a:tr>
              <a:tr h="370840">
                <a:tc rowSpan="2">
                  <a:txBody>
                    <a:bodyPr/>
                    <a:lstStyle/>
                    <a:p>
                      <a:pPr algn="l"/>
                      <a:r>
                        <a:rPr lang="en-FR" sz="1600" b="1" dirty="0">
                          <a:solidFill>
                            <a:srgbClr val="4B84F4"/>
                          </a:solidFill>
                          <a:latin typeface="Poppins" pitchFamily="2" charset="77"/>
                          <a:cs typeface="Poppins" pitchFamily="2" charset="77"/>
                        </a:rPr>
                        <a:t>PhD Direction</a:t>
                      </a:r>
                    </a:p>
                  </a:txBody>
                  <a:tcPr>
                    <a:noFill/>
                  </a:tcPr>
                </a:tc>
                <a:tc>
                  <a:txBody>
                    <a:bodyPr/>
                    <a:lstStyle/>
                    <a:p>
                      <a:pPr algn="l"/>
                      <a:endParaRPr lang="en-FR" sz="1600" i="1" dirty="0">
                        <a:latin typeface="Poppins" pitchFamily="2" charset="77"/>
                        <a:ea typeface="Calibri"/>
                        <a:cs typeface="Poppins" pitchFamily="2" charset="77"/>
                      </a:endParaRPr>
                    </a:p>
                    <a:p>
                      <a:pPr algn="l"/>
                      <a:r>
                        <a:rPr lang="en-FR" sz="1600" i="1" dirty="0">
                          <a:latin typeface="Poppins" pitchFamily="2" charset="77"/>
                          <a:ea typeface="Calibri"/>
                          <a:cs typeface="Poppins" pitchFamily="2" charset="77"/>
                        </a:rPr>
                        <a:t>Chloé Clavel</a:t>
                      </a:r>
                      <a:r>
                        <a:rPr lang="fr-FR" sz="1600" i="1" dirty="0">
                          <a:latin typeface="Poppins" pitchFamily="2" charset="77"/>
                          <a:ea typeface="Calibri"/>
                          <a:cs typeface="Poppins" pitchFamily="2" charset="77"/>
                        </a:rPr>
                        <a:t> ………………………………………………………… PhD </a:t>
                      </a:r>
                      <a:r>
                        <a:rPr lang="fr-FR" sz="1600" i="1" dirty="0" err="1">
                          <a:latin typeface="Poppins" pitchFamily="2" charset="77"/>
                          <a:ea typeface="Calibri"/>
                          <a:cs typeface="Poppins" pitchFamily="2" charset="77"/>
                        </a:rPr>
                        <a:t>Director</a:t>
                      </a:r>
                      <a:r>
                        <a:rPr lang="fr-FR" sz="1600" i="1" dirty="0">
                          <a:latin typeface="Poppins" pitchFamily="2" charset="77"/>
                          <a:ea typeface="Calibri"/>
                          <a:cs typeface="Poppins" pitchFamily="2" charset="77"/>
                        </a:rPr>
                        <a:t>, </a:t>
                      </a:r>
                      <a:r>
                        <a:rPr lang="en-GB" sz="1600" i="1" kern="1200" dirty="0">
                          <a:solidFill>
                            <a:schemeClr val="dk1"/>
                          </a:solidFill>
                          <a:latin typeface="Poppins" pitchFamily="2" charset="77"/>
                          <a:cs typeface="Poppins" pitchFamily="2" charset="77"/>
                        </a:rPr>
                        <a:t>Senior Researcher</a:t>
                      </a:r>
                      <a:r>
                        <a:rPr lang="fr-FR" sz="1600" i="1" dirty="0">
                          <a:latin typeface="Poppins" pitchFamily="2" charset="77"/>
                          <a:ea typeface="Calibri"/>
                          <a:cs typeface="Poppins" pitchFamily="2" charset="77"/>
                        </a:rPr>
                        <a:t> at Inria Paris </a:t>
                      </a:r>
                      <a:endParaRPr lang="en-FR" sz="1600" i="1" dirty="0">
                        <a:latin typeface="Poppins" pitchFamily="2" charset="77"/>
                        <a:ea typeface="Calibri"/>
                        <a:cs typeface="Poppins" pitchFamily="2" charset="77"/>
                      </a:endParaRPr>
                    </a:p>
                  </a:txBody>
                  <a:tcPr anchor="ctr">
                    <a:noFill/>
                  </a:tcPr>
                </a:tc>
                <a:extLst>
                  <a:ext uri="{0D108BD9-81ED-4DB2-BD59-A6C34878D82A}">
                    <a16:rowId xmlns:a16="http://schemas.microsoft.com/office/drawing/2014/main" val="4105815875"/>
                  </a:ext>
                </a:extLst>
              </a:tr>
              <a:tr h="370840">
                <a:tc vMerge="1">
                  <a:txBody>
                    <a:bodyPr/>
                    <a:lstStyle/>
                    <a:p>
                      <a:endParaRPr lang="en-FR" dirty="0"/>
                    </a:p>
                  </a:txBody>
                  <a:tcPr/>
                </a:tc>
                <a:tc>
                  <a:txBody>
                    <a:bodyPr/>
                    <a:lstStyle/>
                    <a:p>
                      <a:pPr marL="0" algn="l" defTabSz="914400" rtl="0" eaLnBrk="1" latinLnBrk="0" hangingPunct="1"/>
                      <a:r>
                        <a:rPr lang="en-FR" sz="1600" i="1" dirty="0">
                          <a:latin typeface="Poppins" pitchFamily="2" charset="77"/>
                          <a:ea typeface="Calibri"/>
                          <a:cs typeface="Poppins" pitchFamily="2" charset="77"/>
                        </a:rPr>
                        <a:t>Alya Yacoubi</a:t>
                      </a:r>
                      <a:r>
                        <a:rPr lang="fr-FR" sz="1600" i="1" dirty="0">
                          <a:latin typeface="Poppins" pitchFamily="2" charset="77"/>
                          <a:ea typeface="Calibri"/>
                          <a:cs typeface="Poppins" pitchFamily="2" charset="77"/>
                        </a:rPr>
                        <a:t> ……………………………………………………….. PhD Co-</a:t>
                      </a:r>
                      <a:r>
                        <a:rPr lang="fr-FR" sz="1600" i="1" dirty="0" err="1">
                          <a:latin typeface="Poppins" pitchFamily="2" charset="77"/>
                          <a:ea typeface="Calibri"/>
                          <a:cs typeface="Poppins" pitchFamily="2" charset="77"/>
                        </a:rPr>
                        <a:t>Supervisor</a:t>
                      </a:r>
                      <a:r>
                        <a:rPr lang="fr-FR" sz="1600" i="1" dirty="0">
                          <a:latin typeface="Poppins" pitchFamily="2" charset="77"/>
                          <a:ea typeface="Calibri"/>
                          <a:cs typeface="Poppins" pitchFamily="2" charset="77"/>
                        </a:rPr>
                        <a:t>, </a:t>
                      </a:r>
                      <a:r>
                        <a:rPr lang="fr-FR" sz="1600" i="1" dirty="0" err="1">
                          <a:latin typeface="Poppins" pitchFamily="2" charset="77"/>
                          <a:ea typeface="Calibri"/>
                          <a:cs typeface="Poppins" pitchFamily="2" charset="77"/>
                        </a:rPr>
                        <a:t>Zaion</a:t>
                      </a:r>
                      <a:r>
                        <a:rPr lang="fr-FR" sz="1600" i="1" dirty="0">
                          <a:latin typeface="Poppins" pitchFamily="2" charset="77"/>
                          <a:ea typeface="Calibri"/>
                          <a:cs typeface="Poppins" pitchFamily="2" charset="77"/>
                        </a:rPr>
                        <a:t> </a:t>
                      </a:r>
                      <a:r>
                        <a:rPr lang="fr-FR" sz="1600" i="1" dirty="0" err="1">
                          <a:latin typeface="Poppins" pitchFamily="2" charset="77"/>
                          <a:ea typeface="Calibri"/>
                          <a:cs typeface="Poppins" pitchFamily="2" charset="77"/>
                        </a:rPr>
                        <a:t>Lab</a:t>
                      </a:r>
                      <a:endParaRPr lang="en-FR" sz="1600" i="1" kern="1200" dirty="0">
                        <a:solidFill>
                          <a:schemeClr val="dk1"/>
                        </a:solidFill>
                        <a:latin typeface="Poppins" pitchFamily="2" charset="77"/>
                        <a:cs typeface="Poppins" pitchFamily="2" charset="77"/>
                      </a:endParaRPr>
                    </a:p>
                  </a:txBody>
                  <a:tcPr anchor="ctr">
                    <a:noFill/>
                  </a:tcPr>
                </a:tc>
                <a:extLst>
                  <a:ext uri="{0D108BD9-81ED-4DB2-BD59-A6C34878D82A}">
                    <a16:rowId xmlns:a16="http://schemas.microsoft.com/office/drawing/2014/main" val="2628362780"/>
                  </a:ext>
                </a:extLst>
              </a:tr>
            </a:tbl>
          </a:graphicData>
        </a:graphic>
      </p:graphicFrame>
      <p:sp>
        <p:nvSpPr>
          <p:cNvPr id="11" name="TextBox 10">
            <a:extLst>
              <a:ext uri="{FF2B5EF4-FFF2-40B4-BE49-F238E27FC236}">
                <a16:creationId xmlns:a16="http://schemas.microsoft.com/office/drawing/2014/main" id="{F7E29FC4-0C8B-23C9-76EA-E9757917F605}"/>
              </a:ext>
            </a:extLst>
          </p:cNvPr>
          <p:cNvSpPr txBox="1"/>
          <p:nvPr/>
        </p:nvSpPr>
        <p:spPr>
          <a:xfrm>
            <a:off x="362442" y="3291005"/>
            <a:ext cx="2635658" cy="400110"/>
          </a:xfrm>
          <a:prstGeom prst="rect">
            <a:avLst/>
          </a:prstGeom>
          <a:noFill/>
        </p:spPr>
        <p:txBody>
          <a:bodyPr wrap="none" rtlCol="0">
            <a:spAutoFit/>
          </a:bodyPr>
          <a:lstStyle/>
          <a:p>
            <a:r>
              <a:rPr lang="en-FR" sz="2000" b="1" dirty="0">
                <a:solidFill>
                  <a:srgbClr val="4B84F4"/>
                </a:solidFill>
                <a:latin typeface="Poppins" pitchFamily="2" charset="77"/>
                <a:cs typeface="Poppins" pitchFamily="2" charset="77"/>
              </a:rPr>
              <a:t>THESIS COMMITTEE</a:t>
            </a:r>
          </a:p>
        </p:txBody>
      </p:sp>
    </p:spTree>
    <p:extLst>
      <p:ext uri="{BB962C8B-B14F-4D97-AF65-F5344CB8AC3E}">
        <p14:creationId xmlns:p14="http://schemas.microsoft.com/office/powerpoint/2010/main" val="16875516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3E41F-8D51-C094-3BC2-505F62E6FA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AE127-A700-C090-3342-5A3191093395}"/>
              </a:ext>
            </a:extLst>
          </p:cNvPr>
          <p:cNvSpPr>
            <a:spLocks noGrp="1"/>
          </p:cNvSpPr>
          <p:nvPr>
            <p:ph type="title"/>
          </p:nvPr>
        </p:nvSpPr>
        <p:spPr/>
        <p:txBody>
          <a:bodyPr/>
          <a:lstStyle/>
          <a:p>
            <a:r>
              <a:rPr lang="en-FR" dirty="0"/>
              <a:t>Generative Module: Rerank &amp; Select</a:t>
            </a:r>
          </a:p>
        </p:txBody>
      </p:sp>
      <p:sp>
        <p:nvSpPr>
          <p:cNvPr id="3" name="Oval 2">
            <a:extLst>
              <a:ext uri="{FF2B5EF4-FFF2-40B4-BE49-F238E27FC236}">
                <a16:creationId xmlns:a16="http://schemas.microsoft.com/office/drawing/2014/main" id="{4BC45853-81EE-9D34-98C6-36CC19CA83F7}"/>
              </a:ext>
            </a:extLst>
          </p:cNvPr>
          <p:cNvSpPr/>
          <p:nvPr/>
        </p:nvSpPr>
        <p:spPr>
          <a:xfrm>
            <a:off x="5596854" y="1384561"/>
            <a:ext cx="2035534" cy="604299"/>
          </a:xfrm>
          <a:prstGeom prst="ellipse">
            <a:avLst/>
          </a:prstGeom>
          <a:solidFill>
            <a:srgbClr val="4B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dirty="0"/>
              <a:t>MODEL</a:t>
            </a:r>
          </a:p>
        </p:txBody>
      </p:sp>
      <p:sp>
        <p:nvSpPr>
          <p:cNvPr id="4" name="Rectangle 3">
            <a:extLst>
              <a:ext uri="{FF2B5EF4-FFF2-40B4-BE49-F238E27FC236}">
                <a16:creationId xmlns:a16="http://schemas.microsoft.com/office/drawing/2014/main" id="{0C0F42B2-6DB5-04E2-EF4A-B5E54312DFBF}"/>
              </a:ext>
            </a:extLst>
          </p:cNvPr>
          <p:cNvSpPr/>
          <p:nvPr/>
        </p:nvSpPr>
        <p:spPr>
          <a:xfrm>
            <a:off x="3802385" y="2485649"/>
            <a:ext cx="1518699" cy="280283"/>
          </a:xfrm>
          <a:prstGeom prst="rect">
            <a:avLst/>
          </a:prstGeom>
          <a:solidFill>
            <a:srgbClr val="A5AFF5"/>
          </a:solidFill>
          <a:ln>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C</a:t>
            </a:r>
            <a:r>
              <a:rPr lang="en-FR"/>
              <a:t>andidate 1</a:t>
            </a:r>
          </a:p>
        </p:txBody>
      </p:sp>
      <p:sp>
        <p:nvSpPr>
          <p:cNvPr id="5" name="Rectangle 4">
            <a:extLst>
              <a:ext uri="{FF2B5EF4-FFF2-40B4-BE49-F238E27FC236}">
                <a16:creationId xmlns:a16="http://schemas.microsoft.com/office/drawing/2014/main" id="{9A1BD8B0-8DA6-A1B7-C5BF-B8EDAE918A3B}"/>
              </a:ext>
            </a:extLst>
          </p:cNvPr>
          <p:cNvSpPr/>
          <p:nvPr/>
        </p:nvSpPr>
        <p:spPr>
          <a:xfrm>
            <a:off x="5858046" y="2485650"/>
            <a:ext cx="1518699" cy="280283"/>
          </a:xfrm>
          <a:prstGeom prst="rect">
            <a:avLst/>
          </a:prstGeom>
          <a:solidFill>
            <a:srgbClr val="DF6245"/>
          </a:solidFill>
          <a:ln>
            <a:solidFill>
              <a:srgbClr val="DF62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a:t>Candidate 2</a:t>
            </a:r>
          </a:p>
        </p:txBody>
      </p:sp>
      <p:sp>
        <p:nvSpPr>
          <p:cNvPr id="6" name="Rectangle 5">
            <a:extLst>
              <a:ext uri="{FF2B5EF4-FFF2-40B4-BE49-F238E27FC236}">
                <a16:creationId xmlns:a16="http://schemas.microsoft.com/office/drawing/2014/main" id="{3C0F7FC5-F2CF-3BF1-B5DA-838D48A5E621}"/>
              </a:ext>
            </a:extLst>
          </p:cNvPr>
          <p:cNvSpPr/>
          <p:nvPr/>
        </p:nvSpPr>
        <p:spPr>
          <a:xfrm>
            <a:off x="7913707" y="2485650"/>
            <a:ext cx="1518699" cy="280283"/>
          </a:xfrm>
          <a:prstGeom prst="rect">
            <a:avLst/>
          </a:prstGeom>
          <a:solidFill>
            <a:srgbClr val="00C378"/>
          </a:solidFill>
          <a:ln>
            <a:solidFill>
              <a:srgbClr val="00C3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a:t>Candidate 3</a:t>
            </a:r>
          </a:p>
        </p:txBody>
      </p:sp>
      <p:sp>
        <p:nvSpPr>
          <p:cNvPr id="7" name="Rectangle 6">
            <a:extLst>
              <a:ext uri="{FF2B5EF4-FFF2-40B4-BE49-F238E27FC236}">
                <a16:creationId xmlns:a16="http://schemas.microsoft.com/office/drawing/2014/main" id="{5373DCD5-3262-4CC3-66C9-DE80C4765887}"/>
              </a:ext>
            </a:extLst>
          </p:cNvPr>
          <p:cNvSpPr/>
          <p:nvPr/>
        </p:nvSpPr>
        <p:spPr>
          <a:xfrm>
            <a:off x="2064619" y="3979756"/>
            <a:ext cx="1518699" cy="879101"/>
          </a:xfrm>
          <a:prstGeom prst="rect">
            <a:avLst/>
          </a:prstGeom>
          <a:solidFill>
            <a:srgbClr val="E3ABCC"/>
          </a:solidFill>
          <a:ln>
            <a:solidFill>
              <a:srgbClr val="E3AB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a:t>Expected</a:t>
            </a:r>
            <a:r>
              <a:rPr lang="fr-FR" dirty="0"/>
              <a:t> </a:t>
            </a:r>
            <a:r>
              <a:rPr lang="fr-FR" dirty="0" err="1"/>
              <a:t>sequence</a:t>
            </a:r>
            <a:r>
              <a:rPr lang="fr-FR" dirty="0"/>
              <a:t> of labels</a:t>
            </a:r>
            <a:endParaRPr lang="en-FR" dirty="0"/>
          </a:p>
        </p:txBody>
      </p:sp>
      <p:cxnSp>
        <p:nvCxnSpPr>
          <p:cNvPr id="8" name="Straight Arrow Connector 7">
            <a:extLst>
              <a:ext uri="{FF2B5EF4-FFF2-40B4-BE49-F238E27FC236}">
                <a16:creationId xmlns:a16="http://schemas.microsoft.com/office/drawing/2014/main" id="{E98359F1-D92E-A973-1F92-F40718BCF764}"/>
              </a:ext>
            </a:extLst>
          </p:cNvPr>
          <p:cNvCxnSpPr>
            <a:cxnSpLocks/>
            <a:stCxn id="7" idx="3"/>
            <a:endCxn id="41" idx="1"/>
          </p:cNvCxnSpPr>
          <p:nvPr/>
        </p:nvCxnSpPr>
        <p:spPr>
          <a:xfrm>
            <a:off x="3583318" y="4419307"/>
            <a:ext cx="5944528" cy="31304"/>
          </a:xfrm>
          <a:prstGeom prst="straightConnector1">
            <a:avLst/>
          </a:prstGeom>
          <a:ln w="12700">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79C6162-9F5E-AA4C-4932-9C6ED2B79A40}"/>
              </a:ext>
            </a:extLst>
          </p:cNvPr>
          <p:cNvCxnSpPr>
            <a:cxnSpLocks/>
            <a:stCxn id="4" idx="2"/>
            <a:endCxn id="46" idx="0"/>
          </p:cNvCxnSpPr>
          <p:nvPr/>
        </p:nvCxnSpPr>
        <p:spPr>
          <a:xfrm>
            <a:off x="4561735" y="2765932"/>
            <a:ext cx="0" cy="412660"/>
          </a:xfrm>
          <a:prstGeom prst="straightConnector1">
            <a:avLst/>
          </a:prstGeom>
          <a:ln>
            <a:solidFill>
              <a:srgbClr val="A5AFF5"/>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9C63F48-0A47-E325-21F6-163A33BFDAF2}"/>
              </a:ext>
            </a:extLst>
          </p:cNvPr>
          <p:cNvCxnSpPr>
            <a:cxnSpLocks/>
            <a:stCxn id="5" idx="2"/>
            <a:endCxn id="47" idx="0"/>
          </p:cNvCxnSpPr>
          <p:nvPr/>
        </p:nvCxnSpPr>
        <p:spPr>
          <a:xfrm flipH="1">
            <a:off x="6617395" y="2765933"/>
            <a:ext cx="1" cy="412658"/>
          </a:xfrm>
          <a:prstGeom prst="straightConnector1">
            <a:avLst/>
          </a:prstGeom>
          <a:ln>
            <a:solidFill>
              <a:srgbClr val="DF6245"/>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C7E88C0-A0B3-4AD2-556A-168FF7F7BF5E}"/>
              </a:ext>
            </a:extLst>
          </p:cNvPr>
          <p:cNvCxnSpPr>
            <a:cxnSpLocks/>
            <a:stCxn id="6" idx="2"/>
            <a:endCxn id="48" idx="0"/>
          </p:cNvCxnSpPr>
          <p:nvPr/>
        </p:nvCxnSpPr>
        <p:spPr>
          <a:xfrm flipH="1">
            <a:off x="8673055" y="2765933"/>
            <a:ext cx="2" cy="398222"/>
          </a:xfrm>
          <a:prstGeom prst="straightConnector1">
            <a:avLst/>
          </a:prstGeom>
          <a:ln>
            <a:solidFill>
              <a:srgbClr val="00C378"/>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FB7E482-709E-FDF9-2481-C40B1C09AFA3}"/>
              </a:ext>
            </a:extLst>
          </p:cNvPr>
          <p:cNvSpPr/>
          <p:nvPr/>
        </p:nvSpPr>
        <p:spPr>
          <a:xfrm>
            <a:off x="4505174" y="4373688"/>
            <a:ext cx="113122" cy="113099"/>
          </a:xfrm>
          <a:prstGeom prst="ellipse">
            <a:avLst/>
          </a:prstGeom>
          <a:solidFill>
            <a:srgbClr val="E3ABCC"/>
          </a:solidFill>
          <a:ln>
            <a:solidFill>
              <a:srgbClr val="E3AB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3" name="Oval 12">
            <a:extLst>
              <a:ext uri="{FF2B5EF4-FFF2-40B4-BE49-F238E27FC236}">
                <a16:creationId xmlns:a16="http://schemas.microsoft.com/office/drawing/2014/main" id="{FCAFE305-FC3D-844F-459A-D18F5D6C7215}"/>
              </a:ext>
            </a:extLst>
          </p:cNvPr>
          <p:cNvSpPr/>
          <p:nvPr/>
        </p:nvSpPr>
        <p:spPr>
          <a:xfrm>
            <a:off x="6560834" y="4373687"/>
            <a:ext cx="113122" cy="113099"/>
          </a:xfrm>
          <a:prstGeom prst="ellipse">
            <a:avLst/>
          </a:prstGeom>
          <a:solidFill>
            <a:srgbClr val="E3ABCC"/>
          </a:solidFill>
          <a:ln>
            <a:solidFill>
              <a:srgbClr val="E3AB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4" name="Oval 13">
            <a:extLst>
              <a:ext uri="{FF2B5EF4-FFF2-40B4-BE49-F238E27FC236}">
                <a16:creationId xmlns:a16="http://schemas.microsoft.com/office/drawing/2014/main" id="{E6360D3D-CA5D-9147-EB6B-711A65C9D3AA}"/>
              </a:ext>
            </a:extLst>
          </p:cNvPr>
          <p:cNvSpPr/>
          <p:nvPr/>
        </p:nvSpPr>
        <p:spPr>
          <a:xfrm>
            <a:off x="8616494" y="4359251"/>
            <a:ext cx="113122" cy="113099"/>
          </a:xfrm>
          <a:prstGeom prst="ellipse">
            <a:avLst/>
          </a:prstGeom>
          <a:solidFill>
            <a:srgbClr val="E3ABCC"/>
          </a:solidFill>
          <a:ln>
            <a:solidFill>
              <a:srgbClr val="E3AB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cxnSp>
        <p:nvCxnSpPr>
          <p:cNvPr id="23" name="Straight Arrow Connector 22">
            <a:extLst>
              <a:ext uri="{FF2B5EF4-FFF2-40B4-BE49-F238E27FC236}">
                <a16:creationId xmlns:a16="http://schemas.microsoft.com/office/drawing/2014/main" id="{039D5173-624A-996A-10B1-2FE1F62B3CEF}"/>
              </a:ext>
            </a:extLst>
          </p:cNvPr>
          <p:cNvCxnSpPr>
            <a:cxnSpLocks/>
            <a:stCxn id="12" idx="4"/>
            <a:endCxn id="38" idx="0"/>
          </p:cNvCxnSpPr>
          <p:nvPr/>
        </p:nvCxnSpPr>
        <p:spPr>
          <a:xfrm>
            <a:off x="4561735" y="4486787"/>
            <a:ext cx="0" cy="669162"/>
          </a:xfrm>
          <a:prstGeom prst="straightConnector1">
            <a:avLst/>
          </a:prstGeom>
          <a:ln>
            <a:solidFill>
              <a:srgbClr val="A5AFF5"/>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6912D87-1F8C-E8FC-C9D1-7D7A2F6B2FE6}"/>
              </a:ext>
            </a:extLst>
          </p:cNvPr>
          <p:cNvCxnSpPr>
            <a:cxnSpLocks/>
            <a:stCxn id="13" idx="4"/>
            <a:endCxn id="39" idx="0"/>
          </p:cNvCxnSpPr>
          <p:nvPr/>
        </p:nvCxnSpPr>
        <p:spPr>
          <a:xfrm flipH="1">
            <a:off x="6617394" y="4486786"/>
            <a:ext cx="1" cy="669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F3FDD3D-C044-CCAE-8ED7-41AA0B74705C}"/>
              </a:ext>
            </a:extLst>
          </p:cNvPr>
          <p:cNvCxnSpPr>
            <a:cxnSpLocks/>
            <a:stCxn id="14" idx="4"/>
          </p:cNvCxnSpPr>
          <p:nvPr/>
        </p:nvCxnSpPr>
        <p:spPr>
          <a:xfrm>
            <a:off x="8673055" y="4472350"/>
            <a:ext cx="0" cy="669162"/>
          </a:xfrm>
          <a:prstGeom prst="straightConnector1">
            <a:avLst/>
          </a:prstGeom>
          <a:ln>
            <a:solidFill>
              <a:srgbClr val="00C378"/>
            </a:solidFill>
            <a:tailEnd type="triangle"/>
          </a:ln>
        </p:spPr>
        <p:style>
          <a:lnRef idx="1">
            <a:schemeClr val="accent1"/>
          </a:lnRef>
          <a:fillRef idx="0">
            <a:schemeClr val="accent1"/>
          </a:fillRef>
          <a:effectRef idx="0">
            <a:schemeClr val="accent1"/>
          </a:effectRef>
          <a:fontRef idx="minor">
            <a:schemeClr val="tx1"/>
          </a:fontRef>
        </p:style>
      </p:cxnSp>
      <p:sp>
        <p:nvSpPr>
          <p:cNvPr id="38" name="Rounded Rectangle 37">
            <a:extLst>
              <a:ext uri="{FF2B5EF4-FFF2-40B4-BE49-F238E27FC236}">
                <a16:creationId xmlns:a16="http://schemas.microsoft.com/office/drawing/2014/main" id="{3E122372-89A7-D233-F324-30FDAD1019BD}"/>
              </a:ext>
            </a:extLst>
          </p:cNvPr>
          <p:cNvSpPr/>
          <p:nvPr/>
        </p:nvSpPr>
        <p:spPr>
          <a:xfrm>
            <a:off x="4112773" y="5155949"/>
            <a:ext cx="897924" cy="311764"/>
          </a:xfrm>
          <a:prstGeom prst="roundRect">
            <a:avLst/>
          </a:prstGeom>
          <a:solidFill>
            <a:srgbClr val="A5AFF5"/>
          </a:solidFill>
          <a:ln>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S</a:t>
            </a:r>
            <a:r>
              <a:rPr lang="en-FR"/>
              <a:t>core 1</a:t>
            </a:r>
          </a:p>
        </p:txBody>
      </p:sp>
      <p:sp>
        <p:nvSpPr>
          <p:cNvPr id="39" name="Rounded Rectangle 38">
            <a:extLst>
              <a:ext uri="{FF2B5EF4-FFF2-40B4-BE49-F238E27FC236}">
                <a16:creationId xmlns:a16="http://schemas.microsoft.com/office/drawing/2014/main" id="{4E6E75BB-C5A4-81F7-DCCE-FE098451CB79}"/>
              </a:ext>
            </a:extLst>
          </p:cNvPr>
          <p:cNvSpPr/>
          <p:nvPr/>
        </p:nvSpPr>
        <p:spPr>
          <a:xfrm>
            <a:off x="6168432" y="5155946"/>
            <a:ext cx="897924" cy="311764"/>
          </a:xfrm>
          <a:prstGeom prst="roundRect">
            <a:avLst/>
          </a:prstGeom>
          <a:solidFill>
            <a:srgbClr val="DF6245"/>
          </a:solidFill>
          <a:ln>
            <a:solidFill>
              <a:srgbClr val="DF62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S</a:t>
            </a:r>
            <a:r>
              <a:rPr lang="en-FR"/>
              <a:t>core 2</a:t>
            </a:r>
          </a:p>
        </p:txBody>
      </p:sp>
      <p:sp>
        <p:nvSpPr>
          <p:cNvPr id="40" name="Rounded Rectangle 39">
            <a:extLst>
              <a:ext uri="{FF2B5EF4-FFF2-40B4-BE49-F238E27FC236}">
                <a16:creationId xmlns:a16="http://schemas.microsoft.com/office/drawing/2014/main" id="{2AF2B812-C980-86C0-F8BD-9DD1FD8A55C5}"/>
              </a:ext>
            </a:extLst>
          </p:cNvPr>
          <p:cNvSpPr/>
          <p:nvPr/>
        </p:nvSpPr>
        <p:spPr>
          <a:xfrm>
            <a:off x="8224090" y="5141512"/>
            <a:ext cx="897924" cy="311764"/>
          </a:xfrm>
          <a:prstGeom prst="roundRect">
            <a:avLst/>
          </a:prstGeom>
          <a:solidFill>
            <a:srgbClr val="00C378"/>
          </a:solidFill>
          <a:ln>
            <a:solidFill>
              <a:srgbClr val="00C3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S</a:t>
            </a:r>
            <a:r>
              <a:rPr lang="en-FR"/>
              <a:t>core 3</a:t>
            </a:r>
          </a:p>
        </p:txBody>
      </p:sp>
      <p:sp>
        <p:nvSpPr>
          <p:cNvPr id="41" name="TextBox 40">
            <a:extLst>
              <a:ext uri="{FF2B5EF4-FFF2-40B4-BE49-F238E27FC236}">
                <a16:creationId xmlns:a16="http://schemas.microsoft.com/office/drawing/2014/main" id="{DF5FE062-BF39-DCF3-5E52-733BD9F80899}"/>
              </a:ext>
            </a:extLst>
          </p:cNvPr>
          <p:cNvSpPr txBox="1"/>
          <p:nvPr/>
        </p:nvSpPr>
        <p:spPr>
          <a:xfrm>
            <a:off x="9527846" y="4150529"/>
            <a:ext cx="906017" cy="600164"/>
          </a:xfrm>
          <a:prstGeom prst="rect">
            <a:avLst/>
          </a:prstGeom>
          <a:noFill/>
        </p:spPr>
        <p:txBody>
          <a:bodyPr wrap="none" rtlCol="0">
            <a:spAutoFit/>
          </a:bodyPr>
          <a:lstStyle/>
          <a:p>
            <a:r>
              <a:rPr lang="en-GB" sz="1100" i="1"/>
              <a:t>N</a:t>
            </a:r>
            <a:r>
              <a:rPr lang="en-FR" sz="1100" i="1"/>
              <a:t>ormalised </a:t>
            </a:r>
            <a:br>
              <a:rPr lang="en-FR" sz="1100" i="1"/>
            </a:br>
            <a:r>
              <a:rPr lang="en-FR" sz="1100" i="1"/>
              <a:t>Levenshtein </a:t>
            </a:r>
            <a:br>
              <a:rPr lang="en-FR" sz="1100" i="1"/>
            </a:br>
            <a:r>
              <a:rPr lang="en-FR" sz="1100" i="1"/>
              <a:t>Similarity</a:t>
            </a:r>
          </a:p>
        </p:txBody>
      </p:sp>
      <p:cxnSp>
        <p:nvCxnSpPr>
          <p:cNvPr id="42" name="Straight Arrow Connector 41">
            <a:extLst>
              <a:ext uri="{FF2B5EF4-FFF2-40B4-BE49-F238E27FC236}">
                <a16:creationId xmlns:a16="http://schemas.microsoft.com/office/drawing/2014/main" id="{4AB6ECEB-72EB-C879-94CC-79A0A0941715}"/>
              </a:ext>
            </a:extLst>
          </p:cNvPr>
          <p:cNvCxnSpPr>
            <a:cxnSpLocks/>
            <a:endCxn id="43" idx="1"/>
          </p:cNvCxnSpPr>
          <p:nvPr/>
        </p:nvCxnSpPr>
        <p:spPr>
          <a:xfrm flipV="1">
            <a:off x="3678760" y="5891370"/>
            <a:ext cx="5849086" cy="10930"/>
          </a:xfrm>
          <a:prstGeom prst="straightConnector1">
            <a:avLst/>
          </a:prstGeom>
          <a:ln w="12700">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23D4E781-FD81-9D51-91BC-C6CBFDFE2615}"/>
              </a:ext>
            </a:extLst>
          </p:cNvPr>
          <p:cNvSpPr txBox="1"/>
          <p:nvPr/>
        </p:nvSpPr>
        <p:spPr>
          <a:xfrm>
            <a:off x="9527846" y="5760565"/>
            <a:ext cx="429926" cy="261610"/>
          </a:xfrm>
          <a:prstGeom prst="rect">
            <a:avLst/>
          </a:prstGeom>
          <a:noFill/>
        </p:spPr>
        <p:txBody>
          <a:bodyPr wrap="none" rtlCol="0">
            <a:spAutoFit/>
          </a:bodyPr>
          <a:lstStyle/>
          <a:p>
            <a:r>
              <a:rPr lang="fr-FR" sz="1100" i="1"/>
              <a:t>max</a:t>
            </a:r>
            <a:endParaRPr lang="en-FR" sz="1100" i="1"/>
          </a:p>
        </p:txBody>
      </p:sp>
      <p:sp>
        <p:nvSpPr>
          <p:cNvPr id="44" name="Rectangle 43">
            <a:extLst>
              <a:ext uri="{FF2B5EF4-FFF2-40B4-BE49-F238E27FC236}">
                <a16:creationId xmlns:a16="http://schemas.microsoft.com/office/drawing/2014/main" id="{1E073791-9FE5-A817-6175-66A7C19667BA}"/>
              </a:ext>
            </a:extLst>
          </p:cNvPr>
          <p:cNvSpPr/>
          <p:nvPr/>
        </p:nvSpPr>
        <p:spPr>
          <a:xfrm>
            <a:off x="2064618" y="2942752"/>
            <a:ext cx="1518699" cy="584775"/>
          </a:xfrm>
          <a:prstGeom prst="rect">
            <a:avLst/>
          </a:prstGeom>
          <a:solidFill>
            <a:srgbClr val="FFD1B2"/>
          </a:solidFill>
          <a:ln>
            <a:solidFill>
              <a:srgbClr val="FFD1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BERT </a:t>
            </a:r>
            <a:r>
              <a:rPr lang="fr-FR" err="1"/>
              <a:t>Current</a:t>
            </a:r>
            <a:r>
              <a:rPr lang="fr-FR"/>
              <a:t> Classifier</a:t>
            </a:r>
            <a:endParaRPr lang="en-FR"/>
          </a:p>
        </p:txBody>
      </p:sp>
      <p:cxnSp>
        <p:nvCxnSpPr>
          <p:cNvPr id="45" name="Straight Arrow Connector 44">
            <a:extLst>
              <a:ext uri="{FF2B5EF4-FFF2-40B4-BE49-F238E27FC236}">
                <a16:creationId xmlns:a16="http://schemas.microsoft.com/office/drawing/2014/main" id="{8B41970B-0DD3-85E1-64FA-00C3D76F807B}"/>
              </a:ext>
            </a:extLst>
          </p:cNvPr>
          <p:cNvCxnSpPr>
            <a:cxnSpLocks/>
            <a:stCxn id="44" idx="3"/>
            <a:endCxn id="55" idx="1"/>
          </p:cNvCxnSpPr>
          <p:nvPr/>
        </p:nvCxnSpPr>
        <p:spPr>
          <a:xfrm>
            <a:off x="3583317" y="3235140"/>
            <a:ext cx="5944529" cy="9711"/>
          </a:xfrm>
          <a:prstGeom prst="straightConnector1">
            <a:avLst/>
          </a:prstGeom>
          <a:ln w="12700">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99BBD8D1-3C7F-0434-5864-D9C2AF9C54BE}"/>
              </a:ext>
            </a:extLst>
          </p:cNvPr>
          <p:cNvSpPr/>
          <p:nvPr/>
        </p:nvSpPr>
        <p:spPr>
          <a:xfrm>
            <a:off x="4505174" y="3178592"/>
            <a:ext cx="113122" cy="113099"/>
          </a:xfrm>
          <a:prstGeom prst="ellipse">
            <a:avLst/>
          </a:prstGeom>
          <a:solidFill>
            <a:srgbClr val="FFD1B2"/>
          </a:solidFill>
          <a:ln>
            <a:solidFill>
              <a:srgbClr val="FFD1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47" name="Oval 46">
            <a:extLst>
              <a:ext uri="{FF2B5EF4-FFF2-40B4-BE49-F238E27FC236}">
                <a16:creationId xmlns:a16="http://schemas.microsoft.com/office/drawing/2014/main" id="{D6E2B6C9-A598-C2A3-413C-AF39B507147F}"/>
              </a:ext>
            </a:extLst>
          </p:cNvPr>
          <p:cNvSpPr/>
          <p:nvPr/>
        </p:nvSpPr>
        <p:spPr>
          <a:xfrm>
            <a:off x="6560834" y="3178591"/>
            <a:ext cx="113122" cy="113099"/>
          </a:xfrm>
          <a:prstGeom prst="ellipse">
            <a:avLst/>
          </a:prstGeom>
          <a:solidFill>
            <a:srgbClr val="FFD1B2"/>
          </a:solidFill>
          <a:ln>
            <a:solidFill>
              <a:srgbClr val="FFD1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48" name="Oval 47">
            <a:extLst>
              <a:ext uri="{FF2B5EF4-FFF2-40B4-BE49-F238E27FC236}">
                <a16:creationId xmlns:a16="http://schemas.microsoft.com/office/drawing/2014/main" id="{3EC716CC-15F1-4A77-3F74-5E11F96C280D}"/>
              </a:ext>
            </a:extLst>
          </p:cNvPr>
          <p:cNvSpPr/>
          <p:nvPr/>
        </p:nvSpPr>
        <p:spPr>
          <a:xfrm>
            <a:off x="8616494" y="3164155"/>
            <a:ext cx="113122" cy="113099"/>
          </a:xfrm>
          <a:prstGeom prst="ellipse">
            <a:avLst/>
          </a:prstGeom>
          <a:solidFill>
            <a:srgbClr val="FFD1B2"/>
          </a:solidFill>
          <a:ln>
            <a:solidFill>
              <a:srgbClr val="FFD1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49" name="Rectangle 48">
            <a:extLst>
              <a:ext uri="{FF2B5EF4-FFF2-40B4-BE49-F238E27FC236}">
                <a16:creationId xmlns:a16="http://schemas.microsoft.com/office/drawing/2014/main" id="{E632E79A-EC33-5935-B3F5-F0C300824151}"/>
              </a:ext>
            </a:extLst>
          </p:cNvPr>
          <p:cNvSpPr/>
          <p:nvPr/>
        </p:nvSpPr>
        <p:spPr>
          <a:xfrm>
            <a:off x="3802385" y="3496882"/>
            <a:ext cx="1518699" cy="280283"/>
          </a:xfrm>
          <a:prstGeom prst="rect">
            <a:avLst/>
          </a:prstGeom>
          <a:solidFill>
            <a:srgbClr val="A5AFF5"/>
          </a:solidFill>
          <a:ln>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Labels</a:t>
            </a:r>
            <a:r>
              <a:rPr lang="en-FR"/>
              <a:t> 1</a:t>
            </a:r>
          </a:p>
        </p:txBody>
      </p:sp>
      <p:sp>
        <p:nvSpPr>
          <p:cNvPr id="50" name="Rectangle 49">
            <a:extLst>
              <a:ext uri="{FF2B5EF4-FFF2-40B4-BE49-F238E27FC236}">
                <a16:creationId xmlns:a16="http://schemas.microsoft.com/office/drawing/2014/main" id="{870D81D6-E501-A1FA-D391-E2C60E4F5755}"/>
              </a:ext>
            </a:extLst>
          </p:cNvPr>
          <p:cNvSpPr/>
          <p:nvPr/>
        </p:nvSpPr>
        <p:spPr>
          <a:xfrm>
            <a:off x="5858046" y="3496883"/>
            <a:ext cx="1518699" cy="280283"/>
          </a:xfrm>
          <a:prstGeom prst="rect">
            <a:avLst/>
          </a:prstGeom>
          <a:solidFill>
            <a:srgbClr val="DF6245"/>
          </a:solidFill>
          <a:ln>
            <a:solidFill>
              <a:srgbClr val="DF62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a:t>Labels 2</a:t>
            </a:r>
          </a:p>
        </p:txBody>
      </p:sp>
      <p:sp>
        <p:nvSpPr>
          <p:cNvPr id="51" name="Rectangle 50">
            <a:extLst>
              <a:ext uri="{FF2B5EF4-FFF2-40B4-BE49-F238E27FC236}">
                <a16:creationId xmlns:a16="http://schemas.microsoft.com/office/drawing/2014/main" id="{F5485BA1-D428-58B6-5DDE-1F5EF6D314D2}"/>
              </a:ext>
            </a:extLst>
          </p:cNvPr>
          <p:cNvSpPr/>
          <p:nvPr/>
        </p:nvSpPr>
        <p:spPr>
          <a:xfrm>
            <a:off x="7913707" y="3496883"/>
            <a:ext cx="1518699" cy="280283"/>
          </a:xfrm>
          <a:prstGeom prst="rect">
            <a:avLst/>
          </a:prstGeom>
          <a:solidFill>
            <a:srgbClr val="00C378"/>
          </a:solidFill>
          <a:ln>
            <a:solidFill>
              <a:srgbClr val="00C3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a:t>Labels 3</a:t>
            </a:r>
          </a:p>
        </p:txBody>
      </p:sp>
      <p:cxnSp>
        <p:nvCxnSpPr>
          <p:cNvPr id="52" name="Straight Arrow Connector 51">
            <a:extLst>
              <a:ext uri="{FF2B5EF4-FFF2-40B4-BE49-F238E27FC236}">
                <a16:creationId xmlns:a16="http://schemas.microsoft.com/office/drawing/2014/main" id="{7FAA1B11-8A81-B4D8-F0FB-35F44B7FFBAC}"/>
              </a:ext>
            </a:extLst>
          </p:cNvPr>
          <p:cNvCxnSpPr>
            <a:cxnSpLocks/>
            <a:stCxn id="49" idx="2"/>
            <a:endCxn id="12" idx="0"/>
          </p:cNvCxnSpPr>
          <p:nvPr/>
        </p:nvCxnSpPr>
        <p:spPr>
          <a:xfrm>
            <a:off x="4561735" y="3777165"/>
            <a:ext cx="0" cy="596523"/>
          </a:xfrm>
          <a:prstGeom prst="straightConnector1">
            <a:avLst/>
          </a:prstGeom>
          <a:ln>
            <a:solidFill>
              <a:srgbClr val="A5AFF5"/>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E2461033-C18F-0BC1-28B1-F8CE9DC68B5F}"/>
              </a:ext>
            </a:extLst>
          </p:cNvPr>
          <p:cNvCxnSpPr>
            <a:cxnSpLocks/>
            <a:stCxn id="50" idx="2"/>
            <a:endCxn id="13" idx="0"/>
          </p:cNvCxnSpPr>
          <p:nvPr/>
        </p:nvCxnSpPr>
        <p:spPr>
          <a:xfrm flipH="1">
            <a:off x="6617395" y="3777166"/>
            <a:ext cx="1" cy="596521"/>
          </a:xfrm>
          <a:prstGeom prst="straightConnector1">
            <a:avLst/>
          </a:prstGeom>
          <a:ln>
            <a:solidFill>
              <a:srgbClr val="DF6245"/>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B5849866-D71C-FEED-F0E7-E5A6C88276F3}"/>
              </a:ext>
            </a:extLst>
          </p:cNvPr>
          <p:cNvCxnSpPr>
            <a:cxnSpLocks/>
            <a:stCxn id="51" idx="2"/>
            <a:endCxn id="14" idx="0"/>
          </p:cNvCxnSpPr>
          <p:nvPr/>
        </p:nvCxnSpPr>
        <p:spPr>
          <a:xfrm flipH="1">
            <a:off x="8673055" y="3777166"/>
            <a:ext cx="2" cy="582085"/>
          </a:xfrm>
          <a:prstGeom prst="straightConnector1">
            <a:avLst/>
          </a:prstGeom>
          <a:ln>
            <a:solidFill>
              <a:srgbClr val="00C378"/>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E9A9EADF-5FC3-1826-8FCD-158C3095E6E6}"/>
              </a:ext>
            </a:extLst>
          </p:cNvPr>
          <p:cNvSpPr txBox="1"/>
          <p:nvPr/>
        </p:nvSpPr>
        <p:spPr>
          <a:xfrm>
            <a:off x="9527846" y="3114046"/>
            <a:ext cx="636713" cy="261610"/>
          </a:xfrm>
          <a:prstGeom prst="rect">
            <a:avLst/>
          </a:prstGeom>
          <a:noFill/>
        </p:spPr>
        <p:txBody>
          <a:bodyPr wrap="none" rtlCol="0">
            <a:spAutoFit/>
          </a:bodyPr>
          <a:lstStyle/>
          <a:p>
            <a:r>
              <a:rPr lang="fr-FR" sz="1100" i="1" err="1"/>
              <a:t>predicts</a:t>
            </a:r>
            <a:endParaRPr lang="en-FR" sz="1100" i="1"/>
          </a:p>
        </p:txBody>
      </p:sp>
      <p:cxnSp>
        <p:nvCxnSpPr>
          <p:cNvPr id="56" name="Straight Arrow Connector 55">
            <a:extLst>
              <a:ext uri="{FF2B5EF4-FFF2-40B4-BE49-F238E27FC236}">
                <a16:creationId xmlns:a16="http://schemas.microsoft.com/office/drawing/2014/main" id="{3A979FC8-2067-D5BE-6EE9-DB4EC0958CDE}"/>
              </a:ext>
            </a:extLst>
          </p:cNvPr>
          <p:cNvCxnSpPr>
            <a:cxnSpLocks/>
            <a:endCxn id="59" idx="0"/>
          </p:cNvCxnSpPr>
          <p:nvPr/>
        </p:nvCxnSpPr>
        <p:spPr>
          <a:xfrm>
            <a:off x="4561734" y="5467711"/>
            <a:ext cx="1" cy="357399"/>
          </a:xfrm>
          <a:prstGeom prst="straightConnector1">
            <a:avLst/>
          </a:prstGeom>
          <a:ln>
            <a:solidFill>
              <a:srgbClr val="A5AFF5"/>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9D3C8BBD-D445-8436-E120-F03799AE22CA}"/>
              </a:ext>
            </a:extLst>
          </p:cNvPr>
          <p:cNvCxnSpPr>
            <a:cxnSpLocks/>
            <a:endCxn id="60" idx="0"/>
          </p:cNvCxnSpPr>
          <p:nvPr/>
        </p:nvCxnSpPr>
        <p:spPr>
          <a:xfrm>
            <a:off x="6617394" y="5467710"/>
            <a:ext cx="1" cy="357399"/>
          </a:xfrm>
          <a:prstGeom prst="straightConnector1">
            <a:avLst/>
          </a:prstGeom>
          <a:ln>
            <a:solidFill>
              <a:srgbClr val="DF6245"/>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85FAB937-DA91-E588-B57D-B8BD62FB175C}"/>
              </a:ext>
            </a:extLst>
          </p:cNvPr>
          <p:cNvCxnSpPr>
            <a:cxnSpLocks/>
            <a:endCxn id="61" idx="0"/>
          </p:cNvCxnSpPr>
          <p:nvPr/>
        </p:nvCxnSpPr>
        <p:spPr>
          <a:xfrm>
            <a:off x="8673054" y="5453274"/>
            <a:ext cx="1" cy="357399"/>
          </a:xfrm>
          <a:prstGeom prst="straightConnector1">
            <a:avLst/>
          </a:prstGeom>
          <a:ln>
            <a:solidFill>
              <a:srgbClr val="00C378"/>
            </a:solidFill>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2321C208-948D-5ADB-662D-20022B2454A7}"/>
              </a:ext>
            </a:extLst>
          </p:cNvPr>
          <p:cNvSpPr/>
          <p:nvPr/>
        </p:nvSpPr>
        <p:spPr>
          <a:xfrm>
            <a:off x="4505174" y="5825110"/>
            <a:ext cx="113122" cy="113099"/>
          </a:xfrm>
          <a:prstGeom prst="ellipse">
            <a:avLst/>
          </a:prstGeom>
          <a:solidFill>
            <a:srgbClr val="00E1CD"/>
          </a:solidFill>
          <a:ln>
            <a:solidFill>
              <a:srgbClr val="00E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60" name="Oval 59">
            <a:extLst>
              <a:ext uri="{FF2B5EF4-FFF2-40B4-BE49-F238E27FC236}">
                <a16:creationId xmlns:a16="http://schemas.microsoft.com/office/drawing/2014/main" id="{72587E69-D277-61F5-9501-0BF3B6CF68BA}"/>
              </a:ext>
            </a:extLst>
          </p:cNvPr>
          <p:cNvSpPr/>
          <p:nvPr/>
        </p:nvSpPr>
        <p:spPr>
          <a:xfrm>
            <a:off x="6560834" y="5825109"/>
            <a:ext cx="113122" cy="113099"/>
          </a:xfrm>
          <a:prstGeom prst="ellipse">
            <a:avLst/>
          </a:prstGeom>
          <a:solidFill>
            <a:srgbClr val="00E1CD"/>
          </a:solidFill>
          <a:ln>
            <a:solidFill>
              <a:srgbClr val="00E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61" name="Oval 60">
            <a:extLst>
              <a:ext uri="{FF2B5EF4-FFF2-40B4-BE49-F238E27FC236}">
                <a16:creationId xmlns:a16="http://schemas.microsoft.com/office/drawing/2014/main" id="{4E636197-5827-3F26-566F-5993B11D8CA6}"/>
              </a:ext>
            </a:extLst>
          </p:cNvPr>
          <p:cNvSpPr/>
          <p:nvPr/>
        </p:nvSpPr>
        <p:spPr>
          <a:xfrm>
            <a:off x="8616494" y="5810673"/>
            <a:ext cx="113122" cy="113099"/>
          </a:xfrm>
          <a:prstGeom prst="ellipse">
            <a:avLst/>
          </a:prstGeom>
          <a:solidFill>
            <a:srgbClr val="00E1CD"/>
          </a:solidFill>
          <a:ln>
            <a:solidFill>
              <a:srgbClr val="00E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cxnSp>
        <p:nvCxnSpPr>
          <p:cNvPr id="62" name="Straight Arrow Connector 61">
            <a:extLst>
              <a:ext uri="{FF2B5EF4-FFF2-40B4-BE49-F238E27FC236}">
                <a16:creationId xmlns:a16="http://schemas.microsoft.com/office/drawing/2014/main" id="{874E3D45-48EB-086F-6653-5AE4F65992A3}"/>
              </a:ext>
            </a:extLst>
          </p:cNvPr>
          <p:cNvCxnSpPr>
            <a:cxnSpLocks/>
            <a:stCxn id="60" idx="4"/>
            <a:endCxn id="63" idx="0"/>
          </p:cNvCxnSpPr>
          <p:nvPr/>
        </p:nvCxnSpPr>
        <p:spPr>
          <a:xfrm>
            <a:off x="6617395" y="5938208"/>
            <a:ext cx="1" cy="314182"/>
          </a:xfrm>
          <a:prstGeom prst="straightConnector1">
            <a:avLst/>
          </a:prstGeom>
          <a:ln>
            <a:solidFill>
              <a:srgbClr val="DF6245"/>
            </a:solidFill>
            <a:tailEnd type="triangle"/>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9AF285F8-8D06-CD64-8449-15A4EF6376D2}"/>
              </a:ext>
            </a:extLst>
          </p:cNvPr>
          <p:cNvSpPr/>
          <p:nvPr/>
        </p:nvSpPr>
        <p:spPr>
          <a:xfrm>
            <a:off x="5858046" y="6252390"/>
            <a:ext cx="1518699" cy="280283"/>
          </a:xfrm>
          <a:prstGeom prst="rect">
            <a:avLst/>
          </a:prstGeom>
          <a:solidFill>
            <a:srgbClr val="DF6245"/>
          </a:solidFill>
          <a:ln>
            <a:solidFill>
              <a:srgbClr val="DF62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a:t>Candidate 2</a:t>
            </a:r>
          </a:p>
        </p:txBody>
      </p:sp>
      <p:sp>
        <p:nvSpPr>
          <p:cNvPr id="64" name="TextBox 63">
            <a:extLst>
              <a:ext uri="{FF2B5EF4-FFF2-40B4-BE49-F238E27FC236}">
                <a16:creationId xmlns:a16="http://schemas.microsoft.com/office/drawing/2014/main" id="{3F0FA757-78E3-0642-04B8-BFD8F6D2B0B9}"/>
              </a:ext>
            </a:extLst>
          </p:cNvPr>
          <p:cNvSpPr txBox="1"/>
          <p:nvPr/>
        </p:nvSpPr>
        <p:spPr>
          <a:xfrm>
            <a:off x="4184938" y="6207865"/>
            <a:ext cx="1597104" cy="369332"/>
          </a:xfrm>
          <a:prstGeom prst="rect">
            <a:avLst/>
          </a:prstGeom>
          <a:noFill/>
        </p:spPr>
        <p:txBody>
          <a:bodyPr wrap="none" rtlCol="0">
            <a:spAutoFit/>
          </a:bodyPr>
          <a:lstStyle/>
          <a:p>
            <a:r>
              <a:rPr lang="en-GB" dirty="0"/>
              <a:t>F</a:t>
            </a:r>
            <a:r>
              <a:rPr lang="en-FR" dirty="0"/>
              <a:t>inal response:</a:t>
            </a:r>
          </a:p>
        </p:txBody>
      </p:sp>
      <p:sp>
        <p:nvSpPr>
          <p:cNvPr id="65" name="Rectangle 64">
            <a:extLst>
              <a:ext uri="{FF2B5EF4-FFF2-40B4-BE49-F238E27FC236}">
                <a16:creationId xmlns:a16="http://schemas.microsoft.com/office/drawing/2014/main" id="{27D313EF-58C3-A16E-A6E0-3A7F759E27F3}"/>
              </a:ext>
            </a:extLst>
          </p:cNvPr>
          <p:cNvSpPr/>
          <p:nvPr/>
        </p:nvSpPr>
        <p:spPr>
          <a:xfrm>
            <a:off x="2953063" y="1045397"/>
            <a:ext cx="1847140" cy="442404"/>
          </a:xfrm>
          <a:prstGeom prst="rect">
            <a:avLst/>
          </a:prstGeom>
          <a:solidFill>
            <a:srgbClr val="4B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Dialogue </a:t>
            </a:r>
            <a:r>
              <a:rPr lang="fr-FR" dirty="0" err="1"/>
              <a:t>Context</a:t>
            </a:r>
            <a:endParaRPr lang="en-FR" dirty="0"/>
          </a:p>
        </p:txBody>
      </p:sp>
      <p:cxnSp>
        <p:nvCxnSpPr>
          <p:cNvPr id="66" name="Straight Arrow Connector 65">
            <a:extLst>
              <a:ext uri="{FF2B5EF4-FFF2-40B4-BE49-F238E27FC236}">
                <a16:creationId xmlns:a16="http://schemas.microsoft.com/office/drawing/2014/main" id="{A3A64B65-4467-3AE4-847A-4B1C4D591327}"/>
              </a:ext>
            </a:extLst>
          </p:cNvPr>
          <p:cNvCxnSpPr>
            <a:cxnSpLocks/>
            <a:stCxn id="65" idx="3"/>
            <a:endCxn id="3" idx="2"/>
          </p:cNvCxnSpPr>
          <p:nvPr/>
        </p:nvCxnSpPr>
        <p:spPr>
          <a:xfrm>
            <a:off x="4800203" y="1266599"/>
            <a:ext cx="796651" cy="420112"/>
          </a:xfrm>
          <a:prstGeom prst="straightConnector1">
            <a:avLst/>
          </a:prstGeom>
          <a:ln>
            <a:solidFill>
              <a:srgbClr val="4B85F4"/>
            </a:solidFill>
            <a:tailEnd type="triangle"/>
          </a:ln>
        </p:spPr>
        <p:style>
          <a:lnRef idx="1">
            <a:schemeClr val="accent1"/>
          </a:lnRef>
          <a:fillRef idx="0">
            <a:schemeClr val="accent1"/>
          </a:fillRef>
          <a:effectRef idx="0">
            <a:schemeClr val="accent1"/>
          </a:effectRef>
          <a:fontRef idx="minor">
            <a:schemeClr val="tx1"/>
          </a:fontRef>
        </p:style>
      </p:cxnSp>
      <p:sp>
        <p:nvSpPr>
          <p:cNvPr id="67" name="Left Brace 66">
            <a:extLst>
              <a:ext uri="{FF2B5EF4-FFF2-40B4-BE49-F238E27FC236}">
                <a16:creationId xmlns:a16="http://schemas.microsoft.com/office/drawing/2014/main" id="{CAFA3184-0C2E-519C-9F40-5D15A4ABFCF6}"/>
              </a:ext>
            </a:extLst>
          </p:cNvPr>
          <p:cNvSpPr/>
          <p:nvPr/>
        </p:nvSpPr>
        <p:spPr>
          <a:xfrm rot="5400000">
            <a:off x="6420849" y="-645211"/>
            <a:ext cx="343685" cy="5870308"/>
          </a:xfrm>
          <a:prstGeom prst="leftBrace">
            <a:avLst/>
          </a:prstGeom>
          <a:ln>
            <a:solidFill>
              <a:srgbClr val="0055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R"/>
          </a:p>
        </p:txBody>
      </p:sp>
      <p:sp>
        <p:nvSpPr>
          <p:cNvPr id="68" name="TextBox 67">
            <a:extLst>
              <a:ext uri="{FF2B5EF4-FFF2-40B4-BE49-F238E27FC236}">
                <a16:creationId xmlns:a16="http://schemas.microsoft.com/office/drawing/2014/main" id="{C7981DBD-2C07-FB9C-DCBD-D965943C4A4C}"/>
              </a:ext>
            </a:extLst>
          </p:cNvPr>
          <p:cNvSpPr txBox="1"/>
          <p:nvPr/>
        </p:nvSpPr>
        <p:spPr>
          <a:xfrm>
            <a:off x="9527846" y="2217831"/>
            <a:ext cx="697627" cy="261610"/>
          </a:xfrm>
          <a:prstGeom prst="rect">
            <a:avLst/>
          </a:prstGeom>
          <a:noFill/>
        </p:spPr>
        <p:txBody>
          <a:bodyPr wrap="none" rtlCol="0">
            <a:spAutoFit/>
          </a:bodyPr>
          <a:lstStyle/>
          <a:p>
            <a:r>
              <a:rPr lang="fr-FR" sz="1100" i="1" err="1"/>
              <a:t>generate</a:t>
            </a:r>
            <a:endParaRPr lang="en-FR" sz="1100" i="1"/>
          </a:p>
        </p:txBody>
      </p:sp>
      <p:cxnSp>
        <p:nvCxnSpPr>
          <p:cNvPr id="69" name="Straight Arrow Connector 68">
            <a:extLst>
              <a:ext uri="{FF2B5EF4-FFF2-40B4-BE49-F238E27FC236}">
                <a16:creationId xmlns:a16="http://schemas.microsoft.com/office/drawing/2014/main" id="{BA43A045-1B9A-052C-A2C4-AF24F11E5312}"/>
              </a:ext>
            </a:extLst>
          </p:cNvPr>
          <p:cNvCxnSpPr>
            <a:cxnSpLocks/>
            <a:stCxn id="46" idx="4"/>
            <a:endCxn id="49" idx="0"/>
          </p:cNvCxnSpPr>
          <p:nvPr/>
        </p:nvCxnSpPr>
        <p:spPr>
          <a:xfrm>
            <a:off x="4561735" y="3291691"/>
            <a:ext cx="0" cy="2051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9C1DA853-BB97-02D7-28CF-079B73D03AFD}"/>
              </a:ext>
            </a:extLst>
          </p:cNvPr>
          <p:cNvCxnSpPr>
            <a:cxnSpLocks/>
            <a:stCxn id="47" idx="4"/>
            <a:endCxn id="50" idx="0"/>
          </p:cNvCxnSpPr>
          <p:nvPr/>
        </p:nvCxnSpPr>
        <p:spPr>
          <a:xfrm>
            <a:off x="6617395" y="3291690"/>
            <a:ext cx="1" cy="205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CF3CFD56-B031-F3AB-1696-6557F1368BAB}"/>
              </a:ext>
            </a:extLst>
          </p:cNvPr>
          <p:cNvCxnSpPr>
            <a:cxnSpLocks/>
            <a:stCxn id="48" idx="4"/>
            <a:endCxn id="51" idx="0"/>
          </p:cNvCxnSpPr>
          <p:nvPr/>
        </p:nvCxnSpPr>
        <p:spPr>
          <a:xfrm>
            <a:off x="8673055" y="3277254"/>
            <a:ext cx="2" cy="219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5C8C02FA-4ACE-AD8D-354B-F6753DEEAC9A}"/>
              </a:ext>
            </a:extLst>
          </p:cNvPr>
          <p:cNvSpPr txBox="1"/>
          <p:nvPr/>
        </p:nvSpPr>
        <p:spPr>
          <a:xfrm>
            <a:off x="4905409" y="1489869"/>
            <a:ext cx="479618" cy="261610"/>
          </a:xfrm>
          <a:prstGeom prst="rect">
            <a:avLst/>
          </a:prstGeom>
          <a:noFill/>
        </p:spPr>
        <p:txBody>
          <a:bodyPr wrap="none" rtlCol="0">
            <a:spAutoFit/>
          </a:bodyPr>
          <a:lstStyle/>
          <a:p>
            <a:r>
              <a:rPr lang="fr-FR" sz="1100" i="1" dirty="0"/>
              <a:t>input</a:t>
            </a:r>
            <a:endParaRPr lang="en-FR" sz="1100" i="1" dirty="0"/>
          </a:p>
        </p:txBody>
      </p:sp>
      <p:pic>
        <p:nvPicPr>
          <p:cNvPr id="73" name="Graphic 72" descr="Lightbulb and gear with solid fill">
            <a:extLst>
              <a:ext uri="{FF2B5EF4-FFF2-40B4-BE49-F238E27FC236}">
                <a16:creationId xmlns:a16="http://schemas.microsoft.com/office/drawing/2014/main" id="{3B0BD3B1-DDA7-C0C8-9C10-D8C631BA3126}"/>
              </a:ext>
            </a:extLst>
          </p:cNvPr>
          <p:cNvPicPr>
            <a:picLocks noChangeAspect="1"/>
          </p:cNvPicPr>
          <p:nvPr/>
        </p:nvPicPr>
        <p:blipFill>
          <a:blip r:embed="rId3">
            <a:alphaModFix/>
            <a:extLst>
              <a:ext uri="{96DAC541-7B7A-43D3-8B79-37D633B846F1}">
                <asvg:svgBlip xmlns:asvg="http://schemas.microsoft.com/office/drawing/2016/SVG/main" r:embed="rId4"/>
              </a:ext>
            </a:extLst>
          </a:blip>
          <a:stretch>
            <a:fillRect/>
          </a:stretch>
        </p:blipFill>
        <p:spPr>
          <a:xfrm>
            <a:off x="155142" y="260967"/>
            <a:ext cx="844390" cy="844390"/>
          </a:xfrm>
          <a:prstGeom prst="rect">
            <a:avLst/>
          </a:prstGeom>
        </p:spPr>
      </p:pic>
      <p:sp>
        <p:nvSpPr>
          <p:cNvPr id="16" name="Rectangle 15">
            <a:extLst>
              <a:ext uri="{FF2B5EF4-FFF2-40B4-BE49-F238E27FC236}">
                <a16:creationId xmlns:a16="http://schemas.microsoft.com/office/drawing/2014/main" id="{43B7BB6B-0942-8DCB-2802-C9E1FD55CE1B}"/>
              </a:ext>
            </a:extLst>
          </p:cNvPr>
          <p:cNvSpPr/>
          <p:nvPr/>
        </p:nvSpPr>
        <p:spPr>
          <a:xfrm>
            <a:off x="2953063" y="1648704"/>
            <a:ext cx="1847140" cy="442404"/>
          </a:xfrm>
          <a:prstGeom prst="rect">
            <a:avLst/>
          </a:prstGeom>
          <a:solidFill>
            <a:srgbClr val="E3AB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a:t>Expected</a:t>
            </a:r>
            <a:r>
              <a:rPr lang="fr-FR" dirty="0"/>
              <a:t> Labels</a:t>
            </a:r>
            <a:endParaRPr lang="en-FR" dirty="0"/>
          </a:p>
        </p:txBody>
      </p:sp>
      <p:cxnSp>
        <p:nvCxnSpPr>
          <p:cNvPr id="19" name="Straight Arrow Connector 18">
            <a:extLst>
              <a:ext uri="{FF2B5EF4-FFF2-40B4-BE49-F238E27FC236}">
                <a16:creationId xmlns:a16="http://schemas.microsoft.com/office/drawing/2014/main" id="{543F286C-6E56-FBF2-A5D5-81F05E713D60}"/>
              </a:ext>
            </a:extLst>
          </p:cNvPr>
          <p:cNvCxnSpPr>
            <a:cxnSpLocks/>
            <a:stCxn id="16" idx="3"/>
            <a:endCxn id="3" idx="2"/>
          </p:cNvCxnSpPr>
          <p:nvPr/>
        </p:nvCxnSpPr>
        <p:spPr>
          <a:xfrm flipV="1">
            <a:off x="4800203" y="1686711"/>
            <a:ext cx="796651" cy="183195"/>
          </a:xfrm>
          <a:prstGeom prst="straightConnector1">
            <a:avLst/>
          </a:prstGeom>
          <a:ln>
            <a:solidFill>
              <a:srgbClr val="4B85F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3455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500"/>
                                  </p:stCondLst>
                                  <p:childTnLst>
                                    <p:set>
                                      <p:cBhvr>
                                        <p:cTn id="17" dur="1" fill="hold">
                                          <p:stCondLst>
                                            <p:cond delay="0"/>
                                          </p:stCondLst>
                                        </p:cTn>
                                        <p:tgtEl>
                                          <p:spTgt spid="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68"/>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500"/>
                                  </p:stCondLst>
                                  <p:childTnLst>
                                    <p:set>
                                      <p:cBhvr>
                                        <p:cTn id="26" dur="1" fill="hold">
                                          <p:stCondLst>
                                            <p:cond delay="0"/>
                                          </p:stCondLst>
                                        </p:cTn>
                                        <p:tgtEl>
                                          <p:spTgt spid="4"/>
                                        </p:tgtEl>
                                        <p:attrNameLst>
                                          <p:attrName>style.visibility</p:attrName>
                                        </p:attrNameLst>
                                      </p:cBhvr>
                                      <p:to>
                                        <p:strVal val="visible"/>
                                      </p:to>
                                    </p:set>
                                  </p:childTnLst>
                                </p:cTn>
                              </p:par>
                            </p:childTnLst>
                          </p:cTn>
                        </p:par>
                        <p:par>
                          <p:cTn id="27" fill="hold">
                            <p:stCondLst>
                              <p:cond delay="500"/>
                            </p:stCondLst>
                            <p:childTnLst>
                              <p:par>
                                <p:cTn id="28" presetID="1" presetClass="entr" presetSubtype="0" fill="hold" grpId="0" nodeType="afterEffect">
                                  <p:stCondLst>
                                    <p:cond delay="500"/>
                                  </p:stCondLst>
                                  <p:childTnLst>
                                    <p:set>
                                      <p:cBhvr>
                                        <p:cTn id="29" dur="1" fill="hold">
                                          <p:stCondLst>
                                            <p:cond delay="0"/>
                                          </p:stCondLst>
                                        </p:cTn>
                                        <p:tgtEl>
                                          <p:spTgt spid="5"/>
                                        </p:tgtEl>
                                        <p:attrNameLst>
                                          <p:attrName>style.visibility</p:attrName>
                                        </p:attrNameLst>
                                      </p:cBhvr>
                                      <p:to>
                                        <p:strVal val="visible"/>
                                      </p:to>
                                    </p:set>
                                  </p:childTnLst>
                                </p:cTn>
                              </p:par>
                            </p:childTnLst>
                          </p:cTn>
                        </p:par>
                        <p:par>
                          <p:cTn id="30" fill="hold">
                            <p:stCondLst>
                              <p:cond delay="1000"/>
                            </p:stCondLst>
                            <p:childTnLst>
                              <p:par>
                                <p:cTn id="31" presetID="1" presetClass="entr" presetSubtype="0" fill="hold" grpId="0" nodeType="afterEffect">
                                  <p:stCondLst>
                                    <p:cond delay="50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nodeType="afterEffect">
                                  <p:stCondLst>
                                    <p:cond delay="500"/>
                                  </p:stCondLst>
                                  <p:childTnLst>
                                    <p:set>
                                      <p:cBhvr>
                                        <p:cTn id="39" dur="1" fill="hold">
                                          <p:stCondLst>
                                            <p:cond delay="0"/>
                                          </p:stCondLst>
                                        </p:cTn>
                                        <p:tgtEl>
                                          <p:spTgt spid="4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9"/>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6"/>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47"/>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10"/>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11"/>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4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55"/>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nodeType="afterEffect">
                                  <p:stCondLst>
                                    <p:cond delay="500"/>
                                  </p:stCondLst>
                                  <p:childTnLst>
                                    <p:set>
                                      <p:cBhvr>
                                        <p:cTn id="60" dur="1" fill="hold">
                                          <p:stCondLst>
                                            <p:cond delay="0"/>
                                          </p:stCondLst>
                                        </p:cTn>
                                        <p:tgtEl>
                                          <p:spTgt spid="69"/>
                                        </p:tgtEl>
                                        <p:attrNameLst>
                                          <p:attrName>style.visibility</p:attrName>
                                        </p:attrNameLst>
                                      </p:cBhvr>
                                      <p:to>
                                        <p:strVal val="visible"/>
                                      </p:to>
                                    </p:set>
                                  </p:childTnLst>
                                </p:cTn>
                              </p:par>
                            </p:childTnLst>
                          </p:cTn>
                        </p:par>
                        <p:par>
                          <p:cTn id="61" fill="hold">
                            <p:stCondLst>
                              <p:cond delay="500"/>
                            </p:stCondLst>
                            <p:childTnLst>
                              <p:par>
                                <p:cTn id="62" presetID="1" presetClass="entr" presetSubtype="0" fill="hold" grpId="0" nodeType="afterEffect">
                                  <p:stCondLst>
                                    <p:cond delay="0"/>
                                  </p:stCondLst>
                                  <p:childTnLst>
                                    <p:set>
                                      <p:cBhvr>
                                        <p:cTn id="63" dur="1" fill="hold">
                                          <p:stCondLst>
                                            <p:cond delay="0"/>
                                          </p:stCondLst>
                                        </p:cTn>
                                        <p:tgtEl>
                                          <p:spTgt spid="49"/>
                                        </p:tgtEl>
                                        <p:attrNameLst>
                                          <p:attrName>style.visibility</p:attrName>
                                        </p:attrNameLst>
                                      </p:cBhvr>
                                      <p:to>
                                        <p:strVal val="visible"/>
                                      </p:to>
                                    </p:set>
                                  </p:childTnLst>
                                </p:cTn>
                              </p:par>
                            </p:childTnLst>
                          </p:cTn>
                        </p:par>
                        <p:par>
                          <p:cTn id="64" fill="hold">
                            <p:stCondLst>
                              <p:cond delay="500"/>
                            </p:stCondLst>
                            <p:childTnLst>
                              <p:par>
                                <p:cTn id="65" presetID="1" presetClass="entr" presetSubtype="0" fill="hold" nodeType="afterEffect">
                                  <p:stCondLst>
                                    <p:cond delay="500"/>
                                  </p:stCondLst>
                                  <p:childTnLst>
                                    <p:set>
                                      <p:cBhvr>
                                        <p:cTn id="66" dur="1" fill="hold">
                                          <p:stCondLst>
                                            <p:cond delay="0"/>
                                          </p:stCondLst>
                                        </p:cTn>
                                        <p:tgtEl>
                                          <p:spTgt spid="70"/>
                                        </p:tgtEl>
                                        <p:attrNameLst>
                                          <p:attrName>style.visibility</p:attrName>
                                        </p:attrNameLst>
                                      </p:cBhvr>
                                      <p:to>
                                        <p:strVal val="visible"/>
                                      </p:to>
                                    </p:set>
                                  </p:childTnLst>
                                </p:cTn>
                              </p:par>
                            </p:childTnLst>
                          </p:cTn>
                        </p:par>
                        <p:par>
                          <p:cTn id="67" fill="hold">
                            <p:stCondLst>
                              <p:cond delay="1000"/>
                            </p:stCondLst>
                            <p:childTnLst>
                              <p:par>
                                <p:cTn id="68" presetID="1" presetClass="entr" presetSubtype="0" fill="hold" grpId="0" nodeType="afterEffect">
                                  <p:stCondLst>
                                    <p:cond delay="0"/>
                                  </p:stCondLst>
                                  <p:childTnLst>
                                    <p:set>
                                      <p:cBhvr>
                                        <p:cTn id="69" dur="1" fill="hold">
                                          <p:stCondLst>
                                            <p:cond delay="0"/>
                                          </p:stCondLst>
                                        </p:cTn>
                                        <p:tgtEl>
                                          <p:spTgt spid="50"/>
                                        </p:tgtEl>
                                        <p:attrNameLst>
                                          <p:attrName>style.visibility</p:attrName>
                                        </p:attrNameLst>
                                      </p:cBhvr>
                                      <p:to>
                                        <p:strVal val="visible"/>
                                      </p:to>
                                    </p:set>
                                  </p:childTnLst>
                                </p:cTn>
                              </p:par>
                            </p:childTnLst>
                          </p:cTn>
                        </p:par>
                        <p:par>
                          <p:cTn id="70" fill="hold">
                            <p:stCondLst>
                              <p:cond delay="1000"/>
                            </p:stCondLst>
                            <p:childTnLst>
                              <p:par>
                                <p:cTn id="71" presetID="1" presetClass="entr" presetSubtype="0" fill="hold" nodeType="afterEffect">
                                  <p:stCondLst>
                                    <p:cond delay="500"/>
                                  </p:stCondLst>
                                  <p:childTnLst>
                                    <p:set>
                                      <p:cBhvr>
                                        <p:cTn id="72" dur="1" fill="hold">
                                          <p:stCondLst>
                                            <p:cond delay="0"/>
                                          </p:stCondLst>
                                        </p:cTn>
                                        <p:tgtEl>
                                          <p:spTgt spid="71"/>
                                        </p:tgtEl>
                                        <p:attrNameLst>
                                          <p:attrName>style.visibility</p:attrName>
                                        </p:attrNameLst>
                                      </p:cBhvr>
                                      <p:to>
                                        <p:strVal val="visible"/>
                                      </p:to>
                                    </p:set>
                                  </p:childTnLst>
                                </p:cTn>
                              </p:par>
                            </p:childTnLst>
                          </p:cTn>
                        </p:par>
                        <p:par>
                          <p:cTn id="73" fill="hold">
                            <p:stCondLst>
                              <p:cond delay="1500"/>
                            </p:stCondLst>
                            <p:childTnLst>
                              <p:par>
                                <p:cTn id="74" presetID="1" presetClass="entr" presetSubtype="0" fill="hold" grpId="0" nodeType="afterEffect">
                                  <p:stCondLst>
                                    <p:cond delay="0"/>
                                  </p:stCondLst>
                                  <p:childTnLst>
                                    <p:set>
                                      <p:cBhvr>
                                        <p:cTn id="75" dur="1" fill="hold">
                                          <p:stCondLst>
                                            <p:cond delay="0"/>
                                          </p:stCondLst>
                                        </p:cTn>
                                        <p:tgtEl>
                                          <p:spTgt spid="51"/>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7"/>
                                        </p:tgtEl>
                                        <p:attrNameLst>
                                          <p:attrName>style.visibility</p:attrName>
                                        </p:attrNameLst>
                                      </p:cBhvr>
                                      <p:to>
                                        <p:strVal val="visible"/>
                                      </p:to>
                                    </p:set>
                                  </p:childTnLst>
                                </p:cTn>
                              </p:par>
                            </p:childTnLst>
                          </p:cTn>
                        </p:par>
                        <p:par>
                          <p:cTn id="80" fill="hold">
                            <p:stCondLst>
                              <p:cond delay="0"/>
                            </p:stCondLst>
                            <p:childTnLst>
                              <p:par>
                                <p:cTn id="81" presetID="1" presetClass="entr" presetSubtype="0" fill="hold" nodeType="afterEffect">
                                  <p:stCondLst>
                                    <p:cond delay="500"/>
                                  </p:stCondLst>
                                  <p:childTnLst>
                                    <p:set>
                                      <p:cBhvr>
                                        <p:cTn id="82" dur="1" fill="hold">
                                          <p:stCondLst>
                                            <p:cond delay="0"/>
                                          </p:stCondLst>
                                        </p:cTn>
                                        <p:tgtEl>
                                          <p:spTgt spid="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2"/>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5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3"/>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5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4"/>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41"/>
                                        </p:tgtEl>
                                        <p:attrNameLst>
                                          <p:attrName>style.visibility</p:attrName>
                                        </p:attrNameLst>
                                      </p:cBhvr>
                                      <p:to>
                                        <p:strVal val="visible"/>
                                      </p:to>
                                    </p:set>
                                  </p:childTnLst>
                                </p:cTn>
                              </p:par>
                            </p:childTnLst>
                          </p:cTn>
                        </p:par>
                        <p:par>
                          <p:cTn id="101" fill="hold">
                            <p:stCondLst>
                              <p:cond delay="0"/>
                            </p:stCondLst>
                            <p:childTnLst>
                              <p:par>
                                <p:cTn id="102" presetID="1" presetClass="entr" presetSubtype="0" fill="hold" nodeType="afterEffect">
                                  <p:stCondLst>
                                    <p:cond delay="500"/>
                                  </p:stCondLst>
                                  <p:childTnLst>
                                    <p:set>
                                      <p:cBhvr>
                                        <p:cTn id="103" dur="1" fill="hold">
                                          <p:stCondLst>
                                            <p:cond delay="0"/>
                                          </p:stCondLst>
                                        </p:cTn>
                                        <p:tgtEl>
                                          <p:spTgt spid="23"/>
                                        </p:tgtEl>
                                        <p:attrNameLst>
                                          <p:attrName>style.visibility</p:attrName>
                                        </p:attrNameLst>
                                      </p:cBhvr>
                                      <p:to>
                                        <p:strVal val="visible"/>
                                      </p:to>
                                    </p:set>
                                  </p:childTnLst>
                                </p:cTn>
                              </p:par>
                            </p:childTnLst>
                          </p:cTn>
                        </p:par>
                        <p:par>
                          <p:cTn id="104" fill="hold">
                            <p:stCondLst>
                              <p:cond delay="500"/>
                            </p:stCondLst>
                            <p:childTnLst>
                              <p:par>
                                <p:cTn id="105" presetID="1" presetClass="entr" presetSubtype="0" fill="hold" grpId="0" nodeType="afterEffect">
                                  <p:stCondLst>
                                    <p:cond delay="0"/>
                                  </p:stCondLst>
                                  <p:childTnLst>
                                    <p:set>
                                      <p:cBhvr>
                                        <p:cTn id="106" dur="1" fill="hold">
                                          <p:stCondLst>
                                            <p:cond delay="0"/>
                                          </p:stCondLst>
                                        </p:cTn>
                                        <p:tgtEl>
                                          <p:spTgt spid="38"/>
                                        </p:tgtEl>
                                        <p:attrNameLst>
                                          <p:attrName>style.visibility</p:attrName>
                                        </p:attrNameLst>
                                      </p:cBhvr>
                                      <p:to>
                                        <p:strVal val="visible"/>
                                      </p:to>
                                    </p:set>
                                  </p:childTnLst>
                                </p:cTn>
                              </p:par>
                            </p:childTnLst>
                          </p:cTn>
                        </p:par>
                        <p:par>
                          <p:cTn id="107" fill="hold">
                            <p:stCondLst>
                              <p:cond delay="500"/>
                            </p:stCondLst>
                            <p:childTnLst>
                              <p:par>
                                <p:cTn id="108" presetID="1" presetClass="entr" presetSubtype="0" fill="hold" nodeType="afterEffect">
                                  <p:stCondLst>
                                    <p:cond delay="500"/>
                                  </p:stCondLst>
                                  <p:childTnLst>
                                    <p:set>
                                      <p:cBhvr>
                                        <p:cTn id="109" dur="1" fill="hold">
                                          <p:stCondLst>
                                            <p:cond delay="0"/>
                                          </p:stCondLst>
                                        </p:cTn>
                                        <p:tgtEl>
                                          <p:spTgt spid="34"/>
                                        </p:tgtEl>
                                        <p:attrNameLst>
                                          <p:attrName>style.visibility</p:attrName>
                                        </p:attrNameLst>
                                      </p:cBhvr>
                                      <p:to>
                                        <p:strVal val="visible"/>
                                      </p:to>
                                    </p:set>
                                  </p:childTnLst>
                                </p:cTn>
                              </p:par>
                            </p:childTnLst>
                          </p:cTn>
                        </p:par>
                        <p:par>
                          <p:cTn id="110" fill="hold">
                            <p:stCondLst>
                              <p:cond delay="1000"/>
                            </p:stCondLst>
                            <p:childTnLst>
                              <p:par>
                                <p:cTn id="111" presetID="1" presetClass="entr" presetSubtype="0" fill="hold" grpId="0" nodeType="afterEffect">
                                  <p:stCondLst>
                                    <p:cond delay="0"/>
                                  </p:stCondLst>
                                  <p:childTnLst>
                                    <p:set>
                                      <p:cBhvr>
                                        <p:cTn id="112" dur="1" fill="hold">
                                          <p:stCondLst>
                                            <p:cond delay="0"/>
                                          </p:stCondLst>
                                        </p:cTn>
                                        <p:tgtEl>
                                          <p:spTgt spid="39"/>
                                        </p:tgtEl>
                                        <p:attrNameLst>
                                          <p:attrName>style.visibility</p:attrName>
                                        </p:attrNameLst>
                                      </p:cBhvr>
                                      <p:to>
                                        <p:strVal val="visible"/>
                                      </p:to>
                                    </p:set>
                                  </p:childTnLst>
                                </p:cTn>
                              </p:par>
                            </p:childTnLst>
                          </p:cTn>
                        </p:par>
                        <p:par>
                          <p:cTn id="113" fill="hold">
                            <p:stCondLst>
                              <p:cond delay="1000"/>
                            </p:stCondLst>
                            <p:childTnLst>
                              <p:par>
                                <p:cTn id="114" presetID="1" presetClass="entr" presetSubtype="0" fill="hold" nodeType="afterEffect">
                                  <p:stCondLst>
                                    <p:cond delay="500"/>
                                  </p:stCondLst>
                                  <p:childTnLst>
                                    <p:set>
                                      <p:cBhvr>
                                        <p:cTn id="115" dur="1" fill="hold">
                                          <p:stCondLst>
                                            <p:cond delay="0"/>
                                          </p:stCondLst>
                                        </p:cTn>
                                        <p:tgtEl>
                                          <p:spTgt spid="36"/>
                                        </p:tgtEl>
                                        <p:attrNameLst>
                                          <p:attrName>style.visibility</p:attrName>
                                        </p:attrNameLst>
                                      </p:cBhvr>
                                      <p:to>
                                        <p:strVal val="visible"/>
                                      </p:to>
                                    </p:set>
                                  </p:childTnLst>
                                </p:cTn>
                              </p:par>
                            </p:childTnLst>
                          </p:cTn>
                        </p:par>
                        <p:par>
                          <p:cTn id="116" fill="hold">
                            <p:stCondLst>
                              <p:cond delay="1500"/>
                            </p:stCondLst>
                            <p:childTnLst>
                              <p:par>
                                <p:cTn id="117" presetID="1" presetClass="entr" presetSubtype="0" fill="hold" grpId="0" nodeType="afterEffect">
                                  <p:stCondLst>
                                    <p:cond delay="0"/>
                                  </p:stCondLst>
                                  <p:childTnLst>
                                    <p:set>
                                      <p:cBhvr>
                                        <p:cTn id="118" dur="1" fill="hold">
                                          <p:stCondLst>
                                            <p:cond delay="0"/>
                                          </p:stCondLst>
                                        </p:cTn>
                                        <p:tgtEl>
                                          <p:spTgt spid="40"/>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42"/>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43"/>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56"/>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59"/>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60"/>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61"/>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62"/>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64"/>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12" grpId="0" animBg="1"/>
      <p:bldP spid="13" grpId="0" animBg="1"/>
      <p:bldP spid="14" grpId="0" animBg="1"/>
      <p:bldP spid="38" grpId="0" animBg="1"/>
      <p:bldP spid="39" grpId="0" animBg="1"/>
      <p:bldP spid="40" grpId="0" animBg="1"/>
      <p:bldP spid="41" grpId="0"/>
      <p:bldP spid="43" grpId="0"/>
      <p:bldP spid="44" grpId="0" animBg="1"/>
      <p:bldP spid="46" grpId="0" animBg="1"/>
      <p:bldP spid="47" grpId="0" animBg="1"/>
      <p:bldP spid="48" grpId="0" animBg="1"/>
      <p:bldP spid="49" grpId="0" animBg="1"/>
      <p:bldP spid="50" grpId="0" animBg="1"/>
      <p:bldP spid="51" grpId="0" animBg="1"/>
      <p:bldP spid="55" grpId="0"/>
      <p:bldP spid="59" grpId="0" animBg="1"/>
      <p:bldP spid="60" grpId="0" animBg="1"/>
      <p:bldP spid="61" grpId="0" animBg="1"/>
      <p:bldP spid="63" grpId="0" animBg="1"/>
      <p:bldP spid="64" grpId="0"/>
      <p:bldP spid="65" grpId="0" animBg="1"/>
      <p:bldP spid="67" grpId="0" animBg="1"/>
      <p:bldP spid="68" grpId="0"/>
      <p:bldP spid="72" grpId="0"/>
      <p:bldP spid="1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8">
            <a:extLst>
              <a:ext uri="{FF2B5EF4-FFF2-40B4-BE49-F238E27FC236}">
                <a16:creationId xmlns:a16="http://schemas.microsoft.com/office/drawing/2014/main" id="{CEA5B59B-1983-CA98-2F08-1D7D9F75AFE2}"/>
              </a:ext>
            </a:extLst>
          </p:cNvPr>
          <p:cNvSpPr>
            <a:spLocks noGrp="1"/>
          </p:cNvSpPr>
          <p:nvPr>
            <p:ph type="title"/>
          </p:nvPr>
        </p:nvSpPr>
        <p:spPr/>
        <p:txBody>
          <a:bodyPr>
            <a:normAutofit/>
          </a:bodyPr>
          <a:lstStyle/>
          <a:p>
            <a:r>
              <a:rPr lang="en-FR" dirty="0"/>
              <a:t>DATA-SERGe: Speaker Turn-Level Annotation</a:t>
            </a:r>
          </a:p>
        </p:txBody>
      </p:sp>
      <p:pic>
        <p:nvPicPr>
          <p:cNvPr id="9" name="Picture 8">
            <a:extLst>
              <a:ext uri="{FF2B5EF4-FFF2-40B4-BE49-F238E27FC236}">
                <a16:creationId xmlns:a16="http://schemas.microsoft.com/office/drawing/2014/main" id="{A5C96D3E-9948-2B30-A32B-630DFB745FB1}"/>
              </a:ext>
            </a:extLst>
          </p:cNvPr>
          <p:cNvPicPr>
            <a:picLocks noChangeAspect="1"/>
          </p:cNvPicPr>
          <p:nvPr/>
        </p:nvPicPr>
        <p:blipFill>
          <a:blip r:embed="rId3">
            <a:alphaModFix amt="51000"/>
            <a:extLst>
              <a:ext uri="{BEBA8EAE-BF5A-486C-A8C5-ECC9F3942E4B}">
                <a14:imgProps xmlns:a14="http://schemas.microsoft.com/office/drawing/2010/main">
                  <a14:imgLayer r:embed="rId4">
                    <a14:imgEffect>
                      <a14:artisticPhotocopy/>
                    </a14:imgEffect>
                    <a14:imgEffect>
                      <a14:colorTemperature colorTemp="2989"/>
                    </a14:imgEffect>
                  </a14:imgLayer>
                </a14:imgProps>
              </a:ext>
            </a:extLst>
          </a:blip>
          <a:stretch>
            <a:fillRect/>
          </a:stretch>
        </p:blipFill>
        <p:spPr>
          <a:xfrm>
            <a:off x="179856" y="298642"/>
            <a:ext cx="759258" cy="759258"/>
          </a:xfrm>
          <a:prstGeom prst="rect">
            <a:avLst/>
          </a:prstGeom>
          <a:ln>
            <a:noFill/>
          </a:ln>
        </p:spPr>
      </p:pic>
      <p:sp>
        <p:nvSpPr>
          <p:cNvPr id="7" name="TextBox 6">
            <a:extLst>
              <a:ext uri="{FF2B5EF4-FFF2-40B4-BE49-F238E27FC236}">
                <a16:creationId xmlns:a16="http://schemas.microsoft.com/office/drawing/2014/main" id="{6992E499-15DC-B88A-177E-6BBF592513B0}"/>
              </a:ext>
            </a:extLst>
          </p:cNvPr>
          <p:cNvSpPr txBox="1"/>
          <p:nvPr/>
        </p:nvSpPr>
        <p:spPr>
          <a:xfrm>
            <a:off x="3361602" y="2622780"/>
            <a:ext cx="2558425" cy="307777"/>
          </a:xfrm>
          <a:prstGeom prst="rect">
            <a:avLst/>
          </a:prstGeom>
          <a:solidFill>
            <a:schemeClr val="bg1"/>
          </a:solidFill>
        </p:spPr>
        <p:txBody>
          <a:bodyPr wrap="square" rtlCol="0">
            <a:spAutoFit/>
          </a:bodyPr>
          <a:lstStyle/>
          <a:p>
            <a:r>
              <a:rPr lang="en-GB" sz="1400" i="1" dirty="0">
                <a:solidFill>
                  <a:srgbClr val="3A3838"/>
                </a:solidFill>
                <a:latin typeface="Poppins" pitchFamily="2" charset="77"/>
                <a:cs typeface="Poppins" pitchFamily="2" charset="77"/>
              </a:rPr>
              <a:t>Emotion-based S</a:t>
            </a:r>
            <a:r>
              <a:rPr lang="en-FR" sz="1400" i="1" dirty="0">
                <a:solidFill>
                  <a:srgbClr val="3A3838"/>
                </a:solidFill>
                <a:latin typeface="Poppins" pitchFamily="2" charset="77"/>
                <a:cs typeface="Poppins" pitchFamily="2" charset="77"/>
              </a:rPr>
              <a:t>trategies</a:t>
            </a:r>
          </a:p>
        </p:txBody>
      </p:sp>
      <p:sp>
        <p:nvSpPr>
          <p:cNvPr id="12" name="TextBox 11">
            <a:extLst>
              <a:ext uri="{FF2B5EF4-FFF2-40B4-BE49-F238E27FC236}">
                <a16:creationId xmlns:a16="http://schemas.microsoft.com/office/drawing/2014/main" id="{023D8C1F-1842-A1D4-3D6F-D0F5494747F4}"/>
              </a:ext>
            </a:extLst>
          </p:cNvPr>
          <p:cNvSpPr txBox="1"/>
          <p:nvPr/>
        </p:nvSpPr>
        <p:spPr>
          <a:xfrm>
            <a:off x="4533483" y="6096435"/>
            <a:ext cx="3306009" cy="369332"/>
          </a:xfrm>
          <a:prstGeom prst="rect">
            <a:avLst/>
          </a:prstGeom>
          <a:noFill/>
          <a:ln w="19050">
            <a:solidFill>
              <a:srgbClr val="78EEB2"/>
            </a:solidFill>
          </a:ln>
        </p:spPr>
        <p:txBody>
          <a:bodyPr wrap="square">
            <a:spAutoFit/>
          </a:bodyPr>
          <a:lstStyle/>
          <a:p>
            <a:pPr algn="ctr"/>
            <a:r>
              <a:rPr lang="en-FR" dirty="0">
                <a:latin typeface="Poppins" pitchFamily="2" charset="77"/>
                <a:cs typeface="Poppins" pitchFamily="2" charset="77"/>
              </a:rPr>
              <a:t>[‘</a:t>
            </a:r>
            <a:r>
              <a:rPr lang="en-FR" dirty="0">
                <a:solidFill>
                  <a:srgbClr val="4D8AE7"/>
                </a:solidFill>
                <a:latin typeface="Poppins" pitchFamily="2" charset="77"/>
                <a:cs typeface="Poppins" pitchFamily="2" charset="77"/>
              </a:rPr>
              <a:t>I</a:t>
            </a:r>
            <a:r>
              <a:rPr lang="en-FR" dirty="0">
                <a:latin typeface="Poppins" pitchFamily="2" charset="77"/>
                <a:cs typeface="Poppins" pitchFamily="2" charset="77"/>
              </a:rPr>
              <a:t>’, ‘</a:t>
            </a:r>
            <a:r>
              <a:rPr lang="en-FR" dirty="0">
                <a:solidFill>
                  <a:srgbClr val="EC4DCE"/>
                </a:solidFill>
                <a:latin typeface="Poppins" pitchFamily="2" charset="77"/>
                <a:cs typeface="Poppins" pitchFamily="2" charset="77"/>
              </a:rPr>
              <a:t>R</a:t>
            </a:r>
            <a:r>
              <a:rPr lang="en-FR" dirty="0">
                <a:latin typeface="Poppins" pitchFamily="2" charset="77"/>
                <a:cs typeface="Poppins" pitchFamily="2" charset="77"/>
              </a:rPr>
              <a:t>, ‘</a:t>
            </a:r>
            <a:r>
              <a:rPr lang="en-FR" dirty="0">
                <a:solidFill>
                  <a:srgbClr val="4D8AE7"/>
                </a:solidFill>
                <a:latin typeface="Poppins" pitchFamily="2" charset="77"/>
                <a:cs typeface="Poppins" pitchFamily="2" charset="77"/>
              </a:rPr>
              <a:t>I</a:t>
            </a:r>
            <a:r>
              <a:rPr lang="en-FR" dirty="0">
                <a:latin typeface="Poppins" pitchFamily="2" charset="77"/>
                <a:cs typeface="Poppins" pitchFamily="2" charset="77"/>
              </a:rPr>
              <a:t>’, ‘</a:t>
            </a:r>
            <a:r>
              <a:rPr lang="en-FR" dirty="0">
                <a:solidFill>
                  <a:srgbClr val="FF7B2E"/>
                </a:solidFill>
                <a:latin typeface="Poppins" pitchFamily="2" charset="77"/>
                <a:cs typeface="Poppins" pitchFamily="2" charset="77"/>
              </a:rPr>
              <a:t>Satisfaction</a:t>
            </a:r>
            <a:r>
              <a:rPr lang="en-FR" dirty="0">
                <a:latin typeface="Poppins" pitchFamily="2" charset="77"/>
                <a:cs typeface="Poppins" pitchFamily="2" charset="77"/>
              </a:rPr>
              <a:t>’, ‘</a:t>
            </a:r>
            <a:r>
              <a:rPr lang="en-FR" dirty="0">
                <a:solidFill>
                  <a:srgbClr val="70D042"/>
                </a:solidFill>
                <a:latin typeface="Poppins" pitchFamily="2" charset="77"/>
                <a:cs typeface="Poppins" pitchFamily="2" charset="77"/>
              </a:rPr>
              <a:t>P</a:t>
            </a:r>
            <a:r>
              <a:rPr lang="en-FR" dirty="0">
                <a:latin typeface="Poppins" pitchFamily="2" charset="77"/>
                <a:cs typeface="Poppins" pitchFamily="2" charset="77"/>
              </a:rPr>
              <a:t>’]</a:t>
            </a:r>
          </a:p>
        </p:txBody>
      </p:sp>
      <p:sp>
        <p:nvSpPr>
          <p:cNvPr id="13" name="TextBox 12">
            <a:extLst>
              <a:ext uri="{FF2B5EF4-FFF2-40B4-BE49-F238E27FC236}">
                <a16:creationId xmlns:a16="http://schemas.microsoft.com/office/drawing/2014/main" id="{582E8CF8-BBB4-9ADF-7D63-AE703DF8C577}"/>
              </a:ext>
            </a:extLst>
          </p:cNvPr>
          <p:cNvSpPr txBox="1"/>
          <p:nvPr/>
        </p:nvSpPr>
        <p:spPr>
          <a:xfrm>
            <a:off x="1118196" y="3903304"/>
            <a:ext cx="2598788" cy="369332"/>
          </a:xfrm>
          <a:prstGeom prst="rect">
            <a:avLst/>
          </a:prstGeom>
          <a:noFill/>
        </p:spPr>
        <p:txBody>
          <a:bodyPr wrap="none" rtlCol="0">
            <a:spAutoFit/>
          </a:bodyPr>
          <a:lstStyle/>
          <a:p>
            <a:r>
              <a:rPr lang="en-FR" b="1" dirty="0">
                <a:solidFill>
                  <a:srgbClr val="FF7B2E"/>
                </a:solidFill>
                <a:latin typeface="Poppins" pitchFamily="2" charset="77"/>
                <a:cs typeface="Poppins" pitchFamily="2" charset="77"/>
              </a:rPr>
              <a:t>Satisfaction</a:t>
            </a:r>
            <a:r>
              <a:rPr lang="en-FR" dirty="0">
                <a:latin typeface="Poppins" pitchFamily="2" charset="77"/>
                <a:cs typeface="Poppins" pitchFamily="2" charset="77"/>
              </a:rPr>
              <a:t>: Perfect!</a:t>
            </a:r>
          </a:p>
        </p:txBody>
      </p:sp>
      <p:cxnSp>
        <p:nvCxnSpPr>
          <p:cNvPr id="14" name="Elbow Connector 13">
            <a:extLst>
              <a:ext uri="{FF2B5EF4-FFF2-40B4-BE49-F238E27FC236}">
                <a16:creationId xmlns:a16="http://schemas.microsoft.com/office/drawing/2014/main" id="{18F21011-F0CC-F040-CEFF-BC5FFC521472}"/>
              </a:ext>
            </a:extLst>
          </p:cNvPr>
          <p:cNvCxnSpPr>
            <a:cxnSpLocks/>
            <a:stCxn id="50" idx="2"/>
            <a:endCxn id="13" idx="0"/>
          </p:cNvCxnSpPr>
          <p:nvPr/>
        </p:nvCxnSpPr>
        <p:spPr>
          <a:xfrm rot="5400000">
            <a:off x="3390140" y="1106956"/>
            <a:ext cx="1823798" cy="3768898"/>
          </a:xfrm>
          <a:prstGeom prst="bentConnector3">
            <a:avLst>
              <a:gd name="adj1" fmla="val 50000"/>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a:extLst>
              <a:ext uri="{FF2B5EF4-FFF2-40B4-BE49-F238E27FC236}">
                <a16:creationId xmlns:a16="http://schemas.microsoft.com/office/drawing/2014/main" id="{E1B413C8-B42F-C3E9-44DA-E5E9A60E85D2}"/>
              </a:ext>
            </a:extLst>
          </p:cNvPr>
          <p:cNvCxnSpPr>
            <a:cxnSpLocks/>
            <a:stCxn id="13" idx="2"/>
            <a:endCxn id="12" idx="0"/>
          </p:cNvCxnSpPr>
          <p:nvPr/>
        </p:nvCxnSpPr>
        <p:spPr>
          <a:xfrm rot="16200000" flipH="1">
            <a:off x="3390140" y="3300086"/>
            <a:ext cx="1823799" cy="3768898"/>
          </a:xfrm>
          <a:prstGeom prst="bentConnector3">
            <a:avLst>
              <a:gd name="adj1" fmla="val 50000"/>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9C5785D-41A8-5FE1-F231-F10A72FE0CBD}"/>
              </a:ext>
            </a:extLst>
          </p:cNvPr>
          <p:cNvSpPr/>
          <p:nvPr/>
        </p:nvSpPr>
        <p:spPr>
          <a:xfrm>
            <a:off x="3138249" y="2652275"/>
            <a:ext cx="210226" cy="218008"/>
          </a:xfrm>
          <a:prstGeom prst="ellipse">
            <a:avLst/>
          </a:prstGeom>
          <a:solidFill>
            <a:schemeClr val="accent2">
              <a:lumMod val="20000"/>
              <a:lumOff val="80000"/>
            </a:schemeClr>
          </a:solidFill>
          <a:ln>
            <a:solidFill>
              <a:srgbClr val="FF7B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000" b="1">
                <a:solidFill>
                  <a:srgbClr val="FF7B2E"/>
                </a:solidFill>
                <a:latin typeface="Poppins" pitchFamily="2" charset="77"/>
                <a:cs typeface="Poppins" pitchFamily="2" charset="77"/>
              </a:rPr>
              <a:t>1</a:t>
            </a:r>
            <a:endParaRPr lang="en-FR" sz="1600" b="1">
              <a:solidFill>
                <a:srgbClr val="FF7B2E"/>
              </a:solidFill>
              <a:latin typeface="Poppins" pitchFamily="2" charset="77"/>
              <a:cs typeface="Poppins" pitchFamily="2" charset="77"/>
            </a:endParaRPr>
          </a:p>
        </p:txBody>
      </p:sp>
      <p:cxnSp>
        <p:nvCxnSpPr>
          <p:cNvPr id="17" name="Elbow Connector 16">
            <a:extLst>
              <a:ext uri="{FF2B5EF4-FFF2-40B4-BE49-F238E27FC236}">
                <a16:creationId xmlns:a16="http://schemas.microsoft.com/office/drawing/2014/main" id="{68FA45D6-0F90-9E86-1357-A320C3FAEA77}"/>
              </a:ext>
            </a:extLst>
          </p:cNvPr>
          <p:cNvCxnSpPr>
            <a:cxnSpLocks/>
            <a:stCxn id="50" idx="2"/>
            <a:endCxn id="19" idx="0"/>
          </p:cNvCxnSpPr>
          <p:nvPr/>
        </p:nvCxnSpPr>
        <p:spPr>
          <a:xfrm rot="16200000" flipH="1">
            <a:off x="7106917" y="1159077"/>
            <a:ext cx="1716077" cy="3556934"/>
          </a:xfrm>
          <a:prstGeom prst="bentConnector3">
            <a:avLst>
              <a:gd name="adj1" fmla="val 52988"/>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7">
            <a:extLst>
              <a:ext uri="{FF2B5EF4-FFF2-40B4-BE49-F238E27FC236}">
                <a16:creationId xmlns:a16="http://schemas.microsoft.com/office/drawing/2014/main" id="{F2AC8FE3-D6A0-C7D8-49F0-1511B510F9D7}"/>
              </a:ext>
            </a:extLst>
          </p:cNvPr>
          <p:cNvCxnSpPr>
            <a:cxnSpLocks/>
            <a:stCxn id="20" idx="2"/>
            <a:endCxn id="12" idx="0"/>
          </p:cNvCxnSpPr>
          <p:nvPr/>
        </p:nvCxnSpPr>
        <p:spPr>
          <a:xfrm rot="5400000">
            <a:off x="7374212" y="3727224"/>
            <a:ext cx="1181487" cy="3556934"/>
          </a:xfrm>
          <a:prstGeom prst="bentConnector3">
            <a:avLst>
              <a:gd name="adj1" fmla="val 23116"/>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DB47B4A-E96E-268B-46BE-6A9482909633}"/>
              </a:ext>
            </a:extLst>
          </p:cNvPr>
          <p:cNvSpPr txBox="1"/>
          <p:nvPr/>
        </p:nvSpPr>
        <p:spPr>
          <a:xfrm>
            <a:off x="7725081" y="3795583"/>
            <a:ext cx="4036682" cy="584775"/>
          </a:xfrm>
          <a:prstGeom prst="rect">
            <a:avLst/>
          </a:prstGeom>
          <a:noFill/>
        </p:spPr>
        <p:txBody>
          <a:bodyPr wrap="none" rtlCol="0">
            <a:spAutoFit/>
          </a:bodyPr>
          <a:lstStyle/>
          <a:p>
            <a:pPr algn="ctr"/>
            <a:r>
              <a:rPr lang="en-FR" sz="1600" dirty="0">
                <a:solidFill>
                  <a:srgbClr val="4D8AE7"/>
                </a:solidFill>
                <a:latin typeface="Poppins" pitchFamily="2" charset="77"/>
                <a:cs typeface="Poppins" pitchFamily="2" charset="77"/>
              </a:rPr>
              <a:t>&lt;i&gt; yes.&lt;/i&gt; </a:t>
            </a:r>
            <a:r>
              <a:rPr lang="en-FR" sz="1600" dirty="0">
                <a:solidFill>
                  <a:srgbClr val="EC4DCE"/>
                </a:solidFill>
                <a:latin typeface="Poppins" pitchFamily="2" charset="77"/>
                <a:cs typeface="Poppins" pitchFamily="2" charset="77"/>
              </a:rPr>
              <a:t>&lt;R&gt; five pm.&lt;/R&gt; </a:t>
            </a:r>
            <a:br>
              <a:rPr lang="en-FR" sz="1600" dirty="0">
                <a:latin typeface="Poppins" pitchFamily="2" charset="77"/>
                <a:cs typeface="Poppins" pitchFamily="2" charset="77"/>
              </a:rPr>
            </a:br>
            <a:r>
              <a:rPr lang="en-FR" sz="1600" dirty="0">
                <a:solidFill>
                  <a:srgbClr val="4D8AE7"/>
                </a:solidFill>
                <a:latin typeface="Poppins" pitchFamily="2" charset="77"/>
                <a:cs typeface="Poppins" pitchFamily="2" charset="77"/>
              </a:rPr>
              <a:t>&lt;I&gt;ok, perfect, &lt;/I&gt; </a:t>
            </a:r>
            <a:r>
              <a:rPr lang="en-FR" sz="1600" dirty="0">
                <a:solidFill>
                  <a:srgbClr val="70D042"/>
                </a:solidFill>
                <a:latin typeface="Poppins" pitchFamily="2" charset="77"/>
                <a:cs typeface="Poppins" pitchFamily="2" charset="77"/>
              </a:rPr>
              <a:t>&lt;P&gt; Thank you. &lt;/P&gt;</a:t>
            </a:r>
          </a:p>
        </p:txBody>
      </p:sp>
      <p:sp>
        <p:nvSpPr>
          <p:cNvPr id="20" name="TextBox 19">
            <a:extLst>
              <a:ext uri="{FF2B5EF4-FFF2-40B4-BE49-F238E27FC236}">
                <a16:creationId xmlns:a16="http://schemas.microsoft.com/office/drawing/2014/main" id="{8B924016-AFBD-AF64-E438-AA072CC77101}"/>
              </a:ext>
            </a:extLst>
          </p:cNvPr>
          <p:cNvSpPr txBox="1"/>
          <p:nvPr/>
        </p:nvSpPr>
        <p:spPr>
          <a:xfrm>
            <a:off x="8601332" y="4545616"/>
            <a:ext cx="2284179" cy="369332"/>
          </a:xfrm>
          <a:prstGeom prst="rect">
            <a:avLst/>
          </a:prstGeom>
          <a:noFill/>
          <a:ln w="38100">
            <a:noFill/>
          </a:ln>
        </p:spPr>
        <p:txBody>
          <a:bodyPr wrap="square">
            <a:spAutoFit/>
          </a:bodyPr>
          <a:lstStyle/>
          <a:p>
            <a:pPr algn="ctr"/>
            <a:r>
              <a:rPr lang="en-FR">
                <a:latin typeface="Poppins" pitchFamily="2" charset="77"/>
                <a:cs typeface="Poppins" pitchFamily="2" charset="77"/>
              </a:rPr>
              <a:t>[‘</a:t>
            </a:r>
            <a:r>
              <a:rPr lang="en-FR">
                <a:solidFill>
                  <a:srgbClr val="4D8AE7"/>
                </a:solidFill>
                <a:latin typeface="Poppins" pitchFamily="2" charset="77"/>
                <a:cs typeface="Poppins" pitchFamily="2" charset="77"/>
              </a:rPr>
              <a:t>I</a:t>
            </a:r>
            <a:r>
              <a:rPr lang="en-FR">
                <a:latin typeface="Poppins" pitchFamily="2" charset="77"/>
                <a:cs typeface="Poppins" pitchFamily="2" charset="77"/>
              </a:rPr>
              <a:t>’, ‘</a:t>
            </a:r>
            <a:r>
              <a:rPr lang="en-FR">
                <a:solidFill>
                  <a:srgbClr val="EC4DCE"/>
                </a:solidFill>
                <a:latin typeface="Poppins" pitchFamily="2" charset="77"/>
                <a:cs typeface="Poppins" pitchFamily="2" charset="77"/>
              </a:rPr>
              <a:t>R</a:t>
            </a:r>
            <a:r>
              <a:rPr lang="en-FR">
                <a:latin typeface="Poppins" pitchFamily="2" charset="77"/>
                <a:cs typeface="Poppins" pitchFamily="2" charset="77"/>
              </a:rPr>
              <a:t>’, ‘</a:t>
            </a:r>
            <a:r>
              <a:rPr lang="en-FR">
                <a:solidFill>
                  <a:srgbClr val="4D8AE7"/>
                </a:solidFill>
                <a:latin typeface="Poppins" pitchFamily="2" charset="77"/>
                <a:cs typeface="Poppins" pitchFamily="2" charset="77"/>
              </a:rPr>
              <a:t>I</a:t>
            </a:r>
            <a:r>
              <a:rPr lang="en-FR">
                <a:latin typeface="Poppins" pitchFamily="2" charset="77"/>
                <a:cs typeface="Poppins" pitchFamily="2" charset="77"/>
              </a:rPr>
              <a:t>’, </a:t>
            </a:r>
            <a:r>
              <a:rPr lang="en-FR">
                <a:solidFill>
                  <a:srgbClr val="70D042"/>
                </a:solidFill>
                <a:latin typeface="Poppins" pitchFamily="2" charset="77"/>
                <a:cs typeface="Poppins" pitchFamily="2" charset="77"/>
              </a:rPr>
              <a:t>‘P’</a:t>
            </a:r>
            <a:r>
              <a:rPr lang="en-FR">
                <a:latin typeface="Poppins" pitchFamily="2" charset="77"/>
                <a:cs typeface="Poppins" pitchFamily="2" charset="77"/>
              </a:rPr>
              <a:t>]</a:t>
            </a:r>
          </a:p>
        </p:txBody>
      </p:sp>
      <p:cxnSp>
        <p:nvCxnSpPr>
          <p:cNvPr id="21" name="Straight Arrow Connector 20">
            <a:extLst>
              <a:ext uri="{FF2B5EF4-FFF2-40B4-BE49-F238E27FC236}">
                <a16:creationId xmlns:a16="http://schemas.microsoft.com/office/drawing/2014/main" id="{910E7836-1822-F1EF-E43A-9B890EB05DEC}"/>
              </a:ext>
            </a:extLst>
          </p:cNvPr>
          <p:cNvCxnSpPr>
            <a:cxnSpLocks/>
            <a:stCxn id="19" idx="2"/>
            <a:endCxn id="20" idx="0"/>
          </p:cNvCxnSpPr>
          <p:nvPr/>
        </p:nvCxnSpPr>
        <p:spPr>
          <a:xfrm>
            <a:off x="9743422" y="4380358"/>
            <a:ext cx="0" cy="165258"/>
          </a:xfrm>
          <a:prstGeom prst="straightConnector1">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D60CAB0-052C-ED75-5B09-8FBE5036F1DF}"/>
              </a:ext>
            </a:extLst>
          </p:cNvPr>
          <p:cNvSpPr txBox="1"/>
          <p:nvPr/>
        </p:nvSpPr>
        <p:spPr>
          <a:xfrm>
            <a:off x="6720654" y="2622780"/>
            <a:ext cx="1990075" cy="307777"/>
          </a:xfrm>
          <a:prstGeom prst="rect">
            <a:avLst/>
          </a:prstGeom>
          <a:solidFill>
            <a:schemeClr val="bg1"/>
          </a:solidFill>
        </p:spPr>
        <p:txBody>
          <a:bodyPr wrap="square" rtlCol="0">
            <a:spAutoFit/>
          </a:bodyPr>
          <a:lstStyle/>
          <a:p>
            <a:r>
              <a:rPr lang="fr-FR" sz="1400" i="1" dirty="0">
                <a:solidFill>
                  <a:srgbClr val="3A3838"/>
                </a:solidFill>
                <a:latin typeface="Poppins" pitchFamily="2" charset="77"/>
                <a:cs typeface="Poppins" pitchFamily="2" charset="77"/>
              </a:rPr>
              <a:t>Dialogue </a:t>
            </a:r>
            <a:r>
              <a:rPr lang="fr-FR" sz="1400" i="1" dirty="0" err="1">
                <a:solidFill>
                  <a:srgbClr val="3A3838"/>
                </a:solidFill>
                <a:latin typeface="Poppins" pitchFamily="2" charset="77"/>
                <a:cs typeface="Poppins" pitchFamily="2" charset="77"/>
              </a:rPr>
              <a:t>Strategies</a:t>
            </a:r>
            <a:endParaRPr lang="en-FR" sz="1400" i="1" dirty="0">
              <a:solidFill>
                <a:srgbClr val="3A3838"/>
              </a:solidFill>
              <a:latin typeface="Poppins" pitchFamily="2" charset="77"/>
              <a:cs typeface="Poppins" pitchFamily="2" charset="77"/>
            </a:endParaRPr>
          </a:p>
        </p:txBody>
      </p:sp>
      <p:sp>
        <p:nvSpPr>
          <p:cNvPr id="23" name="Oval 22">
            <a:extLst>
              <a:ext uri="{FF2B5EF4-FFF2-40B4-BE49-F238E27FC236}">
                <a16:creationId xmlns:a16="http://schemas.microsoft.com/office/drawing/2014/main" id="{6C77E9C6-7635-513B-B197-E6991F8C39CB}"/>
              </a:ext>
            </a:extLst>
          </p:cNvPr>
          <p:cNvSpPr/>
          <p:nvPr/>
        </p:nvSpPr>
        <p:spPr>
          <a:xfrm>
            <a:off x="6518057" y="2654413"/>
            <a:ext cx="223354" cy="218008"/>
          </a:xfrm>
          <a:prstGeom prst="ellipse">
            <a:avLst/>
          </a:prstGeom>
          <a:solidFill>
            <a:srgbClr val="F4E3F9"/>
          </a:solidFill>
          <a:ln>
            <a:solidFill>
              <a:srgbClr val="B08A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000" b="1">
                <a:solidFill>
                  <a:srgbClr val="B08AB4"/>
                </a:solidFill>
                <a:latin typeface="Poppins" pitchFamily="2" charset="77"/>
                <a:cs typeface="Poppins" pitchFamily="2" charset="77"/>
              </a:rPr>
              <a:t>2</a:t>
            </a:r>
            <a:endParaRPr lang="en-FR" sz="1600" b="1">
              <a:solidFill>
                <a:srgbClr val="B08AB4"/>
              </a:solidFill>
              <a:latin typeface="Poppins" pitchFamily="2" charset="77"/>
              <a:cs typeface="Poppins" pitchFamily="2" charset="77"/>
            </a:endParaRPr>
          </a:p>
        </p:txBody>
      </p:sp>
      <p:sp>
        <p:nvSpPr>
          <p:cNvPr id="24" name="TextBox 23">
            <a:extLst>
              <a:ext uri="{FF2B5EF4-FFF2-40B4-BE49-F238E27FC236}">
                <a16:creationId xmlns:a16="http://schemas.microsoft.com/office/drawing/2014/main" id="{32C8461F-AEDA-1782-4E4B-3DE95C318B54}"/>
              </a:ext>
            </a:extLst>
          </p:cNvPr>
          <p:cNvSpPr txBox="1"/>
          <p:nvPr/>
        </p:nvSpPr>
        <p:spPr>
          <a:xfrm>
            <a:off x="5526968" y="4761060"/>
            <a:ext cx="2213686" cy="307777"/>
          </a:xfrm>
          <a:prstGeom prst="rect">
            <a:avLst/>
          </a:prstGeom>
          <a:solidFill>
            <a:schemeClr val="bg1"/>
          </a:solidFill>
        </p:spPr>
        <p:txBody>
          <a:bodyPr wrap="square" rtlCol="0">
            <a:spAutoFit/>
          </a:bodyPr>
          <a:lstStyle/>
          <a:p>
            <a:r>
              <a:rPr lang="fr-FR" sz="1400" i="1" dirty="0">
                <a:solidFill>
                  <a:srgbClr val="3A3838"/>
                </a:solidFill>
                <a:latin typeface="Poppins" pitchFamily="2" charset="77"/>
                <a:cs typeface="Poppins" pitchFamily="2" charset="77"/>
              </a:rPr>
              <a:t>Fusion of </a:t>
            </a:r>
            <a:r>
              <a:rPr lang="fr-FR" sz="1400" i="1" dirty="0" err="1">
                <a:solidFill>
                  <a:srgbClr val="3A3838"/>
                </a:solidFill>
                <a:latin typeface="Poppins" pitchFamily="2" charset="77"/>
                <a:cs typeface="Poppins" pitchFamily="2" charset="77"/>
              </a:rPr>
              <a:t>Annnotation</a:t>
            </a:r>
            <a:endParaRPr lang="en-FR" sz="1400" i="1" dirty="0">
              <a:solidFill>
                <a:srgbClr val="3A3838"/>
              </a:solidFill>
              <a:latin typeface="Poppins" pitchFamily="2" charset="77"/>
              <a:cs typeface="Poppins" pitchFamily="2" charset="77"/>
            </a:endParaRPr>
          </a:p>
        </p:txBody>
      </p:sp>
      <p:sp>
        <p:nvSpPr>
          <p:cNvPr id="25" name="Oval 24">
            <a:extLst>
              <a:ext uri="{FF2B5EF4-FFF2-40B4-BE49-F238E27FC236}">
                <a16:creationId xmlns:a16="http://schemas.microsoft.com/office/drawing/2014/main" id="{0BDCAD9A-A9B3-FB0B-2F4A-B7B5A5892BD4}"/>
              </a:ext>
            </a:extLst>
          </p:cNvPr>
          <p:cNvSpPr/>
          <p:nvPr/>
        </p:nvSpPr>
        <p:spPr>
          <a:xfrm>
            <a:off x="5303614" y="4790555"/>
            <a:ext cx="223354" cy="218008"/>
          </a:xfrm>
          <a:prstGeom prst="ellipse">
            <a:avLst/>
          </a:prstGeom>
          <a:solidFill>
            <a:srgbClr val="D5F9D7"/>
          </a:solidFill>
          <a:ln>
            <a:solidFill>
              <a:srgbClr val="78EE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000" b="1" dirty="0">
                <a:solidFill>
                  <a:srgbClr val="60C08F"/>
                </a:solidFill>
                <a:latin typeface="Poppins" pitchFamily="2" charset="77"/>
                <a:cs typeface="Poppins" pitchFamily="2" charset="77"/>
              </a:rPr>
              <a:t>3</a:t>
            </a:r>
            <a:endParaRPr lang="en-FR" sz="1600" b="1" dirty="0">
              <a:solidFill>
                <a:srgbClr val="60C08F"/>
              </a:solidFill>
              <a:latin typeface="Poppins" pitchFamily="2" charset="77"/>
              <a:cs typeface="Poppins" pitchFamily="2" charset="77"/>
            </a:endParaRPr>
          </a:p>
        </p:txBody>
      </p:sp>
      <p:sp>
        <p:nvSpPr>
          <p:cNvPr id="4" name="Oval 3">
            <a:extLst>
              <a:ext uri="{FF2B5EF4-FFF2-40B4-BE49-F238E27FC236}">
                <a16:creationId xmlns:a16="http://schemas.microsoft.com/office/drawing/2014/main" id="{F7506A86-0405-54E2-0FE7-22EA0A6F7527}"/>
              </a:ext>
            </a:extLst>
          </p:cNvPr>
          <p:cNvSpPr/>
          <p:nvPr/>
        </p:nvSpPr>
        <p:spPr>
          <a:xfrm>
            <a:off x="8731674" y="2655108"/>
            <a:ext cx="223354" cy="218008"/>
          </a:xfrm>
          <a:prstGeom prst="ellipse">
            <a:avLst/>
          </a:prstGeom>
          <a:solidFill>
            <a:srgbClr val="D0DCFD"/>
          </a:solidFill>
          <a:ln>
            <a:solidFill>
              <a:srgbClr val="0055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000" b="1">
                <a:solidFill>
                  <a:srgbClr val="0055FF"/>
                </a:solidFill>
                <a:latin typeface="Poppins" pitchFamily="2" charset="77"/>
                <a:cs typeface="Poppins" pitchFamily="2" charset="77"/>
              </a:rPr>
              <a:t>C</a:t>
            </a:r>
            <a:endParaRPr lang="en-FR" sz="1600" b="1">
              <a:solidFill>
                <a:srgbClr val="0055FF"/>
              </a:solidFill>
              <a:latin typeface="Poppins" pitchFamily="2" charset="77"/>
              <a:cs typeface="Poppins" pitchFamily="2" charset="77"/>
            </a:endParaRPr>
          </a:p>
        </p:txBody>
      </p:sp>
      <p:sp>
        <p:nvSpPr>
          <p:cNvPr id="5" name="Oval 4">
            <a:extLst>
              <a:ext uri="{FF2B5EF4-FFF2-40B4-BE49-F238E27FC236}">
                <a16:creationId xmlns:a16="http://schemas.microsoft.com/office/drawing/2014/main" id="{49E405BD-F9CA-4791-6166-C552A5FFF28F}"/>
              </a:ext>
            </a:extLst>
          </p:cNvPr>
          <p:cNvSpPr/>
          <p:nvPr/>
        </p:nvSpPr>
        <p:spPr>
          <a:xfrm>
            <a:off x="9013427" y="2655108"/>
            <a:ext cx="223354" cy="218008"/>
          </a:xfrm>
          <a:prstGeom prst="ellipse">
            <a:avLst/>
          </a:prstGeom>
          <a:solidFill>
            <a:schemeClr val="bg1"/>
          </a:solidFill>
          <a:ln>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000" b="1">
                <a:solidFill>
                  <a:srgbClr val="A5AFF5"/>
                </a:solidFill>
                <a:latin typeface="Poppins" pitchFamily="2" charset="77"/>
                <a:cs typeface="Poppins" pitchFamily="2" charset="77"/>
              </a:rPr>
              <a:t>A</a:t>
            </a:r>
            <a:endParaRPr lang="en-FR" sz="1600" b="1">
              <a:solidFill>
                <a:srgbClr val="A5AFF5"/>
              </a:solidFill>
              <a:latin typeface="Poppins" pitchFamily="2" charset="77"/>
              <a:cs typeface="Poppins" pitchFamily="2" charset="77"/>
            </a:endParaRPr>
          </a:p>
        </p:txBody>
      </p:sp>
      <p:sp>
        <p:nvSpPr>
          <p:cNvPr id="50" name="Rectangle 49">
            <a:extLst>
              <a:ext uri="{FF2B5EF4-FFF2-40B4-BE49-F238E27FC236}">
                <a16:creationId xmlns:a16="http://schemas.microsoft.com/office/drawing/2014/main" id="{53D70063-CDEB-6F47-1BEA-C7F30236F4D5}"/>
              </a:ext>
            </a:extLst>
          </p:cNvPr>
          <p:cNvSpPr/>
          <p:nvPr/>
        </p:nvSpPr>
        <p:spPr>
          <a:xfrm>
            <a:off x="2871788" y="1384561"/>
            <a:ext cx="6629400" cy="694945"/>
          </a:xfrm>
          <a:prstGeom prst="rect">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latin typeface="Poppins" pitchFamily="2" charset="77"/>
                <a:ea typeface="+mn-lt"/>
                <a:cs typeface="Poppins" pitchFamily="2" charset="77"/>
              </a:rPr>
              <a:t>yes. five pm. ok, perfect! Thank you. </a:t>
            </a:r>
            <a:endParaRPr lang="en-FR" dirty="0">
              <a:latin typeface="Poppins" pitchFamily="2" charset="77"/>
              <a:cs typeface="Poppins" pitchFamily="2" charset="77"/>
            </a:endParaRPr>
          </a:p>
        </p:txBody>
      </p:sp>
      <p:sp>
        <p:nvSpPr>
          <p:cNvPr id="11" name="TextBox 10">
            <a:extLst>
              <a:ext uri="{FF2B5EF4-FFF2-40B4-BE49-F238E27FC236}">
                <a16:creationId xmlns:a16="http://schemas.microsoft.com/office/drawing/2014/main" id="{9DD74AF8-E3B8-F24C-5C25-028636916A3E}"/>
              </a:ext>
            </a:extLst>
          </p:cNvPr>
          <p:cNvSpPr txBox="1"/>
          <p:nvPr/>
        </p:nvSpPr>
        <p:spPr>
          <a:xfrm>
            <a:off x="3054805" y="1230672"/>
            <a:ext cx="846663" cy="338554"/>
          </a:xfrm>
          <a:prstGeom prst="rect">
            <a:avLst/>
          </a:prstGeom>
          <a:solidFill>
            <a:schemeClr val="bg1"/>
          </a:solidFill>
          <a:ln w="28575">
            <a:noFill/>
            <a:tailEnd type="triangle"/>
          </a:ln>
        </p:spPr>
        <p:style>
          <a:lnRef idx="1">
            <a:schemeClr val="accent1"/>
          </a:lnRef>
          <a:fillRef idx="0">
            <a:schemeClr val="accent1"/>
          </a:fillRef>
          <a:effectRef idx="0">
            <a:schemeClr val="accent1"/>
          </a:effectRef>
          <a:fontRef idx="minor">
            <a:schemeClr val="tx1"/>
          </a:fontRef>
        </p:style>
        <p:txBody>
          <a:bodyPr wrap="square" lIns="91440" tIns="45720" rIns="91440" bIns="45720" rtlCol="0" anchor="t">
            <a:spAutoFit/>
          </a:bodyPr>
          <a:lstStyle>
            <a:defPPr>
              <a:defRPr lang="en-FR"/>
            </a:defPPr>
            <a:lvl1pPr algn="ctr">
              <a:defRPr sz="1600">
                <a:latin typeface="Poppins" pitchFamily="2" charset="77"/>
                <a:cs typeface="Poppins" pitchFamily="2" charset="77"/>
              </a:defRPr>
            </a:lvl1pPr>
          </a:lstStyle>
          <a:p>
            <a:r>
              <a:rPr lang="en-FR" b="1" dirty="0">
                <a:solidFill>
                  <a:srgbClr val="4B84F4"/>
                </a:solidFill>
              </a:rPr>
              <a:t>INPUT</a:t>
            </a:r>
          </a:p>
        </p:txBody>
      </p:sp>
    </p:spTree>
    <p:extLst>
      <p:ext uri="{BB962C8B-B14F-4D97-AF65-F5344CB8AC3E}">
        <p14:creationId xmlns:p14="http://schemas.microsoft.com/office/powerpoint/2010/main" val="3158813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100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nodeType="afterEffect">
                                  <p:stCondLst>
                                    <p:cond delay="1000"/>
                                  </p:stCondLst>
                                  <p:childTnLst>
                                    <p:set>
                                      <p:cBhvr>
                                        <p:cTn id="36" dur="1" fill="hold">
                                          <p:stCondLst>
                                            <p:cond delay="0"/>
                                          </p:stCondLst>
                                        </p:cTn>
                                        <p:tgtEl>
                                          <p:spTgt spid="21"/>
                                        </p:tgtEl>
                                        <p:attrNameLst>
                                          <p:attrName>style.visibility</p:attrName>
                                        </p:attrNameLst>
                                      </p:cBhvr>
                                      <p:to>
                                        <p:strVal val="visible"/>
                                      </p:to>
                                    </p:set>
                                  </p:childTnLst>
                                </p:cTn>
                              </p:par>
                            </p:childTnLst>
                          </p:cTn>
                        </p:par>
                        <p:par>
                          <p:cTn id="37" fill="hold">
                            <p:stCondLst>
                              <p:cond delay="1000"/>
                            </p:stCondLst>
                            <p:childTnLst>
                              <p:par>
                                <p:cTn id="38" presetID="1" presetClass="entr" presetSubtype="0" fill="hold" grpId="0" nodeType="afterEffect">
                                  <p:stCondLst>
                                    <p:cond delay="1000"/>
                                  </p:stCondLst>
                                  <p:childTnLst>
                                    <p:set>
                                      <p:cBhvr>
                                        <p:cTn id="39" dur="1" fill="hold">
                                          <p:stCondLst>
                                            <p:cond delay="0"/>
                                          </p:stCondLst>
                                        </p:cTn>
                                        <p:tgtEl>
                                          <p:spTgt spid="2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15"/>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0" nodeType="afterEffect">
                                  <p:stCondLst>
                                    <p:cond delay="100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3" grpId="0"/>
      <p:bldP spid="16" grpId="0" animBg="1"/>
      <p:bldP spid="19" grpId="0"/>
      <p:bldP spid="20" grpId="0"/>
      <p:bldP spid="22" grpId="0" animBg="1"/>
      <p:bldP spid="23" grpId="0" animBg="1"/>
      <p:bldP spid="24" grpId="0" animBg="1"/>
      <p:bldP spid="25" grpId="0" animBg="1"/>
      <p:bldP spid="4" grpId="0" animBg="1"/>
      <p:bldP spid="5" grpId="0" animBg="1"/>
      <p:bldP spid="1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2518644-BCE5-3043-9156-CE47CD512DE0}"/>
              </a:ext>
            </a:extLst>
          </p:cNvPr>
          <p:cNvGrpSpPr/>
          <p:nvPr/>
        </p:nvGrpSpPr>
        <p:grpSpPr>
          <a:xfrm>
            <a:off x="8334738" y="1597963"/>
            <a:ext cx="3322320" cy="3420304"/>
            <a:chOff x="8352323" y="1758900"/>
            <a:chExt cx="3322320" cy="3420304"/>
          </a:xfrm>
        </p:grpSpPr>
        <p:sp>
          <p:nvSpPr>
            <p:cNvPr id="6" name="Rectangle 5">
              <a:extLst>
                <a:ext uri="{FF2B5EF4-FFF2-40B4-BE49-F238E27FC236}">
                  <a16:creationId xmlns:a16="http://schemas.microsoft.com/office/drawing/2014/main" id="{6E9694DA-20BF-AD40-AC3E-324A4A206575}"/>
                </a:ext>
              </a:extLst>
            </p:cNvPr>
            <p:cNvSpPr/>
            <p:nvPr/>
          </p:nvSpPr>
          <p:spPr>
            <a:xfrm>
              <a:off x="8352323" y="1758900"/>
              <a:ext cx="3322320" cy="3420304"/>
            </a:xfrm>
            <a:prstGeom prst="rect">
              <a:avLst/>
            </a:prstGeom>
            <a:solidFill>
              <a:srgbClr val="D0DB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FR" sz="2400" dirty="0">
                <a:solidFill>
                  <a:srgbClr val="0055FF"/>
                </a:solidFill>
                <a:latin typeface="Poppins" pitchFamily="2" charset="77"/>
                <a:cs typeface="Poppins" pitchFamily="2" charset="77"/>
              </a:endParaRPr>
            </a:p>
            <a:p>
              <a:pPr algn="ctr"/>
              <a:r>
                <a:rPr lang="en-GB" sz="2400" dirty="0">
                  <a:solidFill>
                    <a:srgbClr val="0055FF"/>
                  </a:solidFill>
                  <a:latin typeface="Poppins" pitchFamily="2" charset="77"/>
                  <a:cs typeface="Poppins" pitchFamily="2" charset="77"/>
                </a:rPr>
                <a:t>Problem resolution status</a:t>
              </a:r>
              <a:endParaRPr lang="en-FR" sz="2400" dirty="0">
                <a:solidFill>
                  <a:srgbClr val="0055FF"/>
                </a:solidFill>
                <a:latin typeface="Poppins" pitchFamily="2" charset="77"/>
                <a:cs typeface="Poppins" pitchFamily="2" charset="77"/>
              </a:endParaRPr>
            </a:p>
          </p:txBody>
        </p:sp>
        <p:sp>
          <p:nvSpPr>
            <p:cNvPr id="8" name="TextBox 7">
              <a:extLst>
                <a:ext uri="{FF2B5EF4-FFF2-40B4-BE49-F238E27FC236}">
                  <a16:creationId xmlns:a16="http://schemas.microsoft.com/office/drawing/2014/main" id="{62B60547-73CD-BE43-8323-A33C178A719B}"/>
                </a:ext>
              </a:extLst>
            </p:cNvPr>
            <p:cNvSpPr txBox="1"/>
            <p:nvPr/>
          </p:nvSpPr>
          <p:spPr>
            <a:xfrm>
              <a:off x="8505668" y="3141112"/>
              <a:ext cx="3015630" cy="1477328"/>
            </a:xfrm>
            <a:prstGeom prst="rect">
              <a:avLst/>
            </a:prstGeom>
            <a:noFill/>
          </p:spPr>
          <p:txBody>
            <a:bodyPr wrap="square">
              <a:spAutoFit/>
            </a:bodyPr>
            <a:lstStyle/>
            <a:p>
              <a:r>
                <a:rPr lang="en-FR" dirty="0">
                  <a:solidFill>
                    <a:srgbClr val="0055FF"/>
                  </a:solidFill>
                  <a:latin typeface="Poppins" pitchFamily="2" charset="77"/>
                  <a:cs typeface="Poppins" pitchFamily="2" charset="77"/>
                </a:rPr>
                <a:t>= </a:t>
              </a:r>
              <a:r>
                <a:rPr lang="en-GB" dirty="0">
                  <a:solidFill>
                    <a:srgbClr val="0055FF"/>
                  </a:solidFill>
                  <a:latin typeface="Poppins" pitchFamily="2" charset="77"/>
                  <a:cs typeface="Poppins" pitchFamily="2" charset="77"/>
                </a:rPr>
                <a:t>indicates the final status of the client’s ground appeal has been identified and resolved by the agent.</a:t>
              </a:r>
              <a:endParaRPr lang="en-FR" sz="2400" dirty="0">
                <a:solidFill>
                  <a:srgbClr val="0055FF"/>
                </a:solidFill>
                <a:latin typeface="Poppins" pitchFamily="2" charset="77"/>
                <a:cs typeface="Poppins" pitchFamily="2" charset="77"/>
              </a:endParaRPr>
            </a:p>
          </p:txBody>
        </p:sp>
      </p:grpSp>
      <p:grpSp>
        <p:nvGrpSpPr>
          <p:cNvPr id="9" name="Group 8">
            <a:extLst>
              <a:ext uri="{FF2B5EF4-FFF2-40B4-BE49-F238E27FC236}">
                <a16:creationId xmlns:a16="http://schemas.microsoft.com/office/drawing/2014/main" id="{0AB7279A-C6C6-9D42-96F3-812F21A2B882}"/>
              </a:ext>
            </a:extLst>
          </p:cNvPr>
          <p:cNvGrpSpPr/>
          <p:nvPr/>
        </p:nvGrpSpPr>
        <p:grpSpPr>
          <a:xfrm>
            <a:off x="499772" y="1597963"/>
            <a:ext cx="3322320" cy="3871796"/>
            <a:chOff x="517357" y="1758900"/>
            <a:chExt cx="3322320" cy="3871796"/>
          </a:xfrm>
        </p:grpSpPr>
        <p:sp>
          <p:nvSpPr>
            <p:cNvPr id="12" name="Rectangle 11">
              <a:extLst>
                <a:ext uri="{FF2B5EF4-FFF2-40B4-BE49-F238E27FC236}">
                  <a16:creationId xmlns:a16="http://schemas.microsoft.com/office/drawing/2014/main" id="{22C90EEF-2609-5747-A4CC-F6189257BC52}"/>
                </a:ext>
              </a:extLst>
            </p:cNvPr>
            <p:cNvSpPr/>
            <p:nvPr/>
          </p:nvSpPr>
          <p:spPr>
            <a:xfrm>
              <a:off x="517357" y="1758900"/>
              <a:ext cx="3322320" cy="3420304"/>
            </a:xfrm>
            <a:prstGeom prst="rect">
              <a:avLst/>
            </a:prstGeom>
            <a:solidFill>
              <a:srgbClr val="D0DB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FR" sz="2400" dirty="0">
                <a:solidFill>
                  <a:srgbClr val="0055FF"/>
                </a:solidFill>
                <a:latin typeface="Poppins" pitchFamily="2" charset="77"/>
                <a:cs typeface="Poppins" pitchFamily="2" charset="77"/>
              </a:endParaRPr>
            </a:p>
            <a:p>
              <a:pPr algn="ctr"/>
              <a:r>
                <a:rPr lang="en-GB" sz="2400" dirty="0">
                  <a:solidFill>
                    <a:srgbClr val="0055FF"/>
                  </a:solidFill>
                  <a:latin typeface="Poppins" pitchFamily="2" charset="77"/>
                  <a:cs typeface="Poppins" pitchFamily="2" charset="77"/>
                </a:rPr>
                <a:t>User </a:t>
              </a:r>
              <a:br>
                <a:rPr lang="en-GB" sz="2400" dirty="0">
                  <a:solidFill>
                    <a:srgbClr val="0055FF"/>
                  </a:solidFill>
                  <a:latin typeface="Poppins" pitchFamily="2" charset="77"/>
                  <a:cs typeface="Poppins" pitchFamily="2" charset="77"/>
                </a:rPr>
              </a:br>
              <a:r>
                <a:rPr lang="en-GB" sz="2400" dirty="0">
                  <a:solidFill>
                    <a:srgbClr val="0055FF"/>
                  </a:solidFill>
                  <a:latin typeface="Poppins" pitchFamily="2" charset="77"/>
                  <a:cs typeface="Poppins" pitchFamily="2" charset="77"/>
                </a:rPr>
                <a:t>Satisfaction</a:t>
              </a:r>
              <a:endParaRPr lang="en-FR" sz="2400" dirty="0">
                <a:solidFill>
                  <a:srgbClr val="0055FF"/>
                </a:solidFill>
                <a:latin typeface="Poppins" pitchFamily="2" charset="77"/>
                <a:cs typeface="Poppins" pitchFamily="2" charset="77"/>
              </a:endParaRPr>
            </a:p>
          </p:txBody>
        </p:sp>
        <p:sp>
          <p:nvSpPr>
            <p:cNvPr id="11" name="Rectangle 10">
              <a:extLst>
                <a:ext uri="{FF2B5EF4-FFF2-40B4-BE49-F238E27FC236}">
                  <a16:creationId xmlns:a16="http://schemas.microsoft.com/office/drawing/2014/main" id="{0706D566-0835-3349-9D16-16C656CC6C4C}"/>
                </a:ext>
              </a:extLst>
            </p:cNvPr>
            <p:cNvSpPr/>
            <p:nvPr/>
          </p:nvSpPr>
          <p:spPr>
            <a:xfrm>
              <a:off x="517357" y="5479170"/>
              <a:ext cx="3322320" cy="151526"/>
            </a:xfrm>
            <a:prstGeom prst="rect">
              <a:avLst/>
            </a:prstGeom>
            <a:solidFill>
              <a:srgbClr val="D33F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grpSp>
      <p:grpSp>
        <p:nvGrpSpPr>
          <p:cNvPr id="14" name="Group 13">
            <a:extLst>
              <a:ext uri="{FF2B5EF4-FFF2-40B4-BE49-F238E27FC236}">
                <a16:creationId xmlns:a16="http://schemas.microsoft.com/office/drawing/2014/main" id="{329E2F26-0AAF-534D-BA5A-BF7E69B33CD6}"/>
              </a:ext>
            </a:extLst>
          </p:cNvPr>
          <p:cNvGrpSpPr/>
          <p:nvPr/>
        </p:nvGrpSpPr>
        <p:grpSpPr>
          <a:xfrm>
            <a:off x="4417255" y="1597963"/>
            <a:ext cx="3322320" cy="3883196"/>
            <a:chOff x="4434840" y="1758900"/>
            <a:chExt cx="3322320" cy="3883196"/>
          </a:xfrm>
        </p:grpSpPr>
        <p:sp>
          <p:nvSpPr>
            <p:cNvPr id="17" name="Rectangle 16">
              <a:extLst>
                <a:ext uri="{FF2B5EF4-FFF2-40B4-BE49-F238E27FC236}">
                  <a16:creationId xmlns:a16="http://schemas.microsoft.com/office/drawing/2014/main" id="{97C67ACE-942B-F841-9F2A-4171707AF832}"/>
                </a:ext>
              </a:extLst>
            </p:cNvPr>
            <p:cNvSpPr/>
            <p:nvPr/>
          </p:nvSpPr>
          <p:spPr>
            <a:xfrm>
              <a:off x="4434840" y="1758900"/>
              <a:ext cx="3322320" cy="3420304"/>
            </a:xfrm>
            <a:prstGeom prst="rect">
              <a:avLst/>
            </a:prstGeom>
            <a:solidFill>
              <a:schemeClr val="bg1"/>
            </a:solid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FR" sz="2400" dirty="0">
                <a:solidFill>
                  <a:srgbClr val="0055FF"/>
                </a:solidFill>
                <a:latin typeface="Poppins" pitchFamily="2" charset="77"/>
                <a:cs typeface="Poppins" pitchFamily="2" charset="77"/>
              </a:endParaRPr>
            </a:p>
            <a:p>
              <a:pPr algn="ctr"/>
              <a:r>
                <a:rPr lang="en-GB" sz="2400" dirty="0">
                  <a:solidFill>
                    <a:srgbClr val="0055FF"/>
                  </a:solidFill>
                  <a:latin typeface="Poppins" pitchFamily="2" charset="77"/>
                  <a:cs typeface="Poppins" pitchFamily="2" charset="77"/>
                </a:rPr>
                <a:t>Agent support quality</a:t>
              </a:r>
              <a:endParaRPr lang="en-FR" sz="2400" dirty="0">
                <a:solidFill>
                  <a:srgbClr val="0055FF"/>
                </a:solidFill>
                <a:latin typeface="Poppins" pitchFamily="2" charset="77"/>
                <a:cs typeface="Poppins" pitchFamily="2" charset="77"/>
              </a:endParaRPr>
            </a:p>
          </p:txBody>
        </p:sp>
        <p:sp>
          <p:nvSpPr>
            <p:cNvPr id="16" name="Rectangle 15">
              <a:extLst>
                <a:ext uri="{FF2B5EF4-FFF2-40B4-BE49-F238E27FC236}">
                  <a16:creationId xmlns:a16="http://schemas.microsoft.com/office/drawing/2014/main" id="{2497A281-FD1F-5048-B88E-F2F59557DB0F}"/>
                </a:ext>
              </a:extLst>
            </p:cNvPr>
            <p:cNvSpPr/>
            <p:nvPr/>
          </p:nvSpPr>
          <p:spPr>
            <a:xfrm>
              <a:off x="4434840" y="5490570"/>
              <a:ext cx="3322320" cy="151526"/>
            </a:xfrm>
            <a:prstGeom prst="rect">
              <a:avLst/>
            </a:prstGeom>
            <a:solidFill>
              <a:srgbClr val="FFC4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dirty="0"/>
            </a:p>
          </p:txBody>
        </p:sp>
      </p:grpSp>
      <p:sp>
        <p:nvSpPr>
          <p:cNvPr id="33" name="Rectangle 32">
            <a:extLst>
              <a:ext uri="{FF2B5EF4-FFF2-40B4-BE49-F238E27FC236}">
                <a16:creationId xmlns:a16="http://schemas.microsoft.com/office/drawing/2014/main" id="{C4F3AFAF-7616-C945-8CF7-49F568D19AFA}"/>
              </a:ext>
            </a:extLst>
          </p:cNvPr>
          <p:cNvSpPr/>
          <p:nvPr/>
        </p:nvSpPr>
        <p:spPr>
          <a:xfrm>
            <a:off x="8334738" y="5298780"/>
            <a:ext cx="3322320" cy="151526"/>
          </a:xfrm>
          <a:prstGeom prst="rect">
            <a:avLst/>
          </a:prstGeom>
          <a:solidFill>
            <a:srgbClr val="B08A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34" name="Rectangle 33">
            <a:extLst>
              <a:ext uri="{FF2B5EF4-FFF2-40B4-BE49-F238E27FC236}">
                <a16:creationId xmlns:a16="http://schemas.microsoft.com/office/drawing/2014/main" id="{39A5DCFD-EC7A-EC47-861C-4F761AAB3105}"/>
              </a:ext>
            </a:extLst>
          </p:cNvPr>
          <p:cNvSpPr/>
          <p:nvPr/>
        </p:nvSpPr>
        <p:spPr>
          <a:xfrm>
            <a:off x="8334738" y="5298780"/>
            <a:ext cx="3322320" cy="151526"/>
          </a:xfrm>
          <a:prstGeom prst="rect">
            <a:avLst/>
          </a:prstGeom>
          <a:solidFill>
            <a:srgbClr val="B08A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37" name="Rectangle 36">
            <a:extLst>
              <a:ext uri="{FF2B5EF4-FFF2-40B4-BE49-F238E27FC236}">
                <a16:creationId xmlns:a16="http://schemas.microsoft.com/office/drawing/2014/main" id="{98E79075-01B1-BF44-B135-EE1630A5FF0D}"/>
              </a:ext>
            </a:extLst>
          </p:cNvPr>
          <p:cNvSpPr/>
          <p:nvPr/>
        </p:nvSpPr>
        <p:spPr>
          <a:xfrm>
            <a:off x="516776" y="5654021"/>
            <a:ext cx="883151" cy="535475"/>
          </a:xfrm>
          <a:prstGeom prst="rect">
            <a:avLst/>
          </a:prstGeom>
          <a:noFill/>
          <a:ln w="28575">
            <a:solidFill>
              <a:srgbClr val="D33F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err="1">
                <a:solidFill>
                  <a:srgbClr val="D33F49"/>
                </a:solidFill>
                <a:latin typeface="Poppins" pitchFamily="2" charset="77"/>
                <a:cs typeface="Poppins" pitchFamily="2" charset="77"/>
              </a:rPr>
              <a:t>Satisifed</a:t>
            </a:r>
            <a:endParaRPr lang="fr-FR" sz="1200" b="1" dirty="0">
              <a:solidFill>
                <a:srgbClr val="D33F49"/>
              </a:solidFill>
              <a:latin typeface="Poppins" pitchFamily="2" charset="77"/>
              <a:cs typeface="Poppins" pitchFamily="2" charset="77"/>
            </a:endParaRPr>
          </a:p>
        </p:txBody>
      </p:sp>
      <p:sp>
        <p:nvSpPr>
          <p:cNvPr id="38" name="Rectangle 37">
            <a:extLst>
              <a:ext uri="{FF2B5EF4-FFF2-40B4-BE49-F238E27FC236}">
                <a16:creationId xmlns:a16="http://schemas.microsoft.com/office/drawing/2014/main" id="{2D7CE4E9-42A7-AD4C-B707-CDE0B694A0BD}"/>
              </a:ext>
            </a:extLst>
          </p:cNvPr>
          <p:cNvSpPr/>
          <p:nvPr/>
        </p:nvSpPr>
        <p:spPr>
          <a:xfrm>
            <a:off x="1584549" y="5654021"/>
            <a:ext cx="883151" cy="535474"/>
          </a:xfrm>
          <a:prstGeom prst="rect">
            <a:avLst/>
          </a:prstGeom>
          <a:noFill/>
          <a:ln w="28575">
            <a:solidFill>
              <a:srgbClr val="D33F49"/>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200" b="1" dirty="0">
                <a:solidFill>
                  <a:srgbClr val="D33F49"/>
                </a:solidFill>
                <a:latin typeface="Poppins" pitchFamily="2" charset="77"/>
                <a:cs typeface="Poppins" pitchFamily="2" charset="77"/>
              </a:rPr>
              <a:t>Neutral</a:t>
            </a:r>
            <a:endParaRPr lang="fr-FR" sz="1600" b="1" dirty="0">
              <a:solidFill>
                <a:srgbClr val="D33F49"/>
              </a:solidFill>
              <a:latin typeface="Poppins" pitchFamily="2" charset="77"/>
              <a:cs typeface="Poppins" pitchFamily="2" charset="77"/>
            </a:endParaRPr>
          </a:p>
        </p:txBody>
      </p:sp>
      <p:sp>
        <p:nvSpPr>
          <p:cNvPr id="41" name="Rectangle 40">
            <a:extLst>
              <a:ext uri="{FF2B5EF4-FFF2-40B4-BE49-F238E27FC236}">
                <a16:creationId xmlns:a16="http://schemas.microsoft.com/office/drawing/2014/main" id="{7471BBC0-1BD5-D541-94F4-E9E2F501628D}"/>
              </a:ext>
            </a:extLst>
          </p:cNvPr>
          <p:cNvSpPr/>
          <p:nvPr/>
        </p:nvSpPr>
        <p:spPr>
          <a:xfrm>
            <a:off x="2692078" y="5654021"/>
            <a:ext cx="1129325" cy="535474"/>
          </a:xfrm>
          <a:prstGeom prst="rect">
            <a:avLst/>
          </a:prstGeom>
          <a:noFill/>
          <a:ln w="28575">
            <a:solidFill>
              <a:srgbClr val="D33F49"/>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200" b="1" dirty="0" err="1">
                <a:solidFill>
                  <a:srgbClr val="D33F49"/>
                </a:solidFill>
                <a:latin typeface="Poppins" pitchFamily="2" charset="77"/>
                <a:cs typeface="Poppins" pitchFamily="2" charset="77"/>
              </a:rPr>
              <a:t>Dissatisfied</a:t>
            </a:r>
            <a:endParaRPr lang="fr-FR" sz="1600" b="1" dirty="0">
              <a:solidFill>
                <a:srgbClr val="D33F49"/>
              </a:solidFill>
              <a:latin typeface="Poppins" pitchFamily="2" charset="77"/>
              <a:cs typeface="Poppins" pitchFamily="2" charset="77"/>
            </a:endParaRPr>
          </a:p>
        </p:txBody>
      </p:sp>
      <p:sp>
        <p:nvSpPr>
          <p:cNvPr id="42" name="Rectangle 41">
            <a:extLst>
              <a:ext uri="{FF2B5EF4-FFF2-40B4-BE49-F238E27FC236}">
                <a16:creationId xmlns:a16="http://schemas.microsoft.com/office/drawing/2014/main" id="{B4F9C8C0-8E6C-174D-BAF3-A409035B87BD}"/>
              </a:ext>
            </a:extLst>
          </p:cNvPr>
          <p:cNvSpPr/>
          <p:nvPr/>
        </p:nvSpPr>
        <p:spPr>
          <a:xfrm>
            <a:off x="4417255" y="5654021"/>
            <a:ext cx="883151" cy="535475"/>
          </a:xfrm>
          <a:prstGeom prst="rect">
            <a:avLst/>
          </a:prstGeom>
          <a:noFill/>
          <a:ln w="28575">
            <a:solidFill>
              <a:srgbClr val="FFC49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200" b="1" dirty="0">
                <a:solidFill>
                  <a:srgbClr val="FFC49B"/>
                </a:solidFill>
                <a:latin typeface="Poppins"/>
                <a:cs typeface="Poppins"/>
              </a:rPr>
              <a:t>Good</a:t>
            </a:r>
            <a:endParaRPr lang="fr-FR" sz="1200" b="1" dirty="0">
              <a:solidFill>
                <a:srgbClr val="FFC49B"/>
              </a:solidFill>
              <a:latin typeface="Poppins" pitchFamily="2" charset="77"/>
              <a:cs typeface="Poppins" pitchFamily="2" charset="77"/>
            </a:endParaRPr>
          </a:p>
        </p:txBody>
      </p:sp>
      <p:sp>
        <p:nvSpPr>
          <p:cNvPr id="43" name="Rectangle 42">
            <a:extLst>
              <a:ext uri="{FF2B5EF4-FFF2-40B4-BE49-F238E27FC236}">
                <a16:creationId xmlns:a16="http://schemas.microsoft.com/office/drawing/2014/main" id="{A61B2A97-A299-6848-9332-046C8C5A116A}"/>
              </a:ext>
            </a:extLst>
          </p:cNvPr>
          <p:cNvSpPr/>
          <p:nvPr/>
        </p:nvSpPr>
        <p:spPr>
          <a:xfrm>
            <a:off x="5524784" y="5654021"/>
            <a:ext cx="883151" cy="535474"/>
          </a:xfrm>
          <a:prstGeom prst="rect">
            <a:avLst/>
          </a:prstGeom>
          <a:noFill/>
          <a:ln w="28575">
            <a:solidFill>
              <a:srgbClr val="FFC49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200" b="1" dirty="0">
                <a:solidFill>
                  <a:srgbClr val="FFC49B"/>
                </a:solidFill>
                <a:latin typeface="Poppins" pitchFamily="2" charset="77"/>
                <a:cs typeface="Poppins" pitchFamily="2" charset="77"/>
              </a:rPr>
              <a:t>Neutral</a:t>
            </a:r>
            <a:endParaRPr lang="fr-FR" sz="1600" b="1" dirty="0">
              <a:solidFill>
                <a:srgbClr val="FFC49B"/>
              </a:solidFill>
              <a:latin typeface="Poppins" pitchFamily="2" charset="77"/>
              <a:cs typeface="Poppins" pitchFamily="2" charset="77"/>
            </a:endParaRPr>
          </a:p>
        </p:txBody>
      </p:sp>
      <p:sp>
        <p:nvSpPr>
          <p:cNvPr id="44" name="Rectangle 43">
            <a:extLst>
              <a:ext uri="{FF2B5EF4-FFF2-40B4-BE49-F238E27FC236}">
                <a16:creationId xmlns:a16="http://schemas.microsoft.com/office/drawing/2014/main" id="{0E150674-C04C-8745-B3A5-468C7A17CEF0}"/>
              </a:ext>
            </a:extLst>
          </p:cNvPr>
          <p:cNvSpPr/>
          <p:nvPr/>
        </p:nvSpPr>
        <p:spPr>
          <a:xfrm>
            <a:off x="6636212" y="5654021"/>
            <a:ext cx="1085670" cy="535474"/>
          </a:xfrm>
          <a:prstGeom prst="rect">
            <a:avLst/>
          </a:prstGeom>
          <a:noFill/>
          <a:ln w="28575">
            <a:solidFill>
              <a:srgbClr val="FFC49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200" b="1" dirty="0">
                <a:solidFill>
                  <a:srgbClr val="FFC49B"/>
                </a:solidFill>
                <a:latin typeface="Poppins" pitchFamily="2" charset="77"/>
                <a:cs typeface="Poppins" pitchFamily="2" charset="77"/>
              </a:rPr>
              <a:t>Bad</a:t>
            </a:r>
            <a:endParaRPr lang="fr-FR" sz="1600" b="1" dirty="0">
              <a:solidFill>
                <a:srgbClr val="FFC49B"/>
              </a:solidFill>
              <a:latin typeface="Poppins" pitchFamily="2" charset="77"/>
              <a:cs typeface="Poppins" pitchFamily="2" charset="77"/>
            </a:endParaRPr>
          </a:p>
        </p:txBody>
      </p:sp>
      <p:sp>
        <p:nvSpPr>
          <p:cNvPr id="2" name="TextBox 1">
            <a:extLst>
              <a:ext uri="{FF2B5EF4-FFF2-40B4-BE49-F238E27FC236}">
                <a16:creationId xmlns:a16="http://schemas.microsoft.com/office/drawing/2014/main" id="{E329AB0F-507B-E24A-94A2-2D3A0702204F}"/>
              </a:ext>
            </a:extLst>
          </p:cNvPr>
          <p:cNvSpPr txBox="1"/>
          <p:nvPr/>
        </p:nvSpPr>
        <p:spPr>
          <a:xfrm>
            <a:off x="609750" y="3000920"/>
            <a:ext cx="3102364" cy="1477328"/>
          </a:xfrm>
          <a:prstGeom prst="rect">
            <a:avLst/>
          </a:prstGeom>
          <a:noFill/>
        </p:spPr>
        <p:txBody>
          <a:bodyPr wrap="square" rtlCol="0">
            <a:spAutoFit/>
          </a:bodyPr>
          <a:lstStyle/>
          <a:p>
            <a:r>
              <a:rPr lang="en-FR" dirty="0">
                <a:solidFill>
                  <a:srgbClr val="0055FF"/>
                </a:solidFill>
                <a:latin typeface="Poppins" pitchFamily="2" charset="77"/>
                <a:cs typeface="Poppins" pitchFamily="2" charset="77"/>
              </a:rPr>
              <a:t>= </a:t>
            </a:r>
            <a:r>
              <a:rPr lang="en-GB" dirty="0">
                <a:solidFill>
                  <a:srgbClr val="0055FF"/>
                </a:solidFill>
                <a:latin typeface="Poppins" pitchFamily="2" charset="77"/>
                <a:cs typeface="Poppins" pitchFamily="2" charset="77"/>
              </a:rPr>
              <a:t>based on the behaviour of customers and their reaction to the overall interaction with the agent.</a:t>
            </a:r>
            <a:endParaRPr lang="en-FR" dirty="0">
              <a:solidFill>
                <a:srgbClr val="0055FF"/>
              </a:solidFill>
              <a:latin typeface="Poppins" pitchFamily="2" charset="77"/>
              <a:cs typeface="Poppins" pitchFamily="2" charset="77"/>
            </a:endParaRPr>
          </a:p>
        </p:txBody>
      </p:sp>
      <p:sp>
        <p:nvSpPr>
          <p:cNvPr id="45" name="TextBox 44">
            <a:extLst>
              <a:ext uri="{FF2B5EF4-FFF2-40B4-BE49-F238E27FC236}">
                <a16:creationId xmlns:a16="http://schemas.microsoft.com/office/drawing/2014/main" id="{CB3CA19F-FBD3-D047-9E6B-08DF98B3354D}"/>
              </a:ext>
            </a:extLst>
          </p:cNvPr>
          <p:cNvSpPr txBox="1"/>
          <p:nvPr/>
        </p:nvSpPr>
        <p:spPr>
          <a:xfrm>
            <a:off x="4532141" y="2980175"/>
            <a:ext cx="3036277" cy="1754326"/>
          </a:xfrm>
          <a:prstGeom prst="rect">
            <a:avLst/>
          </a:prstGeom>
          <a:noFill/>
        </p:spPr>
        <p:txBody>
          <a:bodyPr wrap="square" rtlCol="0">
            <a:spAutoFit/>
          </a:bodyPr>
          <a:lstStyle/>
          <a:p>
            <a:r>
              <a:rPr lang="en-GB" dirty="0">
                <a:solidFill>
                  <a:srgbClr val="0055FF"/>
                </a:solidFill>
                <a:latin typeface="Poppins" pitchFamily="2" charset="77"/>
                <a:cs typeface="Poppins" pitchFamily="2" charset="77"/>
              </a:rPr>
              <a:t>= measures the agent’s behaviour and the correctness of their responses and interactions with the customer.</a:t>
            </a:r>
            <a:endParaRPr lang="en-FR" dirty="0">
              <a:solidFill>
                <a:srgbClr val="0055FF"/>
              </a:solidFill>
              <a:latin typeface="Poppins" pitchFamily="2" charset="77"/>
              <a:cs typeface="Poppins" pitchFamily="2" charset="77"/>
            </a:endParaRPr>
          </a:p>
        </p:txBody>
      </p:sp>
      <p:sp>
        <p:nvSpPr>
          <p:cNvPr id="47" name="Rectangle 46">
            <a:extLst>
              <a:ext uri="{FF2B5EF4-FFF2-40B4-BE49-F238E27FC236}">
                <a16:creationId xmlns:a16="http://schemas.microsoft.com/office/drawing/2014/main" id="{1A0D2767-E5FE-EE41-BFE8-BFE16593E7BD}"/>
              </a:ext>
            </a:extLst>
          </p:cNvPr>
          <p:cNvSpPr/>
          <p:nvPr/>
        </p:nvSpPr>
        <p:spPr>
          <a:xfrm>
            <a:off x="8348738" y="5654021"/>
            <a:ext cx="1002418" cy="535475"/>
          </a:xfrm>
          <a:prstGeom prst="rect">
            <a:avLst/>
          </a:prstGeom>
          <a:noFill/>
          <a:ln w="28575">
            <a:solidFill>
              <a:srgbClr val="B08A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err="1">
                <a:solidFill>
                  <a:srgbClr val="B08AB4"/>
                </a:solidFill>
                <a:latin typeface="Poppins" pitchFamily="2" charset="77"/>
                <a:cs typeface="Poppins" pitchFamily="2" charset="77"/>
              </a:rPr>
              <a:t>Resolved</a:t>
            </a:r>
            <a:endParaRPr lang="fr-FR" sz="1200" b="1" dirty="0">
              <a:solidFill>
                <a:srgbClr val="B08AB4"/>
              </a:solidFill>
              <a:latin typeface="Poppins" pitchFamily="2" charset="77"/>
              <a:cs typeface="Poppins" pitchFamily="2" charset="77"/>
            </a:endParaRPr>
          </a:p>
        </p:txBody>
      </p:sp>
      <p:sp>
        <p:nvSpPr>
          <p:cNvPr id="48" name="Rectangle 47">
            <a:extLst>
              <a:ext uri="{FF2B5EF4-FFF2-40B4-BE49-F238E27FC236}">
                <a16:creationId xmlns:a16="http://schemas.microsoft.com/office/drawing/2014/main" id="{4F9C5881-2297-9340-ACAB-A804692A47CE}"/>
              </a:ext>
            </a:extLst>
          </p:cNvPr>
          <p:cNvSpPr/>
          <p:nvPr/>
        </p:nvSpPr>
        <p:spPr>
          <a:xfrm>
            <a:off x="9468445" y="5654021"/>
            <a:ext cx="981961" cy="535474"/>
          </a:xfrm>
          <a:prstGeom prst="rect">
            <a:avLst/>
          </a:prstGeom>
          <a:noFill/>
          <a:ln w="28575">
            <a:solidFill>
              <a:srgbClr val="B08AB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200" b="1" dirty="0" err="1">
                <a:solidFill>
                  <a:srgbClr val="B08AB4"/>
                </a:solidFill>
                <a:latin typeface="Poppins" pitchFamily="2" charset="77"/>
                <a:cs typeface="Poppins" pitchFamily="2" charset="77"/>
              </a:rPr>
              <a:t>Uncertain</a:t>
            </a:r>
            <a:endParaRPr lang="fr-FR" sz="1600" b="1" dirty="0">
              <a:solidFill>
                <a:srgbClr val="B08AB4"/>
              </a:solidFill>
              <a:latin typeface="Poppins" pitchFamily="2" charset="77"/>
              <a:cs typeface="Poppins" pitchFamily="2" charset="77"/>
            </a:endParaRPr>
          </a:p>
        </p:txBody>
      </p:sp>
      <p:sp>
        <p:nvSpPr>
          <p:cNvPr id="49" name="Rectangle 48">
            <a:extLst>
              <a:ext uri="{FF2B5EF4-FFF2-40B4-BE49-F238E27FC236}">
                <a16:creationId xmlns:a16="http://schemas.microsoft.com/office/drawing/2014/main" id="{2242DE4F-E7E2-D94B-8E35-A2F8ECA746A4}"/>
              </a:ext>
            </a:extLst>
          </p:cNvPr>
          <p:cNvSpPr/>
          <p:nvPr/>
        </p:nvSpPr>
        <p:spPr>
          <a:xfrm>
            <a:off x="10567695" y="5654021"/>
            <a:ext cx="1085670" cy="535474"/>
          </a:xfrm>
          <a:prstGeom prst="rect">
            <a:avLst/>
          </a:prstGeom>
          <a:noFill/>
          <a:ln w="28575">
            <a:solidFill>
              <a:srgbClr val="B08AB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200" b="1" dirty="0" err="1">
                <a:solidFill>
                  <a:srgbClr val="B08AB4"/>
                </a:solidFill>
                <a:latin typeface="Poppins" pitchFamily="2" charset="77"/>
                <a:cs typeface="Poppins" pitchFamily="2" charset="77"/>
              </a:rPr>
              <a:t>Unresolved</a:t>
            </a:r>
            <a:endParaRPr lang="fr-FR" sz="1600" b="1" dirty="0">
              <a:solidFill>
                <a:srgbClr val="B08AB4"/>
              </a:solidFill>
              <a:latin typeface="Poppins" pitchFamily="2" charset="77"/>
              <a:cs typeface="Poppins" pitchFamily="2" charset="77"/>
            </a:endParaRPr>
          </a:p>
        </p:txBody>
      </p:sp>
      <p:sp>
        <p:nvSpPr>
          <p:cNvPr id="7" name="Oval 6">
            <a:extLst>
              <a:ext uri="{FF2B5EF4-FFF2-40B4-BE49-F238E27FC236}">
                <a16:creationId xmlns:a16="http://schemas.microsoft.com/office/drawing/2014/main" id="{FD193248-52BD-4A44-8B73-B0DDF79D0FE2}"/>
              </a:ext>
            </a:extLst>
          </p:cNvPr>
          <p:cNvSpPr/>
          <p:nvPr/>
        </p:nvSpPr>
        <p:spPr>
          <a:xfrm>
            <a:off x="714528" y="1388241"/>
            <a:ext cx="481637" cy="456838"/>
          </a:xfrm>
          <a:prstGeom prst="ellipse">
            <a:avLst/>
          </a:prstGeom>
          <a:solidFill>
            <a:srgbClr val="D0DCFD"/>
          </a:solidFill>
          <a:ln>
            <a:solidFill>
              <a:srgbClr val="0055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2000" b="1" dirty="0">
                <a:solidFill>
                  <a:srgbClr val="0055FF"/>
                </a:solidFill>
                <a:latin typeface="Poppins" pitchFamily="2" charset="77"/>
                <a:cs typeface="Poppins" pitchFamily="2" charset="77"/>
              </a:rPr>
              <a:t>C</a:t>
            </a:r>
            <a:endParaRPr lang="en-FR" b="1" dirty="0">
              <a:solidFill>
                <a:srgbClr val="0055FF"/>
              </a:solidFill>
              <a:latin typeface="Poppins" pitchFamily="2" charset="77"/>
              <a:cs typeface="Poppins" pitchFamily="2" charset="77"/>
            </a:endParaRPr>
          </a:p>
        </p:txBody>
      </p:sp>
      <p:sp>
        <p:nvSpPr>
          <p:cNvPr id="28" name="Oval 27">
            <a:extLst>
              <a:ext uri="{FF2B5EF4-FFF2-40B4-BE49-F238E27FC236}">
                <a16:creationId xmlns:a16="http://schemas.microsoft.com/office/drawing/2014/main" id="{C9F841E2-6C9F-0B49-B8CC-4A9CF93A9008}"/>
              </a:ext>
            </a:extLst>
          </p:cNvPr>
          <p:cNvSpPr/>
          <p:nvPr/>
        </p:nvSpPr>
        <p:spPr>
          <a:xfrm>
            <a:off x="8549494" y="1350845"/>
            <a:ext cx="481637" cy="494235"/>
          </a:xfrm>
          <a:prstGeom prst="ellipse">
            <a:avLst/>
          </a:prstGeom>
          <a:solidFill>
            <a:srgbClr val="D0DCFD"/>
          </a:solidFill>
          <a:ln>
            <a:solidFill>
              <a:srgbClr val="0055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2000" b="1" dirty="0">
                <a:solidFill>
                  <a:srgbClr val="0055FF"/>
                </a:solidFill>
                <a:latin typeface="Poppins" pitchFamily="2" charset="77"/>
                <a:cs typeface="Poppins" pitchFamily="2" charset="77"/>
              </a:rPr>
              <a:t>C</a:t>
            </a:r>
            <a:endParaRPr lang="en-FR" b="1" dirty="0">
              <a:solidFill>
                <a:srgbClr val="0055FF"/>
              </a:solidFill>
              <a:latin typeface="Poppins" pitchFamily="2" charset="77"/>
              <a:cs typeface="Poppins" pitchFamily="2" charset="77"/>
            </a:endParaRPr>
          </a:p>
        </p:txBody>
      </p:sp>
      <p:sp>
        <p:nvSpPr>
          <p:cNvPr id="29" name="Oval 28">
            <a:extLst>
              <a:ext uri="{FF2B5EF4-FFF2-40B4-BE49-F238E27FC236}">
                <a16:creationId xmlns:a16="http://schemas.microsoft.com/office/drawing/2014/main" id="{E55A5A9B-F394-F144-8461-C692C7B98544}"/>
              </a:ext>
            </a:extLst>
          </p:cNvPr>
          <p:cNvSpPr/>
          <p:nvPr/>
        </p:nvSpPr>
        <p:spPr>
          <a:xfrm>
            <a:off x="4632011" y="1350844"/>
            <a:ext cx="481637" cy="494235"/>
          </a:xfrm>
          <a:prstGeom prst="ellipse">
            <a:avLst/>
          </a:prstGeom>
          <a:solidFill>
            <a:schemeClr val="bg1"/>
          </a:solidFill>
          <a:ln>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2000" b="1" dirty="0">
                <a:solidFill>
                  <a:srgbClr val="0055FF"/>
                </a:solidFill>
                <a:latin typeface="Poppins" pitchFamily="2" charset="77"/>
                <a:cs typeface="Poppins" pitchFamily="2" charset="77"/>
              </a:rPr>
              <a:t>A</a:t>
            </a:r>
            <a:endParaRPr lang="en-FR" b="1" dirty="0">
              <a:solidFill>
                <a:srgbClr val="0055FF"/>
              </a:solidFill>
              <a:latin typeface="Poppins" pitchFamily="2" charset="77"/>
              <a:cs typeface="Poppins" pitchFamily="2" charset="77"/>
            </a:endParaRPr>
          </a:p>
        </p:txBody>
      </p:sp>
      <p:sp>
        <p:nvSpPr>
          <p:cNvPr id="19" name="Title 18">
            <a:extLst>
              <a:ext uri="{FF2B5EF4-FFF2-40B4-BE49-F238E27FC236}">
                <a16:creationId xmlns:a16="http://schemas.microsoft.com/office/drawing/2014/main" id="{6F42A65A-68E2-2849-F766-24258E71FC44}"/>
              </a:ext>
            </a:extLst>
          </p:cNvPr>
          <p:cNvSpPr>
            <a:spLocks noGrp="1"/>
          </p:cNvSpPr>
          <p:nvPr>
            <p:ph type="title"/>
          </p:nvPr>
        </p:nvSpPr>
        <p:spPr/>
        <p:txBody>
          <a:bodyPr/>
          <a:lstStyle/>
          <a:p>
            <a:r>
              <a:rPr lang="en-FR" dirty="0"/>
              <a:t>DATA-SERGe: Conversation-Level Annotation</a:t>
            </a:r>
          </a:p>
        </p:txBody>
      </p:sp>
      <p:pic>
        <p:nvPicPr>
          <p:cNvPr id="20" name="Picture 19">
            <a:extLst>
              <a:ext uri="{FF2B5EF4-FFF2-40B4-BE49-F238E27FC236}">
                <a16:creationId xmlns:a16="http://schemas.microsoft.com/office/drawing/2014/main" id="{0947519B-8ED8-39A1-E244-55DCAEAA1B91}"/>
              </a:ext>
            </a:extLst>
          </p:cNvPr>
          <p:cNvPicPr>
            <a:picLocks noChangeAspect="1"/>
          </p:cNvPicPr>
          <p:nvPr/>
        </p:nvPicPr>
        <p:blipFill>
          <a:blip r:embed="rId3">
            <a:alphaModFix amt="51000"/>
            <a:extLst>
              <a:ext uri="{BEBA8EAE-BF5A-486C-A8C5-ECC9F3942E4B}">
                <a14:imgProps xmlns:a14="http://schemas.microsoft.com/office/drawing/2010/main">
                  <a14:imgLayer r:embed="rId4">
                    <a14:imgEffect>
                      <a14:artisticPhotocopy/>
                    </a14:imgEffect>
                    <a14:imgEffect>
                      <a14:colorTemperature colorTemp="2989"/>
                    </a14:imgEffect>
                  </a14:imgLayer>
                </a14:imgProps>
              </a:ext>
            </a:extLst>
          </a:blip>
          <a:stretch>
            <a:fillRect/>
          </a:stretch>
        </p:blipFill>
        <p:spPr>
          <a:xfrm>
            <a:off x="179856" y="298642"/>
            <a:ext cx="759258" cy="759258"/>
          </a:xfrm>
          <a:prstGeom prst="rect">
            <a:avLst/>
          </a:prstGeom>
          <a:ln>
            <a:noFill/>
          </a:ln>
        </p:spPr>
      </p:pic>
    </p:spTree>
    <p:extLst>
      <p:ext uri="{BB962C8B-B14F-4D97-AF65-F5344CB8AC3E}">
        <p14:creationId xmlns:p14="http://schemas.microsoft.com/office/powerpoint/2010/main" val="4115261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7" grpId="0" animBg="1"/>
      <p:bldP spid="38" grpId="0" animBg="1"/>
      <p:bldP spid="41" grpId="0" animBg="1"/>
      <p:bldP spid="42" grpId="0" animBg="1"/>
      <p:bldP spid="43" grpId="0" animBg="1"/>
      <p:bldP spid="44" grpId="0" animBg="1"/>
      <p:bldP spid="2" grpId="0"/>
      <p:bldP spid="45" grpId="0"/>
      <p:bldP spid="47" grpId="0" animBg="1"/>
      <p:bldP spid="48" grpId="0" animBg="1"/>
      <p:bldP spid="49" grpId="0" animBg="1"/>
      <p:bldP spid="7" grpId="0" animBg="1"/>
      <p:bldP spid="28" grpId="0" animBg="1"/>
      <p:bldP spid="2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E8412-E90F-9DF5-C2A1-F8CFF2562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D758A-D3E0-7EA6-9B9A-B7276A36E6F3}"/>
              </a:ext>
            </a:extLst>
          </p:cNvPr>
          <p:cNvSpPr>
            <a:spLocks noGrp="1"/>
          </p:cNvSpPr>
          <p:nvPr>
            <p:ph type="title"/>
          </p:nvPr>
        </p:nvSpPr>
        <p:spPr/>
        <p:txBody>
          <a:bodyPr/>
          <a:lstStyle/>
          <a:p>
            <a:r>
              <a:rPr lang="en-FR" dirty="0"/>
              <a:t>Analysis of DATA-SERGe – Emotion Labels</a:t>
            </a:r>
          </a:p>
        </p:txBody>
      </p:sp>
      <p:pic>
        <p:nvPicPr>
          <p:cNvPr id="13" name="Picture 12">
            <a:extLst>
              <a:ext uri="{FF2B5EF4-FFF2-40B4-BE49-F238E27FC236}">
                <a16:creationId xmlns:a16="http://schemas.microsoft.com/office/drawing/2014/main" id="{F06EB6E6-BA4A-A3AA-299D-19FC2AB1BE9B}"/>
              </a:ext>
            </a:extLst>
          </p:cNvPr>
          <p:cNvPicPr>
            <a:picLocks noChangeAspect="1"/>
          </p:cNvPicPr>
          <p:nvPr/>
        </p:nvPicPr>
        <p:blipFill>
          <a:blip r:embed="rId3">
            <a:alphaModFix amt="51000"/>
            <a:extLst>
              <a:ext uri="{BEBA8EAE-BF5A-486C-A8C5-ECC9F3942E4B}">
                <a14:imgProps xmlns:a14="http://schemas.microsoft.com/office/drawing/2010/main">
                  <a14:imgLayer r:embed="rId4">
                    <a14:imgEffect>
                      <a14:artisticPhotocopy/>
                    </a14:imgEffect>
                    <a14:imgEffect>
                      <a14:colorTemperature colorTemp="2989"/>
                    </a14:imgEffect>
                  </a14:imgLayer>
                </a14:imgProps>
              </a:ext>
            </a:extLst>
          </a:blip>
          <a:stretch>
            <a:fillRect/>
          </a:stretch>
        </p:blipFill>
        <p:spPr>
          <a:xfrm>
            <a:off x="179856" y="298642"/>
            <a:ext cx="759258" cy="759258"/>
          </a:xfrm>
          <a:prstGeom prst="rect">
            <a:avLst/>
          </a:prstGeom>
          <a:ln>
            <a:noFill/>
          </a:ln>
        </p:spPr>
      </p:pic>
      <p:pic>
        <p:nvPicPr>
          <p:cNvPr id="10" name="Picture 9" descr="A pie chart with different colored circles&#10;&#10;AI-generated content may be incorrect.">
            <a:extLst>
              <a:ext uri="{FF2B5EF4-FFF2-40B4-BE49-F238E27FC236}">
                <a16:creationId xmlns:a16="http://schemas.microsoft.com/office/drawing/2014/main" id="{0C524EE7-EC6F-2ACA-6363-0C5106B2AA32}"/>
              </a:ext>
            </a:extLst>
          </p:cNvPr>
          <p:cNvPicPr>
            <a:picLocks noChangeAspect="1"/>
          </p:cNvPicPr>
          <p:nvPr/>
        </p:nvPicPr>
        <p:blipFill>
          <a:blip r:embed="rId5"/>
          <a:srcRect l="8417" b="8586"/>
          <a:stretch>
            <a:fillRect/>
          </a:stretch>
        </p:blipFill>
        <p:spPr>
          <a:xfrm>
            <a:off x="2238170" y="1057900"/>
            <a:ext cx="8531586" cy="5403098"/>
          </a:xfrm>
          <a:prstGeom prst="rect">
            <a:avLst/>
          </a:prstGeom>
        </p:spPr>
      </p:pic>
    </p:spTree>
    <p:extLst>
      <p:ext uri="{BB962C8B-B14F-4D97-AF65-F5344CB8AC3E}">
        <p14:creationId xmlns:p14="http://schemas.microsoft.com/office/powerpoint/2010/main" val="9478282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0D287-2906-281C-0500-5C75D99621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2F78D0-02EC-B8B0-3C04-4D14F5D2BCEA}"/>
              </a:ext>
            </a:extLst>
          </p:cNvPr>
          <p:cNvSpPr>
            <a:spLocks noGrp="1"/>
          </p:cNvSpPr>
          <p:nvPr>
            <p:ph type="title"/>
          </p:nvPr>
        </p:nvSpPr>
        <p:spPr>
          <a:xfrm>
            <a:off x="1246162" y="58998"/>
            <a:ext cx="10765981" cy="1325563"/>
          </a:xfrm>
        </p:spPr>
        <p:txBody>
          <a:bodyPr/>
          <a:lstStyle/>
          <a:p>
            <a:r>
              <a:rPr lang="en-FR" dirty="0"/>
              <a:t>Analysis of DATA-SERGe – Dialogue Strategy Labels</a:t>
            </a:r>
          </a:p>
        </p:txBody>
      </p:sp>
      <p:pic>
        <p:nvPicPr>
          <p:cNvPr id="13" name="Picture 12">
            <a:extLst>
              <a:ext uri="{FF2B5EF4-FFF2-40B4-BE49-F238E27FC236}">
                <a16:creationId xmlns:a16="http://schemas.microsoft.com/office/drawing/2014/main" id="{548AADF4-C8A5-F508-16BE-FE2BB05D0DB9}"/>
              </a:ext>
            </a:extLst>
          </p:cNvPr>
          <p:cNvPicPr>
            <a:picLocks noChangeAspect="1"/>
          </p:cNvPicPr>
          <p:nvPr/>
        </p:nvPicPr>
        <p:blipFill>
          <a:blip r:embed="rId3">
            <a:alphaModFix amt="51000"/>
            <a:extLst>
              <a:ext uri="{BEBA8EAE-BF5A-486C-A8C5-ECC9F3942E4B}">
                <a14:imgProps xmlns:a14="http://schemas.microsoft.com/office/drawing/2010/main">
                  <a14:imgLayer r:embed="rId4">
                    <a14:imgEffect>
                      <a14:artisticPhotocopy/>
                    </a14:imgEffect>
                    <a14:imgEffect>
                      <a14:colorTemperature colorTemp="2989"/>
                    </a14:imgEffect>
                  </a14:imgLayer>
                </a14:imgProps>
              </a:ext>
            </a:extLst>
          </a:blip>
          <a:stretch>
            <a:fillRect/>
          </a:stretch>
        </p:blipFill>
        <p:spPr>
          <a:xfrm>
            <a:off x="179856" y="298642"/>
            <a:ext cx="759258" cy="759258"/>
          </a:xfrm>
          <a:prstGeom prst="rect">
            <a:avLst/>
          </a:prstGeom>
          <a:ln>
            <a:noFill/>
          </a:ln>
        </p:spPr>
      </p:pic>
      <p:pic>
        <p:nvPicPr>
          <p:cNvPr id="29" name="Picture 28" descr="A pie chart with numbers and a number&#10;&#10;AI-generated content may be incorrect.">
            <a:extLst>
              <a:ext uri="{FF2B5EF4-FFF2-40B4-BE49-F238E27FC236}">
                <a16:creationId xmlns:a16="http://schemas.microsoft.com/office/drawing/2014/main" id="{6B839EDA-CEC8-88C6-6CA8-0986A3243DC1}"/>
              </a:ext>
            </a:extLst>
          </p:cNvPr>
          <p:cNvPicPr>
            <a:picLocks noChangeAspect="1"/>
          </p:cNvPicPr>
          <p:nvPr/>
        </p:nvPicPr>
        <p:blipFill>
          <a:blip r:embed="rId5"/>
          <a:srcRect l="8541" b="7065"/>
          <a:stretch>
            <a:fillRect/>
          </a:stretch>
        </p:blipFill>
        <p:spPr>
          <a:xfrm>
            <a:off x="2541722" y="1057900"/>
            <a:ext cx="7108556" cy="5403099"/>
          </a:xfrm>
          <a:prstGeom prst="rect">
            <a:avLst/>
          </a:prstGeom>
        </p:spPr>
      </p:pic>
    </p:spTree>
    <p:extLst>
      <p:ext uri="{BB962C8B-B14F-4D97-AF65-F5344CB8AC3E}">
        <p14:creationId xmlns:p14="http://schemas.microsoft.com/office/powerpoint/2010/main" val="41036678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F965B-402C-E8BB-D88E-B242AF1B7C07}"/>
              </a:ext>
            </a:extLst>
          </p:cNvPr>
          <p:cNvSpPr>
            <a:spLocks noGrp="1"/>
          </p:cNvSpPr>
          <p:nvPr>
            <p:ph type="title"/>
          </p:nvPr>
        </p:nvSpPr>
        <p:spPr/>
        <p:txBody>
          <a:bodyPr/>
          <a:lstStyle/>
          <a:p>
            <a:r>
              <a:rPr lang="en-FR" dirty="0"/>
              <a:t>Analysis of DATA-SERGe – Statictics</a:t>
            </a:r>
          </a:p>
        </p:txBody>
      </p:sp>
      <p:pic>
        <p:nvPicPr>
          <p:cNvPr id="3" name="Image 4" descr="Une image contenant texte, nombre, capture d’écran, Police&#10;&#10;Description générée automatiquement">
            <a:extLst>
              <a:ext uri="{FF2B5EF4-FFF2-40B4-BE49-F238E27FC236}">
                <a16:creationId xmlns:a16="http://schemas.microsoft.com/office/drawing/2014/main" id="{80EF666C-F82A-9601-7F3B-DE965916184C}"/>
              </a:ext>
            </a:extLst>
          </p:cNvPr>
          <p:cNvPicPr>
            <a:picLocks noChangeAspect="1"/>
          </p:cNvPicPr>
          <p:nvPr/>
        </p:nvPicPr>
        <p:blipFill>
          <a:blip r:embed="rId2"/>
          <a:stretch>
            <a:fillRect/>
          </a:stretch>
        </p:blipFill>
        <p:spPr>
          <a:xfrm>
            <a:off x="287311" y="3985460"/>
            <a:ext cx="4206462" cy="1456886"/>
          </a:xfrm>
          <a:prstGeom prst="rect">
            <a:avLst/>
          </a:prstGeom>
        </p:spPr>
      </p:pic>
      <p:pic>
        <p:nvPicPr>
          <p:cNvPr id="4" name="Image 8" descr="Une image contenant texte, nombre, Police, capture d’écran&#10;&#10;Description générée automatiquement">
            <a:extLst>
              <a:ext uri="{FF2B5EF4-FFF2-40B4-BE49-F238E27FC236}">
                <a16:creationId xmlns:a16="http://schemas.microsoft.com/office/drawing/2014/main" id="{99F401E8-C209-CB2A-A0DF-DE7336D5450F}"/>
              </a:ext>
            </a:extLst>
          </p:cNvPr>
          <p:cNvPicPr>
            <a:picLocks noChangeAspect="1"/>
          </p:cNvPicPr>
          <p:nvPr/>
        </p:nvPicPr>
        <p:blipFill>
          <a:blip r:embed="rId3"/>
          <a:stretch>
            <a:fillRect/>
          </a:stretch>
        </p:blipFill>
        <p:spPr>
          <a:xfrm>
            <a:off x="4914530" y="2970685"/>
            <a:ext cx="6840329" cy="2696827"/>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3B5B8EC-1377-45BD-1A41-D376D2026E9E}"/>
                  </a:ext>
                </a:extLst>
              </p:cNvPr>
              <p:cNvSpPr txBox="1"/>
              <p:nvPr/>
            </p:nvSpPr>
            <p:spPr>
              <a:xfrm>
                <a:off x="483459" y="5517490"/>
                <a:ext cx="3979560" cy="646331"/>
              </a:xfrm>
              <a:prstGeom prst="rect">
                <a:avLst/>
              </a:prstGeom>
              <a:noFill/>
            </p:spPr>
            <p:txBody>
              <a:bodyPr wrap="square" rtlCol="0">
                <a:spAutoFit/>
              </a:bodyPr>
              <a:lstStyle/>
              <a:p>
                <a:r>
                  <a:rPr lang="en-GB" sz="1200" b="0" i="1">
                    <a:solidFill>
                      <a:srgbClr val="0055FF"/>
                    </a:solidFill>
                    <a:effectLst/>
                    <a:latin typeface="Poppins" pitchFamily="2" charset="77"/>
                    <a:cs typeface="Poppins" pitchFamily="2" charset="77"/>
                  </a:rPr>
                  <a:t>Statistics on </a:t>
                </a:r>
                <a14:m>
                  <m:oMath xmlns:m="http://schemas.openxmlformats.org/officeDocument/2006/math">
                    <m:sSub>
                      <m:sSubPr>
                        <m:ctrlPr>
                          <a:rPr lang="en-GB" sz="1200" i="1" smtClean="0">
                            <a:solidFill>
                              <a:srgbClr val="0055FF"/>
                            </a:solidFill>
                            <a:latin typeface="Cambria Math" panose="02040503050406030204" pitchFamily="18" charset="0"/>
                          </a:rPr>
                        </m:ctrlPr>
                      </m:sSubPr>
                      <m:e>
                        <m:r>
                          <a:rPr lang="fr-FR" sz="1200" i="1">
                            <a:solidFill>
                              <a:srgbClr val="0055FF"/>
                            </a:solidFill>
                            <a:latin typeface="Cambria Math" panose="02040503050406030204" pitchFamily="18" charset="0"/>
                          </a:rPr>
                          <m:t>𝑙</m:t>
                        </m:r>
                      </m:e>
                      <m:sub>
                        <m:r>
                          <a:rPr lang="fr-FR" sz="1200" i="1">
                            <a:solidFill>
                              <a:srgbClr val="0055FF"/>
                            </a:solidFill>
                            <a:latin typeface="Cambria Math" panose="02040503050406030204" pitchFamily="18" charset="0"/>
                          </a:rPr>
                          <m:t>𝑖</m:t>
                        </m:r>
                      </m:sub>
                    </m:sSub>
                    <m:r>
                      <a:rPr lang="fr-FR" sz="1200" i="1">
                        <a:solidFill>
                          <a:srgbClr val="0055FF"/>
                        </a:solidFill>
                        <a:latin typeface="Cambria Math" panose="02040503050406030204" pitchFamily="18" charset="0"/>
                      </a:rPr>
                      <m:t> </m:t>
                    </m:r>
                  </m:oMath>
                </a14:m>
                <a:r>
                  <a:rPr lang="en-GB" sz="1200" b="0" i="1">
                    <a:solidFill>
                      <a:srgbClr val="0055FF"/>
                    </a:solidFill>
                    <a:effectLst/>
                    <a:latin typeface="Poppins" pitchFamily="2" charset="77"/>
                    <a:cs typeface="Poppins" pitchFamily="2" charset="77"/>
                  </a:rPr>
                  <a:t>the number of socio-emotional labels associated with the speaker turn </a:t>
                </a:r>
                <a14:m>
                  <m:oMath xmlns:m="http://schemas.openxmlformats.org/officeDocument/2006/math">
                    <m:sSub>
                      <m:sSubPr>
                        <m:ctrlPr>
                          <a:rPr lang="en-GB" sz="1200" i="1">
                            <a:solidFill>
                              <a:srgbClr val="0055FF"/>
                            </a:solidFill>
                            <a:latin typeface="Cambria Math" panose="02040503050406030204" pitchFamily="18" charset="0"/>
                          </a:rPr>
                        </m:ctrlPr>
                      </m:sSubPr>
                      <m:e>
                        <m:r>
                          <a:rPr lang="fr-FR" sz="1200" b="0" i="1" smtClean="0">
                            <a:solidFill>
                              <a:srgbClr val="0055FF"/>
                            </a:solidFill>
                            <a:latin typeface="Cambria Math" panose="02040503050406030204" pitchFamily="18" charset="0"/>
                          </a:rPr>
                          <m:t>𝑐</m:t>
                        </m:r>
                      </m:e>
                      <m:sub>
                        <m:r>
                          <a:rPr lang="fr-FR" sz="1200" i="1">
                            <a:solidFill>
                              <a:srgbClr val="0055FF"/>
                            </a:solidFill>
                            <a:latin typeface="Cambria Math" panose="02040503050406030204" pitchFamily="18" charset="0"/>
                          </a:rPr>
                          <m:t>𝑖</m:t>
                        </m:r>
                      </m:sub>
                    </m:sSub>
                  </m:oMath>
                </a14:m>
                <a:r>
                  <a:rPr lang="en-GB" sz="1200" b="0" i="1">
                    <a:solidFill>
                      <a:srgbClr val="0055FF"/>
                    </a:solidFill>
                    <a:effectLst/>
                    <a:latin typeface="Poppins" pitchFamily="2" charset="77"/>
                    <a:cs typeface="Poppins" pitchFamily="2" charset="77"/>
                  </a:rPr>
                  <a:t>.</a:t>
                </a:r>
                <a:br>
                  <a:rPr lang="en-GB" sz="1200">
                    <a:solidFill>
                      <a:srgbClr val="0055FF"/>
                    </a:solidFill>
                    <a:latin typeface="Poppins" pitchFamily="2" charset="77"/>
                    <a:cs typeface="Poppins" pitchFamily="2" charset="77"/>
                  </a:rPr>
                </a:br>
                <a:endParaRPr lang="en-FR" sz="1200">
                  <a:solidFill>
                    <a:srgbClr val="0055FF"/>
                  </a:solidFill>
                  <a:latin typeface="Poppins" pitchFamily="2" charset="77"/>
                  <a:cs typeface="Poppins" pitchFamily="2" charset="77"/>
                </a:endParaRPr>
              </a:p>
            </p:txBody>
          </p:sp>
        </mc:Choice>
        <mc:Fallback xmlns="">
          <p:sp>
            <p:nvSpPr>
              <p:cNvPr id="5" name="TextBox 4">
                <a:extLst>
                  <a:ext uri="{FF2B5EF4-FFF2-40B4-BE49-F238E27FC236}">
                    <a16:creationId xmlns:a16="http://schemas.microsoft.com/office/drawing/2014/main" id="{F3B5B8EC-1377-45BD-1A41-D376D2026E9E}"/>
                  </a:ext>
                </a:extLst>
              </p:cNvPr>
              <p:cNvSpPr txBox="1">
                <a:spLocks noRot="1" noChangeAspect="1" noMove="1" noResize="1" noEditPoints="1" noAdjustHandles="1" noChangeArrowheads="1" noChangeShapeType="1" noTextEdit="1"/>
              </p:cNvSpPr>
              <p:nvPr/>
            </p:nvSpPr>
            <p:spPr>
              <a:xfrm>
                <a:off x="483459" y="5517490"/>
                <a:ext cx="3979560" cy="646331"/>
              </a:xfrm>
              <a:prstGeom prst="rect">
                <a:avLst/>
              </a:prstGeom>
              <a:blipFill>
                <a:blip r:embed="rId4"/>
                <a:stretch>
                  <a:fillRect/>
                </a:stretch>
              </a:blipFill>
            </p:spPr>
            <p:txBody>
              <a:bodyPr/>
              <a:lstStyle/>
              <a:p>
                <a:r>
                  <a:rPr lang="en-FR">
                    <a:noFill/>
                  </a:rPr>
                  <a:t> </a:t>
                </a:r>
              </a:p>
            </p:txBody>
          </p:sp>
        </mc:Fallback>
      </mc:AlternateContent>
      <p:sp>
        <p:nvSpPr>
          <p:cNvPr id="6" name="TextBox 5">
            <a:extLst>
              <a:ext uri="{FF2B5EF4-FFF2-40B4-BE49-F238E27FC236}">
                <a16:creationId xmlns:a16="http://schemas.microsoft.com/office/drawing/2014/main" id="{0EFC6959-CDDD-38E0-04B0-2217CC74096D}"/>
              </a:ext>
            </a:extLst>
          </p:cNvPr>
          <p:cNvSpPr txBox="1"/>
          <p:nvPr/>
        </p:nvSpPr>
        <p:spPr>
          <a:xfrm>
            <a:off x="6096000" y="5702155"/>
            <a:ext cx="5251759" cy="276999"/>
          </a:xfrm>
          <a:prstGeom prst="rect">
            <a:avLst/>
          </a:prstGeom>
          <a:noFill/>
        </p:spPr>
        <p:txBody>
          <a:bodyPr wrap="none" rtlCol="0">
            <a:spAutoFit/>
          </a:bodyPr>
          <a:lstStyle/>
          <a:p>
            <a:r>
              <a:rPr lang="en-GB" sz="1200" b="0" i="1">
                <a:solidFill>
                  <a:srgbClr val="0055FF"/>
                </a:solidFill>
                <a:effectLst/>
                <a:latin typeface="Poppins" pitchFamily="2" charset="77"/>
                <a:cs typeface="Poppins" pitchFamily="2" charset="77"/>
              </a:rPr>
              <a:t>Number of labels annotated on utterance and conversation level.</a:t>
            </a:r>
            <a:endParaRPr lang="en-FR" sz="1600" i="1">
              <a:solidFill>
                <a:srgbClr val="0055FF"/>
              </a:solidFill>
              <a:latin typeface="Poppins" pitchFamily="2" charset="77"/>
              <a:cs typeface="Poppins" pitchFamily="2" charset="77"/>
            </a:endParaRPr>
          </a:p>
        </p:txBody>
      </p:sp>
      <p:sp>
        <p:nvSpPr>
          <p:cNvPr id="7" name="Rectangle 6">
            <a:extLst>
              <a:ext uri="{FF2B5EF4-FFF2-40B4-BE49-F238E27FC236}">
                <a16:creationId xmlns:a16="http://schemas.microsoft.com/office/drawing/2014/main" id="{25504BF6-F010-957C-6319-2F02B6F6492A}"/>
              </a:ext>
            </a:extLst>
          </p:cNvPr>
          <p:cNvSpPr/>
          <p:nvPr/>
        </p:nvSpPr>
        <p:spPr>
          <a:xfrm>
            <a:off x="721812" y="1956888"/>
            <a:ext cx="3502855" cy="1680476"/>
          </a:xfrm>
          <a:prstGeom prst="rect">
            <a:avLst/>
          </a:prstGeom>
          <a:solidFill>
            <a:schemeClr val="bg1"/>
          </a:solidFill>
          <a:ln w="57150">
            <a:solidFill>
              <a:srgbClr val="B08AB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400">
                <a:solidFill>
                  <a:srgbClr val="0055FF"/>
                </a:solidFill>
                <a:latin typeface="Poppins"/>
                <a:cs typeface="Poppins"/>
              </a:rPr>
              <a:t>67 conversations</a:t>
            </a:r>
            <a:br>
              <a:rPr lang="en-GB" sz="2400">
                <a:latin typeface="Poppins" pitchFamily="2" charset="77"/>
                <a:cs typeface="Poppins" pitchFamily="2" charset="77"/>
              </a:rPr>
            </a:br>
            <a:r>
              <a:rPr lang="en-GB" sz="2400">
                <a:solidFill>
                  <a:srgbClr val="0055FF"/>
                </a:solidFill>
                <a:latin typeface="Poppins"/>
                <a:cs typeface="Poppins"/>
              </a:rPr>
              <a:t>3051 utterances </a:t>
            </a:r>
            <a:br>
              <a:rPr lang="en-GB" sz="2400">
                <a:latin typeface="Poppins" pitchFamily="2" charset="77"/>
                <a:cs typeface="Poppins" pitchFamily="2" charset="77"/>
              </a:rPr>
            </a:br>
            <a:r>
              <a:rPr lang="en-GB" sz="2400">
                <a:solidFill>
                  <a:srgbClr val="0055FF"/>
                </a:solidFill>
                <a:latin typeface="Poppins"/>
                <a:cs typeface="Poppins"/>
              </a:rPr>
              <a:t>109 841 tokens</a:t>
            </a:r>
            <a:endParaRPr lang="en-FR" sz="2400">
              <a:solidFill>
                <a:srgbClr val="0055FF"/>
              </a:solidFill>
              <a:latin typeface="Poppins"/>
              <a:cs typeface="Poppins"/>
            </a:endParaRPr>
          </a:p>
        </p:txBody>
      </p:sp>
      <p:grpSp>
        <p:nvGrpSpPr>
          <p:cNvPr id="8" name="Group 7">
            <a:extLst>
              <a:ext uri="{FF2B5EF4-FFF2-40B4-BE49-F238E27FC236}">
                <a16:creationId xmlns:a16="http://schemas.microsoft.com/office/drawing/2014/main" id="{AB8E1E53-36D1-88EF-F61C-3F7BB663261C}"/>
              </a:ext>
            </a:extLst>
          </p:cNvPr>
          <p:cNvGrpSpPr/>
          <p:nvPr/>
        </p:nvGrpSpPr>
        <p:grpSpPr>
          <a:xfrm>
            <a:off x="5054662" y="1488254"/>
            <a:ext cx="6499787" cy="1279808"/>
            <a:chOff x="5016961" y="783211"/>
            <a:chExt cx="6499787" cy="1279808"/>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EC49462-49F2-08F3-CAD3-DDF89E158D03}"/>
                    </a:ext>
                  </a:extLst>
                </p:cNvPr>
                <p:cNvSpPr txBox="1"/>
                <p:nvPr/>
              </p:nvSpPr>
              <p:spPr>
                <a:xfrm>
                  <a:off x="5016961" y="967270"/>
                  <a:ext cx="6499787" cy="1095749"/>
                </a:xfrm>
                <a:prstGeom prst="rect">
                  <a:avLst/>
                </a:prstGeom>
                <a:noFill/>
                <a:ln w="28575">
                  <a:solidFill>
                    <a:srgbClr val="FFFF00"/>
                  </a:solidFill>
                </a:ln>
              </p:spPr>
              <p:txBody>
                <a:bodyPr wrap="square">
                  <a:spAutoFit/>
                </a:bodyPr>
                <a:lstStyle/>
                <a:p>
                  <a:pPr algn="ctr"/>
                  <a14:m>
                    <m:oMath xmlns:m="http://schemas.openxmlformats.org/officeDocument/2006/math">
                      <m:sSub>
                        <m:sSubPr>
                          <m:ctrlPr>
                            <a:rPr lang="en-GB" b="1" i="1" dirty="0" smtClean="0">
                              <a:solidFill>
                                <a:srgbClr val="0055FF"/>
                              </a:solidFill>
                              <a:latin typeface="Cambria Math" panose="02040503050406030204" pitchFamily="18" charset="0"/>
                              <a:ea typeface="Cambria Math" panose="02040503050406030204" pitchFamily="18" charset="0"/>
                            </a:rPr>
                          </m:ctrlPr>
                        </m:sSubPr>
                        <m:e>
                          <m:r>
                            <a:rPr lang="fr-FR" b="1" i="1" dirty="0" smtClean="0">
                              <a:solidFill>
                                <a:srgbClr val="0055FF"/>
                              </a:solidFill>
                              <a:latin typeface="Cambria Math" panose="02040503050406030204" pitchFamily="18" charset="0"/>
                              <a:ea typeface="Cambria Math" panose="02040503050406030204" pitchFamily="18" charset="0"/>
                            </a:rPr>
                            <m:t>𝒚</m:t>
                          </m:r>
                        </m:e>
                        <m:sub>
                          <m:r>
                            <a:rPr lang="fr-FR" b="1" i="1" dirty="0" smtClean="0">
                              <a:solidFill>
                                <a:srgbClr val="0055FF"/>
                              </a:solidFill>
                              <a:latin typeface="Cambria Math" panose="02040503050406030204" pitchFamily="18" charset="0"/>
                              <a:ea typeface="Cambria Math" panose="02040503050406030204" pitchFamily="18" charset="0"/>
                            </a:rPr>
                            <m:t>𝒕</m:t>
                          </m:r>
                          <m:r>
                            <a:rPr lang="fr-FR" b="1" i="1" dirty="0" smtClean="0">
                              <a:solidFill>
                                <a:srgbClr val="0055FF"/>
                              </a:solidFill>
                              <a:latin typeface="Cambria Math" panose="02040503050406030204" pitchFamily="18" charset="0"/>
                              <a:ea typeface="Cambria Math" panose="02040503050406030204" pitchFamily="18" charset="0"/>
                            </a:rPr>
                            <m:t>+</m:t>
                          </m:r>
                          <m:r>
                            <a:rPr lang="fr-FR" b="1" i="1" dirty="0" smtClean="0">
                              <a:solidFill>
                                <a:srgbClr val="0055FF"/>
                              </a:solidFill>
                              <a:latin typeface="Cambria Math" panose="02040503050406030204" pitchFamily="18" charset="0"/>
                              <a:ea typeface="Cambria Math" panose="02040503050406030204" pitchFamily="18" charset="0"/>
                            </a:rPr>
                            <m:t>𝟏</m:t>
                          </m:r>
                        </m:sub>
                      </m:sSub>
                      <m:r>
                        <a:rPr lang="fr-FR" b="1" i="1" dirty="0" smtClean="0">
                          <a:solidFill>
                            <a:srgbClr val="0055FF"/>
                          </a:solidFill>
                          <a:latin typeface="Cambria Math" panose="02040503050406030204" pitchFamily="18" charset="0"/>
                          <a:ea typeface="Cambria Math" panose="02040503050406030204" pitchFamily="18" charset="0"/>
                        </a:rPr>
                        <m:t> </m:t>
                      </m:r>
                    </m:oMath>
                  </a14:m>
                  <a:r>
                    <a:rPr lang="en-GB" b="1">
                      <a:solidFill>
                        <a:srgbClr val="0055FF"/>
                      </a:solidFill>
                    </a:rPr>
                    <a:t>= </a:t>
                  </a:r>
                  <a14:m>
                    <m:oMath xmlns:m="http://schemas.openxmlformats.org/officeDocument/2006/math">
                      <m:sSub>
                        <m:sSubPr>
                          <m:ctrlPr>
                            <a:rPr lang="en-GB" b="1" i="1">
                              <a:solidFill>
                                <a:srgbClr val="0055FF"/>
                              </a:solidFill>
                              <a:latin typeface="Cambria Math" panose="02040503050406030204" pitchFamily="18" charset="0"/>
                            </a:rPr>
                          </m:ctrlPr>
                        </m:sSubPr>
                        <m:e>
                          <m:sSubSup>
                            <m:sSubSupPr>
                              <m:ctrlPr>
                                <a:rPr lang="en-GB" b="1" i="1">
                                  <a:solidFill>
                                    <a:srgbClr val="0055FF"/>
                                  </a:solidFill>
                                  <a:latin typeface="Cambria Math" panose="02040503050406030204" pitchFamily="18" charset="0"/>
                                </a:rPr>
                              </m:ctrlPr>
                            </m:sSubSupPr>
                            <m:e>
                              <m:r>
                                <a:rPr lang="fr-FR" b="1" i="1">
                                  <a:solidFill>
                                    <a:srgbClr val="0055FF"/>
                                  </a:solidFill>
                                  <a:latin typeface="Cambria Math" panose="02040503050406030204" pitchFamily="18" charset="0"/>
                                </a:rPr>
                                <m:t>(</m:t>
                              </m:r>
                              <m:r>
                                <a:rPr lang="fr-FR" b="1" i="1">
                                  <a:solidFill>
                                    <a:srgbClr val="0055FF"/>
                                  </a:solidFill>
                                  <a:latin typeface="Cambria Math" panose="02040503050406030204" pitchFamily="18" charset="0"/>
                                </a:rPr>
                                <m:t>𝒚</m:t>
                              </m:r>
                            </m:e>
                            <m:sub>
                              <m:r>
                                <a:rPr lang="fr-FR" b="1" i="1" smtClean="0">
                                  <a:solidFill>
                                    <a:srgbClr val="0055FF"/>
                                  </a:solidFill>
                                  <a:latin typeface="Cambria Math" panose="02040503050406030204" pitchFamily="18" charset="0"/>
                                </a:rPr>
                                <m:t>𝒕</m:t>
                              </m:r>
                              <m:r>
                                <a:rPr lang="fr-FR" b="1" i="1" smtClean="0">
                                  <a:solidFill>
                                    <a:srgbClr val="0055FF"/>
                                  </a:solidFill>
                                  <a:latin typeface="Cambria Math" panose="02040503050406030204" pitchFamily="18" charset="0"/>
                                </a:rPr>
                                <m:t>+</m:t>
                              </m:r>
                              <m:r>
                                <a:rPr lang="fr-FR" b="1" i="1" smtClean="0">
                                  <a:solidFill>
                                    <a:srgbClr val="0055FF"/>
                                  </a:solidFill>
                                  <a:latin typeface="Cambria Math" panose="02040503050406030204" pitchFamily="18" charset="0"/>
                                </a:rPr>
                                <m:t>𝟏</m:t>
                              </m:r>
                            </m:sub>
                            <m:sup>
                              <m:r>
                                <a:rPr lang="fr-FR" b="1" i="1">
                                  <a:solidFill>
                                    <a:srgbClr val="0055FF"/>
                                  </a:solidFill>
                                  <a:latin typeface="Cambria Math" panose="02040503050406030204" pitchFamily="18" charset="0"/>
                                </a:rPr>
                                <m:t>𝒋</m:t>
                              </m:r>
                            </m:sup>
                          </m:sSubSup>
                          <m:r>
                            <a:rPr lang="fr-FR" b="1" i="1">
                              <a:solidFill>
                                <a:srgbClr val="0055FF"/>
                              </a:solidFill>
                              <a:latin typeface="Cambria Math" panose="02040503050406030204" pitchFamily="18" charset="0"/>
                            </a:rPr>
                            <m:t>)</m:t>
                          </m:r>
                        </m:e>
                        <m:sub>
                          <m:r>
                            <a:rPr lang="fr-FR" b="1" i="1">
                              <a:solidFill>
                                <a:srgbClr val="0055FF"/>
                              </a:solidFill>
                              <a:latin typeface="Cambria Math" panose="02040503050406030204" pitchFamily="18" charset="0"/>
                            </a:rPr>
                            <m:t>𝒋</m:t>
                          </m:r>
                          <m:r>
                            <a:rPr lang="fr-FR" b="1" i="1">
                              <a:solidFill>
                                <a:srgbClr val="0055FF"/>
                              </a:solidFill>
                              <a:latin typeface="Cambria Math" panose="02040503050406030204" pitchFamily="18" charset="0"/>
                            </a:rPr>
                            <m:t> ∈</m:t>
                          </m:r>
                          <m:d>
                            <m:dPr>
                              <m:begChr m:val="["/>
                              <m:endChr m:val="]"/>
                              <m:ctrlPr>
                                <a:rPr lang="fr-FR" b="1" i="1">
                                  <a:solidFill>
                                    <a:srgbClr val="0055FF"/>
                                  </a:solidFill>
                                  <a:latin typeface="Cambria Math" panose="02040503050406030204" pitchFamily="18" charset="0"/>
                                  <a:ea typeface="Cambria Math" panose="02040503050406030204" pitchFamily="18" charset="0"/>
                                </a:rPr>
                              </m:ctrlPr>
                            </m:dPr>
                            <m:e>
                              <m:r>
                                <a:rPr lang="fr-FR" b="1" i="1">
                                  <a:solidFill>
                                    <a:srgbClr val="0055FF"/>
                                  </a:solidFill>
                                  <a:latin typeface="Cambria Math" panose="02040503050406030204" pitchFamily="18" charset="0"/>
                                  <a:ea typeface="Cambria Math" panose="02040503050406030204" pitchFamily="18" charset="0"/>
                                </a:rPr>
                                <m:t>𝟎</m:t>
                              </m:r>
                              <m:r>
                                <a:rPr lang="fr-FR" b="1" i="1">
                                  <a:solidFill>
                                    <a:srgbClr val="0055FF"/>
                                  </a:solidFill>
                                  <a:latin typeface="Cambria Math" panose="02040503050406030204" pitchFamily="18" charset="0"/>
                                  <a:ea typeface="Cambria Math" panose="02040503050406030204" pitchFamily="18" charset="0"/>
                                </a:rPr>
                                <m:t>, </m:t>
                              </m:r>
                              <m:sSub>
                                <m:sSubPr>
                                  <m:ctrlPr>
                                    <a:rPr lang="fr-FR" b="1" i="1">
                                      <a:solidFill>
                                        <a:srgbClr val="0055FF"/>
                                      </a:solidFill>
                                      <a:latin typeface="Cambria Math" panose="02040503050406030204" pitchFamily="18" charset="0"/>
                                      <a:ea typeface="Cambria Math" panose="02040503050406030204" pitchFamily="18" charset="0"/>
                                    </a:rPr>
                                  </m:ctrlPr>
                                </m:sSubPr>
                                <m:e>
                                  <m:r>
                                    <a:rPr lang="fr-FR" b="1" i="1">
                                      <a:solidFill>
                                        <a:srgbClr val="0055FF"/>
                                      </a:solidFill>
                                      <a:latin typeface="Cambria Math" panose="02040503050406030204" pitchFamily="18" charset="0"/>
                                      <a:ea typeface="Cambria Math" panose="02040503050406030204" pitchFamily="18" charset="0"/>
                                    </a:rPr>
                                    <m:t>𝒍</m:t>
                                  </m:r>
                                </m:e>
                                <m:sub>
                                  <m:r>
                                    <a:rPr lang="fr-FR" b="1" i="1" smtClean="0">
                                      <a:solidFill>
                                        <a:srgbClr val="0055FF"/>
                                      </a:solidFill>
                                      <a:latin typeface="Cambria Math" panose="02040503050406030204" pitchFamily="18" charset="0"/>
                                      <a:ea typeface="Cambria Math" panose="02040503050406030204" pitchFamily="18" charset="0"/>
                                    </a:rPr>
                                    <m:t>𝒕</m:t>
                                  </m:r>
                                  <m:r>
                                    <a:rPr lang="fr-FR" b="1" i="1" smtClean="0">
                                      <a:solidFill>
                                        <a:srgbClr val="0055FF"/>
                                      </a:solidFill>
                                      <a:latin typeface="Cambria Math" panose="02040503050406030204" pitchFamily="18" charset="0"/>
                                      <a:ea typeface="Cambria Math" panose="02040503050406030204" pitchFamily="18" charset="0"/>
                                    </a:rPr>
                                    <m:t>+</m:t>
                                  </m:r>
                                  <m:r>
                                    <a:rPr lang="fr-FR" b="1" i="1" smtClean="0">
                                      <a:solidFill>
                                        <a:srgbClr val="0055FF"/>
                                      </a:solidFill>
                                      <a:latin typeface="Cambria Math" panose="02040503050406030204" pitchFamily="18" charset="0"/>
                                      <a:ea typeface="Cambria Math" panose="02040503050406030204" pitchFamily="18" charset="0"/>
                                    </a:rPr>
                                    <m:t>𝟏</m:t>
                                  </m:r>
                                </m:sub>
                              </m:sSub>
                            </m:e>
                          </m:d>
                          <m:r>
                            <a:rPr lang="fr-FR" b="1" i="1" smtClean="0">
                              <a:solidFill>
                                <a:srgbClr val="0055FF"/>
                              </a:solidFill>
                              <a:latin typeface="Cambria Math" panose="02040503050406030204" pitchFamily="18" charset="0"/>
                              <a:ea typeface="Cambria Math" panose="02040503050406030204" pitchFamily="18" charset="0"/>
                            </a:rPr>
                            <m:t>  </m:t>
                          </m:r>
                        </m:sub>
                      </m:sSub>
                      <m:r>
                        <a:rPr lang="fr-FR" b="1" i="1" smtClean="0">
                          <a:solidFill>
                            <a:srgbClr val="0055FF"/>
                          </a:solidFill>
                          <a:latin typeface="Cambria Math" panose="02040503050406030204" pitchFamily="18" charset="0"/>
                          <a:ea typeface="Cambria Math" panose="02040503050406030204" pitchFamily="18" charset="0"/>
                        </a:rPr>
                        <m:t>∈</m:t>
                      </m:r>
                      <m:sSup>
                        <m:sSupPr>
                          <m:ctrlPr>
                            <a:rPr lang="fr-FR" b="1" i="1" smtClean="0">
                              <a:solidFill>
                                <a:srgbClr val="0055FF"/>
                              </a:solidFill>
                              <a:latin typeface="Cambria Math" panose="02040503050406030204" pitchFamily="18" charset="0"/>
                              <a:ea typeface="Cambria Math" panose="02040503050406030204" pitchFamily="18" charset="0"/>
                            </a:rPr>
                          </m:ctrlPr>
                        </m:sSupPr>
                        <m:e>
                          <m:r>
                            <a:rPr lang="fr-FR" b="1" i="1" smtClean="0">
                              <a:solidFill>
                                <a:srgbClr val="0055FF"/>
                              </a:solidFill>
                              <a:latin typeface="Cambria Math" panose="02040503050406030204" pitchFamily="18" charset="0"/>
                              <a:ea typeface="Cambria Math" panose="02040503050406030204" pitchFamily="18" charset="0"/>
                            </a:rPr>
                            <m:t>𝑺𝑬</m:t>
                          </m:r>
                        </m:e>
                        <m:sup>
                          <m:sSub>
                            <m:sSubPr>
                              <m:ctrlPr>
                                <a:rPr lang="fr-FR" b="1" i="1" smtClean="0">
                                  <a:solidFill>
                                    <a:srgbClr val="0055FF"/>
                                  </a:solidFill>
                                  <a:latin typeface="Cambria Math" panose="02040503050406030204" pitchFamily="18" charset="0"/>
                                  <a:ea typeface="Cambria Math" panose="02040503050406030204" pitchFamily="18" charset="0"/>
                                </a:rPr>
                              </m:ctrlPr>
                            </m:sSubPr>
                            <m:e>
                              <m:r>
                                <a:rPr lang="fr-FR" b="1" i="1" smtClean="0">
                                  <a:solidFill>
                                    <a:srgbClr val="0055FF"/>
                                  </a:solidFill>
                                  <a:latin typeface="Cambria Math" panose="02040503050406030204" pitchFamily="18" charset="0"/>
                                  <a:ea typeface="Cambria Math" panose="02040503050406030204" pitchFamily="18" charset="0"/>
                                </a:rPr>
                                <m:t>𝒍</m:t>
                              </m:r>
                            </m:e>
                            <m:sub>
                              <m:r>
                                <a:rPr lang="fr-FR" b="1" i="1" smtClean="0">
                                  <a:solidFill>
                                    <a:srgbClr val="0055FF"/>
                                  </a:solidFill>
                                  <a:latin typeface="Cambria Math" panose="02040503050406030204" pitchFamily="18" charset="0"/>
                                  <a:ea typeface="Cambria Math" panose="02040503050406030204" pitchFamily="18" charset="0"/>
                                </a:rPr>
                                <m:t>𝒕</m:t>
                              </m:r>
                              <m:r>
                                <a:rPr lang="fr-FR" b="1" i="1" smtClean="0">
                                  <a:solidFill>
                                    <a:srgbClr val="0055FF"/>
                                  </a:solidFill>
                                  <a:latin typeface="Cambria Math" panose="02040503050406030204" pitchFamily="18" charset="0"/>
                                  <a:ea typeface="Cambria Math" panose="02040503050406030204" pitchFamily="18" charset="0"/>
                                </a:rPr>
                                <m:t>+</m:t>
                              </m:r>
                              <m:r>
                                <a:rPr lang="fr-FR" b="1" i="1" smtClean="0">
                                  <a:solidFill>
                                    <a:srgbClr val="0055FF"/>
                                  </a:solidFill>
                                  <a:latin typeface="Cambria Math" panose="02040503050406030204" pitchFamily="18" charset="0"/>
                                  <a:ea typeface="Cambria Math" panose="02040503050406030204" pitchFamily="18" charset="0"/>
                                </a:rPr>
                                <m:t>𝟏</m:t>
                              </m:r>
                            </m:sub>
                          </m:sSub>
                        </m:sup>
                      </m:sSup>
                    </m:oMath>
                  </a14:m>
                  <a:endParaRPr lang="en-GB" sz="1400" b="1" i="1">
                    <a:solidFill>
                      <a:srgbClr val="0055FF"/>
                    </a:solidFill>
                    <a:latin typeface="Poppins" pitchFamily="2" charset="77"/>
                    <a:ea typeface="Cambria Math" panose="02040503050406030204" pitchFamily="18" charset="0"/>
                    <a:cs typeface="Poppins" pitchFamily="2" charset="77"/>
                  </a:endParaRPr>
                </a:p>
                <a:p>
                  <a:pPr algn="ctr"/>
                  <a:endParaRPr lang="en-GB" sz="1400" b="1" i="1">
                    <a:solidFill>
                      <a:srgbClr val="0055FF"/>
                    </a:solidFill>
                    <a:latin typeface="Poppins" pitchFamily="2" charset="77"/>
                    <a:ea typeface="Cambria Math" panose="02040503050406030204" pitchFamily="18" charset="0"/>
                    <a:cs typeface="Poppins" pitchFamily="2" charset="77"/>
                  </a:endParaRPr>
                </a:p>
                <a:p>
                  <a:pPr algn="ctr"/>
                  <a14:m>
                    <m:oMathPara xmlns:m="http://schemas.openxmlformats.org/officeDocument/2006/math">
                      <m:oMathParaPr>
                        <m:jc m:val="center"/>
                      </m:oMathParaPr>
                      <m:oMath xmlns:m="http://schemas.openxmlformats.org/officeDocument/2006/math">
                        <m:r>
                          <m:rPr>
                            <m:sty m:val="p"/>
                          </m:rPr>
                          <a:rPr lang="fr-FR" sz="1400" b="0" i="1" dirty="0" smtClean="0">
                            <a:latin typeface="Cambria Math" panose="02040503050406030204" pitchFamily="18" charset="0"/>
                            <a:cs typeface="Poppins" pitchFamily="2" charset="77"/>
                          </a:rPr>
                          <m:t>A</m:t>
                        </m:r>
                        <m:r>
                          <m:rPr>
                            <m:nor/>
                          </m:rPr>
                          <a:rPr lang="fr-FR" sz="1400" b="0" i="0" dirty="0" smtClean="0">
                            <a:latin typeface="Poppins" pitchFamily="2" charset="77"/>
                            <a:cs typeface="Poppins" pitchFamily="2" charset="77"/>
                          </a:rPr>
                          <m:t>n</m:t>
                        </m:r>
                        <m:r>
                          <m:rPr>
                            <m:nor/>
                          </m:rPr>
                          <a:rPr lang="fr-FR" sz="1400" b="0" i="0" dirty="0" smtClean="0">
                            <a:latin typeface="Poppins" pitchFamily="2" charset="77"/>
                            <a:cs typeface="Poppins" pitchFamily="2" charset="77"/>
                          </a:rPr>
                          <m:t> </m:t>
                        </m:r>
                        <m:r>
                          <m:rPr>
                            <m:nor/>
                          </m:rPr>
                          <a:rPr lang="fr-FR" sz="1400" b="0" i="0" dirty="0" smtClean="0">
                            <a:latin typeface="Poppins" pitchFamily="2" charset="77"/>
                            <a:cs typeface="Poppins" pitchFamily="2" charset="77"/>
                          </a:rPr>
                          <m:t>ordered</m:t>
                        </m:r>
                        <m:r>
                          <m:rPr>
                            <m:nor/>
                          </m:rPr>
                          <a:rPr lang="fr-FR" sz="1400" b="0" i="0" dirty="0" smtClean="0">
                            <a:latin typeface="Poppins" pitchFamily="2" charset="77"/>
                            <a:cs typeface="Poppins" pitchFamily="2" charset="77"/>
                          </a:rPr>
                          <m:t> </m:t>
                        </m:r>
                        <m:r>
                          <m:rPr>
                            <m:nor/>
                          </m:rPr>
                          <a:rPr lang="fr-FR" sz="1400" b="0" i="0" dirty="0" smtClean="0">
                            <a:latin typeface="Poppins" pitchFamily="2" charset="77"/>
                            <a:cs typeface="Poppins" pitchFamily="2" charset="77"/>
                          </a:rPr>
                          <m:t>sequence</m:t>
                        </m:r>
                        <m:r>
                          <m:rPr>
                            <m:nor/>
                          </m:rPr>
                          <a:rPr lang="fr-FR" sz="1400" b="0" i="0" dirty="0" smtClean="0">
                            <a:latin typeface="Poppins" pitchFamily="2" charset="77"/>
                            <a:cs typeface="Poppins" pitchFamily="2" charset="77"/>
                          </a:rPr>
                          <m:t> </m:t>
                        </m:r>
                        <m:r>
                          <m:rPr>
                            <m:nor/>
                          </m:rPr>
                          <a:rPr lang="fr-FR" sz="1400" b="0" i="0" dirty="0" smtClean="0">
                            <a:latin typeface="Poppins" pitchFamily="2" charset="77"/>
                            <a:cs typeface="Poppins" pitchFamily="2" charset="77"/>
                          </a:rPr>
                          <m:t>of</m:t>
                        </m:r>
                        <m:r>
                          <m:rPr>
                            <m:nor/>
                          </m:rPr>
                          <a:rPr lang="fr-FR" sz="1400" b="0" i="0" dirty="0" smtClean="0">
                            <a:latin typeface="Poppins" pitchFamily="2" charset="77"/>
                            <a:cs typeface="Poppins" pitchFamily="2" charset="77"/>
                          </a:rPr>
                          <m:t> </m:t>
                        </m:r>
                        <m:r>
                          <m:rPr>
                            <m:nor/>
                          </m:rPr>
                          <a:rPr lang="fr-FR" sz="1400" b="0" i="0" dirty="0" smtClean="0">
                            <a:latin typeface="Poppins" pitchFamily="2" charset="77"/>
                            <a:cs typeface="Poppins" pitchFamily="2" charset="77"/>
                          </a:rPr>
                          <m:t>socio</m:t>
                        </m:r>
                        <m:r>
                          <m:rPr>
                            <m:nor/>
                          </m:rPr>
                          <a:rPr lang="fr-FR" sz="1400" b="0" i="0" dirty="0" smtClean="0">
                            <a:latin typeface="Poppins" pitchFamily="2" charset="77"/>
                            <a:cs typeface="Poppins" pitchFamily="2" charset="77"/>
                          </a:rPr>
                          <m:t>−</m:t>
                        </m:r>
                        <m:r>
                          <m:rPr>
                            <m:nor/>
                          </m:rPr>
                          <a:rPr lang="fr-FR" sz="1400" b="0" i="0" dirty="0" smtClean="0">
                            <a:latin typeface="Poppins" pitchFamily="2" charset="77"/>
                            <a:cs typeface="Poppins" pitchFamily="2" charset="77"/>
                          </a:rPr>
                          <m:t>emotional</m:t>
                        </m:r>
                        <m:r>
                          <m:rPr>
                            <m:nor/>
                          </m:rPr>
                          <a:rPr lang="fr-FR" sz="1400" b="0" i="0" dirty="0" smtClean="0">
                            <a:latin typeface="Poppins" pitchFamily="2" charset="77"/>
                            <a:cs typeface="Poppins" pitchFamily="2" charset="77"/>
                          </a:rPr>
                          <m:t> </m:t>
                        </m:r>
                        <m:r>
                          <m:rPr>
                            <m:nor/>
                          </m:rPr>
                          <a:rPr lang="fr-FR" sz="1400" b="0" i="0" dirty="0" smtClean="0">
                            <a:latin typeface="Poppins" pitchFamily="2" charset="77"/>
                            <a:cs typeface="Poppins" pitchFamily="2" charset="77"/>
                          </a:rPr>
                          <m:t>labels</m:t>
                        </m:r>
                        <m:r>
                          <m:rPr>
                            <m:nor/>
                          </m:rPr>
                          <a:rPr lang="fr-FR" sz="1400" b="0" i="0" dirty="0" smtClean="0">
                            <a:latin typeface="Poppins" pitchFamily="2" charset="77"/>
                            <a:cs typeface="Poppins" pitchFamily="2" charset="77"/>
                          </a:rPr>
                          <m:t> </m:t>
                        </m:r>
                        <m:r>
                          <m:rPr>
                            <m:nor/>
                          </m:rPr>
                          <a:rPr lang="fr-FR" sz="1400" b="0" i="0" dirty="0" smtClean="0">
                            <a:latin typeface="Poppins" pitchFamily="2" charset="77"/>
                            <a:cs typeface="Poppins" pitchFamily="2" charset="77"/>
                          </a:rPr>
                          <m:t>associated</m:t>
                        </m:r>
                        <m:r>
                          <m:rPr>
                            <m:nor/>
                          </m:rPr>
                          <a:rPr lang="fr-FR" sz="1400" b="0" i="0" dirty="0" smtClean="0">
                            <a:latin typeface="Poppins" pitchFamily="2" charset="77"/>
                            <a:cs typeface="Poppins" pitchFamily="2" charset="77"/>
                          </a:rPr>
                          <m:t> </m:t>
                        </m:r>
                        <m:r>
                          <m:rPr>
                            <m:nor/>
                          </m:rPr>
                          <a:rPr lang="fr-FR" sz="1400" b="0" i="0" dirty="0" smtClean="0">
                            <a:latin typeface="Poppins" pitchFamily="2" charset="77"/>
                            <a:cs typeface="Poppins" pitchFamily="2" charset="77"/>
                          </a:rPr>
                          <m:t>with</m:t>
                        </m:r>
                        <m:r>
                          <m:rPr>
                            <m:nor/>
                          </m:rPr>
                          <a:rPr lang="fr-FR" sz="1400" b="0" i="0" dirty="0" smtClean="0">
                            <a:latin typeface="Poppins" pitchFamily="2" charset="77"/>
                            <a:cs typeface="Poppins" pitchFamily="2" charset="77"/>
                          </a:rPr>
                          <m:t> </m:t>
                        </m:r>
                        <m:r>
                          <m:rPr>
                            <m:nor/>
                          </m:rPr>
                          <a:rPr lang="fr-FR" sz="1400" b="0" i="0" dirty="0" smtClean="0">
                            <a:latin typeface="Poppins" pitchFamily="2" charset="77"/>
                            <a:cs typeface="Poppins" pitchFamily="2" charset="77"/>
                          </a:rPr>
                          <m:t>utterance</m:t>
                        </m:r>
                        <m:r>
                          <m:rPr>
                            <m:nor/>
                          </m:rPr>
                          <a:rPr lang="en-GB" sz="1400" dirty="0" smtClean="0">
                            <a:latin typeface="Poppins" pitchFamily="2" charset="77"/>
                            <a:cs typeface="Poppins" pitchFamily="2" charset="77"/>
                          </a:rPr>
                          <m:t> </m:t>
                        </m:r>
                        <m:sSub>
                          <m:sSubPr>
                            <m:ctrlPr>
                              <a:rPr lang="en-GB" sz="1400" i="1">
                                <a:latin typeface="Cambria Math" panose="02040503050406030204" pitchFamily="18" charset="0"/>
                              </a:rPr>
                            </m:ctrlPr>
                          </m:sSubPr>
                          <m:e>
                            <m:r>
                              <a:rPr lang="fr-FR" sz="1400" i="1">
                                <a:latin typeface="Cambria Math" panose="02040503050406030204" pitchFamily="18" charset="0"/>
                              </a:rPr>
                              <m:t>𝑐</m:t>
                            </m:r>
                          </m:e>
                          <m:sub>
                            <m:r>
                              <a:rPr lang="fr-FR" sz="1400" i="1">
                                <a:latin typeface="Cambria Math" panose="02040503050406030204" pitchFamily="18" charset="0"/>
                              </a:rPr>
                              <m:t>𝑖</m:t>
                            </m:r>
                          </m:sub>
                        </m:sSub>
                        <m:r>
                          <m:rPr>
                            <m:nor/>
                          </m:rPr>
                          <a:rPr lang="en-GB" sz="1400" dirty="0">
                            <a:latin typeface="Poppins" pitchFamily="2" charset="77"/>
                            <a:cs typeface="Poppins" pitchFamily="2" charset="77"/>
                          </a:rPr>
                          <m:t> </m:t>
                        </m:r>
                        <m:r>
                          <m:rPr>
                            <m:nor/>
                          </m:rPr>
                          <a:rPr lang="fr-FR" sz="1400" b="0" i="0" dirty="0" smtClean="0">
                            <a:latin typeface="Poppins" pitchFamily="2" charset="77"/>
                            <a:cs typeface="Poppins" pitchFamily="2" charset="77"/>
                          </a:rPr>
                          <m:t>and</m:t>
                        </m:r>
                        <m:r>
                          <m:rPr>
                            <m:nor/>
                          </m:rPr>
                          <a:rPr lang="en-GB" sz="1400" dirty="0">
                            <a:latin typeface="Poppins" pitchFamily="2" charset="77"/>
                            <a:cs typeface="Poppins" pitchFamily="2" charset="77"/>
                          </a:rPr>
                          <m:t>  </m:t>
                        </m:r>
                        <m:sSub>
                          <m:sSubPr>
                            <m:ctrlPr>
                              <a:rPr lang="en-GB" sz="1400" i="1">
                                <a:latin typeface="Cambria Math" panose="02040503050406030204" pitchFamily="18" charset="0"/>
                              </a:rPr>
                            </m:ctrlPr>
                          </m:sSubPr>
                          <m:e>
                            <m:r>
                              <a:rPr lang="fr-FR" sz="1400" i="1">
                                <a:latin typeface="Cambria Math" panose="02040503050406030204" pitchFamily="18" charset="0"/>
                              </a:rPr>
                              <m:t>𝑙</m:t>
                            </m:r>
                          </m:e>
                          <m:sub>
                            <m:r>
                              <a:rPr lang="fr-FR" sz="1400" i="1">
                                <a:latin typeface="Cambria Math" panose="02040503050406030204" pitchFamily="18" charset="0"/>
                              </a:rPr>
                              <m:t>𝑖</m:t>
                            </m:r>
                          </m:sub>
                        </m:sSub>
                        <m:r>
                          <a:rPr lang="en-GB" sz="1400" i="1" dirty="0">
                            <a:latin typeface="Cambria Math" panose="02040503050406030204" pitchFamily="18" charset="0"/>
                            <a:ea typeface="Cambria Math" panose="02040503050406030204" pitchFamily="18" charset="0"/>
                          </a:rPr>
                          <m:t>∈</m:t>
                        </m:r>
                        <m:r>
                          <a:rPr lang="fr-FR" sz="1400" i="1" dirty="0">
                            <a:latin typeface="Cambria Math" panose="02040503050406030204" pitchFamily="18" charset="0"/>
                            <a:ea typeface="Cambria Math" panose="02040503050406030204" pitchFamily="18" charset="0"/>
                          </a:rPr>
                          <m:t> </m:t>
                        </m:r>
                        <m:r>
                          <a:rPr lang="fr-FR" sz="1400" i="1" dirty="0">
                            <a:latin typeface="Cambria Math" panose="02040503050406030204" pitchFamily="18" charset="0"/>
                            <a:ea typeface="Cambria Math" panose="02040503050406030204" pitchFamily="18" charset="0"/>
                          </a:rPr>
                          <m:t>ℕ</m:t>
                        </m:r>
                        <m:r>
                          <m:rPr>
                            <m:nor/>
                          </m:rPr>
                          <a:rPr lang="en-GB" sz="1400" dirty="0">
                            <a:latin typeface="Poppins" pitchFamily="2" charset="77"/>
                            <a:cs typeface="Poppins" pitchFamily="2" charset="77"/>
                          </a:rPr>
                          <m:t> </m:t>
                        </m:r>
                        <m:r>
                          <m:rPr>
                            <m:nor/>
                          </m:rPr>
                          <a:rPr lang="fr-FR" sz="1400" b="0" i="0" dirty="0" smtClean="0">
                            <a:latin typeface="Poppins" pitchFamily="2" charset="77"/>
                            <a:cs typeface="Poppins" pitchFamily="2" charset="77"/>
                          </a:rPr>
                          <m:t>the</m:t>
                        </m:r>
                        <m:r>
                          <m:rPr>
                            <m:nor/>
                          </m:rPr>
                          <a:rPr lang="fr-FR" sz="1400" b="0" i="0" dirty="0" smtClean="0">
                            <a:latin typeface="Poppins" pitchFamily="2" charset="77"/>
                            <a:cs typeface="Poppins" pitchFamily="2" charset="77"/>
                          </a:rPr>
                          <m:t> </m:t>
                        </m:r>
                        <m:r>
                          <m:rPr>
                            <m:nor/>
                          </m:rPr>
                          <a:rPr lang="fr-FR" sz="1400" b="0" i="0" dirty="0" smtClean="0">
                            <a:latin typeface="Poppins" pitchFamily="2" charset="77"/>
                            <a:cs typeface="Poppins" pitchFamily="2" charset="77"/>
                          </a:rPr>
                          <m:t>number</m:t>
                        </m:r>
                        <m:r>
                          <m:rPr>
                            <m:nor/>
                          </m:rPr>
                          <a:rPr lang="fr-FR" sz="1400" b="0" i="0" dirty="0" smtClean="0">
                            <a:latin typeface="Poppins" pitchFamily="2" charset="77"/>
                            <a:cs typeface="Poppins" pitchFamily="2" charset="77"/>
                          </a:rPr>
                          <m:t> </m:t>
                        </m:r>
                        <m:r>
                          <m:rPr>
                            <m:nor/>
                          </m:rPr>
                          <a:rPr lang="fr-FR" sz="1400" b="0" i="0" dirty="0" smtClean="0">
                            <a:latin typeface="Poppins" pitchFamily="2" charset="77"/>
                            <a:cs typeface="Poppins" pitchFamily="2" charset="77"/>
                          </a:rPr>
                          <m:t>of</m:t>
                        </m:r>
                        <m:r>
                          <m:rPr>
                            <m:nor/>
                          </m:rPr>
                          <a:rPr lang="fr-FR" sz="1400" b="0" i="0" dirty="0" smtClean="0">
                            <a:latin typeface="Poppins" pitchFamily="2" charset="77"/>
                            <a:cs typeface="Poppins" pitchFamily="2" charset="77"/>
                          </a:rPr>
                          <m:t> </m:t>
                        </m:r>
                        <m:r>
                          <m:rPr>
                            <m:nor/>
                          </m:rPr>
                          <a:rPr lang="fr-FR" sz="1400" b="0" i="0" dirty="0" smtClean="0">
                            <a:latin typeface="Poppins" pitchFamily="2" charset="77"/>
                            <a:cs typeface="Poppins" pitchFamily="2" charset="77"/>
                          </a:rPr>
                          <m:t>labels</m:t>
                        </m:r>
                        <m:r>
                          <m:rPr>
                            <m:nor/>
                          </m:rPr>
                          <a:rPr lang="fr-FR" sz="1400" b="0" i="0" dirty="0" smtClean="0">
                            <a:latin typeface="Poppins" pitchFamily="2" charset="77"/>
                            <a:cs typeface="Poppins" pitchFamily="2" charset="77"/>
                          </a:rPr>
                          <m:t> </m:t>
                        </m:r>
                        <m:r>
                          <m:rPr>
                            <m:nor/>
                          </m:rPr>
                          <a:rPr lang="fr-FR" sz="1400" b="0" i="0" dirty="0" smtClean="0">
                            <a:latin typeface="Poppins" pitchFamily="2" charset="77"/>
                            <a:cs typeface="Poppins" pitchFamily="2" charset="77"/>
                          </a:rPr>
                          <m:t>associated</m:t>
                        </m:r>
                        <m:r>
                          <m:rPr>
                            <m:nor/>
                          </m:rPr>
                          <a:rPr lang="fr-FR" sz="1400" b="0" i="0" dirty="0" smtClean="0">
                            <a:latin typeface="Poppins" pitchFamily="2" charset="77"/>
                            <a:cs typeface="Poppins" pitchFamily="2" charset="77"/>
                          </a:rPr>
                          <m:t> </m:t>
                        </m:r>
                        <m:r>
                          <m:rPr>
                            <m:nor/>
                          </m:rPr>
                          <a:rPr lang="fr-FR" sz="1400" b="0" i="0" dirty="0" smtClean="0">
                            <a:latin typeface="Poppins" pitchFamily="2" charset="77"/>
                            <a:cs typeface="Poppins" pitchFamily="2" charset="77"/>
                          </a:rPr>
                          <m:t>with</m:t>
                        </m:r>
                        <m:r>
                          <m:rPr>
                            <m:nor/>
                          </m:rPr>
                          <a:rPr lang="fr-FR" sz="1400" b="0" i="0" dirty="0" smtClean="0">
                            <a:latin typeface="Poppins" pitchFamily="2" charset="77"/>
                            <a:cs typeface="Poppins" pitchFamily="2" charset="77"/>
                          </a:rPr>
                          <m:t> </m:t>
                        </m:r>
                        <m:sSub>
                          <m:sSubPr>
                            <m:ctrlPr>
                              <a:rPr lang="en-GB" sz="1400" i="1">
                                <a:latin typeface="Cambria Math" panose="02040503050406030204" pitchFamily="18" charset="0"/>
                              </a:rPr>
                            </m:ctrlPr>
                          </m:sSubPr>
                          <m:e>
                            <m:r>
                              <a:rPr lang="fr-FR" sz="1400" i="1">
                                <a:latin typeface="Cambria Math" panose="02040503050406030204" pitchFamily="18" charset="0"/>
                              </a:rPr>
                              <m:t>𝑐</m:t>
                            </m:r>
                          </m:e>
                          <m:sub>
                            <m:r>
                              <a:rPr lang="fr-FR" sz="1400" i="1">
                                <a:latin typeface="Cambria Math" panose="02040503050406030204" pitchFamily="18" charset="0"/>
                              </a:rPr>
                              <m:t>𝑖</m:t>
                            </m:r>
                          </m:sub>
                        </m:sSub>
                        <m:r>
                          <a:rPr lang="fr-FR" sz="1400">
                            <a:latin typeface="Cambria Math" panose="02040503050406030204" pitchFamily="18" charset="0"/>
                          </a:rPr>
                          <m:t>.</m:t>
                        </m:r>
                      </m:oMath>
                    </m:oMathPara>
                  </a14:m>
                  <a:endParaRPr lang="en-GB" sz="1400" b="1">
                    <a:latin typeface="Poppins" pitchFamily="2" charset="77"/>
                    <a:cs typeface="Poppins" pitchFamily="2" charset="77"/>
                  </a:endParaRPr>
                </a:p>
              </p:txBody>
            </p:sp>
          </mc:Choice>
          <mc:Fallback xmlns="">
            <p:sp>
              <p:nvSpPr>
                <p:cNvPr id="12" name="TextBox 11">
                  <a:extLst>
                    <a:ext uri="{FF2B5EF4-FFF2-40B4-BE49-F238E27FC236}">
                      <a16:creationId xmlns:a16="http://schemas.microsoft.com/office/drawing/2014/main" id="{A9166349-D91C-734D-AA77-2ADD004CFE2A}"/>
                    </a:ext>
                  </a:extLst>
                </p:cNvPr>
                <p:cNvSpPr txBox="1">
                  <a:spLocks noRot="1" noChangeAspect="1" noMove="1" noResize="1" noEditPoints="1" noAdjustHandles="1" noChangeArrowheads="1" noChangeShapeType="1" noTextEdit="1"/>
                </p:cNvSpPr>
                <p:nvPr/>
              </p:nvSpPr>
              <p:spPr>
                <a:xfrm>
                  <a:off x="5016961" y="967270"/>
                  <a:ext cx="6499787" cy="1095749"/>
                </a:xfrm>
                <a:prstGeom prst="rect">
                  <a:avLst/>
                </a:prstGeom>
                <a:blipFill>
                  <a:blip r:embed="rId6"/>
                  <a:stretch>
                    <a:fillRect/>
                  </a:stretch>
                </a:blipFill>
                <a:ln w="28575">
                  <a:solidFill>
                    <a:srgbClr val="FFFF00"/>
                  </a:solidFill>
                </a:ln>
              </p:spPr>
              <p:txBody>
                <a:bodyPr/>
                <a:lstStyle/>
                <a:p>
                  <a:r>
                    <a:rPr lang="en-US">
                      <a:noFill/>
                    </a:rPr>
                    <a:t> </a:t>
                  </a:r>
                </a:p>
              </p:txBody>
            </p:sp>
          </mc:Fallback>
        </mc:AlternateContent>
        <p:sp>
          <p:nvSpPr>
            <p:cNvPr id="10" name="TextBox 9">
              <a:extLst>
                <a:ext uri="{FF2B5EF4-FFF2-40B4-BE49-F238E27FC236}">
                  <a16:creationId xmlns:a16="http://schemas.microsoft.com/office/drawing/2014/main" id="{5B42459A-5582-8991-4403-972062745E4E}"/>
                </a:ext>
              </a:extLst>
            </p:cNvPr>
            <p:cNvSpPr txBox="1"/>
            <p:nvPr/>
          </p:nvSpPr>
          <p:spPr>
            <a:xfrm>
              <a:off x="5271162" y="783211"/>
              <a:ext cx="1070768" cy="369332"/>
            </a:xfrm>
            <a:prstGeom prst="rect">
              <a:avLst/>
            </a:prstGeom>
            <a:solidFill>
              <a:schemeClr val="bg1"/>
            </a:solidFill>
            <a:ln>
              <a:noFill/>
            </a:ln>
          </p:spPr>
          <p:txBody>
            <a:bodyPr wrap="square" rtlCol="0">
              <a:spAutoFit/>
            </a:bodyPr>
            <a:lstStyle/>
            <a:p>
              <a:pPr algn="ctr"/>
              <a:r>
                <a:rPr lang="en-FR" u="sng" dirty="0">
                  <a:solidFill>
                    <a:srgbClr val="0055FF"/>
                  </a:solidFill>
                  <a:highlight>
                    <a:srgbClr val="FFFF00"/>
                  </a:highlight>
                </a:rPr>
                <a:t>reminder</a:t>
              </a:r>
            </a:p>
          </p:txBody>
        </p:sp>
      </p:grpSp>
      <p:sp>
        <p:nvSpPr>
          <p:cNvPr id="11" name="Rectangle 10">
            <a:extLst>
              <a:ext uri="{FF2B5EF4-FFF2-40B4-BE49-F238E27FC236}">
                <a16:creationId xmlns:a16="http://schemas.microsoft.com/office/drawing/2014/main" id="{9515AAA5-8863-4919-28C0-561F4530F787}"/>
              </a:ext>
            </a:extLst>
          </p:cNvPr>
          <p:cNvSpPr/>
          <p:nvPr/>
        </p:nvSpPr>
        <p:spPr>
          <a:xfrm>
            <a:off x="7791086" y="3785358"/>
            <a:ext cx="1220916" cy="20558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49925EA7-037B-F0BC-F431-CB28D9E8BB1A}"/>
              </a:ext>
            </a:extLst>
          </p:cNvPr>
          <p:cNvSpPr/>
          <p:nvPr/>
        </p:nvSpPr>
        <p:spPr>
          <a:xfrm>
            <a:off x="7787866" y="3546337"/>
            <a:ext cx="1231960" cy="22766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90888A6A-F5A5-A5D4-410F-479B155CB8C5}"/>
              </a:ext>
            </a:extLst>
          </p:cNvPr>
          <p:cNvSpPr/>
          <p:nvPr/>
        </p:nvSpPr>
        <p:spPr>
          <a:xfrm>
            <a:off x="2109334" y="4839097"/>
            <a:ext cx="2285834" cy="44036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Picture 13">
            <a:extLst>
              <a:ext uri="{FF2B5EF4-FFF2-40B4-BE49-F238E27FC236}">
                <a16:creationId xmlns:a16="http://schemas.microsoft.com/office/drawing/2014/main" id="{7A3842D8-4DB1-4BCA-D500-C26EB782AA02}"/>
              </a:ext>
            </a:extLst>
          </p:cNvPr>
          <p:cNvPicPr>
            <a:picLocks noChangeAspect="1"/>
          </p:cNvPicPr>
          <p:nvPr/>
        </p:nvPicPr>
        <p:blipFill>
          <a:blip r:embed="rId7">
            <a:alphaModFix amt="51000"/>
            <a:extLst>
              <a:ext uri="{BEBA8EAE-BF5A-486C-A8C5-ECC9F3942E4B}">
                <a14:imgProps xmlns:a14="http://schemas.microsoft.com/office/drawing/2010/main">
                  <a14:imgLayer r:embed="rId8">
                    <a14:imgEffect>
                      <a14:artisticPhotocopy/>
                    </a14:imgEffect>
                    <a14:imgEffect>
                      <a14:colorTemperature colorTemp="2989"/>
                    </a14:imgEffect>
                  </a14:imgLayer>
                </a14:imgProps>
              </a:ext>
            </a:extLst>
          </a:blip>
          <a:stretch>
            <a:fillRect/>
          </a:stretch>
        </p:blipFill>
        <p:spPr>
          <a:xfrm>
            <a:off x="179856" y="298642"/>
            <a:ext cx="759258" cy="759258"/>
          </a:xfrm>
          <a:prstGeom prst="rect">
            <a:avLst/>
          </a:prstGeom>
          <a:ln>
            <a:noFill/>
          </a:ln>
        </p:spPr>
      </p:pic>
    </p:spTree>
    <p:extLst>
      <p:ext uri="{BB962C8B-B14F-4D97-AF65-F5344CB8AC3E}">
        <p14:creationId xmlns:p14="http://schemas.microsoft.com/office/powerpoint/2010/main" val="305506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5A729-D76D-CC17-41E1-CE2949027F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4B49D3-E9A2-6F92-8CD8-4FB944698393}"/>
              </a:ext>
            </a:extLst>
          </p:cNvPr>
          <p:cNvSpPr>
            <a:spLocks noGrp="1"/>
          </p:cNvSpPr>
          <p:nvPr>
            <p:ph type="title"/>
          </p:nvPr>
        </p:nvSpPr>
        <p:spPr/>
        <p:txBody>
          <a:bodyPr/>
          <a:lstStyle/>
          <a:p>
            <a:r>
              <a:rPr lang="en-FR" dirty="0"/>
              <a:t>DailyDialog: Description</a:t>
            </a:r>
          </a:p>
        </p:txBody>
      </p:sp>
      <p:pic>
        <p:nvPicPr>
          <p:cNvPr id="13" name="Picture 12">
            <a:extLst>
              <a:ext uri="{FF2B5EF4-FFF2-40B4-BE49-F238E27FC236}">
                <a16:creationId xmlns:a16="http://schemas.microsoft.com/office/drawing/2014/main" id="{6FF84275-6CA0-9115-40D4-72102D5922EC}"/>
              </a:ext>
            </a:extLst>
          </p:cNvPr>
          <p:cNvPicPr>
            <a:picLocks noChangeAspect="1"/>
          </p:cNvPicPr>
          <p:nvPr/>
        </p:nvPicPr>
        <p:blipFill>
          <a:blip r:embed="rId3">
            <a:alphaModFix amt="51000"/>
            <a:extLst>
              <a:ext uri="{BEBA8EAE-BF5A-486C-A8C5-ECC9F3942E4B}">
                <a14:imgProps xmlns:a14="http://schemas.microsoft.com/office/drawing/2010/main">
                  <a14:imgLayer r:embed="rId4">
                    <a14:imgEffect>
                      <a14:artisticPhotocopy/>
                    </a14:imgEffect>
                    <a14:imgEffect>
                      <a14:colorTemperature colorTemp="2989"/>
                    </a14:imgEffect>
                  </a14:imgLayer>
                </a14:imgProps>
              </a:ext>
            </a:extLst>
          </a:blip>
          <a:stretch>
            <a:fillRect/>
          </a:stretch>
        </p:blipFill>
        <p:spPr>
          <a:xfrm>
            <a:off x="179856" y="298642"/>
            <a:ext cx="759258" cy="759258"/>
          </a:xfrm>
          <a:prstGeom prst="rect">
            <a:avLst/>
          </a:prstGeom>
          <a:ln>
            <a:noFill/>
          </a:ln>
        </p:spPr>
      </p:pic>
      <p:sp>
        <p:nvSpPr>
          <p:cNvPr id="3" name="Rectangle 2">
            <a:extLst>
              <a:ext uri="{FF2B5EF4-FFF2-40B4-BE49-F238E27FC236}">
                <a16:creationId xmlns:a16="http://schemas.microsoft.com/office/drawing/2014/main" id="{3C78AD86-79B3-5593-3EB5-6737ACC644E4}"/>
              </a:ext>
            </a:extLst>
          </p:cNvPr>
          <p:cNvSpPr/>
          <p:nvPr/>
        </p:nvSpPr>
        <p:spPr>
          <a:xfrm>
            <a:off x="515315" y="1755697"/>
            <a:ext cx="5741428" cy="4346929"/>
          </a:xfrm>
          <a:prstGeom prst="rect">
            <a:avLst/>
          </a:prstGeom>
          <a:solidFill>
            <a:schemeClr val="bg1"/>
          </a:solidFill>
          <a:ln w="38100">
            <a:solidFill>
              <a:srgbClr val="0055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FR" sz="2400" b="1" dirty="0">
              <a:solidFill>
                <a:srgbClr val="0055FF"/>
              </a:solidFill>
              <a:latin typeface="Poppins"/>
              <a:cs typeface="Poppins"/>
            </a:endParaRPr>
          </a:p>
        </p:txBody>
      </p:sp>
      <p:sp>
        <p:nvSpPr>
          <p:cNvPr id="4" name="TextBox 3">
            <a:extLst>
              <a:ext uri="{FF2B5EF4-FFF2-40B4-BE49-F238E27FC236}">
                <a16:creationId xmlns:a16="http://schemas.microsoft.com/office/drawing/2014/main" id="{D7B1DE3C-118E-03C5-F6E8-351D58FD9BA8}"/>
              </a:ext>
            </a:extLst>
          </p:cNvPr>
          <p:cNvSpPr txBox="1"/>
          <p:nvPr/>
        </p:nvSpPr>
        <p:spPr>
          <a:xfrm>
            <a:off x="899358" y="2065704"/>
            <a:ext cx="4434056" cy="369332"/>
          </a:xfrm>
          <a:prstGeom prst="rect">
            <a:avLst/>
          </a:prstGeom>
          <a:noFill/>
        </p:spPr>
        <p:txBody>
          <a:bodyPr wrap="square" rtlCol="0">
            <a:spAutoFit/>
          </a:bodyPr>
          <a:lstStyle/>
          <a:p>
            <a:r>
              <a:rPr lang="en-FR" dirty="0">
                <a:latin typeface="Poppins" pitchFamily="2" charset="77"/>
                <a:cs typeface="Poppins" pitchFamily="2" charset="77"/>
              </a:rPr>
              <a:t>- Public Dataset in English</a:t>
            </a:r>
          </a:p>
        </p:txBody>
      </p:sp>
      <p:sp>
        <p:nvSpPr>
          <p:cNvPr id="5" name="TextBox 4">
            <a:extLst>
              <a:ext uri="{FF2B5EF4-FFF2-40B4-BE49-F238E27FC236}">
                <a16:creationId xmlns:a16="http://schemas.microsoft.com/office/drawing/2014/main" id="{25A7E47D-41B4-AD96-C189-A4461312C553}"/>
              </a:ext>
            </a:extLst>
          </p:cNvPr>
          <p:cNvSpPr txBox="1"/>
          <p:nvPr/>
        </p:nvSpPr>
        <p:spPr>
          <a:xfrm>
            <a:off x="903015" y="2666467"/>
            <a:ext cx="5353729" cy="646331"/>
          </a:xfrm>
          <a:prstGeom prst="rect">
            <a:avLst/>
          </a:prstGeom>
          <a:noFill/>
        </p:spPr>
        <p:txBody>
          <a:bodyPr wrap="square" rtlCol="0">
            <a:spAutoFit/>
          </a:bodyPr>
          <a:lstStyle/>
          <a:p>
            <a:r>
              <a:rPr lang="en-FR" dirty="0">
                <a:latin typeface="Poppins" pitchFamily="2" charset="77"/>
                <a:cs typeface="Poppins" pitchFamily="2" charset="77"/>
              </a:rPr>
              <a:t>- </a:t>
            </a:r>
            <a:r>
              <a:rPr lang="fr-FR" dirty="0">
                <a:latin typeface="Poppins" pitchFamily="2" charset="77"/>
                <a:cs typeface="Poppins" pitchFamily="2" charset="77"/>
              </a:rPr>
              <a:t>Human-Human </a:t>
            </a:r>
            <a:r>
              <a:rPr lang="fr-FR" dirty="0" err="1">
                <a:latin typeface="Poppins" pitchFamily="2" charset="77"/>
                <a:cs typeface="Poppins" pitchFamily="2" charset="77"/>
              </a:rPr>
              <a:t>conversational</a:t>
            </a:r>
            <a:r>
              <a:rPr lang="fr-FR" dirty="0">
                <a:latin typeface="Poppins" pitchFamily="2" charset="77"/>
                <a:cs typeface="Poppins" pitchFamily="2" charset="77"/>
              </a:rPr>
              <a:t> data</a:t>
            </a:r>
            <a:r>
              <a:rPr lang="en-FR" dirty="0">
                <a:latin typeface="Poppins" pitchFamily="2" charset="77"/>
                <a:cs typeface="Poppins" pitchFamily="2" charset="77"/>
              </a:rPr>
              <a:t>, on daily, common topics.</a:t>
            </a:r>
          </a:p>
        </p:txBody>
      </p:sp>
      <p:sp>
        <p:nvSpPr>
          <p:cNvPr id="6" name="TextBox 5">
            <a:extLst>
              <a:ext uri="{FF2B5EF4-FFF2-40B4-BE49-F238E27FC236}">
                <a16:creationId xmlns:a16="http://schemas.microsoft.com/office/drawing/2014/main" id="{22AD8703-54D4-28C9-7177-46125BAF31BC}"/>
              </a:ext>
            </a:extLst>
          </p:cNvPr>
          <p:cNvSpPr txBox="1"/>
          <p:nvPr/>
        </p:nvSpPr>
        <p:spPr>
          <a:xfrm>
            <a:off x="903014" y="3544229"/>
            <a:ext cx="5353729" cy="646331"/>
          </a:xfrm>
          <a:prstGeom prst="rect">
            <a:avLst/>
          </a:prstGeom>
          <a:noFill/>
        </p:spPr>
        <p:txBody>
          <a:bodyPr wrap="square" rtlCol="0">
            <a:spAutoFit/>
          </a:bodyPr>
          <a:lstStyle/>
          <a:p>
            <a:r>
              <a:rPr lang="en-FR" dirty="0">
                <a:latin typeface="Poppins" pitchFamily="2" charset="77"/>
                <a:cs typeface="Poppins" pitchFamily="2" charset="77"/>
              </a:rPr>
              <a:t>- Manually annotated in emotions and dialogue acts.</a:t>
            </a:r>
          </a:p>
        </p:txBody>
      </p:sp>
      <p:sp>
        <p:nvSpPr>
          <p:cNvPr id="7" name="TextBox 6">
            <a:extLst>
              <a:ext uri="{FF2B5EF4-FFF2-40B4-BE49-F238E27FC236}">
                <a16:creationId xmlns:a16="http://schemas.microsoft.com/office/drawing/2014/main" id="{ABBBF285-BE3A-DED8-C250-1877808EA7A6}"/>
              </a:ext>
            </a:extLst>
          </p:cNvPr>
          <p:cNvSpPr txBox="1"/>
          <p:nvPr/>
        </p:nvSpPr>
        <p:spPr>
          <a:xfrm>
            <a:off x="903014" y="4421991"/>
            <a:ext cx="5353729" cy="369332"/>
          </a:xfrm>
          <a:prstGeom prst="rect">
            <a:avLst/>
          </a:prstGeom>
          <a:noFill/>
        </p:spPr>
        <p:txBody>
          <a:bodyPr wrap="square" rtlCol="0">
            <a:spAutoFit/>
          </a:bodyPr>
          <a:lstStyle/>
          <a:p>
            <a:r>
              <a:rPr lang="en-FR" dirty="0">
                <a:latin typeface="Poppins" pitchFamily="2" charset="77"/>
                <a:cs typeface="Poppins" pitchFamily="2" charset="77"/>
              </a:rPr>
              <a:t>- </a:t>
            </a:r>
            <a:r>
              <a:rPr lang="fr-FR" dirty="0" err="1">
                <a:latin typeface="Poppins" pitchFamily="2" charset="77"/>
                <a:cs typeface="Poppins" pitchFamily="2" charset="77"/>
              </a:rPr>
              <a:t>Average</a:t>
            </a:r>
            <a:r>
              <a:rPr lang="fr-FR" dirty="0">
                <a:latin typeface="Poppins" pitchFamily="2" charset="77"/>
                <a:cs typeface="Poppins" pitchFamily="2" charset="77"/>
              </a:rPr>
              <a:t> label count per </a:t>
            </a:r>
            <a:r>
              <a:rPr lang="fr-FR" dirty="0" err="1">
                <a:latin typeface="Poppins" pitchFamily="2" charset="77"/>
                <a:cs typeface="Poppins" pitchFamily="2" charset="77"/>
              </a:rPr>
              <a:t>utterance</a:t>
            </a:r>
            <a:r>
              <a:rPr lang="fr-FR" dirty="0">
                <a:latin typeface="Poppins" pitchFamily="2" charset="77"/>
                <a:cs typeface="Poppins" pitchFamily="2" charset="77"/>
              </a:rPr>
              <a:t>: 1.20</a:t>
            </a:r>
            <a:endParaRPr lang="en-FR" dirty="0">
              <a:latin typeface="Poppins" pitchFamily="2" charset="77"/>
              <a:cs typeface="Poppins" pitchFamily="2" charset="77"/>
            </a:endParaRPr>
          </a:p>
        </p:txBody>
      </p:sp>
      <p:sp>
        <p:nvSpPr>
          <p:cNvPr id="8" name="TextBox 7">
            <a:extLst>
              <a:ext uri="{FF2B5EF4-FFF2-40B4-BE49-F238E27FC236}">
                <a16:creationId xmlns:a16="http://schemas.microsoft.com/office/drawing/2014/main" id="{BBE81FBB-FAE4-695B-F6FD-51B9BD74EC5E}"/>
              </a:ext>
            </a:extLst>
          </p:cNvPr>
          <p:cNvSpPr txBox="1"/>
          <p:nvPr/>
        </p:nvSpPr>
        <p:spPr>
          <a:xfrm>
            <a:off x="903014" y="5022755"/>
            <a:ext cx="5353729" cy="923330"/>
          </a:xfrm>
          <a:prstGeom prst="rect">
            <a:avLst/>
          </a:prstGeom>
          <a:noFill/>
        </p:spPr>
        <p:txBody>
          <a:bodyPr wrap="square" rtlCol="0">
            <a:spAutoFit/>
          </a:bodyPr>
          <a:lstStyle/>
          <a:p>
            <a:r>
              <a:rPr lang="en-FR" dirty="0">
                <a:latin typeface="Poppins" pitchFamily="2" charset="77"/>
                <a:cs typeface="Poppins" pitchFamily="2" charset="77"/>
              </a:rPr>
              <a:t>- </a:t>
            </a:r>
            <a:r>
              <a:rPr lang="fr-FR" dirty="0">
                <a:latin typeface="Poppins" pitchFamily="2" charset="77"/>
                <a:cs typeface="Poppins" pitchFamily="2" charset="77"/>
              </a:rPr>
              <a:t>Train / Val / Test split: 11118 / 1000 / 1000 conversations, for over 80k </a:t>
            </a:r>
            <a:r>
              <a:rPr lang="fr-FR" dirty="0" err="1">
                <a:latin typeface="Poppins" pitchFamily="2" charset="77"/>
                <a:cs typeface="Poppins" pitchFamily="2" charset="77"/>
              </a:rPr>
              <a:t>utterances</a:t>
            </a:r>
            <a:r>
              <a:rPr lang="fr-FR" dirty="0">
                <a:latin typeface="Poppins" pitchFamily="2" charset="77"/>
                <a:cs typeface="Poppins" pitchFamily="2" charset="77"/>
              </a:rPr>
              <a:t> in total.</a:t>
            </a:r>
            <a:endParaRPr lang="en-FR" dirty="0">
              <a:latin typeface="Poppins" pitchFamily="2" charset="77"/>
              <a:cs typeface="Poppins" pitchFamily="2" charset="77"/>
            </a:endParaRPr>
          </a:p>
        </p:txBody>
      </p:sp>
      <p:sp>
        <p:nvSpPr>
          <p:cNvPr id="14" name="Rectangle 13">
            <a:extLst>
              <a:ext uri="{FF2B5EF4-FFF2-40B4-BE49-F238E27FC236}">
                <a16:creationId xmlns:a16="http://schemas.microsoft.com/office/drawing/2014/main" id="{21D6E39A-0F85-C8C6-D663-70D54433EE63}"/>
              </a:ext>
            </a:extLst>
          </p:cNvPr>
          <p:cNvSpPr/>
          <p:nvPr/>
        </p:nvSpPr>
        <p:spPr>
          <a:xfrm>
            <a:off x="6581152" y="2259704"/>
            <a:ext cx="5180611" cy="1325563"/>
          </a:xfrm>
          <a:prstGeom prst="rect">
            <a:avLst/>
          </a:prstGeom>
          <a:solidFill>
            <a:schemeClr val="bg1"/>
          </a:solidFill>
          <a:ln w="38100">
            <a:solidFill>
              <a:srgbClr val="0055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FR" sz="2400" b="1" dirty="0">
              <a:solidFill>
                <a:srgbClr val="0055FF"/>
              </a:solidFill>
              <a:latin typeface="Poppins"/>
              <a:cs typeface="Poppins"/>
            </a:endParaRPr>
          </a:p>
        </p:txBody>
      </p:sp>
      <p:sp>
        <p:nvSpPr>
          <p:cNvPr id="15" name="Rectangle 14">
            <a:extLst>
              <a:ext uri="{FF2B5EF4-FFF2-40B4-BE49-F238E27FC236}">
                <a16:creationId xmlns:a16="http://schemas.microsoft.com/office/drawing/2014/main" id="{A23BDD89-6589-F96E-FF10-6403CA3C6A3E}"/>
              </a:ext>
            </a:extLst>
          </p:cNvPr>
          <p:cNvSpPr/>
          <p:nvPr/>
        </p:nvSpPr>
        <p:spPr>
          <a:xfrm>
            <a:off x="6581152" y="4234703"/>
            <a:ext cx="5180611" cy="1325563"/>
          </a:xfrm>
          <a:prstGeom prst="rect">
            <a:avLst/>
          </a:prstGeom>
          <a:solidFill>
            <a:schemeClr val="bg1"/>
          </a:solidFill>
          <a:ln w="38100">
            <a:solidFill>
              <a:srgbClr val="0055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FR" sz="2400" b="1" dirty="0">
              <a:solidFill>
                <a:srgbClr val="0055FF"/>
              </a:solidFill>
              <a:latin typeface="Poppins"/>
              <a:cs typeface="Poppins"/>
            </a:endParaRPr>
          </a:p>
        </p:txBody>
      </p:sp>
      <p:sp>
        <p:nvSpPr>
          <p:cNvPr id="16" name="TextBox 15">
            <a:extLst>
              <a:ext uri="{FF2B5EF4-FFF2-40B4-BE49-F238E27FC236}">
                <a16:creationId xmlns:a16="http://schemas.microsoft.com/office/drawing/2014/main" id="{F4DCBA60-A9D5-DD8E-21CF-F3BB279C9DBE}"/>
              </a:ext>
            </a:extLst>
          </p:cNvPr>
          <p:cNvSpPr txBox="1"/>
          <p:nvPr/>
        </p:nvSpPr>
        <p:spPr>
          <a:xfrm>
            <a:off x="6694178" y="2065704"/>
            <a:ext cx="1850382" cy="369332"/>
          </a:xfrm>
          <a:prstGeom prst="rect">
            <a:avLst/>
          </a:prstGeom>
          <a:solidFill>
            <a:schemeClr val="bg1"/>
          </a:solidFill>
        </p:spPr>
        <p:txBody>
          <a:bodyPr wrap="square" rtlCol="0">
            <a:spAutoFit/>
          </a:bodyPr>
          <a:lstStyle/>
          <a:p>
            <a:r>
              <a:rPr lang="en-FR" b="1" dirty="0">
                <a:solidFill>
                  <a:srgbClr val="4B84F4"/>
                </a:solidFill>
                <a:latin typeface="Poppins" pitchFamily="2" charset="77"/>
                <a:cs typeface="Poppins" pitchFamily="2" charset="77"/>
              </a:rPr>
              <a:t>Dialogue Acts</a:t>
            </a:r>
          </a:p>
        </p:txBody>
      </p:sp>
      <p:sp>
        <p:nvSpPr>
          <p:cNvPr id="17" name="TextBox 16">
            <a:extLst>
              <a:ext uri="{FF2B5EF4-FFF2-40B4-BE49-F238E27FC236}">
                <a16:creationId xmlns:a16="http://schemas.microsoft.com/office/drawing/2014/main" id="{68DEC8A1-C1BE-DF1F-63A9-282E13380884}"/>
              </a:ext>
            </a:extLst>
          </p:cNvPr>
          <p:cNvSpPr txBox="1"/>
          <p:nvPr/>
        </p:nvSpPr>
        <p:spPr>
          <a:xfrm>
            <a:off x="6694179" y="4050037"/>
            <a:ext cx="1291582" cy="369332"/>
          </a:xfrm>
          <a:prstGeom prst="rect">
            <a:avLst/>
          </a:prstGeom>
          <a:solidFill>
            <a:schemeClr val="bg1"/>
          </a:solidFill>
        </p:spPr>
        <p:txBody>
          <a:bodyPr wrap="square" rtlCol="0">
            <a:spAutoFit/>
          </a:bodyPr>
          <a:lstStyle/>
          <a:p>
            <a:r>
              <a:rPr lang="en-FR" b="1" dirty="0">
                <a:solidFill>
                  <a:srgbClr val="4B84F4"/>
                </a:solidFill>
                <a:latin typeface="Poppins" pitchFamily="2" charset="77"/>
                <a:cs typeface="Poppins" pitchFamily="2" charset="77"/>
              </a:rPr>
              <a:t>Emotions</a:t>
            </a:r>
          </a:p>
        </p:txBody>
      </p:sp>
      <p:sp>
        <p:nvSpPr>
          <p:cNvPr id="18" name="TextBox 17">
            <a:extLst>
              <a:ext uri="{FF2B5EF4-FFF2-40B4-BE49-F238E27FC236}">
                <a16:creationId xmlns:a16="http://schemas.microsoft.com/office/drawing/2014/main" id="{96F55EDC-7CE7-1E4B-D3B9-1AD13EBF9C40}"/>
              </a:ext>
            </a:extLst>
          </p:cNvPr>
          <p:cNvSpPr txBox="1"/>
          <p:nvPr/>
        </p:nvSpPr>
        <p:spPr>
          <a:xfrm>
            <a:off x="6910656" y="2582970"/>
            <a:ext cx="934871" cy="369332"/>
          </a:xfrm>
          <a:prstGeom prst="rect">
            <a:avLst/>
          </a:prstGeom>
          <a:noFill/>
        </p:spPr>
        <p:txBody>
          <a:bodyPr wrap="none" rtlCol="0">
            <a:spAutoFit/>
          </a:bodyPr>
          <a:lstStyle/>
          <a:p>
            <a:r>
              <a:rPr lang="en-FR" dirty="0">
                <a:solidFill>
                  <a:srgbClr val="4B84F4"/>
                </a:solidFill>
                <a:latin typeface="Poppins" pitchFamily="2" charset="77"/>
                <a:cs typeface="Poppins" pitchFamily="2" charset="77"/>
              </a:rPr>
              <a:t>Inform</a:t>
            </a:r>
          </a:p>
        </p:txBody>
      </p:sp>
      <p:sp>
        <p:nvSpPr>
          <p:cNvPr id="19" name="TextBox 18">
            <a:extLst>
              <a:ext uri="{FF2B5EF4-FFF2-40B4-BE49-F238E27FC236}">
                <a16:creationId xmlns:a16="http://schemas.microsoft.com/office/drawing/2014/main" id="{42CA6810-B359-48E3-4874-CEB6F14956E9}"/>
              </a:ext>
            </a:extLst>
          </p:cNvPr>
          <p:cNvSpPr txBox="1"/>
          <p:nvPr/>
        </p:nvSpPr>
        <p:spPr>
          <a:xfrm>
            <a:off x="6910655" y="3012716"/>
            <a:ext cx="1210588" cy="369332"/>
          </a:xfrm>
          <a:prstGeom prst="rect">
            <a:avLst/>
          </a:prstGeom>
          <a:noFill/>
        </p:spPr>
        <p:txBody>
          <a:bodyPr wrap="none" rtlCol="0">
            <a:spAutoFit/>
          </a:bodyPr>
          <a:lstStyle/>
          <a:p>
            <a:r>
              <a:rPr lang="en-FR" dirty="0">
                <a:solidFill>
                  <a:srgbClr val="4B84F4"/>
                </a:solidFill>
                <a:latin typeface="Poppins" pitchFamily="2" charset="77"/>
                <a:cs typeface="Poppins" pitchFamily="2" charset="77"/>
              </a:rPr>
              <a:t>Question</a:t>
            </a:r>
          </a:p>
        </p:txBody>
      </p:sp>
      <p:sp>
        <p:nvSpPr>
          <p:cNvPr id="20" name="TextBox 19">
            <a:extLst>
              <a:ext uri="{FF2B5EF4-FFF2-40B4-BE49-F238E27FC236}">
                <a16:creationId xmlns:a16="http://schemas.microsoft.com/office/drawing/2014/main" id="{4E71AFD1-FD70-E5DB-9B1C-1562CE4C4F0A}"/>
              </a:ext>
            </a:extLst>
          </p:cNvPr>
          <p:cNvSpPr txBox="1"/>
          <p:nvPr/>
        </p:nvSpPr>
        <p:spPr>
          <a:xfrm>
            <a:off x="9422769" y="2582970"/>
            <a:ext cx="1609736" cy="369332"/>
          </a:xfrm>
          <a:prstGeom prst="rect">
            <a:avLst/>
          </a:prstGeom>
          <a:noFill/>
        </p:spPr>
        <p:txBody>
          <a:bodyPr wrap="none" rtlCol="0">
            <a:spAutoFit/>
          </a:bodyPr>
          <a:lstStyle/>
          <a:p>
            <a:r>
              <a:rPr lang="en-FR" dirty="0">
                <a:solidFill>
                  <a:srgbClr val="4B84F4"/>
                </a:solidFill>
                <a:latin typeface="Poppins" pitchFamily="2" charset="77"/>
                <a:cs typeface="Poppins" pitchFamily="2" charset="77"/>
              </a:rPr>
              <a:t>Commissive</a:t>
            </a:r>
          </a:p>
        </p:txBody>
      </p:sp>
      <p:sp>
        <p:nvSpPr>
          <p:cNvPr id="21" name="TextBox 20">
            <a:extLst>
              <a:ext uri="{FF2B5EF4-FFF2-40B4-BE49-F238E27FC236}">
                <a16:creationId xmlns:a16="http://schemas.microsoft.com/office/drawing/2014/main" id="{E267F40A-D303-73B7-2C95-38E89FE16500}"/>
              </a:ext>
            </a:extLst>
          </p:cNvPr>
          <p:cNvSpPr txBox="1"/>
          <p:nvPr/>
        </p:nvSpPr>
        <p:spPr>
          <a:xfrm>
            <a:off x="9422769" y="3012716"/>
            <a:ext cx="1184940" cy="369332"/>
          </a:xfrm>
          <a:prstGeom prst="rect">
            <a:avLst/>
          </a:prstGeom>
          <a:noFill/>
        </p:spPr>
        <p:txBody>
          <a:bodyPr wrap="none" rtlCol="0">
            <a:spAutoFit/>
          </a:bodyPr>
          <a:lstStyle/>
          <a:p>
            <a:r>
              <a:rPr lang="en-FR" dirty="0">
                <a:solidFill>
                  <a:srgbClr val="4B84F4"/>
                </a:solidFill>
                <a:latin typeface="Poppins" pitchFamily="2" charset="77"/>
                <a:cs typeface="Poppins" pitchFamily="2" charset="77"/>
              </a:rPr>
              <a:t>Directive</a:t>
            </a:r>
          </a:p>
        </p:txBody>
      </p:sp>
      <p:sp>
        <p:nvSpPr>
          <p:cNvPr id="22" name="TextBox 21">
            <a:extLst>
              <a:ext uri="{FF2B5EF4-FFF2-40B4-BE49-F238E27FC236}">
                <a16:creationId xmlns:a16="http://schemas.microsoft.com/office/drawing/2014/main" id="{A554AF7D-932B-5783-55CB-377308F92995}"/>
              </a:ext>
            </a:extLst>
          </p:cNvPr>
          <p:cNvSpPr txBox="1"/>
          <p:nvPr/>
        </p:nvSpPr>
        <p:spPr>
          <a:xfrm>
            <a:off x="7574015" y="4569989"/>
            <a:ext cx="872355" cy="369332"/>
          </a:xfrm>
          <a:prstGeom prst="rect">
            <a:avLst/>
          </a:prstGeom>
          <a:noFill/>
        </p:spPr>
        <p:txBody>
          <a:bodyPr wrap="none" rtlCol="0">
            <a:spAutoFit/>
          </a:bodyPr>
          <a:lstStyle/>
          <a:p>
            <a:r>
              <a:rPr lang="en-FR" dirty="0">
                <a:solidFill>
                  <a:srgbClr val="4B84F4"/>
                </a:solidFill>
                <a:latin typeface="Poppins" pitchFamily="2" charset="77"/>
                <a:cs typeface="Poppins" pitchFamily="2" charset="77"/>
              </a:rPr>
              <a:t>Anger</a:t>
            </a:r>
          </a:p>
        </p:txBody>
      </p:sp>
      <p:sp>
        <p:nvSpPr>
          <p:cNvPr id="23" name="TextBox 22">
            <a:extLst>
              <a:ext uri="{FF2B5EF4-FFF2-40B4-BE49-F238E27FC236}">
                <a16:creationId xmlns:a16="http://schemas.microsoft.com/office/drawing/2014/main" id="{BC0E443F-7EB7-7D50-5BD2-421136D77BC4}"/>
              </a:ext>
            </a:extLst>
          </p:cNvPr>
          <p:cNvSpPr txBox="1"/>
          <p:nvPr/>
        </p:nvSpPr>
        <p:spPr>
          <a:xfrm>
            <a:off x="6764303" y="4992938"/>
            <a:ext cx="1398140" cy="369332"/>
          </a:xfrm>
          <a:prstGeom prst="rect">
            <a:avLst/>
          </a:prstGeom>
          <a:noFill/>
        </p:spPr>
        <p:txBody>
          <a:bodyPr wrap="none" rtlCol="0">
            <a:spAutoFit/>
          </a:bodyPr>
          <a:lstStyle/>
          <a:p>
            <a:r>
              <a:rPr lang="en-FR" dirty="0">
                <a:solidFill>
                  <a:srgbClr val="4B84F4"/>
                </a:solidFill>
                <a:latin typeface="Poppins" pitchFamily="2" charset="77"/>
                <a:cs typeface="Poppins" pitchFamily="2" charset="77"/>
              </a:rPr>
              <a:t>Happiness</a:t>
            </a:r>
          </a:p>
        </p:txBody>
      </p:sp>
      <p:sp>
        <p:nvSpPr>
          <p:cNvPr id="24" name="TextBox 23">
            <a:extLst>
              <a:ext uri="{FF2B5EF4-FFF2-40B4-BE49-F238E27FC236}">
                <a16:creationId xmlns:a16="http://schemas.microsoft.com/office/drawing/2014/main" id="{A7D253D9-6585-F4AE-DD97-353EFF2D5721}"/>
              </a:ext>
            </a:extLst>
          </p:cNvPr>
          <p:cNvSpPr txBox="1"/>
          <p:nvPr/>
        </p:nvSpPr>
        <p:spPr>
          <a:xfrm>
            <a:off x="8742490" y="4569989"/>
            <a:ext cx="1031051" cy="369332"/>
          </a:xfrm>
          <a:prstGeom prst="rect">
            <a:avLst/>
          </a:prstGeom>
          <a:noFill/>
        </p:spPr>
        <p:txBody>
          <a:bodyPr wrap="none" rtlCol="0">
            <a:spAutoFit/>
          </a:bodyPr>
          <a:lstStyle/>
          <a:p>
            <a:r>
              <a:rPr lang="en-FR" dirty="0">
                <a:solidFill>
                  <a:srgbClr val="4B84F4"/>
                </a:solidFill>
                <a:latin typeface="Poppins" pitchFamily="2" charset="77"/>
                <a:cs typeface="Poppins" pitchFamily="2" charset="77"/>
              </a:rPr>
              <a:t>Disgust</a:t>
            </a:r>
          </a:p>
        </p:txBody>
      </p:sp>
      <p:sp>
        <p:nvSpPr>
          <p:cNvPr id="25" name="TextBox 24">
            <a:extLst>
              <a:ext uri="{FF2B5EF4-FFF2-40B4-BE49-F238E27FC236}">
                <a16:creationId xmlns:a16="http://schemas.microsoft.com/office/drawing/2014/main" id="{A4E1D709-4262-BC68-2D20-F22CB7C2812D}"/>
              </a:ext>
            </a:extLst>
          </p:cNvPr>
          <p:cNvSpPr txBox="1"/>
          <p:nvPr/>
        </p:nvSpPr>
        <p:spPr>
          <a:xfrm>
            <a:off x="8446370" y="4992938"/>
            <a:ext cx="686406" cy="369332"/>
          </a:xfrm>
          <a:prstGeom prst="rect">
            <a:avLst/>
          </a:prstGeom>
          <a:noFill/>
        </p:spPr>
        <p:txBody>
          <a:bodyPr wrap="none" rtlCol="0">
            <a:spAutoFit/>
          </a:bodyPr>
          <a:lstStyle/>
          <a:p>
            <a:r>
              <a:rPr lang="en-FR" dirty="0">
                <a:solidFill>
                  <a:srgbClr val="4B84F4"/>
                </a:solidFill>
                <a:latin typeface="Poppins" pitchFamily="2" charset="77"/>
                <a:cs typeface="Poppins" pitchFamily="2" charset="77"/>
              </a:rPr>
              <a:t>Fear</a:t>
            </a:r>
          </a:p>
        </p:txBody>
      </p:sp>
      <p:sp>
        <p:nvSpPr>
          <p:cNvPr id="26" name="TextBox 25">
            <a:extLst>
              <a:ext uri="{FF2B5EF4-FFF2-40B4-BE49-F238E27FC236}">
                <a16:creationId xmlns:a16="http://schemas.microsoft.com/office/drawing/2014/main" id="{45B28F10-AFF8-4A5F-5710-3ED68A8EB70E}"/>
              </a:ext>
            </a:extLst>
          </p:cNvPr>
          <p:cNvSpPr txBox="1"/>
          <p:nvPr/>
        </p:nvSpPr>
        <p:spPr>
          <a:xfrm>
            <a:off x="10015239" y="4569989"/>
            <a:ext cx="1162498" cy="369332"/>
          </a:xfrm>
          <a:prstGeom prst="rect">
            <a:avLst/>
          </a:prstGeom>
          <a:noFill/>
        </p:spPr>
        <p:txBody>
          <a:bodyPr wrap="none" rtlCol="0">
            <a:spAutoFit/>
          </a:bodyPr>
          <a:lstStyle/>
          <a:p>
            <a:r>
              <a:rPr lang="en-FR" dirty="0">
                <a:solidFill>
                  <a:srgbClr val="4B84F4"/>
                </a:solidFill>
                <a:latin typeface="Poppins" pitchFamily="2" charset="77"/>
                <a:cs typeface="Poppins" pitchFamily="2" charset="77"/>
              </a:rPr>
              <a:t>Sadness</a:t>
            </a:r>
          </a:p>
        </p:txBody>
      </p:sp>
      <p:sp>
        <p:nvSpPr>
          <p:cNvPr id="27" name="TextBox 26">
            <a:extLst>
              <a:ext uri="{FF2B5EF4-FFF2-40B4-BE49-F238E27FC236}">
                <a16:creationId xmlns:a16="http://schemas.microsoft.com/office/drawing/2014/main" id="{A35B757D-20E1-7832-FA12-FF3E8BD58142}"/>
              </a:ext>
            </a:extLst>
          </p:cNvPr>
          <p:cNvSpPr txBox="1"/>
          <p:nvPr/>
        </p:nvSpPr>
        <p:spPr>
          <a:xfrm>
            <a:off x="9416703" y="4992938"/>
            <a:ext cx="1116011" cy="369332"/>
          </a:xfrm>
          <a:prstGeom prst="rect">
            <a:avLst/>
          </a:prstGeom>
          <a:noFill/>
        </p:spPr>
        <p:txBody>
          <a:bodyPr wrap="none" rtlCol="0">
            <a:spAutoFit/>
          </a:bodyPr>
          <a:lstStyle/>
          <a:p>
            <a:r>
              <a:rPr lang="en-FR" dirty="0">
                <a:solidFill>
                  <a:srgbClr val="4B84F4"/>
                </a:solidFill>
                <a:latin typeface="Poppins" pitchFamily="2" charset="77"/>
                <a:cs typeface="Poppins" pitchFamily="2" charset="77"/>
              </a:rPr>
              <a:t>Surprise</a:t>
            </a:r>
          </a:p>
        </p:txBody>
      </p:sp>
      <p:sp>
        <p:nvSpPr>
          <p:cNvPr id="28" name="TextBox 27">
            <a:extLst>
              <a:ext uri="{FF2B5EF4-FFF2-40B4-BE49-F238E27FC236}">
                <a16:creationId xmlns:a16="http://schemas.microsoft.com/office/drawing/2014/main" id="{F73330D3-9F54-1CDE-A9C0-2FEC0BAC9B1E}"/>
              </a:ext>
            </a:extLst>
          </p:cNvPr>
          <p:cNvSpPr txBox="1"/>
          <p:nvPr/>
        </p:nvSpPr>
        <p:spPr>
          <a:xfrm>
            <a:off x="10816640" y="4992938"/>
            <a:ext cx="825867" cy="369332"/>
          </a:xfrm>
          <a:prstGeom prst="rect">
            <a:avLst/>
          </a:prstGeom>
          <a:noFill/>
        </p:spPr>
        <p:txBody>
          <a:bodyPr wrap="none" rtlCol="0">
            <a:spAutoFit/>
          </a:bodyPr>
          <a:lstStyle/>
          <a:p>
            <a:r>
              <a:rPr lang="en-FR" dirty="0">
                <a:solidFill>
                  <a:srgbClr val="4B84F4"/>
                </a:solidFill>
                <a:latin typeface="Poppins" pitchFamily="2" charset="77"/>
                <a:cs typeface="Poppins" pitchFamily="2" charset="77"/>
              </a:rPr>
              <a:t>Other</a:t>
            </a:r>
          </a:p>
        </p:txBody>
      </p:sp>
    </p:spTree>
    <p:extLst>
      <p:ext uri="{BB962C8B-B14F-4D97-AF65-F5344CB8AC3E}">
        <p14:creationId xmlns:p14="http://schemas.microsoft.com/office/powerpoint/2010/main" val="76590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14" grpId="0" animBg="1"/>
      <p:bldP spid="15" grpId="0" animBg="1"/>
      <p:bldP spid="16" grpId="0" animBg="1"/>
      <p:bldP spid="17" grpId="0" animBg="1"/>
      <p:bldP spid="18" grpId="0"/>
      <p:bldP spid="19" grpId="0"/>
      <p:bldP spid="20" grpId="0"/>
      <p:bldP spid="21" grpId="0"/>
      <p:bldP spid="22" grpId="0"/>
      <p:bldP spid="23" grpId="0"/>
      <p:bldP spid="24" grpId="0"/>
      <p:bldP spid="25" grpId="0"/>
      <p:bldP spid="26" grpId="0"/>
      <p:bldP spid="27" grpId="0"/>
      <p:bldP spid="2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9F622-3F98-FA97-F536-84AAF939D45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23CC5FF-A37A-6063-9735-98026FC75F0F}"/>
              </a:ext>
            </a:extLst>
          </p:cNvPr>
          <p:cNvSpPr>
            <a:spLocks noGrp="1"/>
          </p:cNvSpPr>
          <p:nvPr>
            <p:ph type="title"/>
          </p:nvPr>
        </p:nvSpPr>
        <p:spPr/>
        <p:txBody>
          <a:bodyPr/>
          <a:lstStyle/>
          <a:p>
            <a:r>
              <a:rPr lang="en-FR" dirty="0"/>
              <a:t>DATA-SERGe vs. DailyDialog</a:t>
            </a:r>
          </a:p>
        </p:txBody>
      </p:sp>
      <p:pic>
        <p:nvPicPr>
          <p:cNvPr id="6" name="Picture 5">
            <a:extLst>
              <a:ext uri="{FF2B5EF4-FFF2-40B4-BE49-F238E27FC236}">
                <a16:creationId xmlns:a16="http://schemas.microsoft.com/office/drawing/2014/main" id="{BAD50EAF-4AB5-71E9-BDCC-3F374CC78EC4}"/>
              </a:ext>
            </a:extLst>
          </p:cNvPr>
          <p:cNvPicPr>
            <a:picLocks noChangeAspect="1"/>
          </p:cNvPicPr>
          <p:nvPr/>
        </p:nvPicPr>
        <p:blipFill>
          <a:blip r:embed="rId3">
            <a:alphaModFix amt="51000"/>
            <a:extLst>
              <a:ext uri="{BEBA8EAE-BF5A-486C-A8C5-ECC9F3942E4B}">
                <a14:imgProps xmlns:a14="http://schemas.microsoft.com/office/drawing/2010/main">
                  <a14:imgLayer r:embed="rId4">
                    <a14:imgEffect>
                      <a14:artisticPhotocopy/>
                    </a14:imgEffect>
                    <a14:imgEffect>
                      <a14:colorTemperature colorTemp="2989"/>
                    </a14:imgEffect>
                  </a14:imgLayer>
                </a14:imgProps>
              </a:ext>
            </a:extLst>
          </a:blip>
          <a:stretch>
            <a:fillRect/>
          </a:stretch>
        </p:blipFill>
        <p:spPr>
          <a:xfrm>
            <a:off x="179856" y="298642"/>
            <a:ext cx="759258" cy="759258"/>
          </a:xfrm>
          <a:prstGeom prst="rect">
            <a:avLst/>
          </a:prstGeom>
          <a:ln>
            <a:noFill/>
          </a:ln>
        </p:spPr>
      </p:pic>
      <p:pic>
        <p:nvPicPr>
          <p:cNvPr id="8" name="Picture 7" descr="A table of information&#10;&#10;AI-generated content may be incorrect.">
            <a:extLst>
              <a:ext uri="{FF2B5EF4-FFF2-40B4-BE49-F238E27FC236}">
                <a16:creationId xmlns:a16="http://schemas.microsoft.com/office/drawing/2014/main" id="{DDAD8EF9-B92B-14C9-D065-7115CCF6DCF0}"/>
              </a:ext>
            </a:extLst>
          </p:cNvPr>
          <p:cNvPicPr>
            <a:picLocks noChangeAspect="1"/>
          </p:cNvPicPr>
          <p:nvPr/>
        </p:nvPicPr>
        <p:blipFill>
          <a:blip r:embed="rId5"/>
          <a:srcRect b="5064"/>
          <a:stretch>
            <a:fillRect/>
          </a:stretch>
        </p:blipFill>
        <p:spPr>
          <a:xfrm>
            <a:off x="2628267" y="954569"/>
            <a:ext cx="6935466" cy="5844433"/>
          </a:xfrm>
          <a:prstGeom prst="rect">
            <a:avLst/>
          </a:prstGeom>
        </p:spPr>
      </p:pic>
    </p:spTree>
    <p:extLst>
      <p:ext uri="{BB962C8B-B14F-4D97-AF65-F5344CB8AC3E}">
        <p14:creationId xmlns:p14="http://schemas.microsoft.com/office/powerpoint/2010/main" val="32633135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88982-EF33-535E-7BBE-6FB4B159C653}"/>
            </a:ext>
          </a:extLst>
        </p:cNvPr>
        <p:cNvGrpSpPr/>
        <p:nvPr/>
      </p:nvGrpSpPr>
      <p:grpSpPr>
        <a:xfrm>
          <a:off x="0" y="0"/>
          <a:ext cx="0" cy="0"/>
          <a:chOff x="0" y="0"/>
          <a:chExt cx="0" cy="0"/>
        </a:xfrm>
      </p:grpSpPr>
      <p:pic>
        <p:nvPicPr>
          <p:cNvPr id="2" name="Graphic 1" descr="Gears with solid fill">
            <a:extLst>
              <a:ext uri="{FF2B5EF4-FFF2-40B4-BE49-F238E27FC236}">
                <a16:creationId xmlns:a16="http://schemas.microsoft.com/office/drawing/2014/main" id="{FBB9B6FF-9C64-F08A-A3A0-DDC2EA0C4F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884" y="164201"/>
            <a:ext cx="1065059" cy="1065059"/>
          </a:xfrm>
          <a:prstGeom prst="rect">
            <a:avLst/>
          </a:prstGeom>
        </p:spPr>
      </p:pic>
      <p:sp>
        <p:nvSpPr>
          <p:cNvPr id="5" name="Title 4">
            <a:extLst>
              <a:ext uri="{FF2B5EF4-FFF2-40B4-BE49-F238E27FC236}">
                <a16:creationId xmlns:a16="http://schemas.microsoft.com/office/drawing/2014/main" id="{7FC08F2A-D811-08F6-03B7-C800834262E5}"/>
              </a:ext>
            </a:extLst>
          </p:cNvPr>
          <p:cNvSpPr>
            <a:spLocks noGrp="1"/>
          </p:cNvSpPr>
          <p:nvPr>
            <p:ph type="title"/>
          </p:nvPr>
        </p:nvSpPr>
        <p:spPr/>
        <p:txBody>
          <a:bodyPr/>
          <a:lstStyle/>
          <a:p>
            <a:r>
              <a:rPr lang="en-FR" dirty="0"/>
              <a:t>Experiment 1: Planning Module</a:t>
            </a:r>
          </a:p>
        </p:txBody>
      </p:sp>
      <p:pic>
        <p:nvPicPr>
          <p:cNvPr id="6" name="Picture 5" descr="A table with numbers and symbols&#10;&#10;AI-generated content may be incorrect.">
            <a:extLst>
              <a:ext uri="{FF2B5EF4-FFF2-40B4-BE49-F238E27FC236}">
                <a16:creationId xmlns:a16="http://schemas.microsoft.com/office/drawing/2014/main" id="{4F26276C-DE1F-606D-5399-2059064D455F}"/>
              </a:ext>
            </a:extLst>
          </p:cNvPr>
          <p:cNvPicPr>
            <a:picLocks noChangeAspect="1"/>
          </p:cNvPicPr>
          <p:nvPr/>
        </p:nvPicPr>
        <p:blipFill>
          <a:blip r:embed="rId5"/>
          <a:stretch>
            <a:fillRect/>
          </a:stretch>
        </p:blipFill>
        <p:spPr>
          <a:xfrm>
            <a:off x="3074048" y="1384561"/>
            <a:ext cx="8860558" cy="5309506"/>
          </a:xfrm>
          <a:prstGeom prst="rect">
            <a:avLst/>
          </a:prstGeom>
        </p:spPr>
      </p:pic>
      <p:sp>
        <p:nvSpPr>
          <p:cNvPr id="7" name="Rounded Rectangle 6">
            <a:extLst>
              <a:ext uri="{FF2B5EF4-FFF2-40B4-BE49-F238E27FC236}">
                <a16:creationId xmlns:a16="http://schemas.microsoft.com/office/drawing/2014/main" id="{0FB574A7-68DE-2BE3-104F-BCF1C4515D1B}"/>
              </a:ext>
            </a:extLst>
          </p:cNvPr>
          <p:cNvSpPr/>
          <p:nvPr/>
        </p:nvSpPr>
        <p:spPr>
          <a:xfrm>
            <a:off x="257394" y="2307105"/>
            <a:ext cx="3080893" cy="3444008"/>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FR" sz="2000" b="1" dirty="0">
                <a:solidFill>
                  <a:schemeClr val="bg1"/>
                </a:solidFill>
                <a:latin typeface="Poppins" pitchFamily="2" charset="77"/>
                <a:cs typeface="Poppins" pitchFamily="2" charset="77"/>
              </a:rPr>
              <a:t>MODELS CONSIDERED</a:t>
            </a:r>
          </a:p>
          <a:p>
            <a:pPr algn="ctr"/>
            <a:endParaRPr lang="en-FR" b="1" dirty="0">
              <a:solidFill>
                <a:schemeClr val="bg1"/>
              </a:solidFill>
              <a:latin typeface="Poppins" pitchFamily="2" charset="77"/>
              <a:cs typeface="Poppins" pitchFamily="2" charset="77"/>
            </a:endParaRPr>
          </a:p>
          <a:p>
            <a:pPr marL="342900" indent="-342900">
              <a:buFont typeface="Arial" panose="020B0604020202020204" pitchFamily="34" charset="0"/>
              <a:buChar char="•"/>
            </a:pPr>
            <a:r>
              <a:rPr lang="en-FR" b="1" dirty="0">
                <a:solidFill>
                  <a:schemeClr val="bg1"/>
                </a:solidFill>
                <a:latin typeface="Poppins" pitchFamily="2" charset="77"/>
                <a:cs typeface="Poppins" pitchFamily="2" charset="77"/>
              </a:rPr>
              <a:t>BERT – Classifier</a:t>
            </a:r>
            <a:br>
              <a:rPr lang="en-FR" b="1" dirty="0">
                <a:solidFill>
                  <a:schemeClr val="bg1"/>
                </a:solidFill>
                <a:latin typeface="Poppins" pitchFamily="2" charset="77"/>
                <a:cs typeface="Poppins" pitchFamily="2" charset="77"/>
              </a:rPr>
            </a:br>
            <a:r>
              <a:rPr lang="en-FR" sz="1400" dirty="0">
                <a:solidFill>
                  <a:schemeClr val="bg1"/>
                </a:solidFill>
                <a:latin typeface="Poppins" pitchFamily="2" charset="77"/>
                <a:cs typeface="Poppins" pitchFamily="2" charset="77"/>
              </a:rPr>
              <a:t>(small, medium)</a:t>
            </a:r>
          </a:p>
          <a:p>
            <a:pPr marL="342900" indent="-342900">
              <a:buFont typeface="Arial" panose="020B0604020202020204" pitchFamily="34" charset="0"/>
              <a:buChar char="•"/>
            </a:pPr>
            <a:r>
              <a:rPr lang="en-FR" b="1" dirty="0">
                <a:solidFill>
                  <a:schemeClr val="bg1"/>
                </a:solidFill>
                <a:latin typeface="Poppins" pitchFamily="2" charset="77"/>
                <a:cs typeface="Poppins" pitchFamily="2" charset="77"/>
              </a:rPr>
              <a:t>BART – Generator </a:t>
            </a:r>
            <a:r>
              <a:rPr lang="en-FR" sz="1400" dirty="0">
                <a:solidFill>
                  <a:schemeClr val="bg1"/>
                </a:solidFill>
                <a:latin typeface="Poppins" pitchFamily="2" charset="77"/>
                <a:cs typeface="Poppins" pitchFamily="2" charset="77"/>
              </a:rPr>
              <a:t>(base, Large)</a:t>
            </a:r>
          </a:p>
          <a:p>
            <a:pPr marL="342900" indent="-342900">
              <a:buFont typeface="Arial" panose="020B0604020202020204" pitchFamily="34" charset="0"/>
              <a:buChar char="•"/>
            </a:pPr>
            <a:r>
              <a:rPr lang="en-FR" b="1" dirty="0">
                <a:solidFill>
                  <a:schemeClr val="bg1"/>
                </a:solidFill>
                <a:latin typeface="Poppins" pitchFamily="2" charset="77"/>
                <a:cs typeface="Poppins" pitchFamily="2" charset="77"/>
              </a:rPr>
              <a:t>Beluga</a:t>
            </a:r>
            <a:r>
              <a:rPr lang="en-FR" dirty="0">
                <a:solidFill>
                  <a:schemeClr val="bg1"/>
                </a:solidFill>
                <a:latin typeface="Poppins" pitchFamily="2" charset="77"/>
                <a:cs typeface="Poppins" pitchFamily="2" charset="77"/>
              </a:rPr>
              <a:t> </a:t>
            </a:r>
            <a:r>
              <a:rPr lang="en-FR" sz="1400" dirty="0">
                <a:solidFill>
                  <a:schemeClr val="bg1"/>
                </a:solidFill>
                <a:latin typeface="Poppins" pitchFamily="2" charset="77"/>
                <a:cs typeface="Poppins" pitchFamily="2" charset="77"/>
              </a:rPr>
              <a:t>(Llama-based prompt LLM)</a:t>
            </a:r>
          </a:p>
          <a:p>
            <a:pPr marL="342900" indent="-342900">
              <a:buFont typeface="Arial" panose="020B0604020202020204" pitchFamily="34" charset="0"/>
              <a:buChar char="•"/>
            </a:pPr>
            <a:r>
              <a:rPr lang="en-FR" b="1" dirty="0">
                <a:solidFill>
                  <a:schemeClr val="bg1"/>
                </a:solidFill>
                <a:latin typeface="Poppins" pitchFamily="2" charset="77"/>
                <a:cs typeface="Poppins" pitchFamily="2" charset="77"/>
              </a:rPr>
              <a:t>Random</a:t>
            </a:r>
            <a:r>
              <a:rPr lang="en-FR" dirty="0">
                <a:solidFill>
                  <a:schemeClr val="bg1"/>
                </a:solidFill>
                <a:latin typeface="Poppins" pitchFamily="2" charset="77"/>
                <a:cs typeface="Poppins" pitchFamily="2" charset="77"/>
              </a:rPr>
              <a:t> baseline</a:t>
            </a:r>
          </a:p>
          <a:p>
            <a:pPr marL="342900" indent="-342900">
              <a:buFont typeface="Arial" panose="020B0604020202020204" pitchFamily="34" charset="0"/>
              <a:buChar char="•"/>
            </a:pPr>
            <a:endParaRPr lang="en-FR" sz="2000" dirty="0">
              <a:solidFill>
                <a:schemeClr val="bg1"/>
              </a:solidFill>
              <a:latin typeface="Poppins" pitchFamily="2" charset="77"/>
              <a:cs typeface="Poppins" pitchFamily="2" charset="77"/>
            </a:endParaRPr>
          </a:p>
        </p:txBody>
      </p:sp>
      <p:sp>
        <p:nvSpPr>
          <p:cNvPr id="8" name="Rectangle 7">
            <a:extLst>
              <a:ext uri="{FF2B5EF4-FFF2-40B4-BE49-F238E27FC236}">
                <a16:creationId xmlns:a16="http://schemas.microsoft.com/office/drawing/2014/main" id="{158B00A8-76E6-20A7-D8B0-A1EAF5E30915}"/>
              </a:ext>
            </a:extLst>
          </p:cNvPr>
          <p:cNvSpPr/>
          <p:nvPr/>
        </p:nvSpPr>
        <p:spPr>
          <a:xfrm>
            <a:off x="3759199" y="3414486"/>
            <a:ext cx="7286171" cy="533399"/>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6" name="Rounded Rectangle 15">
            <a:extLst>
              <a:ext uri="{FF2B5EF4-FFF2-40B4-BE49-F238E27FC236}">
                <a16:creationId xmlns:a16="http://schemas.microsoft.com/office/drawing/2014/main" id="{003135FB-4122-A1BC-E25B-E17500F7789B}"/>
              </a:ext>
            </a:extLst>
          </p:cNvPr>
          <p:cNvSpPr/>
          <p:nvPr/>
        </p:nvSpPr>
        <p:spPr>
          <a:xfrm>
            <a:off x="399020" y="1618913"/>
            <a:ext cx="2797640" cy="432072"/>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FR" sz="2000" b="1" dirty="0">
                <a:solidFill>
                  <a:schemeClr val="bg1"/>
                </a:solidFill>
                <a:latin typeface="Poppins" pitchFamily="2" charset="77"/>
                <a:cs typeface="Poppins" pitchFamily="2" charset="77"/>
              </a:rPr>
              <a:t>DailyDialog</a:t>
            </a:r>
            <a:endParaRPr lang="en-FR" sz="2000"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240745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2E34F-DDD7-BBBA-7176-478EE73CA241}"/>
            </a:ext>
          </a:extLst>
        </p:cNvPr>
        <p:cNvGrpSpPr/>
        <p:nvPr/>
      </p:nvGrpSpPr>
      <p:grpSpPr>
        <a:xfrm>
          <a:off x="0" y="0"/>
          <a:ext cx="0" cy="0"/>
          <a:chOff x="0" y="0"/>
          <a:chExt cx="0" cy="0"/>
        </a:xfrm>
      </p:grpSpPr>
      <p:pic>
        <p:nvPicPr>
          <p:cNvPr id="2" name="Graphic 1" descr="Gears with solid fill">
            <a:extLst>
              <a:ext uri="{FF2B5EF4-FFF2-40B4-BE49-F238E27FC236}">
                <a16:creationId xmlns:a16="http://schemas.microsoft.com/office/drawing/2014/main" id="{65999315-120A-19E0-5835-99F5C9665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884" y="164201"/>
            <a:ext cx="1065059" cy="1065059"/>
          </a:xfrm>
          <a:prstGeom prst="rect">
            <a:avLst/>
          </a:prstGeom>
        </p:spPr>
      </p:pic>
      <p:sp>
        <p:nvSpPr>
          <p:cNvPr id="5" name="Title 4">
            <a:extLst>
              <a:ext uri="{FF2B5EF4-FFF2-40B4-BE49-F238E27FC236}">
                <a16:creationId xmlns:a16="http://schemas.microsoft.com/office/drawing/2014/main" id="{1DB90458-5B1C-AF92-1E32-99DBBA1C3623}"/>
              </a:ext>
            </a:extLst>
          </p:cNvPr>
          <p:cNvSpPr>
            <a:spLocks noGrp="1"/>
          </p:cNvSpPr>
          <p:nvPr>
            <p:ph type="title"/>
          </p:nvPr>
        </p:nvSpPr>
        <p:spPr/>
        <p:txBody>
          <a:bodyPr/>
          <a:lstStyle/>
          <a:p>
            <a:r>
              <a:rPr lang="en-FR" dirty="0"/>
              <a:t>Experiment 1: Generative Module</a:t>
            </a:r>
          </a:p>
        </p:txBody>
      </p:sp>
      <p:sp>
        <p:nvSpPr>
          <p:cNvPr id="3" name="Rounded Rectangle 2">
            <a:extLst>
              <a:ext uri="{FF2B5EF4-FFF2-40B4-BE49-F238E27FC236}">
                <a16:creationId xmlns:a16="http://schemas.microsoft.com/office/drawing/2014/main" id="{7A80ECDC-095F-3E86-83F0-E8DE5801EBFD}"/>
              </a:ext>
            </a:extLst>
          </p:cNvPr>
          <p:cNvSpPr/>
          <p:nvPr/>
        </p:nvSpPr>
        <p:spPr>
          <a:xfrm>
            <a:off x="257394" y="2307105"/>
            <a:ext cx="3080892" cy="3699803"/>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FR" sz="2000" b="1" dirty="0">
                <a:solidFill>
                  <a:schemeClr val="bg1"/>
                </a:solidFill>
                <a:latin typeface="Poppins" pitchFamily="2" charset="77"/>
                <a:cs typeface="Poppins" pitchFamily="2" charset="77"/>
              </a:rPr>
              <a:t>MODELS CONSIDERED</a:t>
            </a:r>
          </a:p>
          <a:p>
            <a:pPr algn="ctr"/>
            <a:endParaRPr lang="en-FR" b="1" dirty="0">
              <a:solidFill>
                <a:schemeClr val="bg1"/>
              </a:solidFill>
              <a:latin typeface="Poppins" pitchFamily="2" charset="77"/>
              <a:cs typeface="Poppins" pitchFamily="2" charset="77"/>
            </a:endParaRPr>
          </a:p>
          <a:p>
            <a:pPr marL="342900" indent="-342900">
              <a:buFont typeface="Arial" panose="020B0604020202020204" pitchFamily="34" charset="0"/>
              <a:buChar char="•"/>
            </a:pPr>
            <a:r>
              <a:rPr lang="en-FR" b="1" dirty="0">
                <a:solidFill>
                  <a:schemeClr val="bg1"/>
                </a:solidFill>
                <a:latin typeface="Poppins" pitchFamily="2" charset="77"/>
                <a:cs typeface="Poppins" pitchFamily="2" charset="77"/>
              </a:rPr>
              <a:t>GPT-2</a:t>
            </a:r>
            <a:r>
              <a:rPr lang="en-FR" dirty="0">
                <a:solidFill>
                  <a:schemeClr val="bg1"/>
                </a:solidFill>
                <a:latin typeface="Poppins" pitchFamily="2" charset="77"/>
                <a:cs typeface="Poppins" pitchFamily="2" charset="77"/>
              </a:rPr>
              <a:t> </a:t>
            </a:r>
            <a:r>
              <a:rPr lang="en-FR" sz="1400" dirty="0">
                <a:solidFill>
                  <a:schemeClr val="bg1"/>
                </a:solidFill>
                <a:latin typeface="Poppins" pitchFamily="2" charset="77"/>
                <a:cs typeface="Poppins" pitchFamily="2" charset="77"/>
              </a:rPr>
              <a:t>(small, medium)</a:t>
            </a:r>
          </a:p>
          <a:p>
            <a:pPr marL="342900" indent="-342900">
              <a:buFont typeface="Arial" panose="020B0604020202020204" pitchFamily="34" charset="0"/>
              <a:buChar char="•"/>
            </a:pPr>
            <a:r>
              <a:rPr lang="en-FR" b="1" dirty="0">
                <a:solidFill>
                  <a:schemeClr val="bg1"/>
                </a:solidFill>
                <a:latin typeface="Poppins" pitchFamily="2" charset="77"/>
                <a:cs typeface="Poppins" pitchFamily="2" charset="77"/>
              </a:rPr>
              <a:t>DialoGPT</a:t>
            </a:r>
            <a:r>
              <a:rPr lang="en-FR" dirty="0">
                <a:solidFill>
                  <a:schemeClr val="bg1"/>
                </a:solidFill>
                <a:latin typeface="Poppins" pitchFamily="2" charset="77"/>
                <a:cs typeface="Poppins" pitchFamily="2" charset="77"/>
              </a:rPr>
              <a:t> </a:t>
            </a:r>
            <a:r>
              <a:rPr lang="en-FR" sz="1400" dirty="0">
                <a:solidFill>
                  <a:schemeClr val="bg1"/>
                </a:solidFill>
                <a:latin typeface="Poppins" pitchFamily="2" charset="77"/>
                <a:cs typeface="Poppins" pitchFamily="2" charset="77"/>
              </a:rPr>
              <a:t>(small, medium)</a:t>
            </a:r>
          </a:p>
          <a:p>
            <a:pPr marL="342900" indent="-342900">
              <a:buFont typeface="Arial" panose="020B0604020202020204" pitchFamily="34" charset="0"/>
              <a:buChar char="•"/>
            </a:pPr>
            <a:r>
              <a:rPr lang="en-FR" b="1" dirty="0">
                <a:solidFill>
                  <a:schemeClr val="bg1"/>
                </a:solidFill>
                <a:latin typeface="Poppins" pitchFamily="2" charset="77"/>
                <a:cs typeface="Poppins" pitchFamily="2" charset="77"/>
              </a:rPr>
              <a:t>BART</a:t>
            </a:r>
            <a:r>
              <a:rPr lang="en-FR" dirty="0">
                <a:solidFill>
                  <a:schemeClr val="bg1"/>
                </a:solidFill>
                <a:latin typeface="Poppins" pitchFamily="2" charset="77"/>
                <a:cs typeface="Poppins" pitchFamily="2" charset="77"/>
              </a:rPr>
              <a:t> </a:t>
            </a:r>
            <a:r>
              <a:rPr lang="en-FR" sz="1400" dirty="0">
                <a:solidFill>
                  <a:schemeClr val="bg1"/>
                </a:solidFill>
                <a:latin typeface="Poppins" pitchFamily="2" charset="77"/>
                <a:cs typeface="Poppins" pitchFamily="2" charset="77"/>
              </a:rPr>
              <a:t>(base, Large)</a:t>
            </a:r>
          </a:p>
          <a:p>
            <a:pPr marL="342900" indent="-342900">
              <a:buFont typeface="Arial" panose="020B0604020202020204" pitchFamily="34" charset="0"/>
              <a:buChar char="•"/>
            </a:pPr>
            <a:r>
              <a:rPr lang="en-FR" b="1" dirty="0">
                <a:solidFill>
                  <a:schemeClr val="bg1"/>
                </a:solidFill>
                <a:latin typeface="Poppins" pitchFamily="2" charset="77"/>
                <a:cs typeface="Poppins" pitchFamily="2" charset="77"/>
              </a:rPr>
              <a:t>Beluga</a:t>
            </a:r>
            <a:r>
              <a:rPr lang="en-FR" dirty="0">
                <a:solidFill>
                  <a:schemeClr val="bg1"/>
                </a:solidFill>
                <a:latin typeface="Poppins" pitchFamily="2" charset="77"/>
                <a:cs typeface="Poppins" pitchFamily="2" charset="77"/>
              </a:rPr>
              <a:t> </a:t>
            </a:r>
            <a:r>
              <a:rPr lang="en-FR" sz="1400" dirty="0">
                <a:solidFill>
                  <a:schemeClr val="bg1"/>
                </a:solidFill>
                <a:latin typeface="Poppins" pitchFamily="2" charset="77"/>
                <a:cs typeface="Poppins" pitchFamily="2" charset="77"/>
              </a:rPr>
              <a:t>(Llama-based prompt LLM):</a:t>
            </a:r>
            <a:endParaRPr lang="en-FR" dirty="0">
              <a:solidFill>
                <a:schemeClr val="bg1"/>
              </a:solidFill>
              <a:latin typeface="Poppins" pitchFamily="2" charset="77"/>
              <a:cs typeface="Poppins" pitchFamily="2" charset="77"/>
            </a:endParaRPr>
          </a:p>
          <a:p>
            <a:pPr marL="800100" lvl="1" indent="-342900">
              <a:buFont typeface="Arial" panose="020B0604020202020204" pitchFamily="34" charset="0"/>
              <a:buChar char="•"/>
            </a:pPr>
            <a:r>
              <a:rPr lang="en-FR" dirty="0">
                <a:solidFill>
                  <a:schemeClr val="bg1"/>
                </a:solidFill>
                <a:latin typeface="Poppins" pitchFamily="2" charset="77"/>
                <a:cs typeface="Poppins" pitchFamily="2" charset="77"/>
              </a:rPr>
              <a:t>R: Rerank</a:t>
            </a:r>
          </a:p>
          <a:p>
            <a:pPr marL="800100" lvl="1" indent="-342900">
              <a:buFont typeface="Arial" panose="020B0604020202020204" pitchFamily="34" charset="0"/>
              <a:buChar char="•"/>
            </a:pPr>
            <a:r>
              <a:rPr lang="en-FR" dirty="0">
                <a:solidFill>
                  <a:schemeClr val="bg1"/>
                </a:solidFill>
                <a:latin typeface="Poppins" pitchFamily="2" charset="77"/>
                <a:cs typeface="Poppins" pitchFamily="2" charset="77"/>
              </a:rPr>
              <a:t>P: Prompt</a:t>
            </a:r>
          </a:p>
          <a:p>
            <a:pPr marL="342900" indent="-342900">
              <a:buFont typeface="Arial" panose="020B0604020202020204" pitchFamily="34" charset="0"/>
              <a:buChar char="•"/>
            </a:pPr>
            <a:endParaRPr lang="en-FR" sz="2000" dirty="0">
              <a:solidFill>
                <a:schemeClr val="bg1"/>
              </a:solidFill>
              <a:latin typeface="Poppins" pitchFamily="2" charset="77"/>
              <a:cs typeface="Poppins" pitchFamily="2" charset="77"/>
            </a:endParaRPr>
          </a:p>
        </p:txBody>
      </p:sp>
      <p:sp>
        <p:nvSpPr>
          <p:cNvPr id="20" name="Rectangle 19">
            <a:extLst>
              <a:ext uri="{FF2B5EF4-FFF2-40B4-BE49-F238E27FC236}">
                <a16:creationId xmlns:a16="http://schemas.microsoft.com/office/drawing/2014/main" id="{8190B408-814F-2C6E-CD1B-0CBD2CD14DD5}"/>
              </a:ext>
            </a:extLst>
          </p:cNvPr>
          <p:cNvSpPr/>
          <p:nvPr/>
        </p:nvSpPr>
        <p:spPr>
          <a:xfrm>
            <a:off x="3809247" y="3424407"/>
            <a:ext cx="7952516" cy="2396662"/>
          </a:xfrm>
          <a:prstGeom prst="rect">
            <a:avLst/>
          </a:prstGeom>
          <a:solidFill>
            <a:schemeClr val="bg1"/>
          </a:solidFill>
          <a:ln w="38100">
            <a:solidFill>
              <a:srgbClr val="4B85F4"/>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sz="1600">
              <a:latin typeface="Poppins" pitchFamily="2" charset="77"/>
              <a:cs typeface="Poppins" pitchFamily="2" charset="77"/>
            </a:endParaRPr>
          </a:p>
        </p:txBody>
      </p:sp>
      <p:sp>
        <p:nvSpPr>
          <p:cNvPr id="21" name="Rectangle 20">
            <a:extLst>
              <a:ext uri="{FF2B5EF4-FFF2-40B4-BE49-F238E27FC236}">
                <a16:creationId xmlns:a16="http://schemas.microsoft.com/office/drawing/2014/main" id="{182D8FB1-50B5-6AD4-9D81-18C9F30DB624}"/>
              </a:ext>
            </a:extLst>
          </p:cNvPr>
          <p:cNvSpPr/>
          <p:nvPr/>
        </p:nvSpPr>
        <p:spPr>
          <a:xfrm>
            <a:off x="4030143" y="3795176"/>
            <a:ext cx="3524208" cy="1790052"/>
          </a:xfrm>
          <a:prstGeom prst="rect">
            <a:avLst/>
          </a:prstGeom>
          <a:solidFill>
            <a:schemeClr val="bg1"/>
          </a:solidFill>
          <a:ln w="38100">
            <a:solidFill>
              <a:srgbClr val="A5B0F6"/>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FR" dirty="0">
                <a:solidFill>
                  <a:srgbClr val="A5B0F6"/>
                </a:solidFill>
                <a:latin typeface="Poppins" pitchFamily="2" charset="77"/>
                <a:cs typeface="Poppins" pitchFamily="2" charset="77"/>
              </a:rPr>
              <a:t>Conditioned on label sequences predicted by </a:t>
            </a:r>
            <a:br>
              <a:rPr lang="en-FR" dirty="0">
                <a:solidFill>
                  <a:srgbClr val="A5B0F6"/>
                </a:solidFill>
                <a:latin typeface="Poppins" pitchFamily="2" charset="77"/>
                <a:cs typeface="Poppins" pitchFamily="2" charset="77"/>
              </a:rPr>
            </a:br>
            <a:r>
              <a:rPr lang="en-FR" dirty="0">
                <a:solidFill>
                  <a:srgbClr val="A5B0F6"/>
                </a:solidFill>
                <a:latin typeface="Poppins" pitchFamily="2" charset="77"/>
                <a:cs typeface="Poppins" pitchFamily="2" charset="77"/>
              </a:rPr>
              <a:t>the BART planning module.</a:t>
            </a:r>
          </a:p>
        </p:txBody>
      </p:sp>
      <p:sp>
        <p:nvSpPr>
          <p:cNvPr id="22" name="TextBox 21">
            <a:extLst>
              <a:ext uri="{FF2B5EF4-FFF2-40B4-BE49-F238E27FC236}">
                <a16:creationId xmlns:a16="http://schemas.microsoft.com/office/drawing/2014/main" id="{15A68E6E-AB11-3FF2-195E-DE37A1688B68}"/>
              </a:ext>
            </a:extLst>
          </p:cNvPr>
          <p:cNvSpPr txBox="1"/>
          <p:nvPr/>
        </p:nvSpPr>
        <p:spPr>
          <a:xfrm>
            <a:off x="4030142" y="3238541"/>
            <a:ext cx="3682418" cy="369332"/>
          </a:xfrm>
          <a:prstGeom prst="rect">
            <a:avLst/>
          </a:prstGeom>
          <a:solidFill>
            <a:schemeClr val="bg1"/>
          </a:solidFill>
        </p:spPr>
        <p:txBody>
          <a:bodyPr wrap="none" rtlCol="0">
            <a:spAutoFit/>
          </a:bodyPr>
          <a:lstStyle/>
          <a:p>
            <a:r>
              <a:rPr lang="en-FR" b="1" dirty="0">
                <a:solidFill>
                  <a:srgbClr val="4B85F4"/>
                </a:solidFill>
                <a:latin typeface="Poppins" pitchFamily="2" charset="77"/>
                <a:cs typeface="Poppins" pitchFamily="2" charset="77"/>
              </a:rPr>
              <a:t>CONDITIONING SCHEMES (CD)</a:t>
            </a:r>
          </a:p>
        </p:txBody>
      </p:sp>
      <p:sp>
        <p:nvSpPr>
          <p:cNvPr id="23" name="TextBox 22">
            <a:extLst>
              <a:ext uri="{FF2B5EF4-FFF2-40B4-BE49-F238E27FC236}">
                <a16:creationId xmlns:a16="http://schemas.microsoft.com/office/drawing/2014/main" id="{91A6D6B1-B45B-396C-2FE4-CF4535A0D06C}"/>
              </a:ext>
            </a:extLst>
          </p:cNvPr>
          <p:cNvSpPr txBox="1"/>
          <p:nvPr/>
        </p:nvSpPr>
        <p:spPr>
          <a:xfrm>
            <a:off x="5166114" y="3623905"/>
            <a:ext cx="1252266" cy="369332"/>
          </a:xfrm>
          <a:prstGeom prst="rect">
            <a:avLst/>
          </a:prstGeom>
          <a:solidFill>
            <a:schemeClr val="bg1"/>
          </a:solidFill>
        </p:spPr>
        <p:txBody>
          <a:bodyPr wrap="none" rtlCol="0">
            <a:spAutoFit/>
          </a:bodyPr>
          <a:lstStyle/>
          <a:p>
            <a:r>
              <a:rPr lang="en-FR" b="1" dirty="0">
                <a:solidFill>
                  <a:srgbClr val="A5B0F6"/>
                </a:solidFill>
                <a:latin typeface="Poppins" pitchFamily="2" charset="77"/>
                <a:cs typeface="Poppins" pitchFamily="2" charset="77"/>
              </a:rPr>
              <a:t>CD-PRED</a:t>
            </a:r>
          </a:p>
        </p:txBody>
      </p:sp>
      <p:sp>
        <p:nvSpPr>
          <p:cNvPr id="24" name="Rectangle 23">
            <a:extLst>
              <a:ext uri="{FF2B5EF4-FFF2-40B4-BE49-F238E27FC236}">
                <a16:creationId xmlns:a16="http://schemas.microsoft.com/office/drawing/2014/main" id="{71987CED-43A9-A626-DFF7-EC8A6D4F3D8A}"/>
              </a:ext>
            </a:extLst>
          </p:cNvPr>
          <p:cNvSpPr/>
          <p:nvPr/>
        </p:nvSpPr>
        <p:spPr>
          <a:xfrm>
            <a:off x="7895953" y="3795176"/>
            <a:ext cx="3524208" cy="1790052"/>
          </a:xfrm>
          <a:prstGeom prst="rect">
            <a:avLst/>
          </a:prstGeom>
          <a:solidFill>
            <a:schemeClr val="bg1"/>
          </a:solidFill>
          <a:ln w="38100">
            <a:solidFill>
              <a:srgbClr val="A5B0F6"/>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FR" dirty="0">
                <a:solidFill>
                  <a:srgbClr val="A5B0F6"/>
                </a:solidFill>
                <a:latin typeface="Poppins" pitchFamily="2" charset="77"/>
                <a:cs typeface="Poppins" pitchFamily="2" charset="77"/>
              </a:rPr>
              <a:t>Conditioned on ground truth label sequences</a:t>
            </a:r>
          </a:p>
        </p:txBody>
      </p:sp>
      <p:sp>
        <p:nvSpPr>
          <p:cNvPr id="25" name="TextBox 24">
            <a:extLst>
              <a:ext uri="{FF2B5EF4-FFF2-40B4-BE49-F238E27FC236}">
                <a16:creationId xmlns:a16="http://schemas.microsoft.com/office/drawing/2014/main" id="{D95800D1-C2F9-CBFF-3E03-F3AB501934F3}"/>
              </a:ext>
            </a:extLst>
          </p:cNvPr>
          <p:cNvSpPr txBox="1"/>
          <p:nvPr/>
        </p:nvSpPr>
        <p:spPr>
          <a:xfrm>
            <a:off x="9125543" y="3623905"/>
            <a:ext cx="1065028" cy="369332"/>
          </a:xfrm>
          <a:prstGeom prst="rect">
            <a:avLst/>
          </a:prstGeom>
          <a:solidFill>
            <a:schemeClr val="bg1"/>
          </a:solidFill>
        </p:spPr>
        <p:txBody>
          <a:bodyPr wrap="square" rtlCol="0">
            <a:spAutoFit/>
          </a:bodyPr>
          <a:lstStyle/>
          <a:p>
            <a:r>
              <a:rPr lang="en-FR" b="1" dirty="0">
                <a:solidFill>
                  <a:srgbClr val="A5B0F6"/>
                </a:solidFill>
                <a:latin typeface="Poppins" pitchFamily="2" charset="77"/>
                <a:cs typeface="Poppins" pitchFamily="2" charset="77"/>
              </a:rPr>
              <a:t>CD-GT</a:t>
            </a:r>
          </a:p>
        </p:txBody>
      </p:sp>
      <p:sp>
        <p:nvSpPr>
          <p:cNvPr id="26" name="Rectangle 25">
            <a:extLst>
              <a:ext uri="{FF2B5EF4-FFF2-40B4-BE49-F238E27FC236}">
                <a16:creationId xmlns:a16="http://schemas.microsoft.com/office/drawing/2014/main" id="{8870819E-ACBE-6FD5-F1C5-FCFB561CA5BB}"/>
              </a:ext>
            </a:extLst>
          </p:cNvPr>
          <p:cNvSpPr/>
          <p:nvPr/>
        </p:nvSpPr>
        <p:spPr>
          <a:xfrm>
            <a:off x="3809247" y="1957501"/>
            <a:ext cx="7952516" cy="916711"/>
          </a:xfrm>
          <a:prstGeom prst="rect">
            <a:avLst/>
          </a:prstGeom>
          <a:solidFill>
            <a:schemeClr val="bg1"/>
          </a:solidFill>
          <a:ln w="38100">
            <a:solidFill>
              <a:srgbClr val="6D8EED"/>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FR" dirty="0">
                <a:solidFill>
                  <a:srgbClr val="4B84F4"/>
                </a:solidFill>
                <a:latin typeface="Poppins" pitchFamily="2" charset="77"/>
                <a:cs typeface="Poppins" pitchFamily="2" charset="77"/>
              </a:rPr>
              <a:t>No conditioning, end-to-end generation based only on </a:t>
            </a:r>
            <a:br>
              <a:rPr lang="en-FR" dirty="0">
                <a:solidFill>
                  <a:srgbClr val="4B84F4"/>
                </a:solidFill>
                <a:latin typeface="Poppins" pitchFamily="2" charset="77"/>
                <a:cs typeface="Poppins" pitchFamily="2" charset="77"/>
              </a:rPr>
            </a:br>
            <a:r>
              <a:rPr lang="en-FR" dirty="0">
                <a:solidFill>
                  <a:srgbClr val="4B84F4"/>
                </a:solidFill>
                <a:latin typeface="Poppins" pitchFamily="2" charset="77"/>
                <a:cs typeface="Poppins" pitchFamily="2" charset="77"/>
              </a:rPr>
              <a:t>dialogue history</a:t>
            </a:r>
          </a:p>
        </p:txBody>
      </p:sp>
      <p:sp>
        <p:nvSpPr>
          <p:cNvPr id="27" name="TextBox 26">
            <a:extLst>
              <a:ext uri="{FF2B5EF4-FFF2-40B4-BE49-F238E27FC236}">
                <a16:creationId xmlns:a16="http://schemas.microsoft.com/office/drawing/2014/main" id="{DA6B3538-1753-F31A-D341-E5409E4854E6}"/>
              </a:ext>
            </a:extLst>
          </p:cNvPr>
          <p:cNvSpPr txBox="1"/>
          <p:nvPr/>
        </p:nvSpPr>
        <p:spPr>
          <a:xfrm>
            <a:off x="4030142" y="1745595"/>
            <a:ext cx="3433953" cy="369332"/>
          </a:xfrm>
          <a:prstGeom prst="rect">
            <a:avLst/>
          </a:prstGeom>
          <a:solidFill>
            <a:schemeClr val="bg1"/>
          </a:solidFill>
        </p:spPr>
        <p:txBody>
          <a:bodyPr wrap="none" rtlCol="0">
            <a:spAutoFit/>
          </a:bodyPr>
          <a:lstStyle/>
          <a:p>
            <a:r>
              <a:rPr lang="en-FR" b="1" dirty="0">
                <a:solidFill>
                  <a:srgbClr val="4B84F4"/>
                </a:solidFill>
                <a:latin typeface="Poppins" pitchFamily="2" charset="77"/>
                <a:cs typeface="Poppins" pitchFamily="2" charset="77"/>
              </a:rPr>
              <a:t>NO CONDITIONING (NO-CD)</a:t>
            </a:r>
          </a:p>
        </p:txBody>
      </p:sp>
      <p:sp>
        <p:nvSpPr>
          <p:cNvPr id="28" name="Rounded Rectangle 27">
            <a:extLst>
              <a:ext uri="{FF2B5EF4-FFF2-40B4-BE49-F238E27FC236}">
                <a16:creationId xmlns:a16="http://schemas.microsoft.com/office/drawing/2014/main" id="{2E7946A9-7B7E-1950-1BEB-3D7EA8CAA643}"/>
              </a:ext>
            </a:extLst>
          </p:cNvPr>
          <p:cNvSpPr/>
          <p:nvPr/>
        </p:nvSpPr>
        <p:spPr>
          <a:xfrm>
            <a:off x="399020" y="1618913"/>
            <a:ext cx="2797640" cy="432072"/>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FR" sz="2000" b="1" dirty="0">
                <a:solidFill>
                  <a:schemeClr val="bg1"/>
                </a:solidFill>
                <a:latin typeface="Poppins" pitchFamily="2" charset="77"/>
                <a:cs typeface="Poppins" pitchFamily="2" charset="77"/>
              </a:rPr>
              <a:t>DailyDialog</a:t>
            </a:r>
            <a:endParaRPr lang="en-FR" sz="2000"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4615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0CB8F-D840-A1F7-AA36-B6F9FF0D7D48}"/>
            </a:ext>
          </a:extLst>
        </p:cNvPr>
        <p:cNvGrpSpPr/>
        <p:nvPr/>
      </p:nvGrpSpPr>
      <p:grpSpPr>
        <a:xfrm>
          <a:off x="0" y="0"/>
          <a:ext cx="0" cy="0"/>
          <a:chOff x="0" y="0"/>
          <a:chExt cx="0" cy="0"/>
        </a:xfrm>
      </p:grpSpPr>
      <p:pic>
        <p:nvPicPr>
          <p:cNvPr id="9" name="Picture 8" descr="A table with numbers and letters&#10;&#10;Description automatically generated">
            <a:extLst>
              <a:ext uri="{FF2B5EF4-FFF2-40B4-BE49-F238E27FC236}">
                <a16:creationId xmlns:a16="http://schemas.microsoft.com/office/drawing/2014/main" id="{9EFD9B52-28B4-8089-65A7-1B19331C97EB}"/>
              </a:ext>
            </a:extLst>
          </p:cNvPr>
          <p:cNvPicPr>
            <a:picLocks noChangeAspect="1"/>
          </p:cNvPicPr>
          <p:nvPr/>
        </p:nvPicPr>
        <p:blipFill rotWithShape="1">
          <a:blip r:embed="rId3"/>
          <a:srcRect t="6750"/>
          <a:stretch/>
        </p:blipFill>
        <p:spPr>
          <a:xfrm>
            <a:off x="1705892" y="1294032"/>
            <a:ext cx="9031916" cy="5515971"/>
          </a:xfrm>
          <a:prstGeom prst="rect">
            <a:avLst/>
          </a:prstGeom>
        </p:spPr>
      </p:pic>
      <p:sp>
        <p:nvSpPr>
          <p:cNvPr id="10" name="Rectangle 9">
            <a:extLst>
              <a:ext uri="{FF2B5EF4-FFF2-40B4-BE49-F238E27FC236}">
                <a16:creationId xmlns:a16="http://schemas.microsoft.com/office/drawing/2014/main" id="{00CE8800-485A-1DBA-09A1-7A42087C6E20}"/>
              </a:ext>
            </a:extLst>
          </p:cNvPr>
          <p:cNvSpPr/>
          <p:nvPr/>
        </p:nvSpPr>
        <p:spPr>
          <a:xfrm>
            <a:off x="4880729" y="1294032"/>
            <a:ext cx="1303003" cy="4674799"/>
          </a:xfrm>
          <a:prstGeom prst="rect">
            <a:avLst/>
          </a:prstGeom>
          <a:noFill/>
          <a:ln w="57150">
            <a:solidFill>
              <a:srgbClr val="9C1AA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1" name="Rectangle 10">
            <a:extLst>
              <a:ext uri="{FF2B5EF4-FFF2-40B4-BE49-F238E27FC236}">
                <a16:creationId xmlns:a16="http://schemas.microsoft.com/office/drawing/2014/main" id="{76F913AD-9AA3-3FE7-544C-21EA625387B4}"/>
              </a:ext>
            </a:extLst>
          </p:cNvPr>
          <p:cNvSpPr/>
          <p:nvPr/>
        </p:nvSpPr>
        <p:spPr>
          <a:xfrm>
            <a:off x="6273253" y="1294032"/>
            <a:ext cx="3444221" cy="4674799"/>
          </a:xfrm>
          <a:prstGeom prst="rect">
            <a:avLst/>
          </a:prstGeom>
          <a:noFill/>
          <a:ln w="57150">
            <a:solidFill>
              <a:srgbClr val="0055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2" name="Rectangle 11">
            <a:extLst>
              <a:ext uri="{FF2B5EF4-FFF2-40B4-BE49-F238E27FC236}">
                <a16:creationId xmlns:a16="http://schemas.microsoft.com/office/drawing/2014/main" id="{EB5F2066-FCA4-4665-19D4-329B250BB847}"/>
              </a:ext>
            </a:extLst>
          </p:cNvPr>
          <p:cNvSpPr/>
          <p:nvPr/>
        </p:nvSpPr>
        <p:spPr>
          <a:xfrm>
            <a:off x="10572268" y="2135985"/>
            <a:ext cx="480060" cy="409257"/>
          </a:xfrm>
          <a:prstGeom prst="rect">
            <a:avLst/>
          </a:prstGeom>
          <a:solidFill>
            <a:srgbClr val="9C1A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3" name="Rectangle 12">
            <a:extLst>
              <a:ext uri="{FF2B5EF4-FFF2-40B4-BE49-F238E27FC236}">
                <a16:creationId xmlns:a16="http://schemas.microsoft.com/office/drawing/2014/main" id="{E808E09D-121F-35C1-264B-5BB4DED1BD7D}"/>
              </a:ext>
            </a:extLst>
          </p:cNvPr>
          <p:cNvSpPr/>
          <p:nvPr/>
        </p:nvSpPr>
        <p:spPr>
          <a:xfrm>
            <a:off x="10572268" y="4093937"/>
            <a:ext cx="480060" cy="409257"/>
          </a:xfrm>
          <a:prstGeom prst="rect">
            <a:avLst/>
          </a:prstGeom>
          <a:solidFill>
            <a:srgbClr val="0055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4" name="TextBox 13">
            <a:extLst>
              <a:ext uri="{FF2B5EF4-FFF2-40B4-BE49-F238E27FC236}">
                <a16:creationId xmlns:a16="http://schemas.microsoft.com/office/drawing/2014/main" id="{4F4E721F-5107-20A0-79B0-2037F0C99B66}"/>
              </a:ext>
            </a:extLst>
          </p:cNvPr>
          <p:cNvSpPr txBox="1"/>
          <p:nvPr/>
        </p:nvSpPr>
        <p:spPr>
          <a:xfrm>
            <a:off x="10501928" y="2553090"/>
            <a:ext cx="1449149" cy="923330"/>
          </a:xfrm>
          <a:prstGeom prst="rect">
            <a:avLst/>
          </a:prstGeom>
          <a:noFill/>
        </p:spPr>
        <p:txBody>
          <a:bodyPr wrap="square" rtlCol="0">
            <a:spAutoFit/>
          </a:bodyPr>
          <a:lstStyle/>
          <a:p>
            <a:r>
              <a:rPr lang="en-FR" b="1" dirty="0">
                <a:solidFill>
                  <a:srgbClr val="9C1AA1"/>
                </a:solidFill>
                <a:latin typeface="Avenir Next LT Pro" panose="020B0504020202020204" pitchFamily="34" charset="77"/>
              </a:rPr>
              <a:t>Human annotated metrics</a:t>
            </a:r>
          </a:p>
        </p:txBody>
      </p:sp>
      <p:sp>
        <p:nvSpPr>
          <p:cNvPr id="15" name="TextBox 14">
            <a:extLst>
              <a:ext uri="{FF2B5EF4-FFF2-40B4-BE49-F238E27FC236}">
                <a16:creationId xmlns:a16="http://schemas.microsoft.com/office/drawing/2014/main" id="{DABDA20E-1218-54F3-E5B6-A314EC33CDCE}"/>
              </a:ext>
            </a:extLst>
          </p:cNvPr>
          <p:cNvSpPr txBox="1"/>
          <p:nvPr/>
        </p:nvSpPr>
        <p:spPr>
          <a:xfrm>
            <a:off x="10501928" y="4504729"/>
            <a:ext cx="1449149" cy="646331"/>
          </a:xfrm>
          <a:prstGeom prst="rect">
            <a:avLst/>
          </a:prstGeom>
          <a:noFill/>
        </p:spPr>
        <p:txBody>
          <a:bodyPr wrap="square" rtlCol="0">
            <a:spAutoFit/>
          </a:bodyPr>
          <a:lstStyle/>
          <a:p>
            <a:r>
              <a:rPr lang="en-FR" b="1" dirty="0">
                <a:solidFill>
                  <a:srgbClr val="0055FF"/>
                </a:solidFill>
                <a:latin typeface="Avenir Next LT Pro" panose="020B0504020202020204" pitchFamily="34" charset="77"/>
              </a:rPr>
              <a:t>Automated</a:t>
            </a:r>
            <a:br>
              <a:rPr lang="en-FR" b="1" dirty="0">
                <a:solidFill>
                  <a:srgbClr val="0055FF"/>
                </a:solidFill>
                <a:latin typeface="Avenir Next LT Pro" panose="020B0504020202020204" pitchFamily="34" charset="77"/>
              </a:rPr>
            </a:br>
            <a:r>
              <a:rPr lang="en-FR" b="1" dirty="0">
                <a:solidFill>
                  <a:srgbClr val="0055FF"/>
                </a:solidFill>
                <a:latin typeface="Avenir Next LT Pro" panose="020B0504020202020204" pitchFamily="34" charset="77"/>
              </a:rPr>
              <a:t>metrics</a:t>
            </a:r>
          </a:p>
        </p:txBody>
      </p:sp>
      <p:pic>
        <p:nvPicPr>
          <p:cNvPr id="2" name="Graphic 1" descr="Gears with solid fill">
            <a:extLst>
              <a:ext uri="{FF2B5EF4-FFF2-40B4-BE49-F238E27FC236}">
                <a16:creationId xmlns:a16="http://schemas.microsoft.com/office/drawing/2014/main" id="{C5CABB73-1C9E-D7A0-4B1D-CA26751AE45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884" y="164201"/>
            <a:ext cx="1065059" cy="1065059"/>
          </a:xfrm>
          <a:prstGeom prst="rect">
            <a:avLst/>
          </a:prstGeom>
        </p:spPr>
      </p:pic>
      <p:sp>
        <p:nvSpPr>
          <p:cNvPr id="5" name="Title 4">
            <a:extLst>
              <a:ext uri="{FF2B5EF4-FFF2-40B4-BE49-F238E27FC236}">
                <a16:creationId xmlns:a16="http://schemas.microsoft.com/office/drawing/2014/main" id="{6A8C5EA2-A005-FB69-E7D3-9864E8AF9A36}"/>
              </a:ext>
            </a:extLst>
          </p:cNvPr>
          <p:cNvSpPr>
            <a:spLocks noGrp="1"/>
          </p:cNvSpPr>
          <p:nvPr>
            <p:ph type="title"/>
          </p:nvPr>
        </p:nvSpPr>
        <p:spPr/>
        <p:txBody>
          <a:bodyPr/>
          <a:lstStyle/>
          <a:p>
            <a:r>
              <a:rPr lang="en-FR" dirty="0"/>
              <a:t>Experiment 1: Generative Module - Results</a:t>
            </a:r>
          </a:p>
        </p:txBody>
      </p:sp>
      <p:sp>
        <p:nvSpPr>
          <p:cNvPr id="4" name="Rectangle 3">
            <a:extLst>
              <a:ext uri="{FF2B5EF4-FFF2-40B4-BE49-F238E27FC236}">
                <a16:creationId xmlns:a16="http://schemas.microsoft.com/office/drawing/2014/main" id="{71D01B5E-7F1F-EE10-6501-641C67100FD0}"/>
              </a:ext>
            </a:extLst>
          </p:cNvPr>
          <p:cNvSpPr/>
          <p:nvPr/>
        </p:nvSpPr>
        <p:spPr>
          <a:xfrm>
            <a:off x="4880729" y="5395801"/>
            <a:ext cx="1303003" cy="363567"/>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6" name="Rectangle 5">
            <a:extLst>
              <a:ext uri="{FF2B5EF4-FFF2-40B4-BE49-F238E27FC236}">
                <a16:creationId xmlns:a16="http://schemas.microsoft.com/office/drawing/2014/main" id="{473104B9-E84F-7993-8B59-213657CEB82E}"/>
              </a:ext>
            </a:extLst>
          </p:cNvPr>
          <p:cNvSpPr/>
          <p:nvPr/>
        </p:nvSpPr>
        <p:spPr>
          <a:xfrm>
            <a:off x="7881784" y="5032234"/>
            <a:ext cx="1303003" cy="363567"/>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7" name="Rectangle 6">
            <a:extLst>
              <a:ext uri="{FF2B5EF4-FFF2-40B4-BE49-F238E27FC236}">
                <a16:creationId xmlns:a16="http://schemas.microsoft.com/office/drawing/2014/main" id="{4493827D-B4AF-48EE-0ACC-D887AC992E44}"/>
              </a:ext>
            </a:extLst>
          </p:cNvPr>
          <p:cNvSpPr/>
          <p:nvPr/>
        </p:nvSpPr>
        <p:spPr>
          <a:xfrm>
            <a:off x="6273253" y="2224022"/>
            <a:ext cx="1608531" cy="515665"/>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8" name="Rectangle 7">
            <a:extLst>
              <a:ext uri="{FF2B5EF4-FFF2-40B4-BE49-F238E27FC236}">
                <a16:creationId xmlns:a16="http://schemas.microsoft.com/office/drawing/2014/main" id="{BC9CA27C-87CA-4440-AA85-2B57676E77A9}"/>
              </a:ext>
            </a:extLst>
          </p:cNvPr>
          <p:cNvSpPr/>
          <p:nvPr/>
        </p:nvSpPr>
        <p:spPr>
          <a:xfrm>
            <a:off x="6751986" y="4328592"/>
            <a:ext cx="1129798" cy="515665"/>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6" name="Rectangle 15">
            <a:extLst>
              <a:ext uri="{FF2B5EF4-FFF2-40B4-BE49-F238E27FC236}">
                <a16:creationId xmlns:a16="http://schemas.microsoft.com/office/drawing/2014/main" id="{C09D375C-02E1-F75B-A8A9-424580923604}"/>
              </a:ext>
            </a:extLst>
          </p:cNvPr>
          <p:cNvSpPr/>
          <p:nvPr/>
        </p:nvSpPr>
        <p:spPr>
          <a:xfrm>
            <a:off x="386612" y="2171326"/>
            <a:ext cx="1990830" cy="1449065"/>
          </a:xfrm>
          <a:prstGeom prst="rect">
            <a:avLst/>
          </a:prstGeom>
          <a:solidFill>
            <a:schemeClr val="bg1"/>
          </a:solidFill>
          <a:ln w="38100">
            <a:solidFill>
              <a:srgbClr val="A5B0F6"/>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FR" sz="1600" dirty="0">
                <a:solidFill>
                  <a:srgbClr val="A5B0F6"/>
                </a:solidFill>
                <a:latin typeface="Poppins" pitchFamily="2" charset="77"/>
                <a:cs typeface="Poppins" pitchFamily="2" charset="77"/>
              </a:rPr>
              <a:t>Conditioned on label sequences predicted by </a:t>
            </a:r>
            <a:br>
              <a:rPr lang="en-FR" sz="1600" dirty="0">
                <a:solidFill>
                  <a:srgbClr val="A5B0F6"/>
                </a:solidFill>
                <a:latin typeface="Poppins" pitchFamily="2" charset="77"/>
                <a:cs typeface="Poppins" pitchFamily="2" charset="77"/>
              </a:rPr>
            </a:br>
            <a:r>
              <a:rPr lang="en-FR" sz="1600" dirty="0">
                <a:solidFill>
                  <a:srgbClr val="A5B0F6"/>
                </a:solidFill>
                <a:latin typeface="Poppins" pitchFamily="2" charset="77"/>
                <a:cs typeface="Poppins" pitchFamily="2" charset="77"/>
              </a:rPr>
              <a:t>the BART planning module.</a:t>
            </a:r>
          </a:p>
        </p:txBody>
      </p:sp>
      <p:sp>
        <p:nvSpPr>
          <p:cNvPr id="17" name="TextBox 16">
            <a:extLst>
              <a:ext uri="{FF2B5EF4-FFF2-40B4-BE49-F238E27FC236}">
                <a16:creationId xmlns:a16="http://schemas.microsoft.com/office/drawing/2014/main" id="{8C75EBD3-1DD5-039E-CBB9-85965F41DA32}"/>
              </a:ext>
            </a:extLst>
          </p:cNvPr>
          <p:cNvSpPr txBox="1"/>
          <p:nvPr/>
        </p:nvSpPr>
        <p:spPr>
          <a:xfrm>
            <a:off x="757137" y="1916939"/>
            <a:ext cx="1303003" cy="369332"/>
          </a:xfrm>
          <a:prstGeom prst="rect">
            <a:avLst/>
          </a:prstGeom>
          <a:solidFill>
            <a:schemeClr val="bg1"/>
          </a:solidFill>
        </p:spPr>
        <p:txBody>
          <a:bodyPr wrap="square" rtlCol="0">
            <a:spAutoFit/>
          </a:bodyPr>
          <a:lstStyle/>
          <a:p>
            <a:pPr algn="ctr"/>
            <a:r>
              <a:rPr lang="en-FR" b="1" dirty="0">
                <a:solidFill>
                  <a:srgbClr val="A5B0F6"/>
                </a:solidFill>
                <a:latin typeface="Poppins" pitchFamily="2" charset="77"/>
                <a:cs typeface="Poppins" pitchFamily="2" charset="77"/>
              </a:rPr>
              <a:t>CD-PRED</a:t>
            </a:r>
          </a:p>
        </p:txBody>
      </p:sp>
      <p:sp>
        <p:nvSpPr>
          <p:cNvPr id="18" name="Rectangle 17">
            <a:extLst>
              <a:ext uri="{FF2B5EF4-FFF2-40B4-BE49-F238E27FC236}">
                <a16:creationId xmlns:a16="http://schemas.microsoft.com/office/drawing/2014/main" id="{1292C17A-23FC-EA3B-4FE2-2B27E31D6AB2}"/>
              </a:ext>
            </a:extLst>
          </p:cNvPr>
          <p:cNvSpPr/>
          <p:nvPr/>
        </p:nvSpPr>
        <p:spPr>
          <a:xfrm>
            <a:off x="386612" y="3927570"/>
            <a:ext cx="1990830" cy="927855"/>
          </a:xfrm>
          <a:prstGeom prst="rect">
            <a:avLst/>
          </a:prstGeom>
          <a:solidFill>
            <a:schemeClr val="bg1"/>
          </a:solidFill>
          <a:ln w="38100">
            <a:solidFill>
              <a:srgbClr val="A5B0F6"/>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FR" sz="1600" dirty="0">
                <a:solidFill>
                  <a:srgbClr val="A5B0F6"/>
                </a:solidFill>
                <a:latin typeface="Poppins" pitchFamily="2" charset="77"/>
                <a:cs typeface="Poppins" pitchFamily="2" charset="77"/>
              </a:rPr>
              <a:t>Conditioned on ground truth label sequences</a:t>
            </a:r>
          </a:p>
        </p:txBody>
      </p:sp>
      <p:sp>
        <p:nvSpPr>
          <p:cNvPr id="19" name="TextBox 18">
            <a:extLst>
              <a:ext uri="{FF2B5EF4-FFF2-40B4-BE49-F238E27FC236}">
                <a16:creationId xmlns:a16="http://schemas.microsoft.com/office/drawing/2014/main" id="{C0EECFFB-8790-F15C-9B34-563895B8B98C}"/>
              </a:ext>
            </a:extLst>
          </p:cNvPr>
          <p:cNvSpPr txBox="1"/>
          <p:nvPr/>
        </p:nvSpPr>
        <p:spPr>
          <a:xfrm>
            <a:off x="757137" y="3673183"/>
            <a:ext cx="1303003" cy="369332"/>
          </a:xfrm>
          <a:prstGeom prst="rect">
            <a:avLst/>
          </a:prstGeom>
          <a:solidFill>
            <a:schemeClr val="bg1"/>
          </a:solidFill>
        </p:spPr>
        <p:txBody>
          <a:bodyPr wrap="square" rtlCol="0">
            <a:spAutoFit/>
          </a:bodyPr>
          <a:lstStyle/>
          <a:p>
            <a:pPr algn="ctr"/>
            <a:r>
              <a:rPr lang="en-FR" b="1" dirty="0">
                <a:solidFill>
                  <a:srgbClr val="A5B0F6"/>
                </a:solidFill>
                <a:latin typeface="Poppins" pitchFamily="2" charset="77"/>
                <a:cs typeface="Poppins" pitchFamily="2" charset="77"/>
              </a:rPr>
              <a:t>CD-PRED</a:t>
            </a:r>
          </a:p>
        </p:txBody>
      </p:sp>
      <p:sp>
        <p:nvSpPr>
          <p:cNvPr id="20" name="Rectangle 19">
            <a:extLst>
              <a:ext uri="{FF2B5EF4-FFF2-40B4-BE49-F238E27FC236}">
                <a16:creationId xmlns:a16="http://schemas.microsoft.com/office/drawing/2014/main" id="{D936125D-BFC5-35D7-1DD8-961516AD1598}"/>
              </a:ext>
            </a:extLst>
          </p:cNvPr>
          <p:cNvSpPr/>
          <p:nvPr/>
        </p:nvSpPr>
        <p:spPr>
          <a:xfrm>
            <a:off x="386612" y="5133240"/>
            <a:ext cx="1990830" cy="794940"/>
          </a:xfrm>
          <a:prstGeom prst="rect">
            <a:avLst/>
          </a:prstGeom>
          <a:solidFill>
            <a:schemeClr val="bg1"/>
          </a:solidFill>
          <a:ln w="38100">
            <a:solidFill>
              <a:srgbClr val="A5B0F6"/>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FR" sz="1600" dirty="0">
                <a:solidFill>
                  <a:srgbClr val="A5B0F6"/>
                </a:solidFill>
                <a:latin typeface="Poppins" pitchFamily="2" charset="77"/>
                <a:cs typeface="Poppins" pitchFamily="2" charset="77"/>
              </a:rPr>
              <a:t>End-to-end generation</a:t>
            </a:r>
          </a:p>
        </p:txBody>
      </p:sp>
      <p:sp>
        <p:nvSpPr>
          <p:cNvPr id="21" name="TextBox 20">
            <a:extLst>
              <a:ext uri="{FF2B5EF4-FFF2-40B4-BE49-F238E27FC236}">
                <a16:creationId xmlns:a16="http://schemas.microsoft.com/office/drawing/2014/main" id="{97969A66-7D3F-3A4E-0906-A89763B050A5}"/>
              </a:ext>
            </a:extLst>
          </p:cNvPr>
          <p:cNvSpPr txBox="1"/>
          <p:nvPr/>
        </p:nvSpPr>
        <p:spPr>
          <a:xfrm>
            <a:off x="848544" y="4977938"/>
            <a:ext cx="1120188" cy="369332"/>
          </a:xfrm>
          <a:prstGeom prst="rect">
            <a:avLst/>
          </a:prstGeom>
          <a:solidFill>
            <a:schemeClr val="bg1"/>
          </a:solidFill>
        </p:spPr>
        <p:txBody>
          <a:bodyPr wrap="square" rtlCol="0">
            <a:spAutoFit/>
          </a:bodyPr>
          <a:lstStyle/>
          <a:p>
            <a:pPr algn="ctr"/>
            <a:r>
              <a:rPr lang="en-FR" b="1" dirty="0">
                <a:solidFill>
                  <a:srgbClr val="A5B0F6"/>
                </a:solidFill>
                <a:latin typeface="Poppins" pitchFamily="2" charset="77"/>
                <a:cs typeface="Poppins" pitchFamily="2" charset="77"/>
              </a:rPr>
              <a:t>NO-CD</a:t>
            </a:r>
          </a:p>
        </p:txBody>
      </p:sp>
      <p:sp>
        <p:nvSpPr>
          <p:cNvPr id="22" name="Rounded Rectangle 21">
            <a:extLst>
              <a:ext uri="{FF2B5EF4-FFF2-40B4-BE49-F238E27FC236}">
                <a16:creationId xmlns:a16="http://schemas.microsoft.com/office/drawing/2014/main" id="{965D7BF9-5A49-67C6-9BA4-29D04D894375}"/>
              </a:ext>
            </a:extLst>
          </p:cNvPr>
          <p:cNvSpPr/>
          <p:nvPr/>
        </p:nvSpPr>
        <p:spPr>
          <a:xfrm>
            <a:off x="386612" y="1380766"/>
            <a:ext cx="1990830" cy="432072"/>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FR" sz="2000" b="1" dirty="0">
                <a:solidFill>
                  <a:schemeClr val="bg1"/>
                </a:solidFill>
                <a:latin typeface="Poppins" pitchFamily="2" charset="77"/>
                <a:cs typeface="Poppins" pitchFamily="2" charset="77"/>
              </a:rPr>
              <a:t>DailyDialog</a:t>
            </a:r>
            <a:endParaRPr lang="en-FR" sz="2000"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93655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p:bldP spid="15" grpId="0"/>
      <p:bldP spid="4" grpId="0" animBg="1"/>
      <p:bldP spid="6" grpId="0" animBg="1"/>
      <p:bldP spid="7" grpId="0" animBg="1"/>
      <p:bldP spid="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D9B69-7320-6B93-9F83-B136481D4B34}"/>
            </a:ext>
          </a:extLst>
        </p:cNvPr>
        <p:cNvGrpSpPr/>
        <p:nvPr/>
      </p:nvGrpSpPr>
      <p:grpSpPr>
        <a:xfrm>
          <a:off x="0" y="0"/>
          <a:ext cx="0" cy="0"/>
          <a:chOff x="0" y="0"/>
          <a:chExt cx="0" cy="0"/>
        </a:xfrm>
      </p:grpSpPr>
      <p:pic>
        <p:nvPicPr>
          <p:cNvPr id="2" name="Graphic 1" descr="Gears with solid fill">
            <a:extLst>
              <a:ext uri="{FF2B5EF4-FFF2-40B4-BE49-F238E27FC236}">
                <a16:creationId xmlns:a16="http://schemas.microsoft.com/office/drawing/2014/main" id="{E7F28B5F-AF67-762A-14E4-D7EFF42856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884" y="164201"/>
            <a:ext cx="1065059" cy="1065059"/>
          </a:xfrm>
          <a:prstGeom prst="rect">
            <a:avLst/>
          </a:prstGeom>
        </p:spPr>
      </p:pic>
      <p:sp>
        <p:nvSpPr>
          <p:cNvPr id="5" name="Title 4">
            <a:extLst>
              <a:ext uri="{FF2B5EF4-FFF2-40B4-BE49-F238E27FC236}">
                <a16:creationId xmlns:a16="http://schemas.microsoft.com/office/drawing/2014/main" id="{9BEEC1C7-A690-0F8A-D748-79C379534419}"/>
              </a:ext>
            </a:extLst>
          </p:cNvPr>
          <p:cNvSpPr>
            <a:spLocks noGrp="1"/>
          </p:cNvSpPr>
          <p:nvPr>
            <p:ph type="title"/>
          </p:nvPr>
        </p:nvSpPr>
        <p:spPr/>
        <p:txBody>
          <a:bodyPr/>
          <a:lstStyle/>
          <a:p>
            <a:r>
              <a:rPr lang="en-FR" dirty="0"/>
              <a:t>Experiment 2: Results</a:t>
            </a:r>
          </a:p>
        </p:txBody>
      </p:sp>
      <p:pic>
        <p:nvPicPr>
          <p:cNvPr id="24" name="Picture 23" descr="A table of numbers and numbers&#10;&#10;AI-generated content may be incorrect.">
            <a:extLst>
              <a:ext uri="{FF2B5EF4-FFF2-40B4-BE49-F238E27FC236}">
                <a16:creationId xmlns:a16="http://schemas.microsoft.com/office/drawing/2014/main" id="{A63D1737-5852-7AB5-82E5-2D4FC0E01C81}"/>
              </a:ext>
            </a:extLst>
          </p:cNvPr>
          <p:cNvPicPr>
            <a:picLocks noChangeAspect="1"/>
          </p:cNvPicPr>
          <p:nvPr/>
        </p:nvPicPr>
        <p:blipFill>
          <a:blip r:embed="rId5"/>
          <a:stretch>
            <a:fillRect/>
          </a:stretch>
        </p:blipFill>
        <p:spPr>
          <a:xfrm rot="16200000">
            <a:off x="3792706" y="11500"/>
            <a:ext cx="5400243" cy="8146364"/>
          </a:xfrm>
          <a:prstGeom prst="rect">
            <a:avLst/>
          </a:prstGeom>
        </p:spPr>
      </p:pic>
      <p:sp>
        <p:nvSpPr>
          <p:cNvPr id="25" name="Rectangle 24">
            <a:extLst>
              <a:ext uri="{FF2B5EF4-FFF2-40B4-BE49-F238E27FC236}">
                <a16:creationId xmlns:a16="http://schemas.microsoft.com/office/drawing/2014/main" id="{B024A3D6-318F-3679-8CFC-5DE2AF01C2B9}"/>
              </a:ext>
            </a:extLst>
          </p:cNvPr>
          <p:cNvSpPr/>
          <p:nvPr/>
        </p:nvSpPr>
        <p:spPr>
          <a:xfrm>
            <a:off x="9498215" y="1490979"/>
            <a:ext cx="956601" cy="4811347"/>
          </a:xfrm>
          <a:prstGeom prst="rect">
            <a:avLst/>
          </a:prstGeom>
          <a:noFill/>
          <a:ln w="57150">
            <a:solidFill>
              <a:srgbClr val="9C1AA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6" name="Rectangle 25">
            <a:extLst>
              <a:ext uri="{FF2B5EF4-FFF2-40B4-BE49-F238E27FC236}">
                <a16:creationId xmlns:a16="http://schemas.microsoft.com/office/drawing/2014/main" id="{5A7E0D9B-7852-F23B-6F1B-AE41B19B8FBA}"/>
              </a:ext>
            </a:extLst>
          </p:cNvPr>
          <p:cNvSpPr/>
          <p:nvPr/>
        </p:nvSpPr>
        <p:spPr>
          <a:xfrm>
            <a:off x="3798277" y="1490979"/>
            <a:ext cx="5614359" cy="4811347"/>
          </a:xfrm>
          <a:prstGeom prst="rect">
            <a:avLst/>
          </a:prstGeom>
          <a:noFill/>
          <a:ln w="57150">
            <a:solidFill>
              <a:srgbClr val="0055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7" name="Rectangle 26">
            <a:extLst>
              <a:ext uri="{FF2B5EF4-FFF2-40B4-BE49-F238E27FC236}">
                <a16:creationId xmlns:a16="http://schemas.microsoft.com/office/drawing/2014/main" id="{505024F3-E268-FD12-D766-4ACC04B689CF}"/>
              </a:ext>
            </a:extLst>
          </p:cNvPr>
          <p:cNvSpPr/>
          <p:nvPr/>
        </p:nvSpPr>
        <p:spPr>
          <a:xfrm>
            <a:off x="10721928" y="2178188"/>
            <a:ext cx="480060" cy="409257"/>
          </a:xfrm>
          <a:prstGeom prst="rect">
            <a:avLst/>
          </a:prstGeom>
          <a:solidFill>
            <a:srgbClr val="9C1A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8" name="Rectangle 27">
            <a:extLst>
              <a:ext uri="{FF2B5EF4-FFF2-40B4-BE49-F238E27FC236}">
                <a16:creationId xmlns:a16="http://schemas.microsoft.com/office/drawing/2014/main" id="{1585F2EA-BFEB-41EC-CDFE-2AF79B6C14C8}"/>
              </a:ext>
            </a:extLst>
          </p:cNvPr>
          <p:cNvSpPr/>
          <p:nvPr/>
        </p:nvSpPr>
        <p:spPr>
          <a:xfrm>
            <a:off x="10707860" y="4136140"/>
            <a:ext cx="480060" cy="409257"/>
          </a:xfrm>
          <a:prstGeom prst="rect">
            <a:avLst/>
          </a:prstGeom>
          <a:solidFill>
            <a:srgbClr val="0055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9" name="TextBox 28">
            <a:extLst>
              <a:ext uri="{FF2B5EF4-FFF2-40B4-BE49-F238E27FC236}">
                <a16:creationId xmlns:a16="http://schemas.microsoft.com/office/drawing/2014/main" id="{257BF387-E5EA-EC2C-C905-5171B8D73492}"/>
              </a:ext>
            </a:extLst>
          </p:cNvPr>
          <p:cNvSpPr txBox="1"/>
          <p:nvPr/>
        </p:nvSpPr>
        <p:spPr>
          <a:xfrm>
            <a:off x="10637520" y="2595293"/>
            <a:ext cx="1449149" cy="923330"/>
          </a:xfrm>
          <a:prstGeom prst="rect">
            <a:avLst/>
          </a:prstGeom>
          <a:noFill/>
        </p:spPr>
        <p:txBody>
          <a:bodyPr wrap="square" rtlCol="0">
            <a:spAutoFit/>
          </a:bodyPr>
          <a:lstStyle/>
          <a:p>
            <a:r>
              <a:rPr lang="en-FR" b="1" dirty="0">
                <a:solidFill>
                  <a:srgbClr val="9C1AA1"/>
                </a:solidFill>
                <a:latin typeface="Avenir Next LT Pro" panose="020B0504020202020204" pitchFamily="34" charset="77"/>
              </a:rPr>
              <a:t>Human annotated metrics</a:t>
            </a:r>
          </a:p>
        </p:txBody>
      </p:sp>
      <p:sp>
        <p:nvSpPr>
          <p:cNvPr id="30" name="TextBox 29">
            <a:extLst>
              <a:ext uri="{FF2B5EF4-FFF2-40B4-BE49-F238E27FC236}">
                <a16:creationId xmlns:a16="http://schemas.microsoft.com/office/drawing/2014/main" id="{873549A1-2EB7-B9C4-3C92-324956F7D406}"/>
              </a:ext>
            </a:extLst>
          </p:cNvPr>
          <p:cNvSpPr txBox="1"/>
          <p:nvPr/>
        </p:nvSpPr>
        <p:spPr>
          <a:xfrm>
            <a:off x="10637520" y="4546932"/>
            <a:ext cx="1449149" cy="646331"/>
          </a:xfrm>
          <a:prstGeom prst="rect">
            <a:avLst/>
          </a:prstGeom>
          <a:noFill/>
        </p:spPr>
        <p:txBody>
          <a:bodyPr wrap="square" rtlCol="0">
            <a:spAutoFit/>
          </a:bodyPr>
          <a:lstStyle/>
          <a:p>
            <a:r>
              <a:rPr lang="en-FR" b="1" dirty="0">
                <a:solidFill>
                  <a:srgbClr val="0055FF"/>
                </a:solidFill>
                <a:latin typeface="Avenir Next LT Pro" panose="020B0504020202020204" pitchFamily="34" charset="77"/>
              </a:rPr>
              <a:t>Automated</a:t>
            </a:r>
            <a:br>
              <a:rPr lang="en-FR" b="1" dirty="0">
                <a:solidFill>
                  <a:srgbClr val="0055FF"/>
                </a:solidFill>
                <a:latin typeface="Avenir Next LT Pro" panose="020B0504020202020204" pitchFamily="34" charset="77"/>
              </a:rPr>
            </a:br>
            <a:r>
              <a:rPr lang="en-FR" b="1" dirty="0">
                <a:solidFill>
                  <a:srgbClr val="0055FF"/>
                </a:solidFill>
                <a:latin typeface="Avenir Next LT Pro" panose="020B0504020202020204" pitchFamily="34" charset="77"/>
              </a:rPr>
              <a:t>metrics</a:t>
            </a:r>
          </a:p>
        </p:txBody>
      </p:sp>
      <p:sp>
        <p:nvSpPr>
          <p:cNvPr id="31" name="Rounded Rectangle 30">
            <a:extLst>
              <a:ext uri="{FF2B5EF4-FFF2-40B4-BE49-F238E27FC236}">
                <a16:creationId xmlns:a16="http://schemas.microsoft.com/office/drawing/2014/main" id="{715622E3-67F1-32E4-18D6-0C4ABA4826EE}"/>
              </a:ext>
            </a:extLst>
          </p:cNvPr>
          <p:cNvSpPr/>
          <p:nvPr/>
        </p:nvSpPr>
        <p:spPr>
          <a:xfrm>
            <a:off x="386612" y="1380766"/>
            <a:ext cx="1990830" cy="432072"/>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FR" sz="2000" b="1" dirty="0">
                <a:solidFill>
                  <a:schemeClr val="bg1"/>
                </a:solidFill>
                <a:latin typeface="Poppins" pitchFamily="2" charset="77"/>
                <a:cs typeface="Poppins" pitchFamily="2" charset="77"/>
              </a:rPr>
              <a:t>DATA-SERGe</a:t>
            </a:r>
            <a:endParaRPr lang="en-FR" sz="2000"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1063447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p:bldP spid="3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2B5BB-2681-A80B-2220-ABB74ABDD09E}"/>
            </a:ext>
          </a:extLst>
        </p:cNvPr>
        <p:cNvGrpSpPr/>
        <p:nvPr/>
      </p:nvGrpSpPr>
      <p:grpSpPr>
        <a:xfrm>
          <a:off x="0" y="0"/>
          <a:ext cx="0" cy="0"/>
          <a:chOff x="0" y="0"/>
          <a:chExt cx="0" cy="0"/>
        </a:xfrm>
      </p:grpSpPr>
      <p:pic>
        <p:nvPicPr>
          <p:cNvPr id="2" name="Graphic 1" descr="Gears with solid fill">
            <a:extLst>
              <a:ext uri="{FF2B5EF4-FFF2-40B4-BE49-F238E27FC236}">
                <a16:creationId xmlns:a16="http://schemas.microsoft.com/office/drawing/2014/main" id="{0F5CEFFD-9B01-BF00-9F5A-DAA05B24E3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884" y="164201"/>
            <a:ext cx="1065059" cy="1065059"/>
          </a:xfrm>
          <a:prstGeom prst="rect">
            <a:avLst/>
          </a:prstGeom>
        </p:spPr>
      </p:pic>
      <p:sp>
        <p:nvSpPr>
          <p:cNvPr id="5" name="Title 4">
            <a:extLst>
              <a:ext uri="{FF2B5EF4-FFF2-40B4-BE49-F238E27FC236}">
                <a16:creationId xmlns:a16="http://schemas.microsoft.com/office/drawing/2014/main" id="{C2272E7B-F814-BC7B-FCDA-AD36032DD6FA}"/>
              </a:ext>
            </a:extLst>
          </p:cNvPr>
          <p:cNvSpPr>
            <a:spLocks noGrp="1"/>
          </p:cNvSpPr>
          <p:nvPr>
            <p:ph type="title"/>
          </p:nvPr>
        </p:nvSpPr>
        <p:spPr/>
        <p:txBody>
          <a:bodyPr/>
          <a:lstStyle/>
          <a:p>
            <a:r>
              <a:rPr lang="en-FR" dirty="0"/>
              <a:t>Experiment 3: Prompts</a:t>
            </a:r>
          </a:p>
        </p:txBody>
      </p:sp>
      <p:sp>
        <p:nvSpPr>
          <p:cNvPr id="22" name="Rounded Rectangle 21">
            <a:extLst>
              <a:ext uri="{FF2B5EF4-FFF2-40B4-BE49-F238E27FC236}">
                <a16:creationId xmlns:a16="http://schemas.microsoft.com/office/drawing/2014/main" id="{FAA79EAB-52AF-8B75-B949-E599D962A074}"/>
              </a:ext>
            </a:extLst>
          </p:cNvPr>
          <p:cNvSpPr/>
          <p:nvPr/>
        </p:nvSpPr>
        <p:spPr>
          <a:xfrm>
            <a:off x="4089619" y="1384561"/>
            <a:ext cx="4449948" cy="432072"/>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FR" sz="2000" b="1" dirty="0">
                <a:solidFill>
                  <a:schemeClr val="bg1"/>
                </a:solidFill>
                <a:latin typeface="Poppins" pitchFamily="2" charset="77"/>
                <a:cs typeface="Poppins" pitchFamily="2" charset="77"/>
              </a:rPr>
              <a:t>End-to-End</a:t>
            </a:r>
            <a:endParaRPr lang="en-FR" sz="2000" dirty="0">
              <a:solidFill>
                <a:schemeClr val="bg1"/>
              </a:solidFill>
              <a:latin typeface="Poppins" pitchFamily="2" charset="77"/>
              <a:cs typeface="Poppins" pitchFamily="2" charset="77"/>
            </a:endParaRPr>
          </a:p>
        </p:txBody>
      </p:sp>
      <p:sp>
        <p:nvSpPr>
          <p:cNvPr id="4" name="Rounded Rectangle 3">
            <a:extLst>
              <a:ext uri="{FF2B5EF4-FFF2-40B4-BE49-F238E27FC236}">
                <a16:creationId xmlns:a16="http://schemas.microsoft.com/office/drawing/2014/main" id="{F0485639-D4E9-C100-F9F1-F7ACCF9B4704}"/>
              </a:ext>
            </a:extLst>
          </p:cNvPr>
          <p:cNvSpPr/>
          <p:nvPr/>
        </p:nvSpPr>
        <p:spPr>
          <a:xfrm>
            <a:off x="4089618" y="2061275"/>
            <a:ext cx="4449949" cy="4169043"/>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600" b="1" dirty="0">
                <a:solidFill>
                  <a:schemeClr val="bg1"/>
                </a:solidFill>
                <a:latin typeface="Poppins" pitchFamily="2" charset="77"/>
                <a:cs typeface="Poppins" pitchFamily="2" charset="77"/>
              </a:rPr>
              <a:t>Here is an excerpt from a phone call between an auto repair agent and a customer:</a:t>
            </a:r>
            <a:br>
              <a:rPr lang="en-GB" sz="1600" b="1" dirty="0">
                <a:solidFill>
                  <a:schemeClr val="bg1"/>
                </a:solidFill>
                <a:latin typeface="Poppins" pitchFamily="2" charset="77"/>
                <a:cs typeface="Poppins" pitchFamily="2" charset="77"/>
              </a:rPr>
            </a:br>
            <a:endParaRPr lang="en-GB" sz="1600" b="1" dirty="0">
              <a:solidFill>
                <a:schemeClr val="bg1"/>
              </a:solidFill>
              <a:latin typeface="Poppins" pitchFamily="2" charset="77"/>
              <a:cs typeface="Poppins" pitchFamily="2" charset="77"/>
            </a:endParaRPr>
          </a:p>
          <a:p>
            <a:r>
              <a:rPr lang="en-GB" sz="1600" b="1" dirty="0">
                <a:solidFill>
                  <a:schemeClr val="bg1"/>
                </a:solidFill>
                <a:latin typeface="Poppins" pitchFamily="2" charset="77"/>
                <a:cs typeface="Poppins" pitchFamily="2" charset="77"/>
              </a:rPr>
              <a:t>[CONTEXT]</a:t>
            </a:r>
          </a:p>
          <a:p>
            <a:endParaRPr lang="en-GB" sz="1600" b="1" dirty="0">
              <a:solidFill>
                <a:schemeClr val="bg1"/>
              </a:solidFill>
              <a:latin typeface="Poppins" pitchFamily="2" charset="77"/>
              <a:cs typeface="Poppins" pitchFamily="2" charset="77"/>
            </a:endParaRPr>
          </a:p>
          <a:p>
            <a:r>
              <a:rPr lang="en-GB" sz="1600" b="1" dirty="0">
                <a:solidFill>
                  <a:schemeClr val="bg1"/>
                </a:solidFill>
                <a:latin typeface="Poppins" pitchFamily="2" charset="77"/>
                <a:cs typeface="Poppins" pitchFamily="2" charset="77"/>
              </a:rPr>
              <a:t>From this conversation, generate the agent's next turn. The answer should be short and clear, while maintaining the oral tone of a telephone conversation. The expected format is: AGENT: Response”.</a:t>
            </a:r>
            <a:br>
              <a:rPr lang="en-GB" sz="1600" b="1" dirty="0">
                <a:solidFill>
                  <a:schemeClr val="bg1"/>
                </a:solidFill>
                <a:latin typeface="Poppins" pitchFamily="2" charset="77"/>
                <a:cs typeface="Poppins" pitchFamily="2" charset="77"/>
              </a:rPr>
            </a:br>
            <a:endParaRPr lang="en-GB" sz="1600" b="1" dirty="0">
              <a:solidFill>
                <a:schemeClr val="bg1"/>
              </a:solidFill>
              <a:latin typeface="Poppins" pitchFamily="2" charset="77"/>
              <a:cs typeface="Poppins" pitchFamily="2" charset="77"/>
            </a:endParaRPr>
          </a:p>
          <a:p>
            <a:r>
              <a:rPr lang="en-GB" sz="1600" b="1" dirty="0">
                <a:solidFill>
                  <a:schemeClr val="bg1"/>
                </a:solidFill>
                <a:latin typeface="Poppins" pitchFamily="2" charset="77"/>
                <a:cs typeface="Poppins" pitchFamily="2" charset="77"/>
              </a:rPr>
              <a:t>AGENT:</a:t>
            </a:r>
            <a:endParaRPr lang="en-FR" sz="1600"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16984169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8268B-2380-3AA9-B960-C4D7C7CF1C47}"/>
            </a:ext>
          </a:extLst>
        </p:cNvPr>
        <p:cNvGrpSpPr/>
        <p:nvPr/>
      </p:nvGrpSpPr>
      <p:grpSpPr>
        <a:xfrm>
          <a:off x="0" y="0"/>
          <a:ext cx="0" cy="0"/>
          <a:chOff x="0" y="0"/>
          <a:chExt cx="0" cy="0"/>
        </a:xfrm>
      </p:grpSpPr>
      <p:pic>
        <p:nvPicPr>
          <p:cNvPr id="2" name="Graphic 1" descr="Gears with solid fill">
            <a:extLst>
              <a:ext uri="{FF2B5EF4-FFF2-40B4-BE49-F238E27FC236}">
                <a16:creationId xmlns:a16="http://schemas.microsoft.com/office/drawing/2014/main" id="{7F582DA1-903A-4252-9086-2F1FB4FC6D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884" y="164201"/>
            <a:ext cx="1065059" cy="1065059"/>
          </a:xfrm>
          <a:prstGeom prst="rect">
            <a:avLst/>
          </a:prstGeom>
        </p:spPr>
      </p:pic>
      <p:sp>
        <p:nvSpPr>
          <p:cNvPr id="5" name="Title 4">
            <a:extLst>
              <a:ext uri="{FF2B5EF4-FFF2-40B4-BE49-F238E27FC236}">
                <a16:creationId xmlns:a16="http://schemas.microsoft.com/office/drawing/2014/main" id="{A19852CD-1974-DEBD-4BDF-C1D6D5F51AF1}"/>
              </a:ext>
            </a:extLst>
          </p:cNvPr>
          <p:cNvSpPr>
            <a:spLocks noGrp="1"/>
          </p:cNvSpPr>
          <p:nvPr>
            <p:ph type="title"/>
          </p:nvPr>
        </p:nvSpPr>
        <p:spPr/>
        <p:txBody>
          <a:bodyPr/>
          <a:lstStyle/>
          <a:p>
            <a:r>
              <a:rPr lang="en-FR" dirty="0"/>
              <a:t>Experiment 3: Prompts – Na</a:t>
            </a:r>
            <a:r>
              <a:rPr lang="en-GB" dirty="0" err="1"/>
              <a:t>ï</a:t>
            </a:r>
            <a:r>
              <a:rPr lang="en-FR" dirty="0"/>
              <a:t>ve Planning</a:t>
            </a:r>
          </a:p>
        </p:txBody>
      </p:sp>
      <p:sp>
        <p:nvSpPr>
          <p:cNvPr id="22" name="Rounded Rectangle 21">
            <a:extLst>
              <a:ext uri="{FF2B5EF4-FFF2-40B4-BE49-F238E27FC236}">
                <a16:creationId xmlns:a16="http://schemas.microsoft.com/office/drawing/2014/main" id="{C4D7541E-BC6C-C747-22A3-43BE09C458A2}"/>
              </a:ext>
            </a:extLst>
          </p:cNvPr>
          <p:cNvSpPr/>
          <p:nvPr/>
        </p:nvSpPr>
        <p:spPr>
          <a:xfrm>
            <a:off x="4089619" y="1384561"/>
            <a:ext cx="4449948" cy="432072"/>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FR" sz="2000" b="1" dirty="0">
                <a:solidFill>
                  <a:schemeClr val="bg1"/>
                </a:solidFill>
                <a:latin typeface="Poppins" pitchFamily="2" charset="77"/>
                <a:cs typeface="Poppins" pitchFamily="2" charset="77"/>
              </a:rPr>
              <a:t>Na</a:t>
            </a:r>
            <a:r>
              <a:rPr lang="en-GB" sz="2000" b="1" dirty="0" err="1">
                <a:solidFill>
                  <a:schemeClr val="bg1"/>
                </a:solidFill>
                <a:latin typeface="Poppins" pitchFamily="2" charset="77"/>
                <a:cs typeface="Poppins" pitchFamily="2" charset="77"/>
              </a:rPr>
              <a:t>ï</a:t>
            </a:r>
            <a:r>
              <a:rPr lang="en-FR" sz="2000" b="1" dirty="0">
                <a:solidFill>
                  <a:schemeClr val="bg1"/>
                </a:solidFill>
                <a:latin typeface="Poppins" pitchFamily="2" charset="77"/>
                <a:cs typeface="Poppins" pitchFamily="2" charset="77"/>
              </a:rPr>
              <a:t>ve (planning using GT)</a:t>
            </a:r>
            <a:endParaRPr lang="en-FR" sz="2000" dirty="0">
              <a:solidFill>
                <a:schemeClr val="bg1"/>
              </a:solidFill>
              <a:latin typeface="Poppins" pitchFamily="2" charset="77"/>
              <a:cs typeface="Poppins" pitchFamily="2" charset="77"/>
            </a:endParaRPr>
          </a:p>
        </p:txBody>
      </p:sp>
      <p:sp>
        <p:nvSpPr>
          <p:cNvPr id="4" name="Rounded Rectangle 3">
            <a:extLst>
              <a:ext uri="{FF2B5EF4-FFF2-40B4-BE49-F238E27FC236}">
                <a16:creationId xmlns:a16="http://schemas.microsoft.com/office/drawing/2014/main" id="{1CA96890-D572-90E7-73F8-119F221E914E}"/>
              </a:ext>
            </a:extLst>
          </p:cNvPr>
          <p:cNvSpPr/>
          <p:nvPr/>
        </p:nvSpPr>
        <p:spPr>
          <a:xfrm>
            <a:off x="2263402" y="2092272"/>
            <a:ext cx="8102382" cy="4169043"/>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600" b="1" dirty="0">
                <a:solidFill>
                  <a:schemeClr val="bg1"/>
                </a:solidFill>
                <a:latin typeface="Poppins" pitchFamily="2" charset="77"/>
                <a:cs typeface="Poppins" pitchFamily="2" charset="77"/>
              </a:rPr>
              <a:t>Here is an excerpt from a phone call between an auto repair agent and a customer:</a:t>
            </a:r>
          </a:p>
          <a:p>
            <a:endParaRPr lang="en-GB" sz="1600" b="1" dirty="0">
              <a:solidFill>
                <a:schemeClr val="bg1"/>
              </a:solidFill>
              <a:latin typeface="Poppins" pitchFamily="2" charset="77"/>
              <a:cs typeface="Poppins" pitchFamily="2" charset="77"/>
            </a:endParaRPr>
          </a:p>
          <a:p>
            <a:r>
              <a:rPr lang="en-GB" sz="1600" b="1" dirty="0">
                <a:solidFill>
                  <a:schemeClr val="bg1"/>
                </a:solidFill>
                <a:latin typeface="Poppins" pitchFamily="2" charset="77"/>
                <a:cs typeface="Poppins" pitchFamily="2" charset="77"/>
              </a:rPr>
              <a:t>[CONTEXT]</a:t>
            </a:r>
          </a:p>
          <a:p>
            <a:endParaRPr lang="en-GB" sz="1600" b="1" dirty="0">
              <a:solidFill>
                <a:schemeClr val="bg1"/>
              </a:solidFill>
              <a:latin typeface="Poppins" pitchFamily="2" charset="77"/>
              <a:cs typeface="Poppins" pitchFamily="2" charset="77"/>
            </a:endParaRPr>
          </a:p>
          <a:p>
            <a:r>
              <a:rPr lang="en-GB" sz="1600" b="1" dirty="0">
                <a:solidFill>
                  <a:schemeClr val="bg1"/>
                </a:solidFill>
                <a:latin typeface="Poppins" pitchFamily="2" charset="77"/>
                <a:cs typeface="Poppins" pitchFamily="2" charset="77"/>
              </a:rPr>
              <a:t>From the dialogue extract and the following response plan, generate the agent's answer:</a:t>
            </a:r>
          </a:p>
          <a:p>
            <a:r>
              <a:rPr lang="en-GB" sz="1600" b="1" dirty="0">
                <a:solidFill>
                  <a:schemeClr val="bg1"/>
                </a:solidFill>
                <a:latin typeface="Poppins" pitchFamily="2" charset="77"/>
                <a:cs typeface="Poppins" pitchFamily="2" charset="77"/>
              </a:rPr>
              <a:t>1. Provide information or an objective fact, such as an answer to a question, instructions</a:t>
            </a:r>
          </a:p>
          <a:p>
            <a:r>
              <a:rPr lang="en-GB" sz="1600" b="1" dirty="0">
                <a:solidFill>
                  <a:schemeClr val="bg1"/>
                </a:solidFill>
                <a:latin typeface="Poppins" pitchFamily="2" charset="77"/>
                <a:cs typeface="Poppins" pitchFamily="2" charset="77"/>
              </a:rPr>
              <a:t>2. Ask a question related to the task or conversation in progress to request information</a:t>
            </a:r>
          </a:p>
          <a:p>
            <a:endParaRPr lang="en-GB" sz="1600" b="1" dirty="0">
              <a:solidFill>
                <a:schemeClr val="bg1"/>
              </a:solidFill>
              <a:latin typeface="Poppins" pitchFamily="2" charset="77"/>
              <a:cs typeface="Poppins" pitchFamily="2" charset="77"/>
            </a:endParaRPr>
          </a:p>
          <a:p>
            <a:r>
              <a:rPr lang="en-GB" sz="1600" b="1" dirty="0">
                <a:solidFill>
                  <a:schemeClr val="bg1"/>
                </a:solidFill>
                <a:latin typeface="Poppins" pitchFamily="2" charset="77"/>
                <a:cs typeface="Poppins" pitchFamily="2" charset="77"/>
              </a:rPr>
              <a:t>The answer should be short and clear, while maintaining the oral tone of a telephone conversation. The expected format is: AGENT: Response.</a:t>
            </a:r>
          </a:p>
          <a:p>
            <a:r>
              <a:rPr lang="en-GB" sz="1600" b="1" dirty="0">
                <a:solidFill>
                  <a:schemeClr val="bg1"/>
                </a:solidFill>
                <a:latin typeface="Poppins" pitchFamily="2" charset="77"/>
                <a:cs typeface="Poppins" pitchFamily="2" charset="77"/>
              </a:rPr>
              <a:t>AGENT:</a:t>
            </a:r>
            <a:endParaRPr lang="en-FR" sz="1600"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25019549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C9765-08BA-AFA5-4E88-A32BFD308E12}"/>
            </a:ext>
          </a:extLst>
        </p:cNvPr>
        <p:cNvGrpSpPr/>
        <p:nvPr/>
      </p:nvGrpSpPr>
      <p:grpSpPr>
        <a:xfrm>
          <a:off x="0" y="0"/>
          <a:ext cx="0" cy="0"/>
          <a:chOff x="0" y="0"/>
          <a:chExt cx="0" cy="0"/>
        </a:xfrm>
      </p:grpSpPr>
      <p:pic>
        <p:nvPicPr>
          <p:cNvPr id="2" name="Graphic 1" descr="Gears with solid fill">
            <a:extLst>
              <a:ext uri="{FF2B5EF4-FFF2-40B4-BE49-F238E27FC236}">
                <a16:creationId xmlns:a16="http://schemas.microsoft.com/office/drawing/2014/main" id="{662EC047-C0CF-D3D5-FA50-82746959DC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884" y="164201"/>
            <a:ext cx="1065059" cy="1065059"/>
          </a:xfrm>
          <a:prstGeom prst="rect">
            <a:avLst/>
          </a:prstGeom>
        </p:spPr>
      </p:pic>
      <p:sp>
        <p:nvSpPr>
          <p:cNvPr id="5" name="Title 4">
            <a:extLst>
              <a:ext uri="{FF2B5EF4-FFF2-40B4-BE49-F238E27FC236}">
                <a16:creationId xmlns:a16="http://schemas.microsoft.com/office/drawing/2014/main" id="{95D1A650-306A-CE3F-189B-9BC78B3221F5}"/>
              </a:ext>
            </a:extLst>
          </p:cNvPr>
          <p:cNvSpPr>
            <a:spLocks noGrp="1"/>
          </p:cNvSpPr>
          <p:nvPr>
            <p:ph type="title"/>
          </p:nvPr>
        </p:nvSpPr>
        <p:spPr/>
        <p:txBody>
          <a:bodyPr/>
          <a:lstStyle/>
          <a:p>
            <a:r>
              <a:rPr lang="en-FR" dirty="0"/>
              <a:t>Experiment 3: Prompts – 2-Step Planning</a:t>
            </a:r>
          </a:p>
        </p:txBody>
      </p:sp>
      <p:sp>
        <p:nvSpPr>
          <p:cNvPr id="22" name="Rounded Rectangle 21">
            <a:extLst>
              <a:ext uri="{FF2B5EF4-FFF2-40B4-BE49-F238E27FC236}">
                <a16:creationId xmlns:a16="http://schemas.microsoft.com/office/drawing/2014/main" id="{736B6B14-E396-97EC-F9EB-C620BC2AE240}"/>
              </a:ext>
            </a:extLst>
          </p:cNvPr>
          <p:cNvSpPr/>
          <p:nvPr/>
        </p:nvSpPr>
        <p:spPr>
          <a:xfrm>
            <a:off x="4089619" y="1384561"/>
            <a:ext cx="4449948" cy="432072"/>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fr-FR" sz="2000" b="1" dirty="0">
                <a:solidFill>
                  <a:schemeClr val="bg1"/>
                </a:solidFill>
                <a:latin typeface="Poppins" pitchFamily="2" charset="77"/>
                <a:cs typeface="Poppins" pitchFamily="2" charset="77"/>
              </a:rPr>
              <a:t>2-Step Planning</a:t>
            </a:r>
            <a:endParaRPr lang="en-FR" sz="2000" dirty="0">
              <a:solidFill>
                <a:schemeClr val="bg1"/>
              </a:solidFill>
              <a:latin typeface="Poppins" pitchFamily="2" charset="77"/>
              <a:cs typeface="Poppins" pitchFamily="2" charset="77"/>
            </a:endParaRPr>
          </a:p>
        </p:txBody>
      </p:sp>
      <p:sp>
        <p:nvSpPr>
          <p:cNvPr id="4" name="Rounded Rectangle 3">
            <a:extLst>
              <a:ext uri="{FF2B5EF4-FFF2-40B4-BE49-F238E27FC236}">
                <a16:creationId xmlns:a16="http://schemas.microsoft.com/office/drawing/2014/main" id="{10BF0551-4C91-755A-3DB8-0F97C3E26C88}"/>
              </a:ext>
            </a:extLst>
          </p:cNvPr>
          <p:cNvSpPr/>
          <p:nvPr/>
        </p:nvSpPr>
        <p:spPr>
          <a:xfrm>
            <a:off x="437185" y="2123269"/>
            <a:ext cx="4894232" cy="4169043"/>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400" b="1" dirty="0">
                <a:solidFill>
                  <a:schemeClr val="bg1"/>
                </a:solidFill>
                <a:latin typeface="Poppins" pitchFamily="2" charset="77"/>
                <a:cs typeface="Poppins" pitchFamily="2" charset="77"/>
              </a:rPr>
              <a:t>Here is an excerpt from a phone call between an auto repair agent and a customer:`</a:t>
            </a:r>
          </a:p>
          <a:p>
            <a:endParaRPr lang="en-GB" sz="1400" b="1" dirty="0">
              <a:solidFill>
                <a:schemeClr val="bg1"/>
              </a:solidFill>
              <a:latin typeface="Poppins" pitchFamily="2" charset="77"/>
              <a:cs typeface="Poppins" pitchFamily="2" charset="77"/>
            </a:endParaRPr>
          </a:p>
          <a:p>
            <a:r>
              <a:rPr lang="en-GB" sz="1400" b="1" dirty="0">
                <a:solidFill>
                  <a:schemeClr val="bg1"/>
                </a:solidFill>
                <a:latin typeface="Poppins" pitchFamily="2" charset="77"/>
                <a:cs typeface="Poppins" pitchFamily="2" charset="77"/>
              </a:rPr>
              <a:t>[CONTEXT]</a:t>
            </a:r>
          </a:p>
          <a:p>
            <a:endParaRPr lang="en-GB" sz="1400" b="1" dirty="0">
              <a:solidFill>
                <a:schemeClr val="bg1"/>
              </a:solidFill>
              <a:latin typeface="Poppins" pitchFamily="2" charset="77"/>
              <a:cs typeface="Poppins" pitchFamily="2" charset="77"/>
            </a:endParaRPr>
          </a:p>
          <a:p>
            <a:r>
              <a:rPr lang="en-GB" sz="1400" b="1" dirty="0">
                <a:solidFill>
                  <a:schemeClr val="bg1"/>
                </a:solidFill>
                <a:latin typeface="Poppins" pitchFamily="2" charset="77"/>
                <a:cs typeface="Poppins" pitchFamily="2" charset="77"/>
              </a:rPr>
              <a:t>From the dialogue excerpt, generate a response plan for the rest of the conversation, taking into account the following sequence of instructions:</a:t>
            </a:r>
          </a:p>
          <a:p>
            <a:r>
              <a:rPr lang="en-GB" sz="1400" b="1" dirty="0">
                <a:solidFill>
                  <a:schemeClr val="bg1"/>
                </a:solidFill>
                <a:latin typeface="Poppins" pitchFamily="2" charset="77"/>
                <a:cs typeface="Poppins" pitchFamily="2" charset="77"/>
              </a:rPr>
              <a:t>1. Provide information or an objective fact, such as an answer to a question, instructions</a:t>
            </a:r>
          </a:p>
          <a:p>
            <a:r>
              <a:rPr lang="en-GB" sz="1400" b="1" dirty="0">
                <a:solidFill>
                  <a:schemeClr val="bg1"/>
                </a:solidFill>
                <a:latin typeface="Poppins" pitchFamily="2" charset="77"/>
                <a:cs typeface="Poppins" pitchFamily="2" charset="77"/>
              </a:rPr>
              <a:t>2. Ask a question related to the task or conversation in progress to request information</a:t>
            </a:r>
          </a:p>
          <a:p>
            <a:endParaRPr lang="en-GB" sz="1400" b="1" dirty="0">
              <a:solidFill>
                <a:schemeClr val="bg1"/>
              </a:solidFill>
              <a:latin typeface="Poppins" pitchFamily="2" charset="77"/>
              <a:cs typeface="Poppins" pitchFamily="2" charset="77"/>
            </a:endParaRPr>
          </a:p>
          <a:p>
            <a:r>
              <a:rPr lang="en-GB" sz="1400" b="1" dirty="0">
                <a:solidFill>
                  <a:schemeClr val="bg1"/>
                </a:solidFill>
                <a:latin typeface="Poppins" pitchFamily="2" charset="77"/>
                <a:cs typeface="Poppins" pitchFamily="2" charset="77"/>
              </a:rPr>
              <a:t>For each strategy, suggest a simple action. The response plan should follow the following template: Strategy → Action to take</a:t>
            </a:r>
            <a:endParaRPr lang="en-FR" sz="1400" dirty="0">
              <a:solidFill>
                <a:schemeClr val="bg1"/>
              </a:solidFill>
              <a:latin typeface="Poppins" pitchFamily="2" charset="77"/>
              <a:cs typeface="Poppins" pitchFamily="2" charset="77"/>
            </a:endParaRPr>
          </a:p>
        </p:txBody>
      </p:sp>
      <p:sp>
        <p:nvSpPr>
          <p:cNvPr id="3" name="Rounded Rectangle 2">
            <a:extLst>
              <a:ext uri="{FF2B5EF4-FFF2-40B4-BE49-F238E27FC236}">
                <a16:creationId xmlns:a16="http://schemas.microsoft.com/office/drawing/2014/main" id="{751F66C3-E35E-8DA2-A5DF-6F78C1A96504}"/>
              </a:ext>
            </a:extLst>
          </p:cNvPr>
          <p:cNvSpPr/>
          <p:nvPr/>
        </p:nvSpPr>
        <p:spPr>
          <a:xfrm>
            <a:off x="6860583" y="2123268"/>
            <a:ext cx="4894232" cy="4169043"/>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400" b="1" dirty="0">
                <a:solidFill>
                  <a:schemeClr val="bg1"/>
                </a:solidFill>
                <a:latin typeface="Poppins" pitchFamily="2" charset="77"/>
                <a:cs typeface="Poppins" pitchFamily="2" charset="77"/>
              </a:rPr>
              <a:t>Here is an excerpt from a phone call between an auto repair agent and a customer:</a:t>
            </a:r>
          </a:p>
          <a:p>
            <a:endParaRPr lang="en-GB" sz="1400" b="1" dirty="0">
              <a:solidFill>
                <a:schemeClr val="bg1"/>
              </a:solidFill>
              <a:latin typeface="Poppins" pitchFamily="2" charset="77"/>
              <a:cs typeface="Poppins" pitchFamily="2" charset="77"/>
            </a:endParaRPr>
          </a:p>
          <a:p>
            <a:r>
              <a:rPr lang="en-GB" sz="1400" b="1" dirty="0">
                <a:solidFill>
                  <a:schemeClr val="bg1"/>
                </a:solidFill>
                <a:latin typeface="Poppins" pitchFamily="2" charset="77"/>
                <a:cs typeface="Poppins" pitchFamily="2" charset="77"/>
              </a:rPr>
              <a:t>[CONTEXT]</a:t>
            </a:r>
          </a:p>
          <a:p>
            <a:endParaRPr lang="en-GB" sz="1400" b="1" dirty="0">
              <a:solidFill>
                <a:schemeClr val="bg1"/>
              </a:solidFill>
              <a:latin typeface="Poppins" pitchFamily="2" charset="77"/>
              <a:cs typeface="Poppins" pitchFamily="2" charset="77"/>
            </a:endParaRPr>
          </a:p>
          <a:p>
            <a:r>
              <a:rPr lang="en-GB" sz="1400" b="1" dirty="0">
                <a:solidFill>
                  <a:schemeClr val="bg1"/>
                </a:solidFill>
                <a:latin typeface="Poppins" pitchFamily="2" charset="77"/>
                <a:cs typeface="Poppins" pitchFamily="2" charset="77"/>
              </a:rPr>
              <a:t>From the dialogue extract and the following response plan, generate the agent's answer:</a:t>
            </a:r>
          </a:p>
          <a:p>
            <a:r>
              <a:rPr lang="en-GB" sz="1400" b="1" dirty="0">
                <a:solidFill>
                  <a:schemeClr val="bg1"/>
                </a:solidFill>
                <a:latin typeface="Poppins" pitchFamily="2" charset="77"/>
                <a:cs typeface="Poppins" pitchFamily="2" charset="77"/>
              </a:rPr>
              <a:t>1. Action to take 1 </a:t>
            </a:r>
          </a:p>
          <a:p>
            <a:r>
              <a:rPr lang="en-GB" sz="1400" b="1" dirty="0">
                <a:solidFill>
                  <a:schemeClr val="bg1"/>
                </a:solidFill>
                <a:latin typeface="Poppins" pitchFamily="2" charset="77"/>
                <a:cs typeface="Poppins" pitchFamily="2" charset="77"/>
              </a:rPr>
              <a:t>2. Action to take 2 </a:t>
            </a:r>
          </a:p>
          <a:p>
            <a:endParaRPr lang="en-GB" sz="1400" b="1" dirty="0">
              <a:solidFill>
                <a:schemeClr val="bg1"/>
              </a:solidFill>
              <a:latin typeface="Poppins" pitchFamily="2" charset="77"/>
              <a:cs typeface="Poppins" pitchFamily="2" charset="77"/>
            </a:endParaRPr>
          </a:p>
          <a:p>
            <a:r>
              <a:rPr lang="en-GB" sz="1400" b="1" dirty="0">
                <a:solidFill>
                  <a:schemeClr val="bg1"/>
                </a:solidFill>
                <a:latin typeface="Poppins" pitchFamily="2" charset="77"/>
                <a:cs typeface="Poppins" pitchFamily="2" charset="77"/>
              </a:rPr>
              <a:t>The answer should be short and clear, while maintaining the oral tone of a telephone conversation. The expected format is: AGENT: Response.</a:t>
            </a:r>
          </a:p>
          <a:p>
            <a:r>
              <a:rPr lang="en-GB" sz="1400" b="1" dirty="0">
                <a:solidFill>
                  <a:schemeClr val="bg1"/>
                </a:solidFill>
                <a:latin typeface="Poppins" pitchFamily="2" charset="77"/>
                <a:cs typeface="Poppins" pitchFamily="2" charset="77"/>
              </a:rPr>
              <a:t>AGENT:</a:t>
            </a:r>
            <a:endParaRPr lang="en-FR" sz="1400"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17397826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71427-6343-8434-E2DA-8EC403860CC7}"/>
            </a:ext>
          </a:extLst>
        </p:cNvPr>
        <p:cNvGrpSpPr/>
        <p:nvPr/>
      </p:nvGrpSpPr>
      <p:grpSpPr>
        <a:xfrm>
          <a:off x="0" y="0"/>
          <a:ext cx="0" cy="0"/>
          <a:chOff x="0" y="0"/>
          <a:chExt cx="0" cy="0"/>
        </a:xfrm>
      </p:grpSpPr>
      <p:pic>
        <p:nvPicPr>
          <p:cNvPr id="2" name="Graphic 1" descr="Gears with solid fill">
            <a:extLst>
              <a:ext uri="{FF2B5EF4-FFF2-40B4-BE49-F238E27FC236}">
                <a16:creationId xmlns:a16="http://schemas.microsoft.com/office/drawing/2014/main" id="{200868BE-F626-D4E4-6713-5F18656CC7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884" y="164201"/>
            <a:ext cx="1065059" cy="1065059"/>
          </a:xfrm>
          <a:prstGeom prst="rect">
            <a:avLst/>
          </a:prstGeom>
        </p:spPr>
      </p:pic>
      <p:sp>
        <p:nvSpPr>
          <p:cNvPr id="5" name="Title 4">
            <a:extLst>
              <a:ext uri="{FF2B5EF4-FFF2-40B4-BE49-F238E27FC236}">
                <a16:creationId xmlns:a16="http://schemas.microsoft.com/office/drawing/2014/main" id="{E0D7242F-4959-C560-D1F0-0E08F9FB1597}"/>
              </a:ext>
            </a:extLst>
          </p:cNvPr>
          <p:cNvSpPr>
            <a:spLocks noGrp="1"/>
          </p:cNvSpPr>
          <p:nvPr>
            <p:ph type="title"/>
          </p:nvPr>
        </p:nvSpPr>
        <p:spPr/>
        <p:txBody>
          <a:bodyPr/>
          <a:lstStyle/>
          <a:p>
            <a:r>
              <a:rPr lang="en-FR" dirty="0"/>
              <a:t>Experiment 3: Prompts – 3-Step Planning</a:t>
            </a:r>
          </a:p>
        </p:txBody>
      </p:sp>
      <p:sp>
        <p:nvSpPr>
          <p:cNvPr id="22" name="Rounded Rectangle 21">
            <a:extLst>
              <a:ext uri="{FF2B5EF4-FFF2-40B4-BE49-F238E27FC236}">
                <a16:creationId xmlns:a16="http://schemas.microsoft.com/office/drawing/2014/main" id="{1DBDDA1D-8886-C621-5965-FDA9E3E520E2}"/>
              </a:ext>
            </a:extLst>
          </p:cNvPr>
          <p:cNvSpPr/>
          <p:nvPr/>
        </p:nvSpPr>
        <p:spPr>
          <a:xfrm>
            <a:off x="4089619" y="1384561"/>
            <a:ext cx="4449948" cy="432072"/>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fr-FR" sz="2000" b="1" dirty="0">
                <a:solidFill>
                  <a:schemeClr val="bg1"/>
                </a:solidFill>
                <a:latin typeface="Poppins" pitchFamily="2" charset="77"/>
                <a:cs typeface="Poppins" pitchFamily="2" charset="77"/>
              </a:rPr>
              <a:t>3-Step Planning</a:t>
            </a:r>
            <a:endParaRPr lang="en-FR" sz="2000" dirty="0">
              <a:solidFill>
                <a:schemeClr val="bg1"/>
              </a:solidFill>
              <a:latin typeface="Poppins" pitchFamily="2" charset="77"/>
              <a:cs typeface="Poppins" pitchFamily="2" charset="77"/>
            </a:endParaRPr>
          </a:p>
        </p:txBody>
      </p:sp>
      <p:sp>
        <p:nvSpPr>
          <p:cNvPr id="4" name="Rounded Rectangle 3">
            <a:extLst>
              <a:ext uri="{FF2B5EF4-FFF2-40B4-BE49-F238E27FC236}">
                <a16:creationId xmlns:a16="http://schemas.microsoft.com/office/drawing/2014/main" id="{D3CB5FE2-486A-AC15-376A-0DF6BDBC7E8A}"/>
              </a:ext>
            </a:extLst>
          </p:cNvPr>
          <p:cNvSpPr/>
          <p:nvPr/>
        </p:nvSpPr>
        <p:spPr>
          <a:xfrm>
            <a:off x="581413" y="3673097"/>
            <a:ext cx="4449948" cy="650929"/>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bg1"/>
                </a:solidFill>
                <a:latin typeface="Poppins" pitchFamily="2" charset="77"/>
                <a:cs typeface="Poppins" pitchFamily="2" charset="77"/>
              </a:rPr>
              <a:t>2 steps planning +</a:t>
            </a:r>
            <a:endParaRPr lang="en-FR" sz="2400" dirty="0">
              <a:solidFill>
                <a:schemeClr val="bg1"/>
              </a:solidFill>
              <a:latin typeface="Poppins" pitchFamily="2" charset="77"/>
              <a:cs typeface="Poppins" pitchFamily="2" charset="77"/>
            </a:endParaRPr>
          </a:p>
        </p:txBody>
      </p:sp>
      <p:sp>
        <p:nvSpPr>
          <p:cNvPr id="7" name="Rounded Rectangle 6">
            <a:extLst>
              <a:ext uri="{FF2B5EF4-FFF2-40B4-BE49-F238E27FC236}">
                <a16:creationId xmlns:a16="http://schemas.microsoft.com/office/drawing/2014/main" id="{5E39C8B6-429E-8CC3-9AC0-D8B913A6CEA4}"/>
              </a:ext>
            </a:extLst>
          </p:cNvPr>
          <p:cNvSpPr/>
          <p:nvPr/>
        </p:nvSpPr>
        <p:spPr>
          <a:xfrm>
            <a:off x="6503963" y="2239505"/>
            <a:ext cx="4449949" cy="4169043"/>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600" b="1" dirty="0">
                <a:solidFill>
                  <a:schemeClr val="bg1"/>
                </a:solidFill>
                <a:latin typeface="Poppins" pitchFamily="2" charset="77"/>
                <a:cs typeface="Poppins" pitchFamily="2" charset="77"/>
              </a:rPr>
              <a:t>Here is the answer you generated for a phone call between a car repair agent and a customer: </a:t>
            </a:r>
          </a:p>
          <a:p>
            <a:endParaRPr lang="en-GB" sz="1600" b="1" dirty="0">
              <a:solidFill>
                <a:schemeClr val="bg1"/>
              </a:solidFill>
              <a:latin typeface="Poppins" pitchFamily="2" charset="77"/>
              <a:cs typeface="Poppins" pitchFamily="2" charset="77"/>
            </a:endParaRPr>
          </a:p>
          <a:p>
            <a:r>
              <a:rPr lang="en-GB" sz="1600" b="1" dirty="0">
                <a:solidFill>
                  <a:schemeClr val="bg1"/>
                </a:solidFill>
                <a:latin typeface="Poppins" pitchFamily="2" charset="77"/>
                <a:cs typeface="Poppins" pitchFamily="2" charset="77"/>
              </a:rPr>
              <a:t>[RESPONSE] </a:t>
            </a:r>
          </a:p>
          <a:p>
            <a:endParaRPr lang="en-GB" sz="1600" b="1" dirty="0">
              <a:solidFill>
                <a:schemeClr val="bg1"/>
              </a:solidFill>
              <a:latin typeface="Poppins" pitchFamily="2" charset="77"/>
              <a:cs typeface="Poppins" pitchFamily="2" charset="77"/>
            </a:endParaRPr>
          </a:p>
          <a:p>
            <a:r>
              <a:rPr lang="en-GB" sz="1600" b="1" dirty="0">
                <a:solidFill>
                  <a:schemeClr val="bg1"/>
                </a:solidFill>
                <a:latin typeface="Poppins" pitchFamily="2" charset="77"/>
                <a:cs typeface="Poppins" pitchFamily="2" charset="77"/>
              </a:rPr>
              <a:t>Rewrite the answer concisely. The tone should be adapted to the role of an agent in a telephone conversation. The expected format is: AGENT: Response. </a:t>
            </a:r>
          </a:p>
          <a:p>
            <a:endParaRPr lang="en-GB" sz="1600" b="1" dirty="0">
              <a:solidFill>
                <a:schemeClr val="bg1"/>
              </a:solidFill>
              <a:latin typeface="Poppins" pitchFamily="2" charset="77"/>
              <a:cs typeface="Poppins" pitchFamily="2" charset="77"/>
            </a:endParaRPr>
          </a:p>
          <a:p>
            <a:r>
              <a:rPr lang="en-GB" sz="1600" b="1" dirty="0">
                <a:solidFill>
                  <a:schemeClr val="bg1"/>
                </a:solidFill>
                <a:latin typeface="Poppins" pitchFamily="2" charset="77"/>
                <a:cs typeface="Poppins" pitchFamily="2" charset="77"/>
              </a:rPr>
              <a:t>AGENT: </a:t>
            </a:r>
            <a:endParaRPr lang="en-FR" sz="1600"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6002580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58FB6D6-37E9-BCC8-F675-C9903A80F1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6BAEF6-56AA-CAFB-50B1-F85C1BDD9AB0}"/>
              </a:ext>
            </a:extLst>
          </p:cNvPr>
          <p:cNvSpPr>
            <a:spLocks noGrp="1"/>
          </p:cNvSpPr>
          <p:nvPr>
            <p:ph type="title"/>
          </p:nvPr>
        </p:nvSpPr>
        <p:spPr/>
        <p:txBody>
          <a:bodyPr/>
          <a:lstStyle/>
          <a:p>
            <a:r>
              <a:rPr lang="en-FR" dirty="0"/>
              <a:t>Experiment 3: Automatic Evaluation</a:t>
            </a:r>
          </a:p>
        </p:txBody>
      </p:sp>
      <p:pic>
        <p:nvPicPr>
          <p:cNvPr id="5" name="Graphic 4" descr="Gears with solid fill">
            <a:extLst>
              <a:ext uri="{FF2B5EF4-FFF2-40B4-BE49-F238E27FC236}">
                <a16:creationId xmlns:a16="http://schemas.microsoft.com/office/drawing/2014/main" id="{8BDA3E30-7F2B-4AF0-4B0B-2B13EAF75B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884" y="164201"/>
            <a:ext cx="1065059" cy="1065059"/>
          </a:xfrm>
          <a:prstGeom prst="rect">
            <a:avLst/>
          </a:prstGeom>
        </p:spPr>
      </p:pic>
      <p:pic>
        <p:nvPicPr>
          <p:cNvPr id="6" name="Picture 5" descr="A table of numbers and numbers&#10;&#10;AI-generated content may be incorrect.">
            <a:extLst>
              <a:ext uri="{FF2B5EF4-FFF2-40B4-BE49-F238E27FC236}">
                <a16:creationId xmlns:a16="http://schemas.microsoft.com/office/drawing/2014/main" id="{B2EE0027-04B1-472B-38A7-6C51D5B41C64}"/>
              </a:ext>
            </a:extLst>
          </p:cNvPr>
          <p:cNvPicPr>
            <a:picLocks noChangeAspect="1"/>
          </p:cNvPicPr>
          <p:nvPr/>
        </p:nvPicPr>
        <p:blipFill>
          <a:blip r:embed="rId5"/>
          <a:srcRect l="6946"/>
          <a:stretch>
            <a:fillRect/>
          </a:stretch>
        </p:blipFill>
        <p:spPr>
          <a:xfrm rot="16200000">
            <a:off x="3877899" y="-772978"/>
            <a:ext cx="5262935" cy="9881024"/>
          </a:xfrm>
          <a:prstGeom prst="rect">
            <a:avLst/>
          </a:prstGeom>
        </p:spPr>
      </p:pic>
      <p:sp>
        <p:nvSpPr>
          <p:cNvPr id="7" name="Rounded Rectangle 6">
            <a:extLst>
              <a:ext uri="{FF2B5EF4-FFF2-40B4-BE49-F238E27FC236}">
                <a16:creationId xmlns:a16="http://schemas.microsoft.com/office/drawing/2014/main" id="{476C4A02-E87B-972E-B941-C408F3DBE9AD}"/>
              </a:ext>
            </a:extLst>
          </p:cNvPr>
          <p:cNvSpPr/>
          <p:nvPr/>
        </p:nvSpPr>
        <p:spPr>
          <a:xfrm>
            <a:off x="386612" y="1380766"/>
            <a:ext cx="1990830" cy="432072"/>
          </a:xfrm>
          <a:prstGeom prst="roundRect">
            <a:avLst/>
          </a:prstGeom>
          <a:solidFill>
            <a:srgbClr val="A5AFF5">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FR" sz="2000" b="1" dirty="0">
                <a:solidFill>
                  <a:schemeClr val="bg1"/>
                </a:solidFill>
                <a:latin typeface="Poppins" pitchFamily="2" charset="77"/>
                <a:cs typeface="Poppins" pitchFamily="2" charset="77"/>
              </a:rPr>
              <a:t>DATA-SERGe</a:t>
            </a:r>
            <a:endParaRPr lang="en-FR" sz="2000" dirty="0">
              <a:solidFill>
                <a:schemeClr val="bg1"/>
              </a:solidFill>
              <a:latin typeface="Poppins" pitchFamily="2" charset="77"/>
              <a:cs typeface="Poppins" pitchFamily="2" charset="77"/>
            </a:endParaRPr>
          </a:p>
        </p:txBody>
      </p:sp>
      <p:sp>
        <p:nvSpPr>
          <p:cNvPr id="9" name="Rectangle 8">
            <a:extLst>
              <a:ext uri="{FF2B5EF4-FFF2-40B4-BE49-F238E27FC236}">
                <a16:creationId xmlns:a16="http://schemas.microsoft.com/office/drawing/2014/main" id="{870DD6BC-E988-2098-86CC-1335014368BD}"/>
              </a:ext>
            </a:extLst>
          </p:cNvPr>
          <p:cNvSpPr/>
          <p:nvPr/>
        </p:nvSpPr>
        <p:spPr>
          <a:xfrm>
            <a:off x="3056565" y="2279903"/>
            <a:ext cx="2078144" cy="322619"/>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3" name="Rectangle 2">
            <a:extLst>
              <a:ext uri="{FF2B5EF4-FFF2-40B4-BE49-F238E27FC236}">
                <a16:creationId xmlns:a16="http://schemas.microsoft.com/office/drawing/2014/main" id="{73DEF077-C262-8025-CE92-3C1518AE8C00}"/>
              </a:ext>
            </a:extLst>
          </p:cNvPr>
          <p:cNvSpPr/>
          <p:nvPr/>
        </p:nvSpPr>
        <p:spPr>
          <a:xfrm>
            <a:off x="5134709" y="4480666"/>
            <a:ext cx="1839297" cy="637244"/>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4" name="Rectangle 3">
            <a:extLst>
              <a:ext uri="{FF2B5EF4-FFF2-40B4-BE49-F238E27FC236}">
                <a16:creationId xmlns:a16="http://schemas.microsoft.com/office/drawing/2014/main" id="{5F20517F-ACD5-8E60-B161-D9516C64C703}"/>
              </a:ext>
            </a:extLst>
          </p:cNvPr>
          <p:cNvSpPr/>
          <p:nvPr/>
        </p:nvSpPr>
        <p:spPr>
          <a:xfrm>
            <a:off x="5648179" y="2279903"/>
            <a:ext cx="1325827" cy="322620"/>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8" name="Rectangle 7">
            <a:extLst>
              <a:ext uri="{FF2B5EF4-FFF2-40B4-BE49-F238E27FC236}">
                <a16:creationId xmlns:a16="http://schemas.microsoft.com/office/drawing/2014/main" id="{77976F0C-06AE-1C73-8537-3B35728EFA21}"/>
              </a:ext>
            </a:extLst>
          </p:cNvPr>
          <p:cNvSpPr/>
          <p:nvPr/>
        </p:nvSpPr>
        <p:spPr>
          <a:xfrm>
            <a:off x="7643026" y="4480666"/>
            <a:ext cx="1487326" cy="323346"/>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0" name="Rectangle 9">
            <a:extLst>
              <a:ext uri="{FF2B5EF4-FFF2-40B4-BE49-F238E27FC236}">
                <a16:creationId xmlns:a16="http://schemas.microsoft.com/office/drawing/2014/main" id="{3E815395-D1B7-27E7-BE04-4932B9A89850}"/>
              </a:ext>
            </a:extLst>
          </p:cNvPr>
          <p:cNvSpPr/>
          <p:nvPr/>
        </p:nvSpPr>
        <p:spPr>
          <a:xfrm>
            <a:off x="7643026" y="5117910"/>
            <a:ext cx="1487326" cy="637244"/>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1" name="Rectangle 10">
            <a:extLst>
              <a:ext uri="{FF2B5EF4-FFF2-40B4-BE49-F238E27FC236}">
                <a16:creationId xmlns:a16="http://schemas.microsoft.com/office/drawing/2014/main" id="{116C0144-81F0-57D3-A48D-7B5144CB12F7}"/>
              </a:ext>
            </a:extLst>
          </p:cNvPr>
          <p:cNvSpPr/>
          <p:nvPr/>
        </p:nvSpPr>
        <p:spPr>
          <a:xfrm>
            <a:off x="9135819" y="3236793"/>
            <a:ext cx="2191823" cy="637244"/>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2" name="Rectangle 11">
            <a:extLst>
              <a:ext uri="{FF2B5EF4-FFF2-40B4-BE49-F238E27FC236}">
                <a16:creationId xmlns:a16="http://schemas.microsoft.com/office/drawing/2014/main" id="{35A77625-0AD3-DA6F-13B6-3B3C8C883701}"/>
              </a:ext>
            </a:extLst>
          </p:cNvPr>
          <p:cNvSpPr/>
          <p:nvPr/>
        </p:nvSpPr>
        <p:spPr>
          <a:xfrm>
            <a:off x="9135819" y="1965279"/>
            <a:ext cx="2191823" cy="637244"/>
          </a:xfrm>
          <a:prstGeom prst="rect">
            <a:avLst/>
          </a:prstGeom>
          <a:noFill/>
          <a:ln w="57150">
            <a:solidFill>
              <a:srgbClr val="D43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Tree>
    <p:extLst>
      <p:ext uri="{BB962C8B-B14F-4D97-AF65-F5344CB8AC3E}">
        <p14:creationId xmlns:p14="http://schemas.microsoft.com/office/powerpoint/2010/main" val="306347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animBg="1"/>
      <p:bldP spid="4" grpId="0" animBg="1"/>
      <p:bldP spid="8" grpId="0" animBg="1"/>
      <p:bldP spid="10" grpId="0" animBg="1"/>
      <p:bldP spid="11" grpId="0" animBg="1"/>
      <p:bldP spid="1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749C1-DCEA-7DB2-5973-87867E9E89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7B7EA-4803-9517-2CB3-F236D4ACC7BF}"/>
              </a:ext>
            </a:extLst>
          </p:cNvPr>
          <p:cNvSpPr>
            <a:spLocks noGrp="1"/>
          </p:cNvSpPr>
          <p:nvPr>
            <p:ph type="title"/>
          </p:nvPr>
        </p:nvSpPr>
        <p:spPr/>
        <p:txBody>
          <a:bodyPr/>
          <a:lstStyle/>
          <a:p>
            <a:r>
              <a:rPr lang="en-FR" dirty="0"/>
              <a:t>Experiment 3: Metrics Correlations</a:t>
            </a:r>
          </a:p>
        </p:txBody>
      </p:sp>
      <p:pic>
        <p:nvPicPr>
          <p:cNvPr id="5" name="Graphic 4" descr="Gears with solid fill">
            <a:extLst>
              <a:ext uri="{FF2B5EF4-FFF2-40B4-BE49-F238E27FC236}">
                <a16:creationId xmlns:a16="http://schemas.microsoft.com/office/drawing/2014/main" id="{27BA2F40-8827-1785-2E7B-20A7CC77D58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884" y="164201"/>
            <a:ext cx="1065059" cy="1065059"/>
          </a:xfrm>
          <a:prstGeom prst="rect">
            <a:avLst/>
          </a:prstGeom>
        </p:spPr>
      </p:pic>
      <p:sp>
        <p:nvSpPr>
          <p:cNvPr id="3" name="Rectangle 2">
            <a:extLst>
              <a:ext uri="{FF2B5EF4-FFF2-40B4-BE49-F238E27FC236}">
                <a16:creationId xmlns:a16="http://schemas.microsoft.com/office/drawing/2014/main" id="{0BDE0B49-2570-5E60-4EE5-6C6CA7E783B7}"/>
              </a:ext>
            </a:extLst>
          </p:cNvPr>
          <p:cNvSpPr/>
          <p:nvPr/>
        </p:nvSpPr>
        <p:spPr>
          <a:xfrm>
            <a:off x="655266" y="1927599"/>
            <a:ext cx="811296" cy="1453815"/>
          </a:xfrm>
          <a:prstGeom prst="rect">
            <a:avLst/>
          </a:prstGeom>
          <a:solidFill>
            <a:srgbClr val="6FD192"/>
          </a:solidFill>
          <a:ln w="57150">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FR" b="1" dirty="0"/>
              <a:t>LOGICAL</a:t>
            </a:r>
            <a:endParaRPr lang="en-FR" sz="2000" b="1" dirty="0"/>
          </a:p>
        </p:txBody>
      </p:sp>
      <p:sp>
        <p:nvSpPr>
          <p:cNvPr id="4" name="Rectangle 3">
            <a:extLst>
              <a:ext uri="{FF2B5EF4-FFF2-40B4-BE49-F238E27FC236}">
                <a16:creationId xmlns:a16="http://schemas.microsoft.com/office/drawing/2014/main" id="{DDABDAAA-7B37-0C01-29A9-9EEE78425FB4}"/>
              </a:ext>
            </a:extLst>
          </p:cNvPr>
          <p:cNvSpPr/>
          <p:nvPr/>
        </p:nvSpPr>
        <p:spPr>
          <a:xfrm>
            <a:off x="655266" y="3636392"/>
            <a:ext cx="811296" cy="1280825"/>
          </a:xfrm>
          <a:prstGeom prst="rect">
            <a:avLst/>
          </a:prstGeom>
          <a:solidFill>
            <a:srgbClr val="FFC49B"/>
          </a:solidFill>
          <a:ln w="57150">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FR" b="1" dirty="0"/>
              <a:t>EMOTIONAL</a:t>
            </a:r>
            <a:endParaRPr lang="en-FR" sz="1600" b="1" dirty="0"/>
          </a:p>
        </p:txBody>
      </p:sp>
      <p:sp>
        <p:nvSpPr>
          <p:cNvPr id="6" name="Rectangle 5">
            <a:extLst>
              <a:ext uri="{FF2B5EF4-FFF2-40B4-BE49-F238E27FC236}">
                <a16:creationId xmlns:a16="http://schemas.microsoft.com/office/drawing/2014/main" id="{30D08844-97A1-2A06-196D-6D027AFBF13C}"/>
              </a:ext>
            </a:extLst>
          </p:cNvPr>
          <p:cNvSpPr/>
          <p:nvPr/>
        </p:nvSpPr>
        <p:spPr>
          <a:xfrm>
            <a:off x="655266" y="5163319"/>
            <a:ext cx="811296" cy="1040504"/>
          </a:xfrm>
          <a:prstGeom prst="rect">
            <a:avLst/>
          </a:prstGeom>
          <a:solidFill>
            <a:srgbClr val="4B84F4"/>
          </a:solidFill>
          <a:ln w="57150">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FR" b="1" dirty="0">
                <a:solidFill>
                  <a:schemeClr val="bg1"/>
                </a:solidFill>
              </a:rPr>
              <a:t>SOCIAL</a:t>
            </a:r>
          </a:p>
        </p:txBody>
      </p:sp>
      <p:sp>
        <p:nvSpPr>
          <p:cNvPr id="7" name="Rectangle 6">
            <a:extLst>
              <a:ext uri="{FF2B5EF4-FFF2-40B4-BE49-F238E27FC236}">
                <a16:creationId xmlns:a16="http://schemas.microsoft.com/office/drawing/2014/main" id="{F81346DD-97B9-9C4E-B215-998059B3130B}"/>
              </a:ext>
            </a:extLst>
          </p:cNvPr>
          <p:cNvSpPr/>
          <p:nvPr/>
        </p:nvSpPr>
        <p:spPr>
          <a:xfrm>
            <a:off x="1902918" y="1927600"/>
            <a:ext cx="3294315" cy="369278"/>
          </a:xfrm>
          <a:prstGeom prst="rect">
            <a:avLst/>
          </a:prstGeom>
          <a:solidFill>
            <a:schemeClr val="bg1"/>
          </a:solidFill>
          <a:ln w="38100">
            <a:solidFill>
              <a:srgbClr val="6FD192"/>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GB" sz="2000" b="1" dirty="0">
                <a:solidFill>
                  <a:srgbClr val="6FD192"/>
                </a:solidFill>
              </a:rPr>
              <a:t>Consistency</a:t>
            </a:r>
            <a:endParaRPr lang="en-FR" sz="2000" b="1" dirty="0">
              <a:solidFill>
                <a:srgbClr val="6FD192"/>
              </a:solidFill>
            </a:endParaRPr>
          </a:p>
        </p:txBody>
      </p:sp>
      <p:sp>
        <p:nvSpPr>
          <p:cNvPr id="8" name="Rectangle 7">
            <a:extLst>
              <a:ext uri="{FF2B5EF4-FFF2-40B4-BE49-F238E27FC236}">
                <a16:creationId xmlns:a16="http://schemas.microsoft.com/office/drawing/2014/main" id="{7C104815-C07E-016A-8DCB-18C3194F9213}"/>
              </a:ext>
            </a:extLst>
          </p:cNvPr>
          <p:cNvSpPr/>
          <p:nvPr/>
        </p:nvSpPr>
        <p:spPr>
          <a:xfrm>
            <a:off x="1902918" y="2476468"/>
            <a:ext cx="3294315" cy="369278"/>
          </a:xfrm>
          <a:prstGeom prst="rect">
            <a:avLst/>
          </a:prstGeom>
          <a:solidFill>
            <a:schemeClr val="bg1"/>
          </a:solidFill>
          <a:ln w="38100">
            <a:solidFill>
              <a:srgbClr val="6FD192"/>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GB" sz="2000" b="1" dirty="0">
                <a:solidFill>
                  <a:srgbClr val="6FD192"/>
                </a:solidFill>
              </a:rPr>
              <a:t>Fluency</a:t>
            </a:r>
            <a:endParaRPr lang="en-FR" sz="2000" b="1" dirty="0">
              <a:solidFill>
                <a:srgbClr val="6FD192"/>
              </a:solidFill>
            </a:endParaRPr>
          </a:p>
        </p:txBody>
      </p:sp>
      <p:sp>
        <p:nvSpPr>
          <p:cNvPr id="9" name="Rectangle 8">
            <a:extLst>
              <a:ext uri="{FF2B5EF4-FFF2-40B4-BE49-F238E27FC236}">
                <a16:creationId xmlns:a16="http://schemas.microsoft.com/office/drawing/2014/main" id="{260C2110-27C7-BF9C-D783-59A34841AF5E}"/>
              </a:ext>
            </a:extLst>
          </p:cNvPr>
          <p:cNvSpPr/>
          <p:nvPr/>
        </p:nvSpPr>
        <p:spPr>
          <a:xfrm>
            <a:off x="1902918" y="3012137"/>
            <a:ext cx="3294315" cy="369278"/>
          </a:xfrm>
          <a:prstGeom prst="rect">
            <a:avLst/>
          </a:prstGeom>
          <a:solidFill>
            <a:schemeClr val="bg1"/>
          </a:solidFill>
          <a:ln w="38100">
            <a:solidFill>
              <a:srgbClr val="6FD192"/>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GB" sz="2000" b="1" dirty="0">
                <a:solidFill>
                  <a:srgbClr val="6FD192"/>
                </a:solidFill>
              </a:rPr>
              <a:t>Naturalness</a:t>
            </a:r>
            <a:endParaRPr lang="en-FR" sz="2000" b="1" dirty="0">
              <a:solidFill>
                <a:srgbClr val="6FD192"/>
              </a:solidFill>
            </a:endParaRPr>
          </a:p>
        </p:txBody>
      </p:sp>
      <p:sp>
        <p:nvSpPr>
          <p:cNvPr id="12" name="Rectangle 11">
            <a:extLst>
              <a:ext uri="{FF2B5EF4-FFF2-40B4-BE49-F238E27FC236}">
                <a16:creationId xmlns:a16="http://schemas.microsoft.com/office/drawing/2014/main" id="{ABED0FAA-AF83-A6EA-9B82-A84016A9F119}"/>
              </a:ext>
            </a:extLst>
          </p:cNvPr>
          <p:cNvSpPr/>
          <p:nvPr/>
        </p:nvSpPr>
        <p:spPr>
          <a:xfrm>
            <a:off x="1902917" y="4079594"/>
            <a:ext cx="3294315" cy="369278"/>
          </a:xfrm>
          <a:prstGeom prst="rect">
            <a:avLst/>
          </a:prstGeom>
          <a:solidFill>
            <a:schemeClr val="bg1"/>
          </a:solidFill>
          <a:ln w="38100">
            <a:solidFill>
              <a:srgbClr val="FFC49B"/>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GB" sz="2000" b="1" dirty="0">
                <a:solidFill>
                  <a:srgbClr val="FFC49B"/>
                </a:solidFill>
              </a:rPr>
              <a:t>Emotion Annotation</a:t>
            </a:r>
            <a:endParaRPr lang="en-FR" sz="2000" b="1" dirty="0">
              <a:solidFill>
                <a:srgbClr val="FFC49B"/>
              </a:solidFill>
            </a:endParaRPr>
          </a:p>
        </p:txBody>
      </p:sp>
      <p:sp>
        <p:nvSpPr>
          <p:cNvPr id="14" name="Rectangle 13">
            <a:extLst>
              <a:ext uri="{FF2B5EF4-FFF2-40B4-BE49-F238E27FC236}">
                <a16:creationId xmlns:a16="http://schemas.microsoft.com/office/drawing/2014/main" id="{D6291FDD-CE76-E287-A561-30D2BAB5EC89}"/>
              </a:ext>
            </a:extLst>
          </p:cNvPr>
          <p:cNvSpPr/>
          <p:nvPr/>
        </p:nvSpPr>
        <p:spPr>
          <a:xfrm>
            <a:off x="1902918" y="5488732"/>
            <a:ext cx="3294315" cy="369278"/>
          </a:xfrm>
          <a:prstGeom prst="rect">
            <a:avLst/>
          </a:prstGeom>
          <a:solidFill>
            <a:schemeClr val="bg1"/>
          </a:solidFill>
          <a:ln w="38100">
            <a:solidFill>
              <a:srgbClr val="4B84F4"/>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GB" sz="2000" b="1" dirty="0">
                <a:solidFill>
                  <a:srgbClr val="4B84F4"/>
                </a:solidFill>
              </a:rPr>
              <a:t>Dialogue Strategy Annotation</a:t>
            </a:r>
            <a:endParaRPr lang="en-FR" sz="2000" b="1" dirty="0">
              <a:solidFill>
                <a:srgbClr val="4B84F4"/>
              </a:solidFill>
            </a:endParaRPr>
          </a:p>
        </p:txBody>
      </p:sp>
      <p:sp>
        <p:nvSpPr>
          <p:cNvPr id="16" name="Rectangle 15">
            <a:extLst>
              <a:ext uri="{FF2B5EF4-FFF2-40B4-BE49-F238E27FC236}">
                <a16:creationId xmlns:a16="http://schemas.microsoft.com/office/drawing/2014/main" id="{EB8EE241-9171-CA92-F31C-9E859377A838}"/>
              </a:ext>
            </a:extLst>
          </p:cNvPr>
          <p:cNvSpPr/>
          <p:nvPr/>
        </p:nvSpPr>
        <p:spPr>
          <a:xfrm>
            <a:off x="5553759" y="1927599"/>
            <a:ext cx="4774553" cy="369278"/>
          </a:xfrm>
          <a:prstGeom prst="rect">
            <a:avLst/>
          </a:prstGeom>
          <a:solidFill>
            <a:schemeClr val="bg1"/>
          </a:solidFill>
          <a:ln w="38100">
            <a:solidFill>
              <a:srgbClr val="6FD192"/>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GB" sz="2000" b="1" dirty="0" err="1">
                <a:solidFill>
                  <a:srgbClr val="6FD192"/>
                </a:solidFill>
              </a:rPr>
              <a:t>BERT_Context</a:t>
            </a:r>
            <a:r>
              <a:rPr lang="en-GB" sz="2000" b="1" dirty="0">
                <a:solidFill>
                  <a:srgbClr val="6FD192"/>
                </a:solidFill>
              </a:rPr>
              <a:t> </a:t>
            </a:r>
            <a:r>
              <a:rPr lang="en-GB" sz="1400" b="1" dirty="0">
                <a:solidFill>
                  <a:srgbClr val="6FD192"/>
                </a:solidFill>
              </a:rPr>
              <a:t>(Zhang et al., 2020a)</a:t>
            </a:r>
            <a:endParaRPr lang="en-FR" sz="2000" b="1" dirty="0">
              <a:solidFill>
                <a:srgbClr val="6FD192"/>
              </a:solidFill>
            </a:endParaRPr>
          </a:p>
        </p:txBody>
      </p:sp>
      <p:sp>
        <p:nvSpPr>
          <p:cNvPr id="17" name="Rectangle 16">
            <a:extLst>
              <a:ext uri="{FF2B5EF4-FFF2-40B4-BE49-F238E27FC236}">
                <a16:creationId xmlns:a16="http://schemas.microsoft.com/office/drawing/2014/main" id="{E8C075D2-D217-5F8B-5DC5-6088C949F206}"/>
              </a:ext>
            </a:extLst>
          </p:cNvPr>
          <p:cNvSpPr/>
          <p:nvPr/>
        </p:nvSpPr>
        <p:spPr>
          <a:xfrm>
            <a:off x="5553759" y="2476467"/>
            <a:ext cx="4774553" cy="369278"/>
          </a:xfrm>
          <a:prstGeom prst="rect">
            <a:avLst/>
          </a:prstGeom>
          <a:solidFill>
            <a:schemeClr val="bg1"/>
          </a:solidFill>
          <a:ln w="38100">
            <a:solidFill>
              <a:srgbClr val="6FD192"/>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GB" sz="2000" b="1" dirty="0">
                <a:solidFill>
                  <a:srgbClr val="6FD192"/>
                </a:solidFill>
              </a:rPr>
              <a:t>PPL </a:t>
            </a:r>
            <a:r>
              <a:rPr lang="en-GB" sz="1400" b="1" dirty="0">
                <a:solidFill>
                  <a:srgbClr val="6FD192"/>
                </a:solidFill>
              </a:rPr>
              <a:t>(</a:t>
            </a:r>
            <a:r>
              <a:rPr lang="en-GB" sz="1400" b="1" dirty="0" err="1">
                <a:solidFill>
                  <a:srgbClr val="6FD192"/>
                </a:solidFill>
              </a:rPr>
              <a:t>Ni’mah</a:t>
            </a:r>
            <a:r>
              <a:rPr lang="en-GB" sz="1400" b="1" dirty="0">
                <a:solidFill>
                  <a:srgbClr val="6FD192"/>
                </a:solidFill>
              </a:rPr>
              <a:t> et al., 2023) </a:t>
            </a:r>
            <a:endParaRPr lang="en-FR" sz="2000" b="1" dirty="0">
              <a:solidFill>
                <a:srgbClr val="6FD192"/>
              </a:solidFill>
            </a:endParaRPr>
          </a:p>
        </p:txBody>
      </p:sp>
      <p:sp>
        <p:nvSpPr>
          <p:cNvPr id="18" name="Rectangle 17">
            <a:extLst>
              <a:ext uri="{FF2B5EF4-FFF2-40B4-BE49-F238E27FC236}">
                <a16:creationId xmlns:a16="http://schemas.microsoft.com/office/drawing/2014/main" id="{2F0FDF58-3353-CCA4-CB20-4D5122D154A5}"/>
              </a:ext>
            </a:extLst>
          </p:cNvPr>
          <p:cNvSpPr/>
          <p:nvPr/>
        </p:nvSpPr>
        <p:spPr>
          <a:xfrm>
            <a:off x="5553759" y="3012136"/>
            <a:ext cx="4774553" cy="369278"/>
          </a:xfrm>
          <a:prstGeom prst="rect">
            <a:avLst/>
          </a:prstGeom>
          <a:solidFill>
            <a:schemeClr val="bg1"/>
          </a:solidFill>
          <a:ln w="38100">
            <a:solidFill>
              <a:srgbClr val="6FD192"/>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GB" sz="2000" b="1" dirty="0">
                <a:solidFill>
                  <a:srgbClr val="6FD192"/>
                </a:solidFill>
              </a:rPr>
              <a:t>Lexical and Semantic Diversity </a:t>
            </a:r>
            <a:r>
              <a:rPr lang="en-GB" sz="1400" b="1" dirty="0">
                <a:solidFill>
                  <a:srgbClr val="6FD192"/>
                </a:solidFill>
              </a:rPr>
              <a:t>(Guo et al., 2024)</a:t>
            </a:r>
            <a:endParaRPr lang="en-FR" sz="2000" b="1" dirty="0">
              <a:solidFill>
                <a:srgbClr val="6FD192"/>
              </a:solidFill>
            </a:endParaRPr>
          </a:p>
        </p:txBody>
      </p:sp>
      <p:sp>
        <p:nvSpPr>
          <p:cNvPr id="19" name="Rectangle 18">
            <a:extLst>
              <a:ext uri="{FF2B5EF4-FFF2-40B4-BE49-F238E27FC236}">
                <a16:creationId xmlns:a16="http://schemas.microsoft.com/office/drawing/2014/main" id="{068A56A9-DBDC-8F1F-9BBF-51C882F0A03A}"/>
              </a:ext>
            </a:extLst>
          </p:cNvPr>
          <p:cNvSpPr/>
          <p:nvPr/>
        </p:nvSpPr>
        <p:spPr>
          <a:xfrm>
            <a:off x="5553757" y="4079594"/>
            <a:ext cx="4774553" cy="369278"/>
          </a:xfrm>
          <a:prstGeom prst="rect">
            <a:avLst/>
          </a:prstGeom>
          <a:solidFill>
            <a:schemeClr val="bg1"/>
          </a:solidFill>
          <a:ln w="38100">
            <a:solidFill>
              <a:srgbClr val="FFC49B"/>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GB" sz="2000" b="1" dirty="0">
                <a:solidFill>
                  <a:srgbClr val="FFC49B"/>
                </a:solidFill>
              </a:rPr>
              <a:t>Emotion Classifier F1</a:t>
            </a:r>
            <a:endParaRPr lang="en-FR" sz="2000" b="1" dirty="0">
              <a:solidFill>
                <a:srgbClr val="FFC49B"/>
              </a:solidFill>
            </a:endParaRPr>
          </a:p>
        </p:txBody>
      </p:sp>
      <p:sp>
        <p:nvSpPr>
          <p:cNvPr id="21" name="Rectangle 20">
            <a:extLst>
              <a:ext uri="{FF2B5EF4-FFF2-40B4-BE49-F238E27FC236}">
                <a16:creationId xmlns:a16="http://schemas.microsoft.com/office/drawing/2014/main" id="{E7721E61-5505-F00A-B797-5D02035157B7}"/>
              </a:ext>
            </a:extLst>
          </p:cNvPr>
          <p:cNvSpPr/>
          <p:nvPr/>
        </p:nvSpPr>
        <p:spPr>
          <a:xfrm>
            <a:off x="5553759" y="5488731"/>
            <a:ext cx="4774553" cy="369278"/>
          </a:xfrm>
          <a:prstGeom prst="rect">
            <a:avLst/>
          </a:prstGeom>
          <a:solidFill>
            <a:schemeClr val="bg1"/>
          </a:solidFill>
          <a:ln w="38100">
            <a:solidFill>
              <a:srgbClr val="4B84F4"/>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GB" sz="2000" b="1" dirty="0">
                <a:solidFill>
                  <a:srgbClr val="4B84F4"/>
                </a:solidFill>
              </a:rPr>
              <a:t>Dialogue Strategy classifier Accuracy</a:t>
            </a:r>
            <a:endParaRPr lang="en-FR" sz="2000" b="1" dirty="0">
              <a:solidFill>
                <a:srgbClr val="4B84F4"/>
              </a:solidFill>
            </a:endParaRPr>
          </a:p>
        </p:txBody>
      </p:sp>
      <p:sp>
        <p:nvSpPr>
          <p:cNvPr id="23" name="Rectangle 22">
            <a:extLst>
              <a:ext uri="{FF2B5EF4-FFF2-40B4-BE49-F238E27FC236}">
                <a16:creationId xmlns:a16="http://schemas.microsoft.com/office/drawing/2014/main" id="{966B823A-BE0B-673B-99AB-0948DC04011C}"/>
              </a:ext>
            </a:extLst>
          </p:cNvPr>
          <p:cNvSpPr/>
          <p:nvPr/>
        </p:nvSpPr>
        <p:spPr>
          <a:xfrm>
            <a:off x="1902917" y="1220995"/>
            <a:ext cx="3294315" cy="523236"/>
          </a:xfrm>
          <a:prstGeom prst="rect">
            <a:avLst/>
          </a:prstGeom>
          <a:solidFill>
            <a:srgbClr val="A5B0F6"/>
          </a:solidFill>
          <a:ln w="571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FR" b="1" dirty="0"/>
              <a:t>HUMAN EVALUATION</a:t>
            </a:r>
            <a:endParaRPr lang="en-FR" sz="2000" b="1" dirty="0"/>
          </a:p>
        </p:txBody>
      </p:sp>
      <p:sp>
        <p:nvSpPr>
          <p:cNvPr id="24" name="Rectangle 23">
            <a:extLst>
              <a:ext uri="{FF2B5EF4-FFF2-40B4-BE49-F238E27FC236}">
                <a16:creationId xmlns:a16="http://schemas.microsoft.com/office/drawing/2014/main" id="{48EA4047-5669-075B-08A2-76AECCEFF1A1}"/>
              </a:ext>
            </a:extLst>
          </p:cNvPr>
          <p:cNvSpPr/>
          <p:nvPr/>
        </p:nvSpPr>
        <p:spPr>
          <a:xfrm>
            <a:off x="5560536" y="1184629"/>
            <a:ext cx="4774553" cy="523236"/>
          </a:xfrm>
          <a:prstGeom prst="rect">
            <a:avLst/>
          </a:prstGeom>
          <a:solidFill>
            <a:srgbClr val="A5B0F6"/>
          </a:solidFill>
          <a:ln w="571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FR" b="1" dirty="0"/>
              <a:t>AUTOMATIC METRICS</a:t>
            </a:r>
            <a:endParaRPr lang="en-FR" sz="2000" b="1" dirty="0"/>
          </a:p>
        </p:txBody>
      </p:sp>
      <p:sp>
        <p:nvSpPr>
          <p:cNvPr id="26" name="Rectangle 25">
            <a:extLst>
              <a:ext uri="{FF2B5EF4-FFF2-40B4-BE49-F238E27FC236}">
                <a16:creationId xmlns:a16="http://schemas.microsoft.com/office/drawing/2014/main" id="{715E6DC3-3668-919D-5D4B-3E0A224CFD8E}"/>
              </a:ext>
            </a:extLst>
          </p:cNvPr>
          <p:cNvSpPr/>
          <p:nvPr/>
        </p:nvSpPr>
        <p:spPr>
          <a:xfrm>
            <a:off x="10684838" y="1921146"/>
            <a:ext cx="1150567" cy="369278"/>
          </a:xfrm>
          <a:prstGeom prst="rect">
            <a:avLst/>
          </a:prstGeom>
          <a:solidFill>
            <a:schemeClr val="bg1"/>
          </a:solidFill>
          <a:ln w="38100">
            <a:solidFill>
              <a:srgbClr val="6FD192"/>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FR" sz="2000" b="1" dirty="0">
                <a:solidFill>
                  <a:srgbClr val="6FD192"/>
                </a:solidFill>
              </a:rPr>
              <a:t>-0.1</a:t>
            </a:r>
          </a:p>
        </p:txBody>
      </p:sp>
      <p:sp>
        <p:nvSpPr>
          <p:cNvPr id="27" name="Rectangle 26">
            <a:extLst>
              <a:ext uri="{FF2B5EF4-FFF2-40B4-BE49-F238E27FC236}">
                <a16:creationId xmlns:a16="http://schemas.microsoft.com/office/drawing/2014/main" id="{1C426A3D-CCEF-A94A-32B6-4A1BE902CF39}"/>
              </a:ext>
            </a:extLst>
          </p:cNvPr>
          <p:cNvSpPr/>
          <p:nvPr/>
        </p:nvSpPr>
        <p:spPr>
          <a:xfrm>
            <a:off x="10684838" y="2476467"/>
            <a:ext cx="1150567" cy="369278"/>
          </a:xfrm>
          <a:prstGeom prst="rect">
            <a:avLst/>
          </a:prstGeom>
          <a:solidFill>
            <a:schemeClr val="bg1"/>
          </a:solidFill>
          <a:ln w="38100">
            <a:solidFill>
              <a:srgbClr val="6FD192"/>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FR" sz="2000" b="1" dirty="0">
                <a:solidFill>
                  <a:srgbClr val="6FD192"/>
                </a:solidFill>
              </a:rPr>
              <a:t>0.24</a:t>
            </a:r>
          </a:p>
        </p:txBody>
      </p:sp>
      <p:sp>
        <p:nvSpPr>
          <p:cNvPr id="28" name="Rectangle 27">
            <a:extLst>
              <a:ext uri="{FF2B5EF4-FFF2-40B4-BE49-F238E27FC236}">
                <a16:creationId xmlns:a16="http://schemas.microsoft.com/office/drawing/2014/main" id="{762BFCF5-72B3-BD7C-27E3-E058AEEE979A}"/>
              </a:ext>
            </a:extLst>
          </p:cNvPr>
          <p:cNvSpPr/>
          <p:nvPr/>
        </p:nvSpPr>
        <p:spPr>
          <a:xfrm>
            <a:off x="10684838" y="3012136"/>
            <a:ext cx="1150567" cy="369278"/>
          </a:xfrm>
          <a:prstGeom prst="rect">
            <a:avLst/>
          </a:prstGeom>
          <a:solidFill>
            <a:schemeClr val="bg1"/>
          </a:solidFill>
          <a:ln w="38100">
            <a:solidFill>
              <a:srgbClr val="6FD192"/>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FR" sz="2000" b="1" dirty="0">
                <a:solidFill>
                  <a:srgbClr val="6FD192"/>
                </a:solidFill>
              </a:rPr>
              <a:t>0.25</a:t>
            </a:r>
          </a:p>
        </p:txBody>
      </p:sp>
      <p:sp>
        <p:nvSpPr>
          <p:cNvPr id="29" name="Rectangle 28">
            <a:extLst>
              <a:ext uri="{FF2B5EF4-FFF2-40B4-BE49-F238E27FC236}">
                <a16:creationId xmlns:a16="http://schemas.microsoft.com/office/drawing/2014/main" id="{A75CE99E-EBB9-31CF-AD11-E8C0FC7F1D8A}"/>
              </a:ext>
            </a:extLst>
          </p:cNvPr>
          <p:cNvSpPr/>
          <p:nvPr/>
        </p:nvSpPr>
        <p:spPr>
          <a:xfrm>
            <a:off x="10684837" y="4079594"/>
            <a:ext cx="1150567" cy="369278"/>
          </a:xfrm>
          <a:prstGeom prst="rect">
            <a:avLst/>
          </a:prstGeom>
          <a:solidFill>
            <a:schemeClr val="bg1"/>
          </a:solidFill>
          <a:ln w="38100">
            <a:solidFill>
              <a:srgbClr val="FFC49B"/>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FR" sz="2000" b="1" dirty="0">
                <a:solidFill>
                  <a:srgbClr val="FFC49B"/>
                </a:solidFill>
              </a:rPr>
              <a:t>0.72</a:t>
            </a:r>
          </a:p>
        </p:txBody>
      </p:sp>
      <p:sp>
        <p:nvSpPr>
          <p:cNvPr id="31" name="Rectangle 30">
            <a:extLst>
              <a:ext uri="{FF2B5EF4-FFF2-40B4-BE49-F238E27FC236}">
                <a16:creationId xmlns:a16="http://schemas.microsoft.com/office/drawing/2014/main" id="{A2858D3C-AEAE-ABE2-F505-4D72003CF334}"/>
              </a:ext>
            </a:extLst>
          </p:cNvPr>
          <p:cNvSpPr/>
          <p:nvPr/>
        </p:nvSpPr>
        <p:spPr>
          <a:xfrm>
            <a:off x="10684833" y="5488731"/>
            <a:ext cx="1150567" cy="369278"/>
          </a:xfrm>
          <a:prstGeom prst="rect">
            <a:avLst/>
          </a:prstGeom>
          <a:solidFill>
            <a:schemeClr val="bg1"/>
          </a:solidFill>
          <a:ln w="38100">
            <a:solidFill>
              <a:srgbClr val="4B84F4"/>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FR" sz="2000" b="1" dirty="0">
                <a:solidFill>
                  <a:srgbClr val="4B84F4"/>
                </a:solidFill>
              </a:rPr>
              <a:t>0.67</a:t>
            </a:r>
          </a:p>
        </p:txBody>
      </p:sp>
      <p:sp>
        <p:nvSpPr>
          <p:cNvPr id="34" name="Rectangle 33">
            <a:extLst>
              <a:ext uri="{FF2B5EF4-FFF2-40B4-BE49-F238E27FC236}">
                <a16:creationId xmlns:a16="http://schemas.microsoft.com/office/drawing/2014/main" id="{6B7105B1-B7A1-BD8D-21C9-3B118F26B94C}"/>
              </a:ext>
            </a:extLst>
          </p:cNvPr>
          <p:cNvSpPr/>
          <p:nvPr/>
        </p:nvSpPr>
        <p:spPr>
          <a:xfrm>
            <a:off x="10684833" y="1175678"/>
            <a:ext cx="1150567" cy="523236"/>
          </a:xfrm>
          <a:prstGeom prst="rect">
            <a:avLst/>
          </a:prstGeom>
          <a:solidFill>
            <a:srgbClr val="A5B0F6"/>
          </a:solidFill>
          <a:ln w="571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FR" b="1" dirty="0"/>
              <a:t>PEARSON</a:t>
            </a:r>
            <a:endParaRPr lang="en-FR" sz="2000" b="1" dirty="0"/>
          </a:p>
        </p:txBody>
      </p:sp>
    </p:spTree>
    <p:extLst>
      <p:ext uri="{BB962C8B-B14F-4D97-AF65-F5344CB8AC3E}">
        <p14:creationId xmlns:p14="http://schemas.microsoft.com/office/powerpoint/2010/main" val="12570287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C9FDA-4545-D39B-2E76-57A5D84C6AB1}"/>
            </a:ext>
          </a:extLst>
        </p:cNvPr>
        <p:cNvGrpSpPr/>
        <p:nvPr/>
      </p:nvGrpSpPr>
      <p:grpSpPr>
        <a:xfrm>
          <a:off x="0" y="0"/>
          <a:ext cx="0" cy="0"/>
          <a:chOff x="0" y="0"/>
          <a:chExt cx="0" cy="0"/>
        </a:xfrm>
      </p:grpSpPr>
      <p:sp>
        <p:nvSpPr>
          <p:cNvPr id="22" name="Title 21">
            <a:extLst>
              <a:ext uri="{FF2B5EF4-FFF2-40B4-BE49-F238E27FC236}">
                <a16:creationId xmlns:a16="http://schemas.microsoft.com/office/drawing/2014/main" id="{7F5A838F-7EAD-D76F-955F-5B6396635C40}"/>
              </a:ext>
            </a:extLst>
          </p:cNvPr>
          <p:cNvSpPr>
            <a:spLocks noGrp="1"/>
          </p:cNvSpPr>
          <p:nvPr>
            <p:ph type="title"/>
          </p:nvPr>
        </p:nvSpPr>
        <p:spPr/>
        <p:txBody>
          <a:bodyPr/>
          <a:lstStyle/>
          <a:p>
            <a:r>
              <a:rPr lang="en-FR" dirty="0"/>
              <a:t>DATA-SERGe: Data Processing</a:t>
            </a:r>
          </a:p>
        </p:txBody>
      </p:sp>
      <p:pic>
        <p:nvPicPr>
          <p:cNvPr id="23" name="Picture 22">
            <a:extLst>
              <a:ext uri="{FF2B5EF4-FFF2-40B4-BE49-F238E27FC236}">
                <a16:creationId xmlns:a16="http://schemas.microsoft.com/office/drawing/2014/main" id="{FB832C13-112D-4162-30C4-5488151D9ED3}"/>
              </a:ext>
            </a:extLst>
          </p:cNvPr>
          <p:cNvPicPr>
            <a:picLocks noChangeAspect="1"/>
          </p:cNvPicPr>
          <p:nvPr/>
        </p:nvPicPr>
        <p:blipFill>
          <a:blip r:embed="rId3">
            <a:alphaModFix amt="51000"/>
            <a:extLst>
              <a:ext uri="{BEBA8EAE-BF5A-486C-A8C5-ECC9F3942E4B}">
                <a14:imgProps xmlns:a14="http://schemas.microsoft.com/office/drawing/2010/main">
                  <a14:imgLayer r:embed="rId4">
                    <a14:imgEffect>
                      <a14:artisticPhotocopy/>
                    </a14:imgEffect>
                    <a14:imgEffect>
                      <a14:colorTemperature colorTemp="2989"/>
                    </a14:imgEffect>
                  </a14:imgLayer>
                </a14:imgProps>
              </a:ext>
            </a:extLst>
          </a:blip>
          <a:stretch>
            <a:fillRect/>
          </a:stretch>
        </p:blipFill>
        <p:spPr>
          <a:xfrm>
            <a:off x="179856" y="298642"/>
            <a:ext cx="759258" cy="759258"/>
          </a:xfrm>
          <a:prstGeom prst="rect">
            <a:avLst/>
          </a:prstGeom>
          <a:ln>
            <a:noFill/>
          </a:ln>
        </p:spPr>
      </p:pic>
      <p:sp>
        <p:nvSpPr>
          <p:cNvPr id="3" name="Rectangle 2">
            <a:extLst>
              <a:ext uri="{FF2B5EF4-FFF2-40B4-BE49-F238E27FC236}">
                <a16:creationId xmlns:a16="http://schemas.microsoft.com/office/drawing/2014/main" id="{B184639B-EAC6-C138-4F42-E220A4830AAD}"/>
              </a:ext>
            </a:extLst>
          </p:cNvPr>
          <p:cNvSpPr/>
          <p:nvPr/>
        </p:nvSpPr>
        <p:spPr>
          <a:xfrm>
            <a:off x="559486" y="1561341"/>
            <a:ext cx="3886842" cy="2179180"/>
          </a:xfrm>
          <a:prstGeom prst="rect">
            <a:avLst/>
          </a:prstGeom>
          <a:solidFill>
            <a:schemeClr val="bg1"/>
          </a:solid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endParaRPr lang="en-FR" dirty="0">
              <a:solidFill>
                <a:srgbClr val="4B84F4"/>
              </a:solidFill>
            </a:endParaRPr>
          </a:p>
        </p:txBody>
      </p:sp>
      <p:sp>
        <p:nvSpPr>
          <p:cNvPr id="4" name="TextBox 3">
            <a:extLst>
              <a:ext uri="{FF2B5EF4-FFF2-40B4-BE49-F238E27FC236}">
                <a16:creationId xmlns:a16="http://schemas.microsoft.com/office/drawing/2014/main" id="{2FDED2DD-A207-7EF3-77BB-8FC4C977AD1A}"/>
              </a:ext>
            </a:extLst>
          </p:cNvPr>
          <p:cNvSpPr txBox="1"/>
          <p:nvPr/>
        </p:nvSpPr>
        <p:spPr>
          <a:xfrm>
            <a:off x="649925" y="1353364"/>
            <a:ext cx="2183637" cy="370464"/>
          </a:xfrm>
          <a:prstGeom prst="rect">
            <a:avLst/>
          </a:prstGeom>
          <a:solidFill>
            <a:schemeClr val="bg1"/>
          </a:solidFill>
        </p:spPr>
        <p:txBody>
          <a:bodyPr wrap="square" rtlCol="0">
            <a:spAutoFit/>
          </a:bodyPr>
          <a:lstStyle/>
          <a:p>
            <a:r>
              <a:rPr lang="en-FR" b="1" dirty="0">
                <a:solidFill>
                  <a:srgbClr val="A5AFF5"/>
                </a:solidFill>
                <a:latin typeface="Poppins" pitchFamily="2" charset="77"/>
                <a:cs typeface="Poppins" pitchFamily="2" charset="77"/>
              </a:rPr>
              <a:t>ANONYMISATION</a:t>
            </a:r>
          </a:p>
        </p:txBody>
      </p:sp>
      <p:sp>
        <p:nvSpPr>
          <p:cNvPr id="5" name="Rectangle 4">
            <a:extLst>
              <a:ext uri="{FF2B5EF4-FFF2-40B4-BE49-F238E27FC236}">
                <a16:creationId xmlns:a16="http://schemas.microsoft.com/office/drawing/2014/main" id="{722BBE6F-C300-4284-BB7F-8932EED6FFF7}"/>
              </a:ext>
            </a:extLst>
          </p:cNvPr>
          <p:cNvSpPr/>
          <p:nvPr/>
        </p:nvSpPr>
        <p:spPr>
          <a:xfrm>
            <a:off x="559486" y="4052604"/>
            <a:ext cx="3886842" cy="2116824"/>
          </a:xfrm>
          <a:prstGeom prst="rect">
            <a:avLst/>
          </a:prstGeom>
          <a:solidFill>
            <a:schemeClr val="bg1"/>
          </a:solid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6" name="TextBox 5">
            <a:extLst>
              <a:ext uri="{FF2B5EF4-FFF2-40B4-BE49-F238E27FC236}">
                <a16:creationId xmlns:a16="http://schemas.microsoft.com/office/drawing/2014/main" id="{52474745-DCB4-A1FD-207F-F7BDC39BD867}"/>
              </a:ext>
            </a:extLst>
          </p:cNvPr>
          <p:cNvSpPr txBox="1"/>
          <p:nvPr/>
        </p:nvSpPr>
        <p:spPr>
          <a:xfrm>
            <a:off x="649925" y="3876758"/>
            <a:ext cx="1364487" cy="369332"/>
          </a:xfrm>
          <a:prstGeom prst="rect">
            <a:avLst/>
          </a:prstGeom>
          <a:solidFill>
            <a:schemeClr val="bg1"/>
          </a:solidFill>
        </p:spPr>
        <p:txBody>
          <a:bodyPr wrap="square" rtlCol="0">
            <a:spAutoFit/>
          </a:bodyPr>
          <a:lstStyle/>
          <a:p>
            <a:r>
              <a:rPr lang="en-FR" b="1" dirty="0">
                <a:solidFill>
                  <a:srgbClr val="A5AFF5"/>
                </a:solidFill>
                <a:latin typeface="Poppins" pitchFamily="2" charset="77"/>
                <a:cs typeface="Poppins" pitchFamily="2" charset="77"/>
              </a:rPr>
              <a:t>CLEANING</a:t>
            </a:r>
          </a:p>
        </p:txBody>
      </p:sp>
      <p:sp>
        <p:nvSpPr>
          <p:cNvPr id="15" name="Rectangle 14">
            <a:extLst>
              <a:ext uri="{FF2B5EF4-FFF2-40B4-BE49-F238E27FC236}">
                <a16:creationId xmlns:a16="http://schemas.microsoft.com/office/drawing/2014/main" id="{CBBEE4F5-1846-06C2-56E6-AF65A66F78AE}"/>
              </a:ext>
            </a:extLst>
          </p:cNvPr>
          <p:cNvSpPr/>
          <p:nvPr/>
        </p:nvSpPr>
        <p:spPr>
          <a:xfrm>
            <a:off x="8440728" y="1511249"/>
            <a:ext cx="3447294" cy="4658179"/>
          </a:xfrm>
          <a:prstGeom prst="rect">
            <a:avLst/>
          </a:prstGeom>
          <a:solidFill>
            <a:srgbClr val="A5B0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err="1">
                <a:solidFill>
                  <a:srgbClr val="D43F49"/>
                </a:solidFill>
              </a:rPr>
              <a:t>RépareCar</a:t>
            </a:r>
            <a:r>
              <a:rPr lang="en-GB" dirty="0"/>
              <a:t> bonjour </a:t>
            </a:r>
            <a:r>
              <a:rPr lang="en-GB" b="1" dirty="0">
                <a:solidFill>
                  <a:srgbClr val="D43F49"/>
                </a:solidFill>
              </a:rPr>
              <a:t>Nadeige</a:t>
            </a:r>
            <a:r>
              <a:rPr lang="en-GB" dirty="0"/>
              <a:t> à </a:t>
            </a:r>
            <a:r>
              <a:rPr lang="en-GB" dirty="0" err="1"/>
              <a:t>votre</a:t>
            </a:r>
            <a:r>
              <a:rPr lang="en-GB" dirty="0"/>
              <a:t> </a:t>
            </a:r>
            <a:r>
              <a:rPr lang="en-GB" dirty="0" err="1"/>
              <a:t>écoute</a:t>
            </a:r>
            <a:r>
              <a:rPr lang="en-GB" dirty="0"/>
              <a:t> ? </a:t>
            </a:r>
          </a:p>
          <a:p>
            <a:endParaRPr lang="en-GB" dirty="0"/>
          </a:p>
          <a:p>
            <a:r>
              <a:rPr lang="en-GB" dirty="0" err="1"/>
              <a:t>oui</a:t>
            </a:r>
            <a:r>
              <a:rPr lang="en-GB" dirty="0"/>
              <a:t> bonjour madame </a:t>
            </a:r>
            <a:r>
              <a:rPr lang="en-GB" dirty="0" err="1"/>
              <a:t>j’ai</a:t>
            </a:r>
            <a:r>
              <a:rPr lang="en-GB" dirty="0"/>
              <a:t> je j- </a:t>
            </a:r>
            <a:r>
              <a:rPr lang="en-GB" dirty="0" err="1"/>
              <a:t>j’ai</a:t>
            </a:r>
            <a:r>
              <a:rPr lang="en-GB" dirty="0"/>
              <a:t> un </a:t>
            </a:r>
            <a:r>
              <a:rPr lang="en-GB" dirty="0" err="1"/>
              <a:t>problème</a:t>
            </a:r>
            <a:r>
              <a:rPr lang="en-GB" dirty="0"/>
              <a:t> avec ma- avec </a:t>
            </a:r>
            <a:r>
              <a:rPr lang="en-GB" dirty="0" err="1"/>
              <a:t>mon</a:t>
            </a:r>
            <a:r>
              <a:rPr lang="en-GB" dirty="0"/>
              <a:t> assurance</a:t>
            </a:r>
          </a:p>
          <a:p>
            <a:endParaRPr lang="en-GB" dirty="0"/>
          </a:p>
          <a:p>
            <a:r>
              <a:rPr lang="en-GB" dirty="0" err="1"/>
              <a:t>oui</a:t>
            </a:r>
            <a:r>
              <a:rPr lang="en-GB" dirty="0"/>
              <a:t> </a:t>
            </a:r>
            <a:r>
              <a:rPr lang="en-GB" dirty="0" err="1"/>
              <a:t>d'accord</a:t>
            </a:r>
            <a:r>
              <a:rPr lang="en-GB" dirty="0"/>
              <a:t> </a:t>
            </a:r>
            <a:r>
              <a:rPr lang="en-GB" dirty="0" err="1"/>
              <a:t>alors</a:t>
            </a:r>
            <a:r>
              <a:rPr lang="en-GB" dirty="0"/>
              <a:t> </a:t>
            </a:r>
            <a:r>
              <a:rPr lang="en-GB" dirty="0" err="1"/>
              <a:t>euh</a:t>
            </a:r>
            <a:r>
              <a:rPr lang="en-GB" dirty="0"/>
              <a:t> </a:t>
            </a:r>
            <a:r>
              <a:rPr lang="en-GB" dirty="0" err="1"/>
              <a:t>donnez-moi</a:t>
            </a:r>
            <a:r>
              <a:rPr lang="en-GB" dirty="0"/>
              <a:t> </a:t>
            </a:r>
            <a:r>
              <a:rPr lang="en-GB" dirty="0" err="1"/>
              <a:t>votre</a:t>
            </a:r>
            <a:r>
              <a:rPr lang="en-GB" dirty="0"/>
              <a:t> </a:t>
            </a:r>
            <a:r>
              <a:rPr lang="en-GB" dirty="0" err="1"/>
              <a:t>numéro</a:t>
            </a:r>
            <a:r>
              <a:rPr lang="en-GB" dirty="0"/>
              <a:t> de portable que </a:t>
            </a:r>
            <a:r>
              <a:rPr lang="en-GB" dirty="0" err="1"/>
              <a:t>j'accède</a:t>
            </a:r>
            <a:r>
              <a:rPr lang="en-GB" dirty="0"/>
              <a:t> au dossier </a:t>
            </a:r>
            <a:r>
              <a:rPr lang="en-GB" dirty="0" err="1"/>
              <a:t>s'il</a:t>
            </a:r>
            <a:r>
              <a:rPr lang="en-GB" dirty="0"/>
              <a:t> </a:t>
            </a:r>
            <a:r>
              <a:rPr lang="en-GB" dirty="0" err="1"/>
              <a:t>vous</a:t>
            </a:r>
            <a:r>
              <a:rPr lang="en-GB" dirty="0"/>
              <a:t> </a:t>
            </a:r>
            <a:r>
              <a:rPr lang="en-GB" dirty="0" err="1"/>
              <a:t>plaît</a:t>
            </a:r>
            <a:r>
              <a:rPr lang="en-GB" dirty="0"/>
              <a:t> </a:t>
            </a:r>
          </a:p>
          <a:p>
            <a:endParaRPr lang="en-GB" dirty="0"/>
          </a:p>
          <a:p>
            <a:r>
              <a:rPr lang="en-GB" dirty="0"/>
              <a:t>Alors </a:t>
            </a:r>
            <a:r>
              <a:rPr lang="en-GB" dirty="0" err="1"/>
              <a:t>c’est</a:t>
            </a:r>
            <a:r>
              <a:rPr lang="en-GB" dirty="0"/>
              <a:t> zero- </a:t>
            </a:r>
            <a:r>
              <a:rPr lang="en-GB" dirty="0" err="1"/>
              <a:t>oui</a:t>
            </a:r>
            <a:r>
              <a:rPr lang="en-GB" dirty="0"/>
              <a:t> zero six</a:t>
            </a:r>
          </a:p>
          <a:p>
            <a:endParaRPr lang="en-GB" dirty="0"/>
          </a:p>
          <a:p>
            <a:r>
              <a:rPr lang="en-GB" dirty="0"/>
              <a:t>Ah </a:t>
            </a:r>
            <a:r>
              <a:rPr lang="en-GB" dirty="0" err="1"/>
              <a:t>oui</a:t>
            </a:r>
            <a:r>
              <a:rPr lang="en-GB" dirty="0"/>
              <a:t> parfait </a:t>
            </a:r>
            <a:r>
              <a:rPr lang="en-GB" b="1" dirty="0">
                <a:solidFill>
                  <a:srgbClr val="D43F49"/>
                </a:solidFill>
              </a:rPr>
              <a:t>01 23 45 67 89 </a:t>
            </a:r>
            <a:r>
              <a:rPr lang="en-GB" dirty="0" err="1"/>
              <a:t>c'est</a:t>
            </a:r>
            <a:r>
              <a:rPr lang="en-GB" dirty="0"/>
              <a:t> madame </a:t>
            </a:r>
            <a:r>
              <a:rPr lang="en-GB" b="1" dirty="0" err="1">
                <a:solidFill>
                  <a:srgbClr val="D43F49"/>
                </a:solidFill>
              </a:rPr>
              <a:t>Poutch</a:t>
            </a:r>
            <a:r>
              <a:rPr lang="en-GB" b="1" dirty="0">
                <a:solidFill>
                  <a:srgbClr val="D43F49"/>
                </a:solidFill>
              </a:rPr>
              <a:t> Camille</a:t>
            </a:r>
            <a:endParaRPr lang="en-FR" b="1" dirty="0">
              <a:solidFill>
                <a:srgbClr val="D43F49"/>
              </a:solidFill>
            </a:endParaRPr>
          </a:p>
        </p:txBody>
      </p:sp>
      <p:sp>
        <p:nvSpPr>
          <p:cNvPr id="16" name="Rectangle 15">
            <a:extLst>
              <a:ext uri="{FF2B5EF4-FFF2-40B4-BE49-F238E27FC236}">
                <a16:creationId xmlns:a16="http://schemas.microsoft.com/office/drawing/2014/main" id="{AF555868-3A2B-E7C6-A576-C100A429A446}"/>
              </a:ext>
            </a:extLst>
          </p:cNvPr>
          <p:cNvSpPr/>
          <p:nvPr/>
        </p:nvSpPr>
        <p:spPr>
          <a:xfrm>
            <a:off x="8440728" y="1511249"/>
            <a:ext cx="3447294" cy="4658179"/>
          </a:xfrm>
          <a:prstGeom prst="rect">
            <a:avLst/>
          </a:prstGeom>
          <a:solidFill>
            <a:srgbClr val="A5B0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rgbClr val="D43F49"/>
                </a:solidFill>
              </a:rPr>
              <a:t>[COMPANY] </a:t>
            </a:r>
            <a:r>
              <a:rPr lang="en-GB" dirty="0"/>
              <a:t>bonjour </a:t>
            </a:r>
            <a:r>
              <a:rPr lang="en-GB" b="1" dirty="0">
                <a:solidFill>
                  <a:srgbClr val="D43F49"/>
                </a:solidFill>
              </a:rPr>
              <a:t>[AGENT NAME] </a:t>
            </a:r>
            <a:r>
              <a:rPr lang="en-GB" dirty="0"/>
              <a:t>à </a:t>
            </a:r>
            <a:r>
              <a:rPr lang="en-GB" dirty="0" err="1"/>
              <a:t>votre</a:t>
            </a:r>
            <a:r>
              <a:rPr lang="en-GB" dirty="0"/>
              <a:t> </a:t>
            </a:r>
            <a:r>
              <a:rPr lang="en-GB" dirty="0" err="1"/>
              <a:t>écoute</a:t>
            </a:r>
            <a:r>
              <a:rPr lang="en-GB" dirty="0"/>
              <a:t> ? </a:t>
            </a:r>
          </a:p>
          <a:p>
            <a:endParaRPr lang="en-GB" dirty="0"/>
          </a:p>
          <a:p>
            <a:r>
              <a:rPr lang="en-GB" dirty="0" err="1"/>
              <a:t>oui</a:t>
            </a:r>
            <a:r>
              <a:rPr lang="en-GB" dirty="0"/>
              <a:t> bonjour madame </a:t>
            </a:r>
            <a:r>
              <a:rPr lang="en-GB" dirty="0" err="1"/>
              <a:t>j’ai</a:t>
            </a:r>
            <a:r>
              <a:rPr lang="en-GB" dirty="0"/>
              <a:t> je j- </a:t>
            </a:r>
            <a:r>
              <a:rPr lang="en-GB" dirty="0" err="1"/>
              <a:t>j’ai</a:t>
            </a:r>
            <a:r>
              <a:rPr lang="en-GB" dirty="0"/>
              <a:t> un </a:t>
            </a:r>
            <a:r>
              <a:rPr lang="en-GB" dirty="0" err="1"/>
              <a:t>problème</a:t>
            </a:r>
            <a:r>
              <a:rPr lang="en-GB" dirty="0"/>
              <a:t> avec ma- avec </a:t>
            </a:r>
            <a:r>
              <a:rPr lang="en-GB" dirty="0" err="1"/>
              <a:t>mon</a:t>
            </a:r>
            <a:r>
              <a:rPr lang="en-GB" dirty="0"/>
              <a:t> assurance</a:t>
            </a:r>
          </a:p>
          <a:p>
            <a:endParaRPr lang="en-GB" dirty="0"/>
          </a:p>
          <a:p>
            <a:r>
              <a:rPr lang="en-GB" dirty="0" err="1"/>
              <a:t>oui</a:t>
            </a:r>
            <a:r>
              <a:rPr lang="en-GB" dirty="0"/>
              <a:t> </a:t>
            </a:r>
            <a:r>
              <a:rPr lang="en-GB" dirty="0" err="1"/>
              <a:t>d'accord</a:t>
            </a:r>
            <a:r>
              <a:rPr lang="en-GB" dirty="0"/>
              <a:t> </a:t>
            </a:r>
            <a:r>
              <a:rPr lang="en-GB" dirty="0" err="1"/>
              <a:t>alors</a:t>
            </a:r>
            <a:r>
              <a:rPr lang="en-GB" dirty="0"/>
              <a:t> </a:t>
            </a:r>
            <a:r>
              <a:rPr lang="en-GB" dirty="0" err="1"/>
              <a:t>euh</a:t>
            </a:r>
            <a:r>
              <a:rPr lang="en-GB" dirty="0"/>
              <a:t> </a:t>
            </a:r>
            <a:r>
              <a:rPr lang="en-GB" dirty="0" err="1"/>
              <a:t>donnez-moi</a:t>
            </a:r>
            <a:r>
              <a:rPr lang="en-GB" dirty="0"/>
              <a:t> </a:t>
            </a:r>
            <a:r>
              <a:rPr lang="en-GB" dirty="0" err="1"/>
              <a:t>votre</a:t>
            </a:r>
            <a:r>
              <a:rPr lang="en-GB" dirty="0"/>
              <a:t> </a:t>
            </a:r>
            <a:r>
              <a:rPr lang="en-GB" dirty="0" err="1"/>
              <a:t>numéro</a:t>
            </a:r>
            <a:r>
              <a:rPr lang="en-GB" dirty="0"/>
              <a:t> de portable que </a:t>
            </a:r>
            <a:r>
              <a:rPr lang="en-GB" dirty="0" err="1"/>
              <a:t>j'accède</a:t>
            </a:r>
            <a:r>
              <a:rPr lang="en-GB" dirty="0"/>
              <a:t> au dossier </a:t>
            </a:r>
            <a:r>
              <a:rPr lang="en-GB" dirty="0" err="1"/>
              <a:t>s'il</a:t>
            </a:r>
            <a:r>
              <a:rPr lang="en-GB" dirty="0"/>
              <a:t> </a:t>
            </a:r>
            <a:r>
              <a:rPr lang="en-GB" dirty="0" err="1"/>
              <a:t>vous</a:t>
            </a:r>
            <a:r>
              <a:rPr lang="en-GB" dirty="0"/>
              <a:t> </a:t>
            </a:r>
            <a:r>
              <a:rPr lang="en-GB" dirty="0" err="1"/>
              <a:t>plaît</a:t>
            </a:r>
            <a:r>
              <a:rPr lang="en-GB" dirty="0"/>
              <a:t> </a:t>
            </a:r>
          </a:p>
          <a:p>
            <a:endParaRPr lang="en-GB" dirty="0"/>
          </a:p>
          <a:p>
            <a:r>
              <a:rPr lang="en-GB" dirty="0"/>
              <a:t>Alors </a:t>
            </a:r>
            <a:r>
              <a:rPr lang="en-GB" dirty="0" err="1"/>
              <a:t>c’est</a:t>
            </a:r>
            <a:r>
              <a:rPr lang="en-GB" dirty="0"/>
              <a:t> zero- </a:t>
            </a:r>
            <a:r>
              <a:rPr lang="en-GB" dirty="0" err="1"/>
              <a:t>oui</a:t>
            </a:r>
            <a:r>
              <a:rPr lang="en-GB" dirty="0"/>
              <a:t> zero six</a:t>
            </a:r>
          </a:p>
          <a:p>
            <a:endParaRPr lang="en-GB" dirty="0"/>
          </a:p>
          <a:p>
            <a:r>
              <a:rPr lang="en-GB" dirty="0"/>
              <a:t>Ah </a:t>
            </a:r>
            <a:r>
              <a:rPr lang="en-GB" dirty="0" err="1"/>
              <a:t>oui</a:t>
            </a:r>
            <a:r>
              <a:rPr lang="en-GB" dirty="0"/>
              <a:t> parfait </a:t>
            </a:r>
            <a:r>
              <a:rPr lang="en-GB" b="1" dirty="0">
                <a:solidFill>
                  <a:srgbClr val="D43F49"/>
                </a:solidFill>
              </a:rPr>
              <a:t>[PHONE NUMBER] </a:t>
            </a:r>
            <a:r>
              <a:rPr lang="en-GB" dirty="0" err="1"/>
              <a:t>c'est</a:t>
            </a:r>
            <a:r>
              <a:rPr lang="en-GB" dirty="0"/>
              <a:t> madame </a:t>
            </a:r>
            <a:r>
              <a:rPr lang="en-GB" b="1" dirty="0">
                <a:solidFill>
                  <a:srgbClr val="D43F49"/>
                </a:solidFill>
              </a:rPr>
              <a:t>[CUSTOMER NAME] </a:t>
            </a:r>
            <a:endParaRPr lang="en-FR" b="1" dirty="0">
              <a:solidFill>
                <a:srgbClr val="D43F49"/>
              </a:solidFill>
            </a:endParaRPr>
          </a:p>
        </p:txBody>
      </p:sp>
      <p:sp>
        <p:nvSpPr>
          <p:cNvPr id="17" name="Rectangle 16">
            <a:extLst>
              <a:ext uri="{FF2B5EF4-FFF2-40B4-BE49-F238E27FC236}">
                <a16:creationId xmlns:a16="http://schemas.microsoft.com/office/drawing/2014/main" id="{ACA3FFDE-6724-F150-5A52-8E4C8D6DC8E7}"/>
              </a:ext>
            </a:extLst>
          </p:cNvPr>
          <p:cNvSpPr/>
          <p:nvPr/>
        </p:nvSpPr>
        <p:spPr>
          <a:xfrm>
            <a:off x="4868441" y="1511249"/>
            <a:ext cx="3447294" cy="4658179"/>
          </a:xfrm>
          <a:prstGeom prst="rect">
            <a:avLst/>
          </a:prstGeom>
          <a:solidFill>
            <a:srgbClr val="A5B0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 ▇▇ bonjour ▇▇ à </a:t>
            </a:r>
            <a:r>
              <a:rPr lang="en-GB" dirty="0" err="1"/>
              <a:t>votre</a:t>
            </a:r>
            <a:r>
              <a:rPr lang="en-GB" dirty="0"/>
              <a:t> </a:t>
            </a:r>
            <a:r>
              <a:rPr lang="en-GB" dirty="0" err="1"/>
              <a:t>écoute</a:t>
            </a:r>
            <a:r>
              <a:rPr lang="en-GB" dirty="0"/>
              <a:t> ? </a:t>
            </a:r>
          </a:p>
          <a:p>
            <a:endParaRPr lang="en-GB" dirty="0"/>
          </a:p>
          <a:p>
            <a:r>
              <a:rPr lang="en-GB" dirty="0" err="1"/>
              <a:t>oui</a:t>
            </a:r>
            <a:r>
              <a:rPr lang="en-GB" dirty="0"/>
              <a:t> bonjour madame </a:t>
            </a:r>
            <a:r>
              <a:rPr lang="en-GB" dirty="0" err="1"/>
              <a:t>j’ai</a:t>
            </a:r>
            <a:r>
              <a:rPr lang="en-GB" dirty="0"/>
              <a:t> je j- </a:t>
            </a:r>
            <a:r>
              <a:rPr lang="en-GB" dirty="0" err="1"/>
              <a:t>j’ai</a:t>
            </a:r>
            <a:r>
              <a:rPr lang="en-GB" dirty="0"/>
              <a:t> un </a:t>
            </a:r>
            <a:r>
              <a:rPr lang="en-GB" dirty="0" err="1"/>
              <a:t>problème</a:t>
            </a:r>
            <a:r>
              <a:rPr lang="en-GB" dirty="0"/>
              <a:t> avec ma- avec </a:t>
            </a:r>
            <a:r>
              <a:rPr lang="en-GB" dirty="0" err="1"/>
              <a:t>mon</a:t>
            </a:r>
            <a:r>
              <a:rPr lang="en-GB" dirty="0"/>
              <a:t> assurance</a:t>
            </a:r>
          </a:p>
          <a:p>
            <a:endParaRPr lang="en-GB" dirty="0"/>
          </a:p>
          <a:p>
            <a:r>
              <a:rPr lang="en-GB" dirty="0" err="1"/>
              <a:t>oui</a:t>
            </a:r>
            <a:r>
              <a:rPr lang="en-GB" dirty="0"/>
              <a:t> </a:t>
            </a:r>
            <a:r>
              <a:rPr lang="en-GB" dirty="0" err="1"/>
              <a:t>d'accord</a:t>
            </a:r>
            <a:r>
              <a:rPr lang="en-GB" dirty="0"/>
              <a:t> </a:t>
            </a:r>
            <a:r>
              <a:rPr lang="en-GB" dirty="0" err="1"/>
              <a:t>alors</a:t>
            </a:r>
            <a:r>
              <a:rPr lang="en-GB" dirty="0"/>
              <a:t> </a:t>
            </a:r>
            <a:r>
              <a:rPr lang="en-GB" dirty="0" err="1"/>
              <a:t>euh</a:t>
            </a:r>
            <a:r>
              <a:rPr lang="en-GB" dirty="0"/>
              <a:t> </a:t>
            </a:r>
            <a:r>
              <a:rPr lang="en-GB" dirty="0" err="1"/>
              <a:t>donnez-moi</a:t>
            </a:r>
            <a:r>
              <a:rPr lang="en-GB" dirty="0"/>
              <a:t> </a:t>
            </a:r>
            <a:r>
              <a:rPr lang="en-GB" dirty="0" err="1"/>
              <a:t>votre</a:t>
            </a:r>
            <a:r>
              <a:rPr lang="en-GB" dirty="0"/>
              <a:t> </a:t>
            </a:r>
            <a:r>
              <a:rPr lang="en-GB" dirty="0" err="1"/>
              <a:t>numéro</a:t>
            </a:r>
            <a:r>
              <a:rPr lang="en-GB" dirty="0"/>
              <a:t> de portable que </a:t>
            </a:r>
            <a:r>
              <a:rPr lang="en-GB" dirty="0" err="1"/>
              <a:t>j'accède</a:t>
            </a:r>
            <a:r>
              <a:rPr lang="en-GB" dirty="0"/>
              <a:t> au dossier </a:t>
            </a:r>
            <a:r>
              <a:rPr lang="en-GB" dirty="0" err="1"/>
              <a:t>s'il</a:t>
            </a:r>
            <a:r>
              <a:rPr lang="en-GB" dirty="0"/>
              <a:t> </a:t>
            </a:r>
            <a:r>
              <a:rPr lang="en-GB" dirty="0" err="1"/>
              <a:t>vous</a:t>
            </a:r>
            <a:r>
              <a:rPr lang="en-GB" dirty="0"/>
              <a:t> </a:t>
            </a:r>
            <a:r>
              <a:rPr lang="en-GB" dirty="0" err="1"/>
              <a:t>plaît</a:t>
            </a:r>
            <a:r>
              <a:rPr lang="en-GB" dirty="0"/>
              <a:t> </a:t>
            </a:r>
          </a:p>
          <a:p>
            <a:endParaRPr lang="en-GB" dirty="0"/>
          </a:p>
          <a:p>
            <a:r>
              <a:rPr lang="en-GB" dirty="0"/>
              <a:t>Alors </a:t>
            </a:r>
            <a:r>
              <a:rPr lang="en-GB" dirty="0" err="1"/>
              <a:t>c’est</a:t>
            </a:r>
            <a:r>
              <a:rPr lang="en-GB" dirty="0"/>
              <a:t> zero- </a:t>
            </a:r>
            <a:r>
              <a:rPr lang="en-GB" dirty="0" err="1"/>
              <a:t>oui</a:t>
            </a:r>
            <a:r>
              <a:rPr lang="en-GB" dirty="0"/>
              <a:t> zero six</a:t>
            </a:r>
          </a:p>
          <a:p>
            <a:endParaRPr lang="en-GB" dirty="0"/>
          </a:p>
          <a:p>
            <a:r>
              <a:rPr lang="en-GB" dirty="0"/>
              <a:t>Ah </a:t>
            </a:r>
            <a:r>
              <a:rPr lang="en-GB" dirty="0" err="1"/>
              <a:t>oui</a:t>
            </a:r>
            <a:r>
              <a:rPr lang="en-GB" dirty="0"/>
              <a:t> parfait ▇▇ </a:t>
            </a:r>
            <a:r>
              <a:rPr lang="en-GB" dirty="0" err="1"/>
              <a:t>c'est</a:t>
            </a:r>
            <a:r>
              <a:rPr lang="en-GB" dirty="0"/>
              <a:t> madame ▇▇ ▇▇</a:t>
            </a:r>
            <a:endParaRPr lang="en-FR" dirty="0"/>
          </a:p>
        </p:txBody>
      </p:sp>
      <p:sp>
        <p:nvSpPr>
          <p:cNvPr id="19" name="TextBox 18">
            <a:extLst>
              <a:ext uri="{FF2B5EF4-FFF2-40B4-BE49-F238E27FC236}">
                <a16:creationId xmlns:a16="http://schemas.microsoft.com/office/drawing/2014/main" id="{9B5D06C1-43D8-F5E5-1388-E7258135E799}"/>
              </a:ext>
            </a:extLst>
          </p:cNvPr>
          <p:cNvSpPr txBox="1"/>
          <p:nvPr/>
        </p:nvSpPr>
        <p:spPr>
          <a:xfrm>
            <a:off x="634781" y="1742990"/>
            <a:ext cx="3655865" cy="1323439"/>
          </a:xfrm>
          <a:prstGeom prst="rect">
            <a:avLst/>
          </a:prstGeom>
          <a:noFill/>
        </p:spPr>
        <p:txBody>
          <a:bodyPr wrap="square" rtlCol="0">
            <a:spAutoFit/>
          </a:bodyPr>
          <a:lstStyle/>
          <a:p>
            <a:pPr algn="just"/>
            <a:r>
              <a:rPr lang="en-FR" sz="1600" dirty="0">
                <a:solidFill>
                  <a:srgbClr val="4B84F4"/>
                </a:solidFill>
                <a:latin typeface="Poppins" pitchFamily="2" charset="77"/>
                <a:cs typeface="Poppins" pitchFamily="2" charset="77"/>
              </a:rPr>
              <a:t>A classification model trained on customer data, is first used to mask confidential data, then corrected by the annotators. </a:t>
            </a:r>
            <a:br>
              <a:rPr lang="en-FR" sz="1600" dirty="0">
                <a:solidFill>
                  <a:srgbClr val="4B84F4"/>
                </a:solidFill>
                <a:latin typeface="Poppins" pitchFamily="2" charset="77"/>
                <a:cs typeface="Poppins" pitchFamily="2" charset="77"/>
              </a:rPr>
            </a:br>
            <a:r>
              <a:rPr lang="en-FR" sz="1600" dirty="0">
                <a:solidFill>
                  <a:srgbClr val="4B84F4"/>
                </a:solidFill>
                <a:latin typeface="Poppins" pitchFamily="2" charset="77"/>
                <a:cs typeface="Poppins" pitchFamily="2" charset="77"/>
              </a:rPr>
              <a:t>Two versions exist: </a:t>
            </a:r>
          </a:p>
        </p:txBody>
      </p:sp>
      <p:sp>
        <p:nvSpPr>
          <p:cNvPr id="25" name="TextBox 24">
            <a:extLst>
              <a:ext uri="{FF2B5EF4-FFF2-40B4-BE49-F238E27FC236}">
                <a16:creationId xmlns:a16="http://schemas.microsoft.com/office/drawing/2014/main" id="{C5632AF3-CBC3-B3E0-BE57-7818F7BADD5B}"/>
              </a:ext>
            </a:extLst>
          </p:cNvPr>
          <p:cNvSpPr txBox="1"/>
          <p:nvPr/>
        </p:nvSpPr>
        <p:spPr>
          <a:xfrm>
            <a:off x="620704" y="4298776"/>
            <a:ext cx="3669942" cy="1815882"/>
          </a:xfrm>
          <a:prstGeom prst="rect">
            <a:avLst/>
          </a:prstGeom>
          <a:noFill/>
        </p:spPr>
        <p:txBody>
          <a:bodyPr wrap="square" rtlCol="0">
            <a:spAutoFit/>
          </a:bodyPr>
          <a:lstStyle/>
          <a:p>
            <a:pPr algn="just"/>
            <a:r>
              <a:rPr lang="en-FR" sz="1600" dirty="0">
                <a:solidFill>
                  <a:srgbClr val="4B84F4"/>
                </a:solidFill>
                <a:latin typeface="Poppins" pitchFamily="2" charset="77"/>
                <a:cs typeface="Poppins" pitchFamily="2" charset="77"/>
              </a:rPr>
              <a:t>While anonymising the data, the annotators are also tasked to adapt the transcriptions to the textual medium. This includes correcting confusing sentences, removing heavy repetitions, and any other typos.</a:t>
            </a:r>
          </a:p>
        </p:txBody>
      </p:sp>
      <p:sp>
        <p:nvSpPr>
          <p:cNvPr id="26" name="Rectangle 25">
            <a:extLst>
              <a:ext uri="{FF2B5EF4-FFF2-40B4-BE49-F238E27FC236}">
                <a16:creationId xmlns:a16="http://schemas.microsoft.com/office/drawing/2014/main" id="{851995A2-8084-ECA9-DF0B-59C2E86C8E7F}"/>
              </a:ext>
            </a:extLst>
          </p:cNvPr>
          <p:cNvSpPr/>
          <p:nvPr/>
        </p:nvSpPr>
        <p:spPr>
          <a:xfrm>
            <a:off x="8440728" y="1511248"/>
            <a:ext cx="3447294" cy="4658179"/>
          </a:xfrm>
          <a:prstGeom prst="rect">
            <a:avLst/>
          </a:prstGeom>
          <a:solidFill>
            <a:srgbClr val="A5B0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[COMPANY] bonjour [AGENT NAME] à </a:t>
            </a:r>
            <a:r>
              <a:rPr lang="en-GB" dirty="0" err="1"/>
              <a:t>votre</a:t>
            </a:r>
            <a:r>
              <a:rPr lang="en-GB" dirty="0"/>
              <a:t> </a:t>
            </a:r>
            <a:r>
              <a:rPr lang="en-GB" dirty="0" err="1"/>
              <a:t>écoute</a:t>
            </a:r>
            <a:r>
              <a:rPr lang="en-GB" dirty="0"/>
              <a:t> ? </a:t>
            </a:r>
          </a:p>
          <a:p>
            <a:endParaRPr lang="en-GB" dirty="0"/>
          </a:p>
          <a:p>
            <a:r>
              <a:rPr lang="en-GB" dirty="0" err="1"/>
              <a:t>oui</a:t>
            </a:r>
            <a:r>
              <a:rPr lang="en-GB" dirty="0"/>
              <a:t> bonjour madame </a:t>
            </a:r>
            <a:r>
              <a:rPr lang="en-GB" b="1" dirty="0" err="1">
                <a:solidFill>
                  <a:srgbClr val="D43F49"/>
                </a:solidFill>
              </a:rPr>
              <a:t>j’ai</a:t>
            </a:r>
            <a:r>
              <a:rPr lang="en-GB" dirty="0"/>
              <a:t> un </a:t>
            </a:r>
            <a:r>
              <a:rPr lang="en-GB" dirty="0" err="1"/>
              <a:t>problème</a:t>
            </a:r>
            <a:r>
              <a:rPr lang="en-GB" dirty="0"/>
              <a:t> avec ma- avec </a:t>
            </a:r>
            <a:r>
              <a:rPr lang="en-GB" dirty="0" err="1"/>
              <a:t>mon</a:t>
            </a:r>
            <a:r>
              <a:rPr lang="en-GB" dirty="0"/>
              <a:t> assurance</a:t>
            </a:r>
          </a:p>
          <a:p>
            <a:endParaRPr lang="en-GB" dirty="0"/>
          </a:p>
          <a:p>
            <a:r>
              <a:rPr lang="en-GB" dirty="0" err="1"/>
              <a:t>oui</a:t>
            </a:r>
            <a:r>
              <a:rPr lang="en-GB" dirty="0"/>
              <a:t> </a:t>
            </a:r>
            <a:r>
              <a:rPr lang="en-GB" dirty="0" err="1"/>
              <a:t>d'accord</a:t>
            </a:r>
            <a:r>
              <a:rPr lang="en-GB" dirty="0"/>
              <a:t> </a:t>
            </a:r>
            <a:r>
              <a:rPr lang="en-GB" dirty="0" err="1"/>
              <a:t>alors</a:t>
            </a:r>
            <a:r>
              <a:rPr lang="en-GB" dirty="0"/>
              <a:t> </a:t>
            </a:r>
            <a:r>
              <a:rPr lang="en-GB" dirty="0" err="1"/>
              <a:t>euh</a:t>
            </a:r>
            <a:r>
              <a:rPr lang="en-GB" dirty="0"/>
              <a:t> </a:t>
            </a:r>
            <a:r>
              <a:rPr lang="en-GB" dirty="0" err="1"/>
              <a:t>donnez-moi</a:t>
            </a:r>
            <a:r>
              <a:rPr lang="en-GB" dirty="0"/>
              <a:t> </a:t>
            </a:r>
            <a:r>
              <a:rPr lang="en-GB" dirty="0" err="1"/>
              <a:t>votre</a:t>
            </a:r>
            <a:r>
              <a:rPr lang="en-GB" dirty="0"/>
              <a:t> </a:t>
            </a:r>
            <a:r>
              <a:rPr lang="en-GB" dirty="0" err="1"/>
              <a:t>numéro</a:t>
            </a:r>
            <a:r>
              <a:rPr lang="en-GB" dirty="0"/>
              <a:t> de portable que </a:t>
            </a:r>
            <a:r>
              <a:rPr lang="en-GB" dirty="0" err="1"/>
              <a:t>j'accède</a:t>
            </a:r>
            <a:r>
              <a:rPr lang="en-GB" dirty="0"/>
              <a:t> au dossier </a:t>
            </a:r>
            <a:r>
              <a:rPr lang="en-GB" dirty="0" err="1"/>
              <a:t>s'il</a:t>
            </a:r>
            <a:r>
              <a:rPr lang="en-GB" dirty="0"/>
              <a:t> </a:t>
            </a:r>
            <a:r>
              <a:rPr lang="en-GB" dirty="0" err="1"/>
              <a:t>vous</a:t>
            </a:r>
            <a:r>
              <a:rPr lang="en-GB" dirty="0"/>
              <a:t> </a:t>
            </a:r>
            <a:r>
              <a:rPr lang="en-GB" dirty="0" err="1"/>
              <a:t>plaît</a:t>
            </a:r>
            <a:r>
              <a:rPr lang="en-GB" dirty="0"/>
              <a:t> </a:t>
            </a:r>
          </a:p>
          <a:p>
            <a:endParaRPr lang="en-GB" dirty="0"/>
          </a:p>
          <a:p>
            <a:r>
              <a:rPr lang="en-GB" dirty="0"/>
              <a:t>Alors </a:t>
            </a:r>
            <a:r>
              <a:rPr lang="en-GB" dirty="0" err="1"/>
              <a:t>c’est</a:t>
            </a:r>
            <a:r>
              <a:rPr lang="en-GB" dirty="0"/>
              <a:t> zero- </a:t>
            </a:r>
            <a:r>
              <a:rPr lang="en-GB" dirty="0" err="1"/>
              <a:t>oui</a:t>
            </a:r>
            <a:r>
              <a:rPr lang="en-GB" dirty="0"/>
              <a:t> zero six</a:t>
            </a:r>
          </a:p>
          <a:p>
            <a:endParaRPr lang="en-GB" dirty="0"/>
          </a:p>
          <a:p>
            <a:r>
              <a:rPr lang="en-GB" dirty="0"/>
              <a:t>ah </a:t>
            </a:r>
            <a:r>
              <a:rPr lang="en-GB" dirty="0" err="1"/>
              <a:t>oui</a:t>
            </a:r>
            <a:r>
              <a:rPr lang="en-GB" dirty="0"/>
              <a:t> parfait [PHONE NUMBER] </a:t>
            </a:r>
            <a:r>
              <a:rPr lang="en-GB" dirty="0" err="1"/>
              <a:t>c'est</a:t>
            </a:r>
            <a:r>
              <a:rPr lang="en-GB" dirty="0"/>
              <a:t> madame [CUSTOMER NAME] </a:t>
            </a:r>
            <a:endParaRPr lang="en-FR" dirty="0"/>
          </a:p>
        </p:txBody>
      </p:sp>
      <p:sp>
        <p:nvSpPr>
          <p:cNvPr id="28" name="TextBox 27">
            <a:extLst>
              <a:ext uri="{FF2B5EF4-FFF2-40B4-BE49-F238E27FC236}">
                <a16:creationId xmlns:a16="http://schemas.microsoft.com/office/drawing/2014/main" id="{8EB21C55-F3CA-5F98-9D32-E2DD0C87581B}"/>
              </a:ext>
            </a:extLst>
          </p:cNvPr>
          <p:cNvSpPr txBox="1"/>
          <p:nvPr/>
        </p:nvSpPr>
        <p:spPr>
          <a:xfrm>
            <a:off x="808190" y="3002783"/>
            <a:ext cx="3886842" cy="338554"/>
          </a:xfrm>
          <a:prstGeom prst="rect">
            <a:avLst/>
          </a:prstGeom>
          <a:noFill/>
        </p:spPr>
        <p:txBody>
          <a:bodyPr wrap="square">
            <a:spAutoFit/>
          </a:bodyPr>
          <a:lstStyle/>
          <a:p>
            <a:pPr algn="just"/>
            <a:r>
              <a:rPr lang="en-FR" sz="1600" dirty="0">
                <a:solidFill>
                  <a:srgbClr val="4B84F4"/>
                </a:solidFill>
                <a:latin typeface="Poppins" pitchFamily="2" charset="77"/>
                <a:cs typeface="Poppins" pitchFamily="2" charset="77"/>
              </a:rPr>
              <a:t>&gt; Using fictional placeholders</a:t>
            </a:r>
          </a:p>
        </p:txBody>
      </p:sp>
      <p:sp>
        <p:nvSpPr>
          <p:cNvPr id="30" name="TextBox 29">
            <a:extLst>
              <a:ext uri="{FF2B5EF4-FFF2-40B4-BE49-F238E27FC236}">
                <a16:creationId xmlns:a16="http://schemas.microsoft.com/office/drawing/2014/main" id="{C2BCED19-B5A0-1DBB-1D52-758CAF173EBB}"/>
              </a:ext>
            </a:extLst>
          </p:cNvPr>
          <p:cNvSpPr txBox="1"/>
          <p:nvPr/>
        </p:nvSpPr>
        <p:spPr>
          <a:xfrm>
            <a:off x="808190" y="3312601"/>
            <a:ext cx="3289029" cy="338554"/>
          </a:xfrm>
          <a:prstGeom prst="rect">
            <a:avLst/>
          </a:prstGeom>
          <a:noFill/>
        </p:spPr>
        <p:txBody>
          <a:bodyPr wrap="square">
            <a:spAutoFit/>
          </a:bodyPr>
          <a:lstStyle/>
          <a:p>
            <a:pPr algn="just"/>
            <a:r>
              <a:rPr lang="en-FR" sz="1600" dirty="0">
                <a:solidFill>
                  <a:srgbClr val="4B84F4"/>
                </a:solidFill>
                <a:latin typeface="Poppins" pitchFamily="2" charset="77"/>
                <a:cs typeface="Poppins" pitchFamily="2" charset="77"/>
              </a:rPr>
              <a:t>&gt; Using specific masks</a:t>
            </a:r>
          </a:p>
        </p:txBody>
      </p:sp>
      <p:sp>
        <p:nvSpPr>
          <p:cNvPr id="2" name="TextBox 1">
            <a:extLst>
              <a:ext uri="{FF2B5EF4-FFF2-40B4-BE49-F238E27FC236}">
                <a16:creationId xmlns:a16="http://schemas.microsoft.com/office/drawing/2014/main" id="{E437AEAD-A69E-CD98-B701-2B67B2FCF7FD}"/>
              </a:ext>
            </a:extLst>
          </p:cNvPr>
          <p:cNvSpPr txBox="1"/>
          <p:nvPr/>
        </p:nvSpPr>
        <p:spPr>
          <a:xfrm>
            <a:off x="5947692" y="1103619"/>
            <a:ext cx="1281120" cy="369332"/>
          </a:xfrm>
          <a:prstGeom prst="rect">
            <a:avLst/>
          </a:prstGeom>
          <a:noFill/>
        </p:spPr>
        <p:txBody>
          <a:bodyPr wrap="none" rtlCol="0">
            <a:spAutoFit/>
          </a:bodyPr>
          <a:lstStyle/>
          <a:p>
            <a:r>
              <a:rPr lang="en-FR" b="1" dirty="0">
                <a:solidFill>
                  <a:srgbClr val="A5B0F6"/>
                </a:solidFill>
                <a:latin typeface="Poppins" pitchFamily="2" charset="77"/>
                <a:cs typeface="Poppins" pitchFamily="2" charset="77"/>
              </a:rPr>
              <a:t>ORIGINAL</a:t>
            </a:r>
          </a:p>
        </p:txBody>
      </p:sp>
      <p:sp>
        <p:nvSpPr>
          <p:cNvPr id="7" name="TextBox 6">
            <a:extLst>
              <a:ext uri="{FF2B5EF4-FFF2-40B4-BE49-F238E27FC236}">
                <a16:creationId xmlns:a16="http://schemas.microsoft.com/office/drawing/2014/main" id="{7789EC5C-A211-78CF-A592-AB428856932E}"/>
              </a:ext>
            </a:extLst>
          </p:cNvPr>
          <p:cNvSpPr txBox="1"/>
          <p:nvPr/>
        </p:nvSpPr>
        <p:spPr>
          <a:xfrm>
            <a:off x="9357275" y="1103619"/>
            <a:ext cx="1540806" cy="369332"/>
          </a:xfrm>
          <a:prstGeom prst="rect">
            <a:avLst/>
          </a:prstGeom>
          <a:noFill/>
        </p:spPr>
        <p:txBody>
          <a:bodyPr wrap="none" rtlCol="0">
            <a:spAutoFit/>
          </a:bodyPr>
          <a:lstStyle/>
          <a:p>
            <a:r>
              <a:rPr lang="en-FR" b="1" dirty="0">
                <a:solidFill>
                  <a:srgbClr val="A5B0F6"/>
                </a:solidFill>
                <a:latin typeface="Poppins" pitchFamily="2" charset="77"/>
                <a:cs typeface="Poppins" pitchFamily="2" charset="77"/>
              </a:rPr>
              <a:t>PROCESSED</a:t>
            </a:r>
          </a:p>
        </p:txBody>
      </p:sp>
    </p:spTree>
    <p:extLst>
      <p:ext uri="{BB962C8B-B14F-4D97-AF65-F5344CB8AC3E}">
        <p14:creationId xmlns:p14="http://schemas.microsoft.com/office/powerpoint/2010/main" val="3402777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15" grpId="0" animBg="1"/>
      <p:bldP spid="16" grpId="0" animBg="1"/>
      <p:bldP spid="17" grpId="0" animBg="1"/>
      <p:bldP spid="19" grpId="0"/>
      <p:bldP spid="25" grpId="0"/>
      <p:bldP spid="26" grpId="0" animBg="1"/>
      <p:bldP spid="28" grpId="0"/>
      <p:bldP spid="30" grpId="0"/>
      <p:bldP spid="2" grpId="0"/>
      <p:bldP spid="7" grpId="0"/>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34898A3-EF0C-16F4-9746-81B875DA32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3EB569-F39A-9484-BEF9-DEEAA922F892}"/>
              </a:ext>
            </a:extLst>
          </p:cNvPr>
          <p:cNvSpPr>
            <a:spLocks noGrp="1"/>
          </p:cNvSpPr>
          <p:nvPr>
            <p:ph type="title"/>
          </p:nvPr>
        </p:nvSpPr>
        <p:spPr>
          <a:xfrm>
            <a:off x="1246163" y="58998"/>
            <a:ext cx="10447400" cy="1325563"/>
          </a:xfrm>
        </p:spPr>
        <p:txBody>
          <a:bodyPr>
            <a:normAutofit/>
          </a:bodyPr>
          <a:lstStyle/>
          <a:p>
            <a:r>
              <a:rPr lang="en-GB" sz="2900" b="1" dirty="0"/>
              <a:t>Data for Socio-Emotional Response Generation</a:t>
            </a:r>
            <a:r>
              <a:rPr lang="en-GB" sz="2900" dirty="0"/>
              <a:t> </a:t>
            </a:r>
            <a:br>
              <a:rPr lang="en-GB" dirty="0"/>
            </a:br>
            <a:r>
              <a:rPr lang="en-GB" sz="2200" dirty="0"/>
              <a:t>How is socio-conversational data currently collected and annotated?</a:t>
            </a:r>
            <a:endParaRPr lang="en-FR" sz="2200" dirty="0"/>
          </a:p>
        </p:txBody>
      </p:sp>
      <p:sp>
        <p:nvSpPr>
          <p:cNvPr id="10" name="Rectangle 9">
            <a:extLst>
              <a:ext uri="{FF2B5EF4-FFF2-40B4-BE49-F238E27FC236}">
                <a16:creationId xmlns:a16="http://schemas.microsoft.com/office/drawing/2014/main" id="{582BF136-EDF0-9440-3FF4-FE2BE4B1789C}"/>
              </a:ext>
            </a:extLst>
          </p:cNvPr>
          <p:cNvSpPr/>
          <p:nvPr/>
        </p:nvSpPr>
        <p:spPr>
          <a:xfrm>
            <a:off x="6301157" y="1596905"/>
            <a:ext cx="2489913" cy="3884254"/>
          </a:xfrm>
          <a:prstGeom prst="rect">
            <a:avLst/>
          </a:prstGeom>
          <a:solidFill>
            <a:srgbClr val="D0DB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FR" sz="2400" b="1" dirty="0">
              <a:solidFill>
                <a:srgbClr val="4B85F4"/>
              </a:solidFill>
              <a:latin typeface="Poppins" pitchFamily="2" charset="77"/>
              <a:cs typeface="Poppins" pitchFamily="2" charset="77"/>
            </a:endParaRPr>
          </a:p>
          <a:p>
            <a:pPr algn="ctr"/>
            <a:r>
              <a:rPr lang="en-FR" sz="2400" b="1" dirty="0">
                <a:solidFill>
                  <a:srgbClr val="4B85F4"/>
                </a:solidFill>
                <a:latin typeface="Poppins" pitchFamily="2" charset="77"/>
                <a:cs typeface="Poppins" pitchFamily="2" charset="77"/>
              </a:rPr>
              <a:t>Conversation Logs</a:t>
            </a:r>
          </a:p>
          <a:p>
            <a:pPr algn="ctr"/>
            <a:endParaRPr lang="en-FR" sz="2400" b="1" dirty="0">
              <a:solidFill>
                <a:srgbClr val="4B85F4"/>
              </a:solidFill>
              <a:latin typeface="Poppins" pitchFamily="2" charset="77"/>
              <a:cs typeface="Poppins" pitchFamily="2" charset="77"/>
            </a:endParaRPr>
          </a:p>
        </p:txBody>
      </p:sp>
      <p:pic>
        <p:nvPicPr>
          <p:cNvPr id="11" name="Graphic 10" descr="Document with solid fill">
            <a:extLst>
              <a:ext uri="{FF2B5EF4-FFF2-40B4-BE49-F238E27FC236}">
                <a16:creationId xmlns:a16="http://schemas.microsoft.com/office/drawing/2014/main" id="{724AFE00-9E3B-CB17-CBB5-8F31404F21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7312" y="3758044"/>
            <a:ext cx="1408013" cy="1408013"/>
          </a:xfrm>
          <a:prstGeom prst="rect">
            <a:avLst/>
          </a:prstGeom>
        </p:spPr>
      </p:pic>
      <p:sp>
        <p:nvSpPr>
          <p:cNvPr id="12" name="TextBox 11">
            <a:extLst>
              <a:ext uri="{FF2B5EF4-FFF2-40B4-BE49-F238E27FC236}">
                <a16:creationId xmlns:a16="http://schemas.microsoft.com/office/drawing/2014/main" id="{D2CBED0F-ABF0-3E21-B9FB-F2D51E620516}"/>
              </a:ext>
            </a:extLst>
          </p:cNvPr>
          <p:cNvSpPr txBox="1"/>
          <p:nvPr/>
        </p:nvSpPr>
        <p:spPr>
          <a:xfrm>
            <a:off x="6414334" y="3030889"/>
            <a:ext cx="2376736" cy="2154436"/>
          </a:xfrm>
          <a:prstGeom prst="rect">
            <a:avLst/>
          </a:prstGeom>
          <a:noFill/>
        </p:spPr>
        <p:txBody>
          <a:bodyPr wrap="square">
            <a:spAutoFit/>
          </a:bodyPr>
          <a:lstStyle/>
          <a:p>
            <a:r>
              <a:rPr lang="en-FR" i="1" u="sng" dirty="0">
                <a:solidFill>
                  <a:srgbClr val="4B85F4"/>
                </a:solidFill>
                <a:latin typeface="Poppins" pitchFamily="2" charset="77"/>
                <a:cs typeface="Poppins" pitchFamily="2" charset="77"/>
              </a:rPr>
              <a:t>Human-Machine: </a:t>
            </a:r>
            <a:br>
              <a:rPr lang="en-FR" i="1" u="sng" dirty="0">
                <a:solidFill>
                  <a:srgbClr val="4B85F4"/>
                </a:solidFill>
                <a:latin typeface="Poppins" pitchFamily="2" charset="77"/>
                <a:cs typeface="Poppins" pitchFamily="2" charset="77"/>
              </a:rPr>
            </a:br>
            <a:r>
              <a:rPr lang="en-FR" sz="1600" dirty="0">
                <a:solidFill>
                  <a:srgbClr val="4B85F4"/>
                </a:solidFill>
                <a:latin typeface="Poppins" pitchFamily="2" charset="77"/>
                <a:cs typeface="Poppins" pitchFamily="2" charset="77"/>
              </a:rPr>
              <a:t>= logs from deployed conversational systems</a:t>
            </a:r>
          </a:p>
          <a:p>
            <a:endParaRPr lang="en-FR" dirty="0">
              <a:solidFill>
                <a:srgbClr val="4B85F4"/>
              </a:solidFill>
              <a:latin typeface="Poppins" pitchFamily="2" charset="77"/>
              <a:cs typeface="Poppins" pitchFamily="2" charset="77"/>
            </a:endParaRPr>
          </a:p>
          <a:p>
            <a:r>
              <a:rPr lang="en-FR" i="1" u="sng" dirty="0">
                <a:solidFill>
                  <a:srgbClr val="4B85F4"/>
                </a:solidFill>
                <a:latin typeface="Poppins" pitchFamily="2" charset="77"/>
                <a:cs typeface="Poppins" pitchFamily="2" charset="77"/>
              </a:rPr>
              <a:t>Human-Human</a:t>
            </a:r>
            <a:r>
              <a:rPr lang="en-FR" dirty="0">
                <a:solidFill>
                  <a:srgbClr val="4B85F4"/>
                </a:solidFill>
                <a:latin typeface="Poppins" pitchFamily="2" charset="77"/>
                <a:cs typeface="Poppins" pitchFamily="2" charset="77"/>
              </a:rPr>
              <a:t>: </a:t>
            </a:r>
            <a:br>
              <a:rPr lang="en-FR" dirty="0">
                <a:solidFill>
                  <a:srgbClr val="4B85F4"/>
                </a:solidFill>
                <a:latin typeface="Poppins" pitchFamily="2" charset="77"/>
                <a:cs typeface="Poppins" pitchFamily="2" charset="77"/>
              </a:rPr>
            </a:br>
            <a:r>
              <a:rPr lang="en-FR" sz="1600" dirty="0">
                <a:solidFill>
                  <a:srgbClr val="4B85F4"/>
                </a:solidFill>
                <a:latin typeface="Poppins" pitchFamily="2" charset="77"/>
                <a:cs typeface="Poppins" pitchFamily="2" charset="77"/>
              </a:rPr>
              <a:t>= conversation logs from call centers…</a:t>
            </a:r>
            <a:endParaRPr lang="en-FR" sz="2400" dirty="0">
              <a:solidFill>
                <a:srgbClr val="4B85F4"/>
              </a:solidFill>
              <a:latin typeface="Poppins" pitchFamily="2" charset="77"/>
              <a:cs typeface="Poppins" pitchFamily="2" charset="77"/>
            </a:endParaRPr>
          </a:p>
        </p:txBody>
      </p:sp>
      <p:sp>
        <p:nvSpPr>
          <p:cNvPr id="16" name="Rectangle 15">
            <a:extLst>
              <a:ext uri="{FF2B5EF4-FFF2-40B4-BE49-F238E27FC236}">
                <a16:creationId xmlns:a16="http://schemas.microsoft.com/office/drawing/2014/main" id="{B3A3C386-A276-F13A-B7FD-25845D5192E2}"/>
              </a:ext>
            </a:extLst>
          </p:cNvPr>
          <p:cNvSpPr/>
          <p:nvPr/>
        </p:nvSpPr>
        <p:spPr>
          <a:xfrm>
            <a:off x="274353" y="1596905"/>
            <a:ext cx="2489913" cy="3884254"/>
          </a:xfrm>
          <a:prstGeom prst="rect">
            <a:avLst/>
          </a:prstGeom>
          <a:solidFill>
            <a:srgbClr val="D0DB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FR" sz="2400" dirty="0">
              <a:solidFill>
                <a:srgbClr val="4B85F4"/>
              </a:solidFill>
              <a:latin typeface="Poppins" pitchFamily="2" charset="77"/>
              <a:cs typeface="Poppins" pitchFamily="2" charset="77"/>
            </a:endParaRPr>
          </a:p>
          <a:p>
            <a:pPr algn="ctr"/>
            <a:r>
              <a:rPr lang="en-FR" sz="2400" b="1" dirty="0">
                <a:solidFill>
                  <a:srgbClr val="4B85F4"/>
                </a:solidFill>
                <a:latin typeface="Poppins" pitchFamily="2" charset="77"/>
                <a:cs typeface="Poppins" pitchFamily="2" charset="77"/>
              </a:rPr>
              <a:t>Crowd-Sourcing</a:t>
            </a:r>
          </a:p>
          <a:p>
            <a:pPr algn="ctr"/>
            <a:endParaRPr lang="en-FR" sz="2400" dirty="0">
              <a:solidFill>
                <a:srgbClr val="4B85F4"/>
              </a:solidFill>
              <a:latin typeface="Poppins" pitchFamily="2" charset="77"/>
              <a:cs typeface="Poppins" pitchFamily="2" charset="77"/>
            </a:endParaRPr>
          </a:p>
          <a:p>
            <a:pPr algn="ctr"/>
            <a:r>
              <a:rPr lang="en-FR" sz="1600" dirty="0">
                <a:solidFill>
                  <a:srgbClr val="4B85F4"/>
                </a:solidFill>
                <a:latin typeface="Poppins" pitchFamily="2" charset="77"/>
                <a:cs typeface="Poppins" pitchFamily="2" charset="77"/>
              </a:rPr>
              <a:t>= </a:t>
            </a:r>
            <a:r>
              <a:rPr lang="en-GB" sz="1600" dirty="0">
                <a:solidFill>
                  <a:srgbClr val="4B85F4"/>
                </a:solidFill>
                <a:latin typeface="Poppins" pitchFamily="2" charset="77"/>
                <a:cs typeface="Poppins" pitchFamily="2" charset="77"/>
              </a:rPr>
              <a:t>participatory method where a group of people contributes to creating data samples</a:t>
            </a:r>
            <a:endParaRPr lang="en-FR" sz="1600" dirty="0">
              <a:solidFill>
                <a:srgbClr val="4B85F4"/>
              </a:solidFill>
              <a:latin typeface="Poppins" pitchFamily="2" charset="77"/>
              <a:cs typeface="Poppins" pitchFamily="2" charset="77"/>
            </a:endParaRPr>
          </a:p>
        </p:txBody>
      </p:sp>
      <p:sp>
        <p:nvSpPr>
          <p:cNvPr id="21" name="Rectangle 20">
            <a:extLst>
              <a:ext uri="{FF2B5EF4-FFF2-40B4-BE49-F238E27FC236}">
                <a16:creationId xmlns:a16="http://schemas.microsoft.com/office/drawing/2014/main" id="{FF18B0E7-EC5F-AEA6-DECD-9D2E9415470C}"/>
              </a:ext>
            </a:extLst>
          </p:cNvPr>
          <p:cNvSpPr/>
          <p:nvPr/>
        </p:nvSpPr>
        <p:spPr>
          <a:xfrm>
            <a:off x="3287755" y="1596905"/>
            <a:ext cx="2489913" cy="3884254"/>
          </a:xfrm>
          <a:prstGeom prst="rect">
            <a:avLst/>
          </a:prstGeom>
          <a:solidFill>
            <a:schemeClr val="bg1"/>
          </a:solid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FR" sz="2400" dirty="0">
              <a:solidFill>
                <a:srgbClr val="4B85F4"/>
              </a:solidFill>
              <a:latin typeface="Poppins" pitchFamily="2" charset="77"/>
              <a:cs typeface="Poppins" pitchFamily="2" charset="77"/>
            </a:endParaRPr>
          </a:p>
          <a:p>
            <a:pPr algn="ctr"/>
            <a:r>
              <a:rPr lang="en-FR" sz="2400" b="1" dirty="0">
                <a:solidFill>
                  <a:srgbClr val="4B85F4"/>
                </a:solidFill>
                <a:latin typeface="Poppins" pitchFamily="2" charset="77"/>
                <a:cs typeface="Poppins" pitchFamily="2" charset="77"/>
              </a:rPr>
              <a:t>Web</a:t>
            </a:r>
            <a:br>
              <a:rPr lang="en-FR" sz="2400" b="1" dirty="0">
                <a:solidFill>
                  <a:srgbClr val="4B85F4"/>
                </a:solidFill>
                <a:latin typeface="Poppins" pitchFamily="2" charset="77"/>
                <a:cs typeface="Poppins" pitchFamily="2" charset="77"/>
              </a:rPr>
            </a:br>
            <a:r>
              <a:rPr lang="en-FR" sz="2400" b="1" dirty="0">
                <a:solidFill>
                  <a:srgbClr val="4B85F4"/>
                </a:solidFill>
                <a:latin typeface="Poppins" pitchFamily="2" charset="77"/>
                <a:cs typeface="Poppins" pitchFamily="2" charset="77"/>
              </a:rPr>
              <a:t>Crawling</a:t>
            </a:r>
            <a:endParaRPr lang="en-FR" sz="2400" dirty="0">
              <a:solidFill>
                <a:srgbClr val="4B85F4"/>
              </a:solidFill>
              <a:latin typeface="Poppins" pitchFamily="2" charset="77"/>
              <a:cs typeface="Poppins" pitchFamily="2" charset="77"/>
            </a:endParaRPr>
          </a:p>
          <a:p>
            <a:pPr algn="ctr"/>
            <a:endParaRPr lang="en-FR" sz="2400" dirty="0">
              <a:solidFill>
                <a:srgbClr val="4B85F4"/>
              </a:solidFill>
              <a:latin typeface="Poppins" pitchFamily="2" charset="77"/>
              <a:cs typeface="Poppins" pitchFamily="2" charset="77"/>
            </a:endParaRPr>
          </a:p>
          <a:p>
            <a:pPr algn="ctr"/>
            <a:r>
              <a:rPr lang="en-FR" sz="1600" dirty="0">
                <a:solidFill>
                  <a:srgbClr val="4B85F4"/>
                </a:solidFill>
                <a:latin typeface="Poppins" pitchFamily="2" charset="77"/>
                <a:cs typeface="Poppins" pitchFamily="2" charset="77"/>
              </a:rPr>
              <a:t>= </a:t>
            </a:r>
            <a:r>
              <a:rPr lang="en-GB" sz="1600" dirty="0">
                <a:solidFill>
                  <a:srgbClr val="4B85F4"/>
                </a:solidFill>
                <a:latin typeface="Poppins" pitchFamily="2" charset="77"/>
                <a:cs typeface="Poppins" pitchFamily="2" charset="77"/>
              </a:rPr>
              <a:t>extracting information from online sites such as social media or sources like </a:t>
            </a:r>
            <a:r>
              <a:rPr lang="en-GB" sz="1600" dirty="0" err="1">
                <a:solidFill>
                  <a:srgbClr val="4B85F4"/>
                </a:solidFill>
                <a:latin typeface="Poppins" pitchFamily="2" charset="77"/>
                <a:cs typeface="Poppins" pitchFamily="2" charset="77"/>
              </a:rPr>
              <a:t>OpenSubtitles</a:t>
            </a:r>
            <a:endParaRPr lang="en-FR" sz="1600" dirty="0">
              <a:solidFill>
                <a:srgbClr val="4B85F4"/>
              </a:solidFill>
              <a:latin typeface="Poppins" pitchFamily="2" charset="77"/>
              <a:cs typeface="Poppins" pitchFamily="2" charset="77"/>
            </a:endParaRPr>
          </a:p>
        </p:txBody>
      </p:sp>
      <p:sp>
        <p:nvSpPr>
          <p:cNvPr id="26" name="Rectangle 25">
            <a:extLst>
              <a:ext uri="{FF2B5EF4-FFF2-40B4-BE49-F238E27FC236}">
                <a16:creationId xmlns:a16="http://schemas.microsoft.com/office/drawing/2014/main" id="{12C9934B-88D1-6348-2523-D7FFFF82EB8B}"/>
              </a:ext>
            </a:extLst>
          </p:cNvPr>
          <p:cNvSpPr/>
          <p:nvPr/>
        </p:nvSpPr>
        <p:spPr>
          <a:xfrm>
            <a:off x="274353" y="5655973"/>
            <a:ext cx="971810" cy="611011"/>
          </a:xfrm>
          <a:prstGeom prst="rect">
            <a:avLst/>
          </a:prstGeom>
          <a:noFill/>
          <a:ln w="28575">
            <a:solidFill>
              <a:srgbClr val="A5B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a:solidFill>
                  <a:srgbClr val="4B85F4"/>
                </a:solidFill>
                <a:latin typeface="Poppins" pitchFamily="2" charset="77"/>
                <a:cs typeface="Poppins" pitchFamily="2" charset="77"/>
              </a:rPr>
              <a:t>H-H</a:t>
            </a:r>
          </a:p>
        </p:txBody>
      </p:sp>
      <p:sp>
        <p:nvSpPr>
          <p:cNvPr id="27" name="Rectangle 26">
            <a:extLst>
              <a:ext uri="{FF2B5EF4-FFF2-40B4-BE49-F238E27FC236}">
                <a16:creationId xmlns:a16="http://schemas.microsoft.com/office/drawing/2014/main" id="{1D37F5DD-7117-4078-CEE4-241B1DA34CFF}"/>
              </a:ext>
            </a:extLst>
          </p:cNvPr>
          <p:cNvSpPr/>
          <p:nvPr/>
        </p:nvSpPr>
        <p:spPr>
          <a:xfrm>
            <a:off x="1519308" y="5652807"/>
            <a:ext cx="1240427" cy="611011"/>
          </a:xfrm>
          <a:prstGeom prst="rect">
            <a:avLst/>
          </a:prstGeom>
          <a:noFill/>
          <a:ln w="28575">
            <a:solidFill>
              <a:srgbClr val="A5B0F6"/>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600" b="1" dirty="0" err="1">
                <a:solidFill>
                  <a:srgbClr val="4B85F4"/>
                </a:solidFill>
                <a:latin typeface="Poppins" pitchFamily="2" charset="77"/>
                <a:cs typeface="Poppins" pitchFamily="2" charset="77"/>
              </a:rPr>
              <a:t>Scripted</a:t>
            </a:r>
            <a:endParaRPr lang="fr-FR" sz="1600" b="1" dirty="0">
              <a:solidFill>
                <a:srgbClr val="4B85F4"/>
              </a:solidFill>
              <a:latin typeface="Poppins" pitchFamily="2" charset="77"/>
              <a:cs typeface="Poppins" pitchFamily="2" charset="77"/>
            </a:endParaRPr>
          </a:p>
        </p:txBody>
      </p:sp>
      <p:sp>
        <p:nvSpPr>
          <p:cNvPr id="28" name="Rectangle 27">
            <a:extLst>
              <a:ext uri="{FF2B5EF4-FFF2-40B4-BE49-F238E27FC236}">
                <a16:creationId xmlns:a16="http://schemas.microsoft.com/office/drawing/2014/main" id="{B269715F-120E-9CFD-60DF-90986E1685E3}"/>
              </a:ext>
            </a:extLst>
          </p:cNvPr>
          <p:cNvSpPr/>
          <p:nvPr/>
        </p:nvSpPr>
        <p:spPr>
          <a:xfrm>
            <a:off x="9293042" y="5639181"/>
            <a:ext cx="971810" cy="611012"/>
          </a:xfrm>
          <a:prstGeom prst="rect">
            <a:avLst/>
          </a:prstGeom>
          <a:solidFill>
            <a:srgbClr val="D0DCF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rgbClr val="4B85F4"/>
                </a:solidFill>
                <a:latin typeface="Poppins" pitchFamily="2" charset="77"/>
                <a:cs typeface="Poppins" pitchFamily="2" charset="77"/>
              </a:rPr>
              <a:t>M-M</a:t>
            </a:r>
          </a:p>
        </p:txBody>
      </p:sp>
      <p:sp>
        <p:nvSpPr>
          <p:cNvPr id="29" name="Rectangle 28">
            <a:extLst>
              <a:ext uri="{FF2B5EF4-FFF2-40B4-BE49-F238E27FC236}">
                <a16:creationId xmlns:a16="http://schemas.microsoft.com/office/drawing/2014/main" id="{843EAD62-2F1D-C20F-0907-80E38C764205}"/>
              </a:ext>
            </a:extLst>
          </p:cNvPr>
          <p:cNvSpPr/>
          <p:nvPr/>
        </p:nvSpPr>
        <p:spPr>
          <a:xfrm>
            <a:off x="10428070" y="5652806"/>
            <a:ext cx="1387159" cy="611011"/>
          </a:xfrm>
          <a:prstGeom prst="rect">
            <a:avLst/>
          </a:prstGeom>
          <a:solidFill>
            <a:srgbClr val="D0DCFD"/>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600" b="1" dirty="0" err="1">
                <a:solidFill>
                  <a:srgbClr val="4B85F4"/>
                </a:solidFill>
                <a:latin typeface="Poppins" pitchFamily="2" charset="77"/>
                <a:cs typeface="Poppins" pitchFamily="2" charset="77"/>
              </a:rPr>
              <a:t>Synthetic</a:t>
            </a:r>
            <a:endParaRPr lang="fr-FR" sz="1600" b="1" dirty="0">
              <a:solidFill>
                <a:srgbClr val="4B85F4"/>
              </a:solidFill>
              <a:latin typeface="Poppins" pitchFamily="2" charset="77"/>
              <a:cs typeface="Poppins" pitchFamily="2" charset="77"/>
            </a:endParaRPr>
          </a:p>
        </p:txBody>
      </p:sp>
      <p:sp>
        <p:nvSpPr>
          <p:cNvPr id="30" name="Rectangle 29">
            <a:extLst>
              <a:ext uri="{FF2B5EF4-FFF2-40B4-BE49-F238E27FC236}">
                <a16:creationId xmlns:a16="http://schemas.microsoft.com/office/drawing/2014/main" id="{8C08FCAA-9A00-2FA0-1A45-686D97501D08}"/>
              </a:ext>
            </a:extLst>
          </p:cNvPr>
          <p:cNvSpPr/>
          <p:nvPr/>
        </p:nvSpPr>
        <p:spPr>
          <a:xfrm>
            <a:off x="9314558" y="1596905"/>
            <a:ext cx="2489913" cy="3884254"/>
          </a:xfrm>
          <a:prstGeom prst="rect">
            <a:avLst/>
          </a:prstGeom>
          <a:solidFill>
            <a:schemeClr val="bg1"/>
          </a:solidFill>
          <a:ln w="57150">
            <a:solidFill>
              <a:srgbClr val="A5AFF5"/>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FR" sz="2400" dirty="0">
              <a:solidFill>
                <a:srgbClr val="4B85F4"/>
              </a:solidFill>
              <a:latin typeface="Poppins" pitchFamily="2" charset="77"/>
              <a:cs typeface="Poppins" pitchFamily="2" charset="77"/>
            </a:endParaRPr>
          </a:p>
          <a:p>
            <a:pPr algn="ctr"/>
            <a:r>
              <a:rPr lang="en-FR" sz="2400" b="1" dirty="0">
                <a:solidFill>
                  <a:srgbClr val="4B85F4"/>
                </a:solidFill>
                <a:latin typeface="Poppins" pitchFamily="2" charset="77"/>
                <a:cs typeface="Poppins" pitchFamily="2" charset="77"/>
              </a:rPr>
              <a:t>Synthetic </a:t>
            </a:r>
            <a:br>
              <a:rPr lang="en-FR" sz="2400" b="1" dirty="0">
                <a:solidFill>
                  <a:srgbClr val="4B85F4"/>
                </a:solidFill>
                <a:latin typeface="Poppins" pitchFamily="2" charset="77"/>
                <a:cs typeface="Poppins" pitchFamily="2" charset="77"/>
              </a:rPr>
            </a:br>
            <a:r>
              <a:rPr lang="en-FR" sz="2400" b="1" dirty="0">
                <a:solidFill>
                  <a:srgbClr val="4B85F4"/>
                </a:solidFill>
                <a:latin typeface="Poppins" pitchFamily="2" charset="77"/>
                <a:cs typeface="Poppins" pitchFamily="2" charset="77"/>
              </a:rPr>
              <a:t>Data</a:t>
            </a:r>
          </a:p>
          <a:p>
            <a:pPr algn="ctr"/>
            <a:endParaRPr lang="en-FR" sz="2400" dirty="0">
              <a:solidFill>
                <a:srgbClr val="4B85F4"/>
              </a:solidFill>
              <a:latin typeface="Poppins" pitchFamily="2" charset="77"/>
              <a:cs typeface="Poppins" pitchFamily="2" charset="77"/>
            </a:endParaRPr>
          </a:p>
          <a:p>
            <a:pPr algn="ctr"/>
            <a:r>
              <a:rPr lang="en-FR" sz="1600" dirty="0">
                <a:solidFill>
                  <a:srgbClr val="4B85F4"/>
                </a:solidFill>
                <a:latin typeface="Poppins" pitchFamily="2" charset="77"/>
                <a:cs typeface="Poppins" pitchFamily="2" charset="77"/>
              </a:rPr>
              <a:t>= </a:t>
            </a:r>
            <a:r>
              <a:rPr lang="en-GB" sz="1600" dirty="0">
                <a:solidFill>
                  <a:srgbClr val="4B85F4"/>
                </a:solidFill>
                <a:latin typeface="Poppins" pitchFamily="2" charset="77"/>
                <a:cs typeface="Poppins" pitchFamily="2" charset="77"/>
              </a:rPr>
              <a:t>creating a </a:t>
            </a:r>
            <a:br>
              <a:rPr lang="en-GB" sz="1600" dirty="0">
                <a:solidFill>
                  <a:srgbClr val="4B85F4"/>
                </a:solidFill>
                <a:latin typeface="Poppins" pitchFamily="2" charset="77"/>
                <a:cs typeface="Poppins" pitchFamily="2" charset="77"/>
              </a:rPr>
            </a:br>
            <a:r>
              <a:rPr lang="en-GB" sz="1600" dirty="0">
                <a:solidFill>
                  <a:srgbClr val="4B85F4"/>
                </a:solidFill>
                <a:latin typeface="Poppins" pitchFamily="2" charset="77"/>
                <a:cs typeface="Poppins" pitchFamily="2" charset="77"/>
              </a:rPr>
              <a:t>dataset composed entirely of </a:t>
            </a:r>
            <a:br>
              <a:rPr lang="en-GB" sz="1600" dirty="0">
                <a:solidFill>
                  <a:srgbClr val="4B85F4"/>
                </a:solidFill>
                <a:latin typeface="Poppins" pitchFamily="2" charset="77"/>
                <a:cs typeface="Poppins" pitchFamily="2" charset="77"/>
              </a:rPr>
            </a:br>
            <a:r>
              <a:rPr lang="en-GB" sz="1600" dirty="0">
                <a:solidFill>
                  <a:srgbClr val="4B85F4"/>
                </a:solidFill>
                <a:latin typeface="Poppins" pitchFamily="2" charset="77"/>
                <a:cs typeface="Poppins" pitchFamily="2" charset="77"/>
              </a:rPr>
              <a:t>AI-generated </a:t>
            </a:r>
            <a:br>
              <a:rPr lang="en-GB" sz="1600" dirty="0">
                <a:solidFill>
                  <a:srgbClr val="4B85F4"/>
                </a:solidFill>
                <a:latin typeface="Poppins" pitchFamily="2" charset="77"/>
                <a:cs typeface="Poppins" pitchFamily="2" charset="77"/>
              </a:rPr>
            </a:br>
            <a:r>
              <a:rPr lang="en-GB" sz="1600" dirty="0">
                <a:solidFill>
                  <a:srgbClr val="4B85F4"/>
                </a:solidFill>
                <a:latin typeface="Poppins" pitchFamily="2" charset="77"/>
                <a:cs typeface="Poppins" pitchFamily="2" charset="77"/>
              </a:rPr>
              <a:t>samples</a:t>
            </a:r>
          </a:p>
          <a:p>
            <a:pPr algn="ctr"/>
            <a:r>
              <a:rPr lang="en-GB" sz="1600" dirty="0">
                <a:solidFill>
                  <a:srgbClr val="4B85F4"/>
                </a:solidFill>
                <a:latin typeface="Poppins" pitchFamily="2" charset="77"/>
                <a:cs typeface="Poppins" pitchFamily="2" charset="77"/>
              </a:rPr>
              <a:t>using LLMs</a:t>
            </a:r>
            <a:endParaRPr lang="en-FR" sz="1600" dirty="0">
              <a:solidFill>
                <a:srgbClr val="4B85F4"/>
              </a:solidFill>
              <a:latin typeface="Poppins" pitchFamily="2" charset="77"/>
              <a:cs typeface="Poppins" pitchFamily="2" charset="77"/>
            </a:endParaRPr>
          </a:p>
        </p:txBody>
      </p:sp>
      <p:sp>
        <p:nvSpPr>
          <p:cNvPr id="31" name="Rectangle 30">
            <a:extLst>
              <a:ext uri="{FF2B5EF4-FFF2-40B4-BE49-F238E27FC236}">
                <a16:creationId xmlns:a16="http://schemas.microsoft.com/office/drawing/2014/main" id="{436C78BA-C7FA-55BB-6A12-228A2C219605}"/>
              </a:ext>
            </a:extLst>
          </p:cNvPr>
          <p:cNvSpPr/>
          <p:nvPr/>
        </p:nvSpPr>
        <p:spPr>
          <a:xfrm>
            <a:off x="3273698" y="5652806"/>
            <a:ext cx="971810" cy="611011"/>
          </a:xfrm>
          <a:prstGeom prst="rect">
            <a:avLst/>
          </a:prstGeom>
          <a:solidFill>
            <a:srgbClr val="D0DCF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rgbClr val="4B85F4"/>
                </a:solidFill>
                <a:latin typeface="Poppins" pitchFamily="2" charset="77"/>
                <a:cs typeface="Poppins" pitchFamily="2" charset="77"/>
              </a:rPr>
              <a:t>H-H</a:t>
            </a:r>
          </a:p>
        </p:txBody>
      </p:sp>
      <p:sp>
        <p:nvSpPr>
          <p:cNvPr id="32" name="Rectangle 31">
            <a:extLst>
              <a:ext uri="{FF2B5EF4-FFF2-40B4-BE49-F238E27FC236}">
                <a16:creationId xmlns:a16="http://schemas.microsoft.com/office/drawing/2014/main" id="{105C99F9-EA30-DFC2-8D1C-D8E4498AA958}"/>
              </a:ext>
            </a:extLst>
          </p:cNvPr>
          <p:cNvSpPr/>
          <p:nvPr/>
        </p:nvSpPr>
        <p:spPr>
          <a:xfrm>
            <a:off x="4532711" y="5652806"/>
            <a:ext cx="1240427" cy="611011"/>
          </a:xfrm>
          <a:prstGeom prst="rect">
            <a:avLst/>
          </a:prstGeom>
          <a:solidFill>
            <a:srgbClr val="D0DCF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rgbClr val="4B85F4"/>
                </a:solidFill>
                <a:latin typeface="Poppins" pitchFamily="2" charset="77"/>
                <a:cs typeface="Poppins" pitchFamily="2" charset="77"/>
              </a:rPr>
              <a:t>Natural</a:t>
            </a:r>
          </a:p>
        </p:txBody>
      </p:sp>
      <p:sp>
        <p:nvSpPr>
          <p:cNvPr id="33" name="Rectangle 32">
            <a:extLst>
              <a:ext uri="{FF2B5EF4-FFF2-40B4-BE49-F238E27FC236}">
                <a16:creationId xmlns:a16="http://schemas.microsoft.com/office/drawing/2014/main" id="{D124EADF-C503-2CBA-316B-DD66713A960A}"/>
              </a:ext>
            </a:extLst>
          </p:cNvPr>
          <p:cNvSpPr/>
          <p:nvPr/>
        </p:nvSpPr>
        <p:spPr>
          <a:xfrm>
            <a:off x="6311915" y="5652807"/>
            <a:ext cx="971810" cy="611011"/>
          </a:xfrm>
          <a:prstGeom prst="rect">
            <a:avLst/>
          </a:prstGeom>
          <a:noFill/>
          <a:ln w="28575">
            <a:solidFill>
              <a:srgbClr val="A5B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rgbClr val="4B85F4"/>
                </a:solidFill>
                <a:latin typeface="Poppins" pitchFamily="2" charset="77"/>
                <a:cs typeface="Poppins" pitchFamily="2" charset="77"/>
              </a:rPr>
              <a:t>H-M</a:t>
            </a:r>
            <a:br>
              <a:rPr lang="fr-FR" sz="1600" b="1" dirty="0">
                <a:solidFill>
                  <a:srgbClr val="4B85F4"/>
                </a:solidFill>
                <a:latin typeface="Poppins" pitchFamily="2" charset="77"/>
                <a:cs typeface="Poppins" pitchFamily="2" charset="77"/>
              </a:rPr>
            </a:br>
            <a:r>
              <a:rPr lang="fr-FR" sz="1600" b="1" dirty="0">
                <a:solidFill>
                  <a:srgbClr val="4B85F4"/>
                </a:solidFill>
                <a:latin typeface="Poppins" pitchFamily="2" charset="77"/>
                <a:cs typeface="Poppins" pitchFamily="2" charset="77"/>
              </a:rPr>
              <a:t>H-H</a:t>
            </a:r>
          </a:p>
        </p:txBody>
      </p:sp>
      <p:sp>
        <p:nvSpPr>
          <p:cNvPr id="34" name="Rectangle 33">
            <a:extLst>
              <a:ext uri="{FF2B5EF4-FFF2-40B4-BE49-F238E27FC236}">
                <a16:creationId xmlns:a16="http://schemas.microsoft.com/office/drawing/2014/main" id="{5A1B9773-D2B0-34E5-CC17-8B1539B9BD88}"/>
              </a:ext>
            </a:extLst>
          </p:cNvPr>
          <p:cNvSpPr/>
          <p:nvPr/>
        </p:nvSpPr>
        <p:spPr>
          <a:xfrm>
            <a:off x="7546113" y="5652806"/>
            <a:ext cx="1240427" cy="611011"/>
          </a:xfrm>
          <a:prstGeom prst="rect">
            <a:avLst/>
          </a:prstGeom>
          <a:noFill/>
          <a:ln w="28575">
            <a:solidFill>
              <a:srgbClr val="A5B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rgbClr val="4B85F4"/>
                </a:solidFill>
                <a:latin typeface="Poppins" pitchFamily="2" charset="77"/>
                <a:cs typeface="Poppins" pitchFamily="2" charset="77"/>
              </a:rPr>
              <a:t>Natural</a:t>
            </a:r>
          </a:p>
        </p:txBody>
      </p:sp>
      <p:pic>
        <p:nvPicPr>
          <p:cNvPr id="35" name="Graphic 34" descr="Books with solid fill">
            <a:extLst>
              <a:ext uri="{FF2B5EF4-FFF2-40B4-BE49-F238E27FC236}">
                <a16:creationId xmlns:a16="http://schemas.microsoft.com/office/drawing/2014/main" id="{D276705B-6B1C-26CD-60D7-2B5E9AEB1DC0}"/>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152301" y="299584"/>
            <a:ext cx="844390" cy="844390"/>
          </a:xfrm>
          <a:prstGeom prst="rect">
            <a:avLst/>
          </a:prstGeom>
        </p:spPr>
      </p:pic>
    </p:spTree>
    <p:extLst>
      <p:ext uri="{BB962C8B-B14F-4D97-AF65-F5344CB8AC3E}">
        <p14:creationId xmlns:p14="http://schemas.microsoft.com/office/powerpoint/2010/main" val="4111422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1" grpId="0" animBg="1"/>
      <p:bldP spid="32" grpId="0" animBg="1"/>
      <p:bldP spid="33" grpId="0" animBg="1"/>
      <p:bldP spid="34"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7D15167-AE77-6312-95CA-54EC49F0E0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EBA05F-9101-6358-B39D-4C368D4DA5D7}"/>
              </a:ext>
            </a:extLst>
          </p:cNvPr>
          <p:cNvSpPr>
            <a:spLocks noGrp="1"/>
          </p:cNvSpPr>
          <p:nvPr>
            <p:ph type="title"/>
          </p:nvPr>
        </p:nvSpPr>
        <p:spPr>
          <a:xfrm>
            <a:off x="1246163" y="58998"/>
            <a:ext cx="10447400" cy="1325563"/>
          </a:xfrm>
        </p:spPr>
        <p:txBody>
          <a:bodyPr>
            <a:normAutofit/>
          </a:bodyPr>
          <a:lstStyle/>
          <a:p>
            <a:r>
              <a:rPr lang="en-GB" sz="2900" b="1" dirty="0"/>
              <a:t>Data for Socio-Emotional Response Generation</a:t>
            </a:r>
            <a:r>
              <a:rPr lang="en-GB" sz="2900" dirty="0"/>
              <a:t> </a:t>
            </a:r>
            <a:br>
              <a:rPr lang="en-GB" dirty="0"/>
            </a:br>
            <a:r>
              <a:rPr lang="en-GB" sz="2200" dirty="0"/>
              <a:t>How is socio-conversational data currently collected and annotated?</a:t>
            </a:r>
            <a:endParaRPr lang="en-FR" sz="2200" dirty="0"/>
          </a:p>
        </p:txBody>
      </p:sp>
      <p:sp>
        <p:nvSpPr>
          <p:cNvPr id="4" name="TextBox 3">
            <a:extLst>
              <a:ext uri="{FF2B5EF4-FFF2-40B4-BE49-F238E27FC236}">
                <a16:creationId xmlns:a16="http://schemas.microsoft.com/office/drawing/2014/main" id="{12E958FE-FFA9-630A-4444-126A46C356FC}"/>
              </a:ext>
            </a:extLst>
          </p:cNvPr>
          <p:cNvSpPr txBox="1"/>
          <p:nvPr/>
        </p:nvSpPr>
        <p:spPr>
          <a:xfrm>
            <a:off x="891015" y="3538233"/>
            <a:ext cx="4726983" cy="523220"/>
          </a:xfrm>
          <a:prstGeom prst="rect">
            <a:avLst/>
          </a:prstGeom>
          <a:noFill/>
        </p:spPr>
        <p:txBody>
          <a:bodyPr wrap="square" lIns="91440" tIns="45720" rIns="91440" bIns="45720" rtlCol="0" anchor="t">
            <a:spAutoFit/>
          </a:bodyPr>
          <a:lstStyle/>
          <a:p>
            <a:pPr algn="ctr"/>
            <a:r>
              <a:rPr lang="en-FR" sz="2700" b="1">
                <a:solidFill>
                  <a:srgbClr val="B08AB4"/>
                </a:solidFill>
                <a:latin typeface="Poppins"/>
                <a:cs typeface="Poppins"/>
              </a:rPr>
              <a:t>SPEAKER POINT OF VIEW</a:t>
            </a:r>
          </a:p>
        </p:txBody>
      </p:sp>
      <p:sp>
        <p:nvSpPr>
          <p:cNvPr id="5" name="TextBox 4">
            <a:extLst>
              <a:ext uri="{FF2B5EF4-FFF2-40B4-BE49-F238E27FC236}">
                <a16:creationId xmlns:a16="http://schemas.microsoft.com/office/drawing/2014/main" id="{7FE4BDFF-FA4D-DA9D-1E92-026780492B91}"/>
              </a:ext>
            </a:extLst>
          </p:cNvPr>
          <p:cNvSpPr txBox="1"/>
          <p:nvPr/>
        </p:nvSpPr>
        <p:spPr>
          <a:xfrm>
            <a:off x="6949764" y="2222747"/>
            <a:ext cx="4581703" cy="923330"/>
          </a:xfrm>
          <a:prstGeom prst="rect">
            <a:avLst/>
          </a:prstGeom>
          <a:noFill/>
        </p:spPr>
        <p:txBody>
          <a:bodyPr wrap="none" rtlCol="0">
            <a:spAutoFit/>
          </a:bodyPr>
          <a:lstStyle/>
          <a:p>
            <a:r>
              <a:rPr lang="en-FR" b="1">
                <a:solidFill>
                  <a:srgbClr val="B08AB4"/>
                </a:solidFill>
                <a:latin typeface="Poppins" pitchFamily="2" charset="77"/>
                <a:cs typeface="Poppins" pitchFamily="2" charset="77"/>
              </a:rPr>
              <a:t>For crowd-sourced data:</a:t>
            </a:r>
          </a:p>
          <a:p>
            <a:pPr marL="742950" lvl="1" indent="-285750">
              <a:buFont typeface="Arial" panose="020B0604020202020204" pitchFamily="34" charset="0"/>
              <a:buChar char="•"/>
            </a:pPr>
            <a:r>
              <a:rPr lang="en-FR">
                <a:solidFill>
                  <a:srgbClr val="0055FF"/>
                </a:solidFill>
                <a:latin typeface="Poppins" pitchFamily="2" charset="77"/>
                <a:cs typeface="Poppins" pitchFamily="2" charset="77"/>
              </a:rPr>
              <a:t>Emotional prompt or Instruction</a:t>
            </a:r>
          </a:p>
          <a:p>
            <a:pPr marL="742950" lvl="1" indent="-285750">
              <a:buFont typeface="Arial" panose="020B0604020202020204" pitchFamily="34" charset="0"/>
              <a:buChar char="•"/>
            </a:pPr>
            <a:r>
              <a:rPr lang="en-FR">
                <a:solidFill>
                  <a:srgbClr val="0055FF"/>
                </a:solidFill>
                <a:latin typeface="Poppins" pitchFamily="2" charset="77"/>
                <a:cs typeface="Poppins" pitchFamily="2" charset="77"/>
              </a:rPr>
              <a:t>Surveys</a:t>
            </a:r>
          </a:p>
        </p:txBody>
      </p:sp>
      <p:sp>
        <p:nvSpPr>
          <p:cNvPr id="6" name="TextBox 5">
            <a:extLst>
              <a:ext uri="{FF2B5EF4-FFF2-40B4-BE49-F238E27FC236}">
                <a16:creationId xmlns:a16="http://schemas.microsoft.com/office/drawing/2014/main" id="{25596778-2242-D733-F296-CB553AF2AAE9}"/>
              </a:ext>
            </a:extLst>
          </p:cNvPr>
          <p:cNvSpPr txBox="1"/>
          <p:nvPr/>
        </p:nvSpPr>
        <p:spPr>
          <a:xfrm>
            <a:off x="6949763" y="3738287"/>
            <a:ext cx="2250937" cy="646331"/>
          </a:xfrm>
          <a:prstGeom prst="rect">
            <a:avLst/>
          </a:prstGeom>
          <a:noFill/>
        </p:spPr>
        <p:txBody>
          <a:bodyPr wrap="none" rtlCol="0">
            <a:spAutoFit/>
          </a:bodyPr>
          <a:lstStyle/>
          <a:p>
            <a:r>
              <a:rPr lang="en-FR" b="1">
                <a:solidFill>
                  <a:srgbClr val="B08AB4"/>
                </a:solidFill>
                <a:latin typeface="Poppins" pitchFamily="2" charset="77"/>
                <a:cs typeface="Poppins" pitchFamily="2" charset="77"/>
              </a:rPr>
              <a:t>For crawled data:</a:t>
            </a:r>
          </a:p>
          <a:p>
            <a:pPr marL="742950" lvl="1" indent="-285750">
              <a:buFont typeface="Arial" panose="020B0604020202020204" pitchFamily="34" charset="0"/>
              <a:buChar char="•"/>
            </a:pPr>
            <a:r>
              <a:rPr lang="en-FR">
                <a:solidFill>
                  <a:srgbClr val="0055FF"/>
                </a:solidFill>
                <a:latin typeface="Poppins" pitchFamily="2" charset="77"/>
                <a:cs typeface="Poppins" pitchFamily="2" charset="77"/>
              </a:rPr>
              <a:t>Metadata</a:t>
            </a:r>
          </a:p>
        </p:txBody>
      </p:sp>
      <p:sp>
        <p:nvSpPr>
          <p:cNvPr id="7" name="TextBox 6">
            <a:extLst>
              <a:ext uri="{FF2B5EF4-FFF2-40B4-BE49-F238E27FC236}">
                <a16:creationId xmlns:a16="http://schemas.microsoft.com/office/drawing/2014/main" id="{4D5252DF-4821-07B1-BEB5-E9D0C53FE1A3}"/>
              </a:ext>
            </a:extLst>
          </p:cNvPr>
          <p:cNvSpPr txBox="1"/>
          <p:nvPr/>
        </p:nvSpPr>
        <p:spPr>
          <a:xfrm>
            <a:off x="6949763" y="4976828"/>
            <a:ext cx="2800767" cy="646331"/>
          </a:xfrm>
          <a:prstGeom prst="rect">
            <a:avLst/>
          </a:prstGeom>
          <a:noFill/>
        </p:spPr>
        <p:txBody>
          <a:bodyPr wrap="none" rtlCol="0">
            <a:spAutoFit/>
          </a:bodyPr>
          <a:lstStyle/>
          <a:p>
            <a:r>
              <a:rPr lang="en-FR" b="1" dirty="0">
                <a:solidFill>
                  <a:srgbClr val="B08AB4"/>
                </a:solidFill>
                <a:latin typeface="Poppins" pitchFamily="2" charset="77"/>
                <a:cs typeface="Poppins" pitchFamily="2" charset="77"/>
              </a:rPr>
              <a:t>For conversation logs:</a:t>
            </a:r>
          </a:p>
          <a:p>
            <a:pPr marL="742950" lvl="1" indent="-285750">
              <a:buFont typeface="Arial" panose="020B0604020202020204" pitchFamily="34" charset="0"/>
              <a:buChar char="•"/>
            </a:pPr>
            <a:r>
              <a:rPr lang="en-FR" dirty="0">
                <a:solidFill>
                  <a:srgbClr val="0055FF"/>
                </a:solidFill>
                <a:latin typeface="Poppins" pitchFamily="2" charset="77"/>
                <a:cs typeface="Poppins" pitchFamily="2" charset="77"/>
              </a:rPr>
              <a:t>User Feedback</a:t>
            </a:r>
          </a:p>
        </p:txBody>
      </p:sp>
      <p:grpSp>
        <p:nvGrpSpPr>
          <p:cNvPr id="8" name="Group 7">
            <a:extLst>
              <a:ext uri="{FF2B5EF4-FFF2-40B4-BE49-F238E27FC236}">
                <a16:creationId xmlns:a16="http://schemas.microsoft.com/office/drawing/2014/main" id="{ACDC9711-8CF8-3C55-953D-369455F42F64}"/>
              </a:ext>
            </a:extLst>
          </p:cNvPr>
          <p:cNvGrpSpPr/>
          <p:nvPr/>
        </p:nvGrpSpPr>
        <p:grpSpPr>
          <a:xfrm>
            <a:off x="1266775" y="1542237"/>
            <a:ext cx="3975464" cy="4267760"/>
            <a:chOff x="1123741" y="2943685"/>
            <a:chExt cx="2994946" cy="3115230"/>
          </a:xfrm>
        </p:grpSpPr>
        <p:pic>
          <p:nvPicPr>
            <p:cNvPr id="30" name="Graphic 29" descr="Questions with solid fill">
              <a:extLst>
                <a:ext uri="{FF2B5EF4-FFF2-40B4-BE49-F238E27FC236}">
                  <a16:creationId xmlns:a16="http://schemas.microsoft.com/office/drawing/2014/main" id="{E3CE217C-96D6-BCA5-9E06-BA31DD880A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3741" y="3063969"/>
              <a:ext cx="2994946" cy="2994946"/>
            </a:xfrm>
            <a:prstGeom prst="rect">
              <a:avLst/>
            </a:prstGeom>
          </p:spPr>
        </p:pic>
        <p:sp>
          <p:nvSpPr>
            <p:cNvPr id="31" name="Rectangle 30">
              <a:extLst>
                <a:ext uri="{FF2B5EF4-FFF2-40B4-BE49-F238E27FC236}">
                  <a16:creationId xmlns:a16="http://schemas.microsoft.com/office/drawing/2014/main" id="{4C153C74-E7B1-A109-C08A-98C9F27E194A}"/>
                </a:ext>
              </a:extLst>
            </p:cNvPr>
            <p:cNvSpPr/>
            <p:nvPr/>
          </p:nvSpPr>
          <p:spPr>
            <a:xfrm>
              <a:off x="2309247" y="3223647"/>
              <a:ext cx="1611824" cy="10173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pic>
          <p:nvPicPr>
            <p:cNvPr id="32" name="Graphic 31" descr="Comment Heart with solid fill">
              <a:extLst>
                <a:ext uri="{FF2B5EF4-FFF2-40B4-BE49-F238E27FC236}">
                  <a16:creationId xmlns:a16="http://schemas.microsoft.com/office/drawing/2014/main" id="{B13C101E-64BC-8259-D356-2CFC9C3927E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2122048" y="2943685"/>
              <a:ext cx="1930784" cy="1930784"/>
            </a:xfrm>
            <a:prstGeom prst="rect">
              <a:avLst/>
            </a:prstGeom>
          </p:spPr>
        </p:pic>
      </p:grpSp>
      <p:sp>
        <p:nvSpPr>
          <p:cNvPr id="3" name="Rectangle 2">
            <a:extLst>
              <a:ext uri="{FF2B5EF4-FFF2-40B4-BE49-F238E27FC236}">
                <a16:creationId xmlns:a16="http://schemas.microsoft.com/office/drawing/2014/main" id="{4A598A0D-2DE2-12F6-65BB-4844E9BB33C3}"/>
              </a:ext>
            </a:extLst>
          </p:cNvPr>
          <p:cNvSpPr/>
          <p:nvPr/>
        </p:nvSpPr>
        <p:spPr>
          <a:xfrm>
            <a:off x="891017" y="3389222"/>
            <a:ext cx="4726983" cy="848228"/>
          </a:xfrm>
          <a:prstGeom prst="rect">
            <a:avLst/>
          </a:prstGeom>
          <a:noFill/>
          <a:ln w="28575">
            <a:solidFill>
              <a:srgbClr val="B08A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pic>
        <p:nvPicPr>
          <p:cNvPr id="33" name="Graphic 32" descr="Books with solid fill">
            <a:extLst>
              <a:ext uri="{FF2B5EF4-FFF2-40B4-BE49-F238E27FC236}">
                <a16:creationId xmlns:a16="http://schemas.microsoft.com/office/drawing/2014/main" id="{96D01A64-C5DF-58E2-01F2-96A074EB82C3}"/>
              </a:ext>
            </a:extLst>
          </p:cNvPr>
          <p:cNvPicPr>
            <a:picLocks noChangeAspect="1"/>
          </p:cNvPicPr>
          <p:nvPr/>
        </p:nvPicPr>
        <p:blipFill>
          <a:blip r:embed="rId6">
            <a:alphaModFix/>
            <a:extLst>
              <a:ext uri="{96DAC541-7B7A-43D3-8B79-37D633B846F1}">
                <asvg:svgBlip xmlns:asvg="http://schemas.microsoft.com/office/drawing/2016/SVG/main" r:embed="rId7"/>
              </a:ext>
            </a:extLst>
          </a:blip>
          <a:stretch>
            <a:fillRect/>
          </a:stretch>
        </p:blipFill>
        <p:spPr>
          <a:xfrm>
            <a:off x="152301" y="299584"/>
            <a:ext cx="844390" cy="844390"/>
          </a:xfrm>
          <a:prstGeom prst="rect">
            <a:avLst/>
          </a:prstGeom>
        </p:spPr>
      </p:pic>
    </p:spTree>
    <p:extLst>
      <p:ext uri="{BB962C8B-B14F-4D97-AF65-F5344CB8AC3E}">
        <p14:creationId xmlns:p14="http://schemas.microsoft.com/office/powerpoint/2010/main" val="246681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3" grpId="0" animBg="1"/>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6A53A86-19B3-A9A9-0B44-59A61AF87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64A01D-351E-4160-AAA8-70865CA9F33F}"/>
              </a:ext>
            </a:extLst>
          </p:cNvPr>
          <p:cNvSpPr>
            <a:spLocks noGrp="1"/>
          </p:cNvSpPr>
          <p:nvPr>
            <p:ph type="title"/>
          </p:nvPr>
        </p:nvSpPr>
        <p:spPr/>
        <p:txBody>
          <a:bodyPr/>
          <a:lstStyle/>
          <a:p>
            <a:r>
              <a:rPr lang="en-FR" dirty="0"/>
              <a:t>Generative Module: Approaches</a:t>
            </a:r>
          </a:p>
        </p:txBody>
      </p:sp>
      <p:pic>
        <p:nvPicPr>
          <p:cNvPr id="82" name="Graphic 81" descr="Lightbulb and gear with solid fill">
            <a:extLst>
              <a:ext uri="{FF2B5EF4-FFF2-40B4-BE49-F238E27FC236}">
                <a16:creationId xmlns:a16="http://schemas.microsoft.com/office/drawing/2014/main" id="{3E77D626-89CB-EC71-8A6F-F6A51AD5C2F1}"/>
              </a:ext>
            </a:extLst>
          </p:cNvPr>
          <p:cNvPicPr>
            <a:picLocks noChangeAspect="1"/>
          </p:cNvPicPr>
          <p:nvPr/>
        </p:nvPicPr>
        <p:blipFill>
          <a:blip r:embed="rId3">
            <a:alphaModFix/>
            <a:extLst>
              <a:ext uri="{96DAC541-7B7A-43D3-8B79-37D633B846F1}">
                <asvg:svgBlip xmlns:asvg="http://schemas.microsoft.com/office/drawing/2016/SVG/main" r:embed="rId4"/>
              </a:ext>
            </a:extLst>
          </a:blip>
          <a:stretch>
            <a:fillRect/>
          </a:stretch>
        </p:blipFill>
        <p:spPr>
          <a:xfrm>
            <a:off x="155142" y="260967"/>
            <a:ext cx="844390" cy="844390"/>
          </a:xfrm>
          <a:prstGeom prst="rect">
            <a:avLst/>
          </a:prstGeom>
        </p:spPr>
      </p:pic>
      <p:sp>
        <p:nvSpPr>
          <p:cNvPr id="8" name="Rounded Rectangle 7">
            <a:extLst>
              <a:ext uri="{FF2B5EF4-FFF2-40B4-BE49-F238E27FC236}">
                <a16:creationId xmlns:a16="http://schemas.microsoft.com/office/drawing/2014/main" id="{860FDCD7-B8B0-175E-D923-C7B38B6EE0E3}"/>
              </a:ext>
            </a:extLst>
          </p:cNvPr>
          <p:cNvSpPr/>
          <p:nvPr/>
        </p:nvSpPr>
        <p:spPr>
          <a:xfrm>
            <a:off x="1246163" y="1763721"/>
            <a:ext cx="4632388" cy="3749040"/>
          </a:xfrm>
          <a:prstGeom prst="roundRect">
            <a:avLst/>
          </a:prstGeom>
          <a:noFill/>
          <a:ln w="38100">
            <a:solidFill>
              <a:srgbClr val="A5AFF5"/>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FR" dirty="0">
              <a:latin typeface="Poppins" pitchFamily="2" charset="77"/>
              <a:cs typeface="Poppins" pitchFamily="2" charset="77"/>
            </a:endParaRPr>
          </a:p>
          <a:p>
            <a:pPr algn="ctr"/>
            <a:r>
              <a:rPr lang="en-FR" sz="2400" b="1" u="sng" dirty="0">
                <a:solidFill>
                  <a:srgbClr val="8992D1"/>
                </a:solidFill>
                <a:latin typeface="Poppins" pitchFamily="2" charset="77"/>
                <a:cs typeface="Poppins" pitchFamily="2" charset="77"/>
              </a:rPr>
              <a:t>Rerank &amp; Select</a:t>
            </a:r>
          </a:p>
          <a:p>
            <a:pPr algn="ctr"/>
            <a:endParaRPr lang="en-FR" sz="2400" b="1" u="sng" dirty="0">
              <a:solidFill>
                <a:srgbClr val="8992D1"/>
              </a:solidFill>
              <a:latin typeface="Poppins" pitchFamily="2" charset="77"/>
              <a:cs typeface="Poppins" pitchFamily="2" charset="77"/>
            </a:endParaRPr>
          </a:p>
          <a:p>
            <a:pPr algn="ctr"/>
            <a:r>
              <a:rPr lang="en-FR" sz="2400" dirty="0">
                <a:solidFill>
                  <a:srgbClr val="8992D1"/>
                </a:solidFill>
                <a:latin typeface="Poppins" pitchFamily="2" charset="77"/>
                <a:cs typeface="Poppins" pitchFamily="2" charset="77"/>
              </a:rPr>
              <a:t>Generation of N=10 candidates, then select the candidate that best matches the expected sequence of labels.</a:t>
            </a:r>
          </a:p>
        </p:txBody>
      </p:sp>
    </p:spTree>
    <p:extLst>
      <p:ext uri="{BB962C8B-B14F-4D97-AF65-F5344CB8AC3E}">
        <p14:creationId xmlns:p14="http://schemas.microsoft.com/office/powerpoint/2010/main" val="508812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662AC90-EBAD-474B-E725-AEF8ED91C983}"/>
            </a:ext>
          </a:extLst>
        </p:cNvPr>
        <p:cNvGrpSpPr/>
        <p:nvPr/>
      </p:nvGrpSpPr>
      <p:grpSpPr>
        <a:xfrm>
          <a:off x="0" y="0"/>
          <a:ext cx="0" cy="0"/>
          <a:chOff x="0" y="0"/>
          <a:chExt cx="0" cy="0"/>
        </a:xfrm>
      </p:grpSpPr>
      <p:sp>
        <p:nvSpPr>
          <p:cNvPr id="28" name="Rounded Rectangle 27">
            <a:extLst>
              <a:ext uri="{FF2B5EF4-FFF2-40B4-BE49-F238E27FC236}">
                <a16:creationId xmlns:a16="http://schemas.microsoft.com/office/drawing/2014/main" id="{4432180E-2996-903D-877D-5D0D42CBED52}"/>
              </a:ext>
            </a:extLst>
          </p:cNvPr>
          <p:cNvSpPr/>
          <p:nvPr/>
        </p:nvSpPr>
        <p:spPr>
          <a:xfrm>
            <a:off x="456734" y="1817020"/>
            <a:ext cx="2600325" cy="583189"/>
          </a:xfrm>
          <a:prstGeom prst="roundRect">
            <a:avLst/>
          </a:prstGeom>
          <a:solidFill>
            <a:srgbClr val="4B85F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FFD2B2"/>
                </a:solidFill>
              </a:rPr>
              <a:t>Y</a:t>
            </a:r>
            <a:r>
              <a:rPr lang="en-FR" sz="1400" dirty="0">
                <a:solidFill>
                  <a:srgbClr val="FFD2B2"/>
                </a:solidFill>
              </a:rPr>
              <a:t>es.</a:t>
            </a:r>
            <a:r>
              <a:rPr lang="en-FR" sz="1400" dirty="0"/>
              <a:t> </a:t>
            </a:r>
            <a:r>
              <a:rPr lang="en-GB" sz="1400" dirty="0">
                <a:solidFill>
                  <a:srgbClr val="E3ABCC"/>
                </a:solidFill>
              </a:rPr>
              <a:t>F</a:t>
            </a:r>
            <a:r>
              <a:rPr lang="en-FR" sz="1400" dirty="0">
                <a:solidFill>
                  <a:srgbClr val="E3ABCC"/>
                </a:solidFill>
              </a:rPr>
              <a:t>ive pm.</a:t>
            </a:r>
          </a:p>
          <a:p>
            <a:pPr algn="ctr"/>
            <a:r>
              <a:rPr lang="en-GB" sz="1400" dirty="0">
                <a:solidFill>
                  <a:srgbClr val="FFD2B2"/>
                </a:solidFill>
              </a:rPr>
              <a:t>O</a:t>
            </a:r>
            <a:r>
              <a:rPr lang="en-FR" sz="1400" dirty="0">
                <a:solidFill>
                  <a:srgbClr val="FFD2B2"/>
                </a:solidFill>
              </a:rPr>
              <a:t>k, </a:t>
            </a:r>
            <a:r>
              <a:rPr lang="en-FR" sz="1400" u="sng" dirty="0">
                <a:solidFill>
                  <a:srgbClr val="FFD2B2"/>
                </a:solidFill>
              </a:rPr>
              <a:t>perfect</a:t>
            </a:r>
            <a:r>
              <a:rPr lang="en-FR" sz="1400" dirty="0">
                <a:solidFill>
                  <a:srgbClr val="FFD2B2"/>
                </a:solidFill>
              </a:rPr>
              <a:t>,</a:t>
            </a:r>
            <a:r>
              <a:rPr lang="en-FR" sz="1400" dirty="0"/>
              <a:t> </a:t>
            </a:r>
            <a:r>
              <a:rPr lang="en-FR" sz="1400" dirty="0">
                <a:solidFill>
                  <a:srgbClr val="70D141"/>
                </a:solidFill>
              </a:rPr>
              <a:t>thank you.</a:t>
            </a:r>
          </a:p>
        </p:txBody>
      </p:sp>
      <p:sp>
        <p:nvSpPr>
          <p:cNvPr id="2" name="Title 1">
            <a:extLst>
              <a:ext uri="{FF2B5EF4-FFF2-40B4-BE49-F238E27FC236}">
                <a16:creationId xmlns:a16="http://schemas.microsoft.com/office/drawing/2014/main" id="{1BC2F809-FDE2-30DA-9519-EA1018D90609}"/>
              </a:ext>
            </a:extLst>
          </p:cNvPr>
          <p:cNvSpPr>
            <a:spLocks noGrp="1"/>
          </p:cNvSpPr>
          <p:nvPr>
            <p:ph type="title"/>
          </p:nvPr>
        </p:nvSpPr>
        <p:spPr/>
        <p:txBody>
          <a:bodyPr/>
          <a:lstStyle/>
          <a:p>
            <a:r>
              <a:rPr lang="en-FR" dirty="0"/>
              <a:t>Planning Module: Task Formulation</a:t>
            </a:r>
          </a:p>
        </p:txBody>
      </p:sp>
      <p:pic>
        <p:nvPicPr>
          <p:cNvPr id="15" name="Graphic 14" descr="Lightbulb and gear with solid fill">
            <a:extLst>
              <a:ext uri="{FF2B5EF4-FFF2-40B4-BE49-F238E27FC236}">
                <a16:creationId xmlns:a16="http://schemas.microsoft.com/office/drawing/2014/main" id="{DDE439FC-7895-8B62-D72E-59D83740B736}"/>
              </a:ext>
            </a:extLst>
          </p:cNvPr>
          <p:cNvPicPr>
            <a:picLocks noChangeAspect="1"/>
          </p:cNvPicPr>
          <p:nvPr/>
        </p:nvPicPr>
        <p:blipFill>
          <a:blip r:embed="rId3">
            <a:alphaModFix/>
            <a:extLst>
              <a:ext uri="{96DAC541-7B7A-43D3-8B79-37D633B846F1}">
                <asvg:svgBlip xmlns:asvg="http://schemas.microsoft.com/office/drawing/2016/SVG/main" r:embed="rId4"/>
              </a:ext>
            </a:extLst>
          </a:blip>
          <a:stretch>
            <a:fillRect/>
          </a:stretch>
        </p:blipFill>
        <p:spPr>
          <a:xfrm>
            <a:off x="155142" y="260967"/>
            <a:ext cx="844390" cy="844390"/>
          </a:xfrm>
          <a:prstGeom prst="rect">
            <a:avLst/>
          </a:prstGeom>
        </p:spPr>
      </p:pic>
      <p:sp>
        <p:nvSpPr>
          <p:cNvPr id="3" name="Rounded Rectangle 2">
            <a:extLst>
              <a:ext uri="{FF2B5EF4-FFF2-40B4-BE49-F238E27FC236}">
                <a16:creationId xmlns:a16="http://schemas.microsoft.com/office/drawing/2014/main" id="{DFD110CC-7693-6621-CBEB-99F9EDDD8C92}"/>
              </a:ext>
            </a:extLst>
          </p:cNvPr>
          <p:cNvSpPr/>
          <p:nvPr/>
        </p:nvSpPr>
        <p:spPr>
          <a:xfrm>
            <a:off x="2241123" y="5508963"/>
            <a:ext cx="2869705" cy="660029"/>
          </a:xfrm>
          <a:prstGeom prst="round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dirty="0">
                <a:solidFill>
                  <a:srgbClr val="4B85F4"/>
                </a:solidFill>
              </a:rPr>
              <a:t>?</a:t>
            </a:r>
            <a:endParaRPr lang="en-FR" sz="1400" b="1" dirty="0">
              <a:solidFill>
                <a:srgbClr val="4B85F4"/>
              </a:solidFill>
            </a:endParaRPr>
          </a:p>
        </p:txBody>
      </p:sp>
      <p:sp>
        <p:nvSpPr>
          <p:cNvPr id="5" name="Rounded Rectangle 4">
            <a:extLst>
              <a:ext uri="{FF2B5EF4-FFF2-40B4-BE49-F238E27FC236}">
                <a16:creationId xmlns:a16="http://schemas.microsoft.com/office/drawing/2014/main" id="{B6A2AF0C-EA0E-CCFC-2937-1E08BD478958}"/>
              </a:ext>
            </a:extLst>
          </p:cNvPr>
          <p:cNvSpPr/>
          <p:nvPr/>
        </p:nvSpPr>
        <p:spPr>
          <a:xfrm>
            <a:off x="2258478" y="2552850"/>
            <a:ext cx="2869705" cy="1226435"/>
          </a:xfrm>
          <a:prstGeom prst="round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rgbClr val="4B85F4"/>
                </a:solidFill>
              </a:rPr>
              <a:t>Yes, </a:t>
            </a:r>
            <a:r>
              <a:rPr lang="fr-FR" sz="1400" dirty="0" err="1">
                <a:solidFill>
                  <a:srgbClr val="4B85F4"/>
                </a:solidFill>
              </a:rPr>
              <a:t>they</a:t>
            </a:r>
            <a:r>
              <a:rPr lang="fr-FR" sz="1400" dirty="0">
                <a:solidFill>
                  <a:srgbClr val="4B85F4"/>
                </a:solidFill>
              </a:rPr>
              <a:t> </a:t>
            </a:r>
            <a:r>
              <a:rPr lang="fr-FR" sz="1400" dirty="0" err="1">
                <a:solidFill>
                  <a:srgbClr val="4B85F4"/>
                </a:solidFill>
              </a:rPr>
              <a:t>just</a:t>
            </a:r>
            <a:r>
              <a:rPr lang="fr-FR" sz="1400" dirty="0">
                <a:solidFill>
                  <a:srgbClr val="4B85F4"/>
                </a:solidFill>
              </a:rPr>
              <a:t> </a:t>
            </a:r>
            <a:r>
              <a:rPr lang="fr-FR" sz="1400" dirty="0" err="1">
                <a:solidFill>
                  <a:srgbClr val="4B85F4"/>
                </a:solidFill>
              </a:rPr>
              <a:t>told</a:t>
            </a:r>
            <a:r>
              <a:rPr lang="fr-FR" sz="1400" dirty="0">
                <a:solidFill>
                  <a:srgbClr val="4B85F4"/>
                </a:solidFill>
              </a:rPr>
              <a:t> me </a:t>
            </a:r>
            <a:r>
              <a:rPr lang="fr-FR" sz="1400" dirty="0" err="1">
                <a:solidFill>
                  <a:srgbClr val="4B85F4"/>
                </a:solidFill>
              </a:rPr>
              <a:t>that</a:t>
            </a:r>
            <a:r>
              <a:rPr lang="fr-FR" sz="1400" dirty="0">
                <a:solidFill>
                  <a:srgbClr val="4B85F4"/>
                </a:solidFill>
              </a:rPr>
              <a:t> </a:t>
            </a:r>
            <a:r>
              <a:rPr lang="fr-FR" sz="1400" dirty="0" err="1">
                <a:solidFill>
                  <a:srgbClr val="4B85F4"/>
                </a:solidFill>
              </a:rPr>
              <a:t>they</a:t>
            </a:r>
            <a:r>
              <a:rPr lang="fr-FR" sz="1400" dirty="0">
                <a:solidFill>
                  <a:srgbClr val="4B85F4"/>
                </a:solidFill>
              </a:rPr>
              <a:t> </a:t>
            </a:r>
            <a:r>
              <a:rPr lang="fr-FR" sz="1400" dirty="0" err="1">
                <a:solidFill>
                  <a:srgbClr val="4B85F4"/>
                </a:solidFill>
              </a:rPr>
              <a:t>were</a:t>
            </a:r>
            <a:r>
              <a:rPr lang="fr-FR" sz="1400" dirty="0">
                <a:solidFill>
                  <a:srgbClr val="4B85F4"/>
                </a:solidFill>
              </a:rPr>
              <a:t> </a:t>
            </a:r>
            <a:r>
              <a:rPr lang="fr-FR" sz="1400" dirty="0" err="1">
                <a:solidFill>
                  <a:srgbClr val="4B85F4"/>
                </a:solidFill>
              </a:rPr>
              <a:t>still</a:t>
            </a:r>
            <a:r>
              <a:rPr lang="fr-FR" sz="1400" dirty="0">
                <a:solidFill>
                  <a:srgbClr val="4B85F4"/>
                </a:solidFill>
              </a:rPr>
              <a:t> </a:t>
            </a:r>
            <a:r>
              <a:rPr lang="fr-FR" sz="1400" dirty="0" err="1">
                <a:solidFill>
                  <a:srgbClr val="4B85F4"/>
                </a:solidFill>
              </a:rPr>
              <a:t>working</a:t>
            </a:r>
            <a:r>
              <a:rPr lang="fr-FR" sz="1400" dirty="0">
                <a:solidFill>
                  <a:srgbClr val="4B85F4"/>
                </a:solidFill>
              </a:rPr>
              <a:t> on </a:t>
            </a:r>
            <a:r>
              <a:rPr lang="fr-FR" sz="1400" dirty="0" err="1">
                <a:solidFill>
                  <a:srgbClr val="4B85F4"/>
                </a:solidFill>
              </a:rPr>
              <a:t>your</a:t>
            </a:r>
            <a:r>
              <a:rPr lang="fr-FR" sz="1400" dirty="0">
                <a:solidFill>
                  <a:srgbClr val="4B85F4"/>
                </a:solidFill>
              </a:rPr>
              <a:t> </a:t>
            </a:r>
            <a:r>
              <a:rPr lang="fr-FR" sz="1400" dirty="0" err="1">
                <a:solidFill>
                  <a:srgbClr val="4B85F4"/>
                </a:solidFill>
              </a:rPr>
              <a:t>vehicle</a:t>
            </a:r>
            <a:r>
              <a:rPr lang="fr-FR" sz="1400" dirty="0">
                <a:solidFill>
                  <a:srgbClr val="4B85F4"/>
                </a:solidFill>
              </a:rPr>
              <a:t>, and </a:t>
            </a:r>
            <a:r>
              <a:rPr lang="fr-FR" sz="1400" dirty="0" err="1">
                <a:solidFill>
                  <a:srgbClr val="4B85F4"/>
                </a:solidFill>
              </a:rPr>
              <a:t>that</a:t>
            </a:r>
            <a:r>
              <a:rPr lang="fr-FR" sz="1400" dirty="0">
                <a:solidFill>
                  <a:srgbClr val="4B85F4"/>
                </a:solidFill>
              </a:rPr>
              <a:t> </a:t>
            </a:r>
            <a:r>
              <a:rPr lang="fr-FR" sz="1400" dirty="0" err="1">
                <a:solidFill>
                  <a:srgbClr val="4B85F4"/>
                </a:solidFill>
              </a:rPr>
              <a:t>it</a:t>
            </a:r>
            <a:r>
              <a:rPr lang="fr-FR" sz="1400" dirty="0">
                <a:solidFill>
                  <a:srgbClr val="4B85F4"/>
                </a:solidFill>
              </a:rPr>
              <a:t> </a:t>
            </a:r>
            <a:r>
              <a:rPr lang="fr-FR" sz="1400" dirty="0" err="1">
                <a:solidFill>
                  <a:srgbClr val="4B85F4"/>
                </a:solidFill>
              </a:rPr>
              <a:t>should</a:t>
            </a:r>
            <a:r>
              <a:rPr lang="fr-FR" sz="1400" dirty="0">
                <a:solidFill>
                  <a:srgbClr val="4B85F4"/>
                </a:solidFill>
              </a:rPr>
              <a:t> </a:t>
            </a:r>
            <a:r>
              <a:rPr lang="fr-FR" sz="1400" dirty="0" err="1">
                <a:solidFill>
                  <a:srgbClr val="4B85F4"/>
                </a:solidFill>
              </a:rPr>
              <a:t>be</a:t>
            </a:r>
            <a:r>
              <a:rPr lang="fr-FR" sz="1400" dirty="0">
                <a:solidFill>
                  <a:srgbClr val="4B85F4"/>
                </a:solidFill>
              </a:rPr>
              <a:t> good to go in about an </a:t>
            </a:r>
            <a:r>
              <a:rPr lang="fr-FR" sz="1400" dirty="0" err="1">
                <a:solidFill>
                  <a:srgbClr val="4B85F4"/>
                </a:solidFill>
              </a:rPr>
              <a:t>hour</a:t>
            </a:r>
            <a:r>
              <a:rPr lang="fr-FR" sz="1400" dirty="0">
                <a:solidFill>
                  <a:srgbClr val="4B85F4"/>
                </a:solidFill>
              </a:rPr>
              <a:t> and a </a:t>
            </a:r>
            <a:r>
              <a:rPr lang="fr-FR" sz="1400" dirty="0" err="1">
                <a:solidFill>
                  <a:srgbClr val="4B85F4"/>
                </a:solidFill>
              </a:rPr>
              <a:t>half</a:t>
            </a:r>
            <a:r>
              <a:rPr lang="fr-FR" sz="1400" dirty="0">
                <a:solidFill>
                  <a:srgbClr val="4B85F4"/>
                </a:solidFill>
              </a:rPr>
              <a:t>.</a:t>
            </a:r>
            <a:endParaRPr lang="en-FR" sz="1400" dirty="0">
              <a:solidFill>
                <a:srgbClr val="4B85F4"/>
              </a:solidFill>
            </a:endParaRPr>
          </a:p>
        </p:txBody>
      </p:sp>
      <p:sp>
        <p:nvSpPr>
          <p:cNvPr id="6" name="Rounded Rectangle 5">
            <a:extLst>
              <a:ext uri="{FF2B5EF4-FFF2-40B4-BE49-F238E27FC236}">
                <a16:creationId xmlns:a16="http://schemas.microsoft.com/office/drawing/2014/main" id="{1568D461-4530-7C36-5521-68B3905F2342}"/>
              </a:ext>
            </a:extLst>
          </p:cNvPr>
          <p:cNvSpPr/>
          <p:nvPr/>
        </p:nvSpPr>
        <p:spPr>
          <a:xfrm>
            <a:off x="456733" y="3933347"/>
            <a:ext cx="2600325" cy="821067"/>
          </a:xfrm>
          <a:prstGeom prst="roundRect">
            <a:avLst/>
          </a:prstGeom>
          <a:solidFill>
            <a:srgbClr val="4B85F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t>Right, </a:t>
            </a:r>
            <a:r>
              <a:rPr lang="fr-FR" sz="1400" dirty="0" err="1"/>
              <a:t>so</a:t>
            </a:r>
            <a:r>
              <a:rPr lang="fr-FR" sz="1400" dirty="0"/>
              <a:t> I </a:t>
            </a:r>
            <a:r>
              <a:rPr lang="fr-FR" sz="1400" dirty="0" err="1"/>
              <a:t>should</a:t>
            </a:r>
            <a:r>
              <a:rPr lang="fr-FR" sz="1400" dirty="0"/>
              <a:t> </a:t>
            </a:r>
            <a:r>
              <a:rPr lang="fr-FR" sz="1400" dirty="0" err="1"/>
              <a:t>get</a:t>
            </a:r>
            <a:r>
              <a:rPr lang="fr-FR" sz="1400" dirty="0"/>
              <a:t> </a:t>
            </a:r>
            <a:r>
              <a:rPr lang="fr-FR" sz="1400" dirty="0" err="1"/>
              <a:t>there</a:t>
            </a:r>
            <a:r>
              <a:rPr lang="fr-FR" sz="1400" dirty="0"/>
              <a:t> </a:t>
            </a:r>
            <a:r>
              <a:rPr lang="fr-FR" sz="1400" dirty="0" err="1"/>
              <a:t>around</a:t>
            </a:r>
            <a:r>
              <a:rPr lang="fr-FR" sz="1400" dirty="0"/>
              <a:t> five pm. </a:t>
            </a:r>
            <a:r>
              <a:rPr lang="fr-FR" sz="1400" dirty="0" err="1"/>
              <a:t>Thank</a:t>
            </a:r>
            <a:r>
              <a:rPr lang="fr-FR" sz="1400" dirty="0"/>
              <a:t> </a:t>
            </a:r>
            <a:r>
              <a:rPr lang="fr-FR" sz="1400" dirty="0" err="1"/>
              <a:t>you</a:t>
            </a:r>
            <a:r>
              <a:rPr lang="fr-FR" sz="1400" dirty="0"/>
              <a:t>, </a:t>
            </a:r>
            <a:r>
              <a:rPr lang="fr-FR" sz="1400" dirty="0" err="1"/>
              <a:t>madam</a:t>
            </a:r>
            <a:r>
              <a:rPr lang="fr-FR" sz="1400" dirty="0"/>
              <a:t>, have a </a:t>
            </a:r>
            <a:r>
              <a:rPr lang="fr-FR" sz="1400" dirty="0" err="1"/>
              <a:t>nice</a:t>
            </a:r>
            <a:r>
              <a:rPr lang="fr-FR" sz="1400" dirty="0"/>
              <a:t> </a:t>
            </a:r>
            <a:r>
              <a:rPr lang="fr-FR" sz="1400" dirty="0" err="1"/>
              <a:t>day</a:t>
            </a:r>
            <a:r>
              <a:rPr lang="fr-FR" sz="1400" dirty="0"/>
              <a:t>.</a:t>
            </a:r>
            <a:endParaRPr lang="en-FR" sz="1400" dirty="0"/>
          </a:p>
        </p:txBody>
      </p:sp>
      <p:sp>
        <p:nvSpPr>
          <p:cNvPr id="7" name="Rectangle 6">
            <a:extLst>
              <a:ext uri="{FF2B5EF4-FFF2-40B4-BE49-F238E27FC236}">
                <a16:creationId xmlns:a16="http://schemas.microsoft.com/office/drawing/2014/main" id="{8BD536E4-8255-BE73-44D2-257A6044F925}"/>
              </a:ext>
            </a:extLst>
          </p:cNvPr>
          <p:cNvSpPr/>
          <p:nvPr/>
        </p:nvSpPr>
        <p:spPr>
          <a:xfrm>
            <a:off x="294725" y="1513693"/>
            <a:ext cx="5003556" cy="3554435"/>
          </a:xfrm>
          <a:prstGeom prst="rect">
            <a:avLst/>
          </a:prstGeom>
          <a:noFill/>
          <a:ln w="38100">
            <a:solidFill>
              <a:srgbClr val="4B85F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8" name="Rectangle 7">
            <a:extLst>
              <a:ext uri="{FF2B5EF4-FFF2-40B4-BE49-F238E27FC236}">
                <a16:creationId xmlns:a16="http://schemas.microsoft.com/office/drawing/2014/main" id="{02541123-94AC-1ECC-813D-19F03A94816F}"/>
              </a:ext>
            </a:extLst>
          </p:cNvPr>
          <p:cNvSpPr/>
          <p:nvPr/>
        </p:nvSpPr>
        <p:spPr>
          <a:xfrm>
            <a:off x="1833488" y="1275164"/>
            <a:ext cx="1926030" cy="4136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000" b="1" dirty="0">
                <a:solidFill>
                  <a:srgbClr val="4B85F4"/>
                </a:solidFill>
              </a:rPr>
              <a:t>Context History</a:t>
            </a:r>
          </a:p>
        </p:txBody>
      </p:sp>
      <p:cxnSp>
        <p:nvCxnSpPr>
          <p:cNvPr id="9" name="Straight Arrow Connector 8">
            <a:extLst>
              <a:ext uri="{FF2B5EF4-FFF2-40B4-BE49-F238E27FC236}">
                <a16:creationId xmlns:a16="http://schemas.microsoft.com/office/drawing/2014/main" id="{07585418-30A8-1F89-3581-C29EDE5707E3}"/>
              </a:ext>
            </a:extLst>
          </p:cNvPr>
          <p:cNvCxnSpPr>
            <a:cxnSpLocks/>
            <a:endCxn id="3" idx="0"/>
          </p:cNvCxnSpPr>
          <p:nvPr/>
        </p:nvCxnSpPr>
        <p:spPr>
          <a:xfrm>
            <a:off x="3675975" y="5068128"/>
            <a:ext cx="0" cy="440835"/>
          </a:xfrm>
          <a:prstGeom prst="straightConnector1">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1B473173-ED96-AE81-28B4-EA9551FBBA43}"/>
              </a:ext>
            </a:extLst>
          </p:cNvPr>
          <p:cNvCxnSpPr>
            <a:cxnSpLocks/>
            <a:stCxn id="3" idx="3"/>
            <a:endCxn id="22" idx="2"/>
          </p:cNvCxnSpPr>
          <p:nvPr/>
        </p:nvCxnSpPr>
        <p:spPr>
          <a:xfrm flipV="1">
            <a:off x="5110828" y="4788065"/>
            <a:ext cx="1607791" cy="1050913"/>
          </a:xfrm>
          <a:prstGeom prst="bentConnector2">
            <a:avLst/>
          </a:prstGeom>
          <a:ln w="28575">
            <a:solidFill>
              <a:srgbClr val="4B85F4"/>
            </a:solidFill>
            <a:tailEnd type="triangle" w="med" len="lg"/>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3B8A871-ADC2-7BBE-996E-5F9060786EB3}"/>
              </a:ext>
            </a:extLst>
          </p:cNvPr>
          <p:cNvSpPr txBox="1"/>
          <p:nvPr/>
        </p:nvSpPr>
        <p:spPr>
          <a:xfrm>
            <a:off x="5691496" y="3710847"/>
            <a:ext cx="2054246" cy="1077218"/>
          </a:xfrm>
          <a:prstGeom prst="rect">
            <a:avLst/>
          </a:prstGeom>
          <a:solidFill>
            <a:schemeClr val="bg1"/>
          </a:solidFill>
        </p:spPr>
        <p:txBody>
          <a:bodyPr wrap="square" rtlCol="0">
            <a:spAutoFit/>
          </a:bodyPr>
          <a:lstStyle/>
          <a:p>
            <a:pPr algn="ctr"/>
            <a:r>
              <a:rPr lang="en-FR" sz="1600" b="1" u="sng" dirty="0">
                <a:solidFill>
                  <a:srgbClr val="4B85F4"/>
                </a:solidFill>
              </a:rPr>
              <a:t>STEP 1</a:t>
            </a:r>
            <a:r>
              <a:rPr lang="en-FR" sz="1600" b="1" dirty="0">
                <a:solidFill>
                  <a:srgbClr val="4B85F4"/>
                </a:solidFill>
              </a:rPr>
              <a:t>: From context history, predict the labels expected in the next response</a:t>
            </a:r>
          </a:p>
        </p:txBody>
      </p:sp>
      <p:sp>
        <p:nvSpPr>
          <p:cNvPr id="29" name="TextBox 28">
            <a:extLst>
              <a:ext uri="{FF2B5EF4-FFF2-40B4-BE49-F238E27FC236}">
                <a16:creationId xmlns:a16="http://schemas.microsoft.com/office/drawing/2014/main" id="{B228D29C-E5F8-91ED-84A0-37152E373ED5}"/>
              </a:ext>
            </a:extLst>
          </p:cNvPr>
          <p:cNvSpPr txBox="1"/>
          <p:nvPr/>
        </p:nvSpPr>
        <p:spPr>
          <a:xfrm>
            <a:off x="580512" y="2323968"/>
            <a:ext cx="1473611" cy="307777"/>
          </a:xfrm>
          <a:prstGeom prst="rect">
            <a:avLst/>
          </a:prstGeom>
          <a:solidFill>
            <a:schemeClr val="bg1"/>
          </a:solidFill>
          <a:ln w="28575">
            <a:solidFill>
              <a:srgbClr val="4B85F4"/>
            </a:solidFill>
          </a:ln>
        </p:spPr>
        <p:txBody>
          <a:bodyPr wrap="square" lIns="91440" tIns="45720" rIns="91440" bIns="45720" anchor="t">
            <a:spAutoFit/>
          </a:bodyPr>
          <a:lstStyle/>
          <a:p>
            <a:pPr algn="ctr"/>
            <a:r>
              <a:rPr lang="en-FR" sz="700" dirty="0">
                <a:solidFill>
                  <a:srgbClr val="4D8AE7"/>
                </a:solidFill>
                <a:latin typeface="Poppins"/>
                <a:cs typeface="Poppins"/>
              </a:rPr>
              <a:t>[</a:t>
            </a:r>
            <a:r>
              <a:rPr lang="en-FR" sz="700" dirty="0">
                <a:solidFill>
                  <a:srgbClr val="DF6245"/>
                </a:solidFill>
                <a:latin typeface="Poppins"/>
                <a:cs typeface="Poppins"/>
              </a:rPr>
              <a:t>Information</a:t>
            </a:r>
            <a:r>
              <a:rPr lang="en-FR" sz="700" dirty="0">
                <a:solidFill>
                  <a:srgbClr val="4D8AE7"/>
                </a:solidFill>
                <a:latin typeface="Poppins"/>
                <a:cs typeface="Poppins"/>
              </a:rPr>
              <a:t>, </a:t>
            </a:r>
            <a:r>
              <a:rPr lang="en-FR" sz="700" dirty="0">
                <a:solidFill>
                  <a:srgbClr val="EC4DCE"/>
                </a:solidFill>
                <a:latin typeface="Poppins"/>
                <a:cs typeface="Poppins"/>
              </a:rPr>
              <a:t>Restating</a:t>
            </a:r>
            <a:r>
              <a:rPr lang="en-FR" sz="700" dirty="0">
                <a:solidFill>
                  <a:srgbClr val="4D8AE7"/>
                </a:solidFill>
                <a:latin typeface="Poppins"/>
                <a:cs typeface="Poppins"/>
              </a:rPr>
              <a:t>, </a:t>
            </a:r>
            <a:br>
              <a:rPr lang="en-FR" sz="700" dirty="0">
                <a:latin typeface="Poppins"/>
                <a:cs typeface="Poppins"/>
              </a:rPr>
            </a:br>
            <a:r>
              <a:rPr lang="en-FR" sz="700" dirty="0">
                <a:solidFill>
                  <a:srgbClr val="DF6245"/>
                </a:solidFill>
                <a:latin typeface="Poppins"/>
                <a:cs typeface="Poppins"/>
              </a:rPr>
              <a:t>Information</a:t>
            </a:r>
            <a:r>
              <a:rPr lang="en-FR" sz="700" dirty="0">
                <a:solidFill>
                  <a:srgbClr val="4D8AE7"/>
                </a:solidFill>
                <a:latin typeface="Poppins"/>
                <a:cs typeface="Poppins"/>
              </a:rPr>
              <a:t>, </a:t>
            </a:r>
            <a:r>
              <a:rPr lang="en-FR" sz="700" u="sng" dirty="0">
                <a:solidFill>
                  <a:srgbClr val="4D8AE7"/>
                </a:solidFill>
                <a:latin typeface="Poppins"/>
                <a:cs typeface="Poppins"/>
              </a:rPr>
              <a:t>Joy</a:t>
            </a:r>
            <a:r>
              <a:rPr lang="en-FR" sz="700" dirty="0">
                <a:solidFill>
                  <a:srgbClr val="4D8AE7"/>
                </a:solidFill>
                <a:latin typeface="Poppins"/>
                <a:cs typeface="Poppins"/>
              </a:rPr>
              <a:t>, </a:t>
            </a:r>
            <a:r>
              <a:rPr lang="en-FR" sz="700" dirty="0">
                <a:solidFill>
                  <a:srgbClr val="00B26D"/>
                </a:solidFill>
                <a:latin typeface="Poppins"/>
                <a:cs typeface="Poppins"/>
              </a:rPr>
              <a:t>Politeness</a:t>
            </a:r>
            <a:r>
              <a:rPr lang="en-FR" sz="700" dirty="0">
                <a:solidFill>
                  <a:srgbClr val="4D8AE7"/>
                </a:solidFill>
                <a:latin typeface="Poppins"/>
                <a:cs typeface="Poppins"/>
              </a:rPr>
              <a:t>]</a:t>
            </a:r>
            <a:endParaRPr lang="fr-FR" sz="700" dirty="0">
              <a:solidFill>
                <a:srgbClr val="4D8AE7"/>
              </a:solidFill>
              <a:latin typeface="Poppins"/>
              <a:cs typeface="Poppins"/>
            </a:endParaRPr>
          </a:p>
        </p:txBody>
      </p:sp>
      <p:sp>
        <p:nvSpPr>
          <p:cNvPr id="30" name="TextBox 29">
            <a:extLst>
              <a:ext uri="{FF2B5EF4-FFF2-40B4-BE49-F238E27FC236}">
                <a16:creationId xmlns:a16="http://schemas.microsoft.com/office/drawing/2014/main" id="{F544CA74-F358-3E3D-3729-9F88BF284B2C}"/>
              </a:ext>
            </a:extLst>
          </p:cNvPr>
          <p:cNvSpPr txBox="1"/>
          <p:nvPr/>
        </p:nvSpPr>
        <p:spPr>
          <a:xfrm>
            <a:off x="580511" y="4704241"/>
            <a:ext cx="1473611" cy="200055"/>
          </a:xfrm>
          <a:prstGeom prst="rect">
            <a:avLst/>
          </a:prstGeom>
          <a:solidFill>
            <a:schemeClr val="bg1"/>
          </a:solidFill>
          <a:ln w="28575">
            <a:solidFill>
              <a:srgbClr val="4B85F4"/>
            </a:solidFill>
          </a:ln>
        </p:spPr>
        <p:txBody>
          <a:bodyPr wrap="square" lIns="91440" tIns="45720" rIns="91440" bIns="45720" anchor="t">
            <a:spAutoFit/>
          </a:bodyPr>
          <a:lstStyle/>
          <a:p>
            <a:pPr algn="ctr"/>
            <a:r>
              <a:rPr lang="en-FR" sz="700" dirty="0">
                <a:solidFill>
                  <a:srgbClr val="4B84F4"/>
                </a:solidFill>
                <a:latin typeface="Poppins"/>
                <a:cs typeface="Poppins"/>
              </a:rPr>
              <a:t>[Information, Politeness]</a:t>
            </a:r>
            <a:endParaRPr lang="fr-FR" sz="700" dirty="0">
              <a:solidFill>
                <a:srgbClr val="4B84F4"/>
              </a:solidFill>
              <a:latin typeface="Poppins"/>
              <a:cs typeface="Poppins"/>
            </a:endParaRPr>
          </a:p>
        </p:txBody>
      </p:sp>
      <p:sp>
        <p:nvSpPr>
          <p:cNvPr id="31" name="TextBox 30">
            <a:extLst>
              <a:ext uri="{FF2B5EF4-FFF2-40B4-BE49-F238E27FC236}">
                <a16:creationId xmlns:a16="http://schemas.microsoft.com/office/drawing/2014/main" id="{262E0BBD-5A7A-13D7-3EB8-020A8965353F}"/>
              </a:ext>
            </a:extLst>
          </p:cNvPr>
          <p:cNvSpPr txBox="1"/>
          <p:nvPr/>
        </p:nvSpPr>
        <p:spPr>
          <a:xfrm>
            <a:off x="3459868" y="3674149"/>
            <a:ext cx="1473611" cy="200055"/>
          </a:xfrm>
          <a:prstGeom prst="rect">
            <a:avLst/>
          </a:prstGeom>
          <a:solidFill>
            <a:schemeClr val="bg1"/>
          </a:solidFill>
          <a:ln w="28575">
            <a:solidFill>
              <a:srgbClr val="4B85F4"/>
            </a:solidFill>
          </a:ln>
        </p:spPr>
        <p:txBody>
          <a:bodyPr wrap="square" lIns="91440" tIns="45720" rIns="91440" bIns="45720" anchor="t">
            <a:spAutoFit/>
          </a:bodyPr>
          <a:lstStyle/>
          <a:p>
            <a:pPr algn="ctr"/>
            <a:r>
              <a:rPr lang="en-FR" sz="700" dirty="0">
                <a:solidFill>
                  <a:srgbClr val="4B84F4"/>
                </a:solidFill>
                <a:latin typeface="Poppins"/>
                <a:cs typeface="Poppins"/>
              </a:rPr>
              <a:t>[Information]</a:t>
            </a:r>
            <a:endParaRPr lang="fr-FR" sz="700" dirty="0">
              <a:solidFill>
                <a:srgbClr val="4B84F4"/>
              </a:solidFill>
              <a:latin typeface="Poppins"/>
              <a:cs typeface="Poppins"/>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DAA9E343-BA98-7D69-BA77-AF2BB56EACC3}"/>
                  </a:ext>
                </a:extLst>
              </p:cNvPr>
              <p:cNvSpPr txBox="1"/>
              <p:nvPr/>
            </p:nvSpPr>
            <p:spPr>
              <a:xfrm>
                <a:off x="7745742" y="1688857"/>
                <a:ext cx="4291116" cy="4706738"/>
              </a:xfrm>
              <a:prstGeom prst="rect">
                <a:avLst/>
              </a:prstGeom>
              <a:noFill/>
            </p:spPr>
            <p:txBody>
              <a:bodyPr wrap="square" rtlCol="0">
                <a:spAutoFit/>
              </a:bodyPr>
              <a:lstStyle/>
              <a:p>
                <a:r>
                  <a:rPr lang="en-GB" dirty="0"/>
                  <a:t>Let us consider:</a:t>
                </a:r>
              </a:p>
              <a:p>
                <a:pPr marL="285750" indent="-285750">
                  <a:buFont typeface="Arial" panose="020B0604020202020204" pitchFamily="34" charset="0"/>
                  <a:buChar char="•"/>
                </a:pPr>
                <a14:m>
                  <m:oMath xmlns:m="http://schemas.openxmlformats.org/officeDocument/2006/math">
                    <m:r>
                      <a:rPr lang="en-GB" i="1" dirty="0" smtClean="0">
                        <a:solidFill>
                          <a:srgbClr val="4B84F4"/>
                        </a:solidFill>
                        <a:latin typeface="Cambria Math" panose="02040503050406030204" pitchFamily="18" charset="0"/>
                      </a:rPr>
                      <m:t>𝐶</m:t>
                    </m:r>
                    <m:r>
                      <a:rPr lang="en-GB" i="1" dirty="0" smtClean="0">
                        <a:solidFill>
                          <a:srgbClr val="4B84F4"/>
                        </a:solidFill>
                        <a:latin typeface="Cambria Math" panose="02040503050406030204" pitchFamily="18" charset="0"/>
                      </a:rPr>
                      <m:t> = </m:t>
                    </m:r>
                    <m:sSub>
                      <m:sSubPr>
                        <m:ctrlPr>
                          <a:rPr lang="en-GB" i="1" dirty="0" smtClean="0">
                            <a:solidFill>
                              <a:srgbClr val="4B84F4"/>
                            </a:solidFill>
                            <a:latin typeface="Cambria Math" panose="02040503050406030204" pitchFamily="18" charset="0"/>
                          </a:rPr>
                        </m:ctrlPr>
                      </m:sSubPr>
                      <m:e>
                        <m:r>
                          <a:rPr lang="en-GB" i="1" dirty="0">
                            <a:solidFill>
                              <a:srgbClr val="4B84F4"/>
                            </a:solidFill>
                            <a:latin typeface="Cambria Math" panose="02040503050406030204" pitchFamily="18" charset="0"/>
                          </a:rPr>
                          <m:t>(</m:t>
                        </m:r>
                        <m:sSub>
                          <m:sSubPr>
                            <m:ctrlPr>
                              <a:rPr lang="en-GB" i="1" dirty="0">
                                <a:solidFill>
                                  <a:srgbClr val="4B84F4"/>
                                </a:solidFill>
                                <a:latin typeface="Cambria Math" panose="02040503050406030204" pitchFamily="18" charset="0"/>
                              </a:rPr>
                            </m:ctrlPr>
                          </m:sSubPr>
                          <m:e>
                            <m:r>
                              <a:rPr lang="fr-FR" i="1" dirty="0">
                                <a:solidFill>
                                  <a:srgbClr val="4B84F4"/>
                                </a:solidFill>
                                <a:latin typeface="Cambria Math" panose="02040503050406030204" pitchFamily="18" charset="0"/>
                              </a:rPr>
                              <m:t>𝑐</m:t>
                            </m:r>
                          </m:e>
                          <m:sub>
                            <m:r>
                              <a:rPr lang="fr-FR" i="1" dirty="0">
                                <a:solidFill>
                                  <a:srgbClr val="4B84F4"/>
                                </a:solidFill>
                                <a:latin typeface="Cambria Math" panose="02040503050406030204" pitchFamily="18" charset="0"/>
                              </a:rPr>
                              <m:t>𝑖</m:t>
                            </m:r>
                          </m:sub>
                        </m:sSub>
                        <m:r>
                          <a:rPr lang="en-GB" i="1" dirty="0">
                            <a:solidFill>
                              <a:srgbClr val="4B84F4"/>
                            </a:solidFill>
                            <a:latin typeface="Cambria Math" panose="02040503050406030204" pitchFamily="18" charset="0"/>
                          </a:rPr>
                          <m:t>)</m:t>
                        </m:r>
                      </m:e>
                      <m:sub>
                        <m:r>
                          <a:rPr lang="en-GB" i="1" dirty="0">
                            <a:solidFill>
                              <a:srgbClr val="4B84F4"/>
                            </a:solidFill>
                            <a:latin typeface="Cambria Math" panose="02040503050406030204" pitchFamily="18" charset="0"/>
                          </a:rPr>
                          <m:t>𝑖</m:t>
                        </m:r>
                        <m:r>
                          <a:rPr lang="en-GB" i="1" dirty="0">
                            <a:solidFill>
                              <a:srgbClr val="4B84F4"/>
                            </a:solidFill>
                            <a:latin typeface="Cambria Math" panose="02040503050406030204" pitchFamily="18" charset="0"/>
                          </a:rPr>
                          <m:t> ∈ [0, </m:t>
                        </m:r>
                        <m:r>
                          <a:rPr lang="en-GB" i="1" dirty="0">
                            <a:solidFill>
                              <a:srgbClr val="4B84F4"/>
                            </a:solidFill>
                            <a:latin typeface="Cambria Math" panose="02040503050406030204" pitchFamily="18" charset="0"/>
                          </a:rPr>
                          <m:t>𝑡</m:t>
                        </m:r>
                        <m:r>
                          <a:rPr lang="en-GB" i="1" dirty="0">
                            <a:solidFill>
                              <a:srgbClr val="4B84F4"/>
                            </a:solidFill>
                            <a:latin typeface="Cambria Math" panose="02040503050406030204" pitchFamily="18" charset="0"/>
                          </a:rPr>
                          <m:t>]</m:t>
                        </m:r>
                      </m:sub>
                    </m:sSub>
                  </m:oMath>
                </a14:m>
                <a:r>
                  <a:rPr lang="fr-FR" dirty="0"/>
                  <a:t>, a conversation</a:t>
                </a:r>
              </a:p>
              <a:p>
                <a:pPr marL="285750" indent="-285750">
                  <a:buFont typeface="Arial" panose="020B0604020202020204" pitchFamily="34" charset="0"/>
                  <a:buChar char="•"/>
                </a:pPr>
                <a14:m>
                  <m:oMath xmlns:m="http://schemas.openxmlformats.org/officeDocument/2006/math">
                    <m:sSub>
                      <m:sSubPr>
                        <m:ctrlPr>
                          <a:rPr lang="fr-FR" b="0" i="1" dirty="0" smtClean="0">
                            <a:solidFill>
                              <a:srgbClr val="4B84F4"/>
                            </a:solidFill>
                            <a:latin typeface="Cambria Math" panose="02040503050406030204" pitchFamily="18" charset="0"/>
                          </a:rPr>
                        </m:ctrlPr>
                      </m:sSubPr>
                      <m:e>
                        <m:r>
                          <a:rPr lang="fr-FR" b="0" i="1" dirty="0" smtClean="0">
                            <a:solidFill>
                              <a:srgbClr val="4B84F4"/>
                            </a:solidFill>
                            <a:latin typeface="Cambria Math" panose="02040503050406030204" pitchFamily="18" charset="0"/>
                          </a:rPr>
                          <m:t>𝑐</m:t>
                        </m:r>
                      </m:e>
                      <m:sub>
                        <m:r>
                          <a:rPr lang="fr-FR" b="0" i="1" dirty="0" smtClean="0">
                            <a:solidFill>
                              <a:srgbClr val="4B84F4"/>
                            </a:solidFill>
                            <a:latin typeface="Cambria Math" panose="02040503050406030204" pitchFamily="18" charset="0"/>
                          </a:rPr>
                          <m:t>𝑡</m:t>
                        </m:r>
                      </m:sub>
                    </m:sSub>
                  </m:oMath>
                </a14:m>
                <a:r>
                  <a:rPr lang="en-GB" dirty="0">
                    <a:solidFill>
                      <a:srgbClr val="4B84F4"/>
                    </a:solidFill>
                  </a:rPr>
                  <a:t> </a:t>
                </a:r>
                <a:r>
                  <a:rPr lang="en-GB" dirty="0"/>
                  <a:t>the current speaker turn </a:t>
                </a:r>
                <a:endParaRPr lang="fr-FR" i="1" dirty="0">
                  <a:solidFill>
                    <a:srgbClr val="0055FF"/>
                  </a:solidFill>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a:rPr lang="en-GB" i="1" dirty="0" smtClean="0">
                        <a:solidFill>
                          <a:srgbClr val="4B84F4"/>
                        </a:solidFill>
                        <a:latin typeface="Cambria Math" panose="02040503050406030204" pitchFamily="18" charset="0"/>
                      </a:rPr>
                      <m:t>𝑆𝐸</m:t>
                    </m:r>
                  </m:oMath>
                </a14:m>
                <a:r>
                  <a:rPr lang="en-GB" dirty="0"/>
                  <a:t> the list of available socio-emotional labels. </a:t>
                </a:r>
              </a:p>
              <a:p>
                <a:pPr marL="285750" indent="-285750">
                  <a:buFont typeface="Arial" panose="020B0604020202020204" pitchFamily="34" charset="0"/>
                  <a:buChar char="•"/>
                </a:pPr>
                <a14:m>
                  <m:oMath xmlns:m="http://schemas.openxmlformats.org/officeDocument/2006/math">
                    <m:r>
                      <m:rPr>
                        <m:nor/>
                      </m:rPr>
                      <a:rPr lang="en-FR"/>
                      <m:t>∀</m:t>
                    </m:r>
                    <m:r>
                      <m:rPr>
                        <m:nor/>
                      </m:rPr>
                      <a:rPr lang="fr-FR" b="0" i="0" smtClean="0"/>
                      <m:t>i</m:t>
                    </m:r>
                    <m:r>
                      <a:rPr lang="fr-FR" b="0" i="1" smtClean="0">
                        <a:latin typeface="Cambria Math" panose="02040503050406030204" pitchFamily="18" charset="0"/>
                        <a:ea typeface="Cambria Math" panose="02040503050406030204" pitchFamily="18" charset="0"/>
                      </a:rPr>
                      <m:t>∈ </m:t>
                    </m:r>
                  </m:oMath>
                </a14:m>
                <a:r>
                  <a:rPr lang="en-GB" dirty="0"/>
                  <a:t>[0, t], </a:t>
                </a:r>
                <a14:m>
                  <m:oMath xmlns:m="http://schemas.openxmlformats.org/officeDocument/2006/math">
                    <m:r>
                      <a:rPr lang="en-GB" i="1" smtClean="0">
                        <a:solidFill>
                          <a:srgbClr val="4B84F4"/>
                        </a:solidFill>
                        <a:latin typeface="Cambria Math" panose="02040503050406030204" pitchFamily="18" charset="0"/>
                        <a:ea typeface="Cambria Math" panose="02040503050406030204" pitchFamily="18" charset="0"/>
                      </a:rPr>
                      <m:t>∃</m:t>
                    </m:r>
                    <m:sSub>
                      <m:sSubPr>
                        <m:ctrlPr>
                          <a:rPr lang="en-GB" i="1" smtClean="0">
                            <a:solidFill>
                              <a:srgbClr val="4B84F4"/>
                            </a:solidFill>
                            <a:latin typeface="Cambria Math" panose="02040503050406030204" pitchFamily="18" charset="0"/>
                            <a:ea typeface="Cambria Math" panose="02040503050406030204" pitchFamily="18" charset="0"/>
                          </a:rPr>
                        </m:ctrlPr>
                      </m:sSubPr>
                      <m:e>
                        <m:r>
                          <a:rPr lang="fr-FR" b="0" i="1" smtClean="0">
                            <a:solidFill>
                              <a:srgbClr val="4B84F4"/>
                            </a:solidFill>
                            <a:latin typeface="Cambria Math" panose="02040503050406030204" pitchFamily="18" charset="0"/>
                            <a:ea typeface="Cambria Math" panose="02040503050406030204" pitchFamily="18" charset="0"/>
                          </a:rPr>
                          <m:t>𝑦</m:t>
                        </m:r>
                      </m:e>
                      <m:sub>
                        <m:r>
                          <a:rPr lang="fr-FR" b="0" i="1" smtClean="0">
                            <a:solidFill>
                              <a:srgbClr val="4B84F4"/>
                            </a:solidFill>
                            <a:latin typeface="Cambria Math" panose="02040503050406030204" pitchFamily="18" charset="0"/>
                            <a:ea typeface="Cambria Math" panose="02040503050406030204" pitchFamily="18" charset="0"/>
                          </a:rPr>
                          <m:t>𝑖</m:t>
                        </m:r>
                      </m:sub>
                    </m:sSub>
                  </m:oMath>
                </a14:m>
                <a:r>
                  <a:rPr lang="en-GB" dirty="0">
                    <a:solidFill>
                      <a:srgbClr val="4B84F4"/>
                    </a:solidFill>
                  </a:rPr>
                  <a:t> = </a:t>
                </a:r>
                <a14:m>
                  <m:oMath xmlns:m="http://schemas.openxmlformats.org/officeDocument/2006/math">
                    <m:sSub>
                      <m:sSubPr>
                        <m:ctrlPr>
                          <a:rPr lang="en-GB" i="1" smtClean="0">
                            <a:solidFill>
                              <a:srgbClr val="4B84F4"/>
                            </a:solidFill>
                            <a:latin typeface="Cambria Math" panose="02040503050406030204" pitchFamily="18" charset="0"/>
                          </a:rPr>
                        </m:ctrlPr>
                      </m:sSubPr>
                      <m:e>
                        <m:sSubSup>
                          <m:sSubSupPr>
                            <m:ctrlPr>
                              <a:rPr lang="en-GB" i="1" smtClean="0">
                                <a:solidFill>
                                  <a:srgbClr val="4B84F4"/>
                                </a:solidFill>
                                <a:latin typeface="Cambria Math" panose="02040503050406030204" pitchFamily="18" charset="0"/>
                              </a:rPr>
                            </m:ctrlPr>
                          </m:sSubSupPr>
                          <m:e>
                            <m:r>
                              <a:rPr lang="fr-FR" b="0" i="1" smtClean="0">
                                <a:solidFill>
                                  <a:srgbClr val="4B84F4"/>
                                </a:solidFill>
                                <a:latin typeface="Cambria Math" panose="02040503050406030204" pitchFamily="18" charset="0"/>
                              </a:rPr>
                              <m:t>(</m:t>
                            </m:r>
                            <m:r>
                              <a:rPr lang="fr-FR" b="0" i="1" smtClean="0">
                                <a:solidFill>
                                  <a:srgbClr val="4B84F4"/>
                                </a:solidFill>
                                <a:latin typeface="Cambria Math" panose="02040503050406030204" pitchFamily="18" charset="0"/>
                              </a:rPr>
                              <m:t>𝑦</m:t>
                            </m:r>
                          </m:e>
                          <m:sub>
                            <m:r>
                              <a:rPr lang="fr-FR" b="0" i="1" smtClean="0">
                                <a:solidFill>
                                  <a:srgbClr val="4B84F4"/>
                                </a:solidFill>
                                <a:latin typeface="Cambria Math" panose="02040503050406030204" pitchFamily="18" charset="0"/>
                              </a:rPr>
                              <m:t>𝑖</m:t>
                            </m:r>
                          </m:sub>
                          <m:sup>
                            <m:r>
                              <a:rPr lang="fr-FR" b="0" i="1" smtClean="0">
                                <a:solidFill>
                                  <a:srgbClr val="4B84F4"/>
                                </a:solidFill>
                                <a:latin typeface="Cambria Math" panose="02040503050406030204" pitchFamily="18" charset="0"/>
                              </a:rPr>
                              <m:t>𝑗</m:t>
                            </m:r>
                          </m:sup>
                        </m:sSubSup>
                        <m:r>
                          <a:rPr lang="fr-FR" b="0" i="1" smtClean="0">
                            <a:solidFill>
                              <a:srgbClr val="4B84F4"/>
                            </a:solidFill>
                            <a:latin typeface="Cambria Math" panose="02040503050406030204" pitchFamily="18" charset="0"/>
                          </a:rPr>
                          <m:t>)</m:t>
                        </m:r>
                      </m:e>
                      <m:sub>
                        <m:r>
                          <a:rPr lang="fr-FR" b="0" i="1" smtClean="0">
                            <a:solidFill>
                              <a:srgbClr val="4B84F4"/>
                            </a:solidFill>
                            <a:latin typeface="Cambria Math" panose="02040503050406030204" pitchFamily="18" charset="0"/>
                          </a:rPr>
                          <m:t>𝑗</m:t>
                        </m:r>
                        <m:r>
                          <a:rPr lang="fr-FR" b="0" i="1" smtClean="0">
                            <a:solidFill>
                              <a:srgbClr val="4B84F4"/>
                            </a:solidFill>
                            <a:latin typeface="Cambria Math" panose="02040503050406030204" pitchFamily="18" charset="0"/>
                          </a:rPr>
                          <m:t> ∈</m:t>
                        </m:r>
                        <m:d>
                          <m:dPr>
                            <m:begChr m:val="["/>
                            <m:endChr m:val="]"/>
                            <m:ctrlPr>
                              <a:rPr lang="fr-FR" b="0" i="1" smtClean="0">
                                <a:solidFill>
                                  <a:srgbClr val="4B84F4"/>
                                </a:solidFill>
                                <a:latin typeface="Cambria Math" panose="02040503050406030204" pitchFamily="18" charset="0"/>
                                <a:ea typeface="Cambria Math" panose="02040503050406030204" pitchFamily="18" charset="0"/>
                              </a:rPr>
                            </m:ctrlPr>
                          </m:dPr>
                          <m:e>
                            <m:r>
                              <a:rPr lang="fr-FR" b="0" i="1" smtClean="0">
                                <a:solidFill>
                                  <a:srgbClr val="4B84F4"/>
                                </a:solidFill>
                                <a:latin typeface="Cambria Math" panose="02040503050406030204" pitchFamily="18" charset="0"/>
                                <a:ea typeface="Cambria Math" panose="02040503050406030204" pitchFamily="18" charset="0"/>
                              </a:rPr>
                              <m:t>0, </m:t>
                            </m:r>
                            <m:sSub>
                              <m:sSubPr>
                                <m:ctrlPr>
                                  <a:rPr lang="fr-FR" b="0" i="1" smtClean="0">
                                    <a:solidFill>
                                      <a:srgbClr val="4B84F4"/>
                                    </a:solidFill>
                                    <a:latin typeface="Cambria Math" panose="02040503050406030204" pitchFamily="18" charset="0"/>
                                    <a:ea typeface="Cambria Math" panose="02040503050406030204" pitchFamily="18" charset="0"/>
                                  </a:rPr>
                                </m:ctrlPr>
                              </m:sSubPr>
                              <m:e>
                                <m:r>
                                  <a:rPr lang="fr-FR" b="0" i="1" smtClean="0">
                                    <a:solidFill>
                                      <a:srgbClr val="4B84F4"/>
                                    </a:solidFill>
                                    <a:latin typeface="Cambria Math" panose="02040503050406030204" pitchFamily="18" charset="0"/>
                                    <a:ea typeface="Cambria Math" panose="02040503050406030204" pitchFamily="18" charset="0"/>
                                  </a:rPr>
                                  <m:t>𝑙</m:t>
                                </m:r>
                              </m:e>
                              <m:sub>
                                <m:r>
                                  <a:rPr lang="fr-FR" b="0" i="1" smtClean="0">
                                    <a:solidFill>
                                      <a:srgbClr val="4B84F4"/>
                                    </a:solidFill>
                                    <a:latin typeface="Cambria Math" panose="02040503050406030204" pitchFamily="18" charset="0"/>
                                    <a:ea typeface="Cambria Math" panose="02040503050406030204" pitchFamily="18" charset="0"/>
                                  </a:rPr>
                                  <m:t>𝑖</m:t>
                                </m:r>
                              </m:sub>
                            </m:sSub>
                          </m:e>
                        </m:d>
                      </m:sub>
                    </m:sSub>
                  </m:oMath>
                </a14:m>
                <a:r>
                  <a:rPr lang="en-GB" dirty="0"/>
                  <a:t>, an ordered sequence of socio-emotional labels associated with speaker turn </a:t>
                </a:r>
                <a:br>
                  <a:rPr lang="en-GB" dirty="0"/>
                </a:br>
                <a14:m>
                  <m:oMath xmlns:m="http://schemas.openxmlformats.org/officeDocument/2006/math">
                    <m:sSub>
                      <m:sSubPr>
                        <m:ctrlPr>
                          <a:rPr lang="en-GB" i="1" smtClean="0">
                            <a:latin typeface="Cambria Math" panose="02040503050406030204" pitchFamily="18" charset="0"/>
                          </a:rPr>
                        </m:ctrlPr>
                      </m:sSubPr>
                      <m:e>
                        <m:r>
                          <a:rPr lang="fr-FR" b="0" i="1" smtClean="0">
                            <a:latin typeface="Cambria Math" panose="02040503050406030204" pitchFamily="18" charset="0"/>
                          </a:rPr>
                          <m:t>𝑐</m:t>
                        </m:r>
                      </m:e>
                      <m:sub>
                        <m:r>
                          <a:rPr lang="fr-FR" b="0" i="1" smtClean="0">
                            <a:latin typeface="Cambria Math" panose="02040503050406030204" pitchFamily="18" charset="0"/>
                          </a:rPr>
                          <m:t>𝑖</m:t>
                        </m:r>
                      </m:sub>
                    </m:sSub>
                  </m:oMath>
                </a14:m>
                <a:r>
                  <a:rPr lang="en-GB" dirty="0"/>
                  <a:t> and  </a:t>
                </a:r>
                <a14:m>
                  <m:oMath xmlns:m="http://schemas.openxmlformats.org/officeDocument/2006/math">
                    <m:sSub>
                      <m:sSubPr>
                        <m:ctrlPr>
                          <a:rPr lang="en-GB" i="1" smtClean="0">
                            <a:latin typeface="Cambria Math" panose="02040503050406030204" pitchFamily="18" charset="0"/>
                          </a:rPr>
                        </m:ctrlPr>
                      </m:sSubPr>
                      <m:e>
                        <m:r>
                          <a:rPr lang="fr-FR" b="0" i="1" smtClean="0">
                            <a:latin typeface="Cambria Math" panose="02040503050406030204" pitchFamily="18" charset="0"/>
                          </a:rPr>
                          <m:t>𝑙</m:t>
                        </m:r>
                      </m:e>
                      <m:sub>
                        <m:r>
                          <a:rPr lang="fr-FR" b="0" i="1" smtClean="0">
                            <a:latin typeface="Cambria Math" panose="02040503050406030204" pitchFamily="18" charset="0"/>
                          </a:rPr>
                          <m:t>𝑖</m:t>
                        </m:r>
                      </m:sub>
                    </m:sSub>
                  </m:oMath>
                </a14:m>
                <a:r>
                  <a:rPr lang="en-GB" dirty="0"/>
                  <a:t> </a:t>
                </a:r>
                <a14:m>
                  <m:oMath xmlns:m="http://schemas.openxmlformats.org/officeDocument/2006/math">
                    <m:r>
                      <a:rPr lang="en-GB" i="1" dirty="0" smtClean="0">
                        <a:latin typeface="Cambria Math" panose="02040503050406030204" pitchFamily="18" charset="0"/>
                        <a:ea typeface="Cambria Math" panose="02040503050406030204" pitchFamily="18" charset="0"/>
                      </a:rPr>
                      <m:t>∈</m:t>
                    </m:r>
                    <m:r>
                      <a:rPr lang="fr-FR" b="0" i="1" dirty="0" smtClean="0">
                        <a:latin typeface="Cambria Math" panose="02040503050406030204" pitchFamily="18" charset="0"/>
                        <a:ea typeface="Cambria Math" panose="02040503050406030204" pitchFamily="18" charset="0"/>
                      </a:rPr>
                      <m:t> </m:t>
                    </m:r>
                    <m:r>
                      <a:rPr lang="fr-FR" b="0" i="1" dirty="0" smtClean="0">
                        <a:latin typeface="Cambria Math" panose="02040503050406030204" pitchFamily="18" charset="0"/>
                        <a:ea typeface="Cambria Math" panose="02040503050406030204" pitchFamily="18" charset="0"/>
                      </a:rPr>
                      <m:t>ℕ</m:t>
                    </m:r>
                  </m:oMath>
                </a14:m>
                <a:r>
                  <a:rPr lang="en-GB" dirty="0"/>
                  <a:t> the number of labels associated with </a:t>
                </a:r>
                <a14:m>
                  <m:oMath xmlns:m="http://schemas.openxmlformats.org/officeDocument/2006/math">
                    <m:sSub>
                      <m:sSubPr>
                        <m:ctrlPr>
                          <a:rPr lang="en-GB" i="1">
                            <a:latin typeface="Cambria Math" panose="02040503050406030204" pitchFamily="18" charset="0"/>
                          </a:rPr>
                        </m:ctrlPr>
                      </m:sSubPr>
                      <m:e>
                        <m:r>
                          <a:rPr lang="fr-FR" i="1">
                            <a:latin typeface="Cambria Math" panose="02040503050406030204" pitchFamily="18" charset="0"/>
                          </a:rPr>
                          <m:t>𝑐</m:t>
                        </m:r>
                      </m:e>
                      <m:sub>
                        <m:r>
                          <a:rPr lang="fr-FR" i="1">
                            <a:latin typeface="Cambria Math" panose="02040503050406030204" pitchFamily="18" charset="0"/>
                          </a:rPr>
                          <m:t>𝑖</m:t>
                        </m:r>
                      </m:sub>
                    </m:sSub>
                    <m:r>
                      <a:rPr lang="fr-FR" b="0" i="0" smtClean="0">
                        <a:latin typeface="Cambria Math" panose="02040503050406030204" pitchFamily="18" charset="0"/>
                      </a:rPr>
                      <m:t>. </m:t>
                    </m:r>
                    <m:r>
                      <m:rPr>
                        <m:nor/>
                      </m:rPr>
                      <a:rPr lang="fr-FR" b="0" i="0" smtClean="0">
                        <a:latin typeface="Cambria Math" panose="02040503050406030204" pitchFamily="18" charset="0"/>
                      </a:rPr>
                      <m:t>  </m:t>
                    </m:r>
                  </m:oMath>
                </a14:m>
                <a:endParaRPr lang="fr-FR" b="0" dirty="0"/>
              </a:p>
              <a:p>
                <a:endParaRPr lang="en-GB" dirty="0"/>
              </a:p>
              <a:p>
                <a:r>
                  <a:rPr lang="en-GB" dirty="0"/>
                  <a:t>Given </a:t>
                </a:r>
                <a14:m>
                  <m:oMath xmlns:m="http://schemas.openxmlformats.org/officeDocument/2006/math">
                    <m:sSub>
                      <m:sSubPr>
                        <m:ctrlPr>
                          <a:rPr lang="fr-FR" i="1">
                            <a:latin typeface="Cambria Math" panose="02040503050406030204" pitchFamily="18" charset="0"/>
                          </a:rPr>
                        </m:ctrlPr>
                      </m:sSubPr>
                      <m:e>
                        <m:r>
                          <m:rPr>
                            <m:sty m:val="p"/>
                          </m:rPr>
                          <a:rPr lang="fr-FR">
                            <a:latin typeface="Cambria Math" panose="02040503050406030204" pitchFamily="18" charset="0"/>
                          </a:rPr>
                          <m:t>C</m:t>
                        </m:r>
                      </m:e>
                      <m:sub>
                        <m:r>
                          <m:rPr>
                            <m:sty m:val="p"/>
                          </m:rPr>
                          <a:rPr lang="fr-FR">
                            <a:latin typeface="Cambria Math" panose="02040503050406030204" pitchFamily="18" charset="0"/>
                          </a:rPr>
                          <m:t>k</m:t>
                        </m:r>
                      </m:sub>
                    </m:sSub>
                  </m:oMath>
                </a14:m>
                <a:r>
                  <a:rPr lang="en-FR" dirty="0"/>
                  <a:t>, the context containing the last k utterances, w</a:t>
                </a:r>
                <a:r>
                  <a:rPr lang="en-GB" dirty="0"/>
                  <a:t>e seek to predict the following sequence:</a:t>
                </a:r>
              </a:p>
              <a:p>
                <a:pPr algn="ctr"/>
                <a:endParaRPr lang="en-GB" dirty="0"/>
              </a:p>
              <a:p>
                <a:pPr algn="ctr"/>
                <a14:m>
                  <m:oMath xmlns:m="http://schemas.openxmlformats.org/officeDocument/2006/math">
                    <m:sSub>
                      <m:sSubPr>
                        <m:ctrlPr>
                          <a:rPr lang="en-GB" b="1" i="1" dirty="0" smtClean="0">
                            <a:solidFill>
                              <a:srgbClr val="4B84F4"/>
                            </a:solidFill>
                            <a:latin typeface="Cambria Math" panose="02040503050406030204" pitchFamily="18" charset="0"/>
                            <a:ea typeface="Cambria Math" panose="02040503050406030204" pitchFamily="18" charset="0"/>
                          </a:rPr>
                        </m:ctrlPr>
                      </m:sSubPr>
                      <m:e>
                        <m:r>
                          <a:rPr lang="fr-FR" b="1" i="1" dirty="0" smtClean="0">
                            <a:solidFill>
                              <a:srgbClr val="4B84F4"/>
                            </a:solidFill>
                            <a:latin typeface="Cambria Math" panose="02040503050406030204" pitchFamily="18" charset="0"/>
                            <a:ea typeface="Cambria Math" panose="02040503050406030204" pitchFamily="18" charset="0"/>
                          </a:rPr>
                          <m:t>𝒚</m:t>
                        </m:r>
                      </m:e>
                      <m:sub>
                        <m:r>
                          <a:rPr lang="fr-FR" b="1" i="1" dirty="0" smtClean="0">
                            <a:solidFill>
                              <a:srgbClr val="4B84F4"/>
                            </a:solidFill>
                            <a:latin typeface="Cambria Math" panose="02040503050406030204" pitchFamily="18" charset="0"/>
                            <a:ea typeface="Cambria Math" panose="02040503050406030204" pitchFamily="18" charset="0"/>
                          </a:rPr>
                          <m:t>𝒕</m:t>
                        </m:r>
                        <m:r>
                          <a:rPr lang="fr-FR" b="1" i="1" dirty="0" smtClean="0">
                            <a:solidFill>
                              <a:srgbClr val="4B84F4"/>
                            </a:solidFill>
                            <a:latin typeface="Cambria Math" panose="02040503050406030204" pitchFamily="18" charset="0"/>
                            <a:ea typeface="Cambria Math" panose="02040503050406030204" pitchFamily="18" charset="0"/>
                          </a:rPr>
                          <m:t>+</m:t>
                        </m:r>
                        <m:r>
                          <a:rPr lang="fr-FR" b="1" i="1" dirty="0" smtClean="0">
                            <a:solidFill>
                              <a:srgbClr val="4B84F4"/>
                            </a:solidFill>
                            <a:latin typeface="Cambria Math" panose="02040503050406030204" pitchFamily="18" charset="0"/>
                            <a:ea typeface="Cambria Math" panose="02040503050406030204" pitchFamily="18" charset="0"/>
                          </a:rPr>
                          <m:t>𝟏</m:t>
                        </m:r>
                      </m:sub>
                    </m:sSub>
                    <m:r>
                      <a:rPr lang="fr-FR" b="1" i="1" dirty="0" smtClean="0">
                        <a:solidFill>
                          <a:srgbClr val="4B84F4"/>
                        </a:solidFill>
                        <a:latin typeface="Cambria Math" panose="02040503050406030204" pitchFamily="18" charset="0"/>
                        <a:ea typeface="Cambria Math" panose="02040503050406030204" pitchFamily="18" charset="0"/>
                      </a:rPr>
                      <m:t> </m:t>
                    </m:r>
                  </m:oMath>
                </a14:m>
                <a:r>
                  <a:rPr lang="en-GB" b="1" dirty="0">
                    <a:solidFill>
                      <a:srgbClr val="4B84F4"/>
                    </a:solidFill>
                  </a:rPr>
                  <a:t>= </a:t>
                </a:r>
                <a14:m>
                  <m:oMath xmlns:m="http://schemas.openxmlformats.org/officeDocument/2006/math">
                    <m:sSub>
                      <m:sSubPr>
                        <m:ctrlPr>
                          <a:rPr lang="en-GB" b="1" i="1">
                            <a:solidFill>
                              <a:srgbClr val="4B84F4"/>
                            </a:solidFill>
                            <a:latin typeface="Cambria Math" panose="02040503050406030204" pitchFamily="18" charset="0"/>
                          </a:rPr>
                        </m:ctrlPr>
                      </m:sSubPr>
                      <m:e>
                        <m:sSubSup>
                          <m:sSubSupPr>
                            <m:ctrlPr>
                              <a:rPr lang="en-GB" b="1" i="1">
                                <a:solidFill>
                                  <a:srgbClr val="4B84F4"/>
                                </a:solidFill>
                                <a:latin typeface="Cambria Math" panose="02040503050406030204" pitchFamily="18" charset="0"/>
                              </a:rPr>
                            </m:ctrlPr>
                          </m:sSubSupPr>
                          <m:e>
                            <m:r>
                              <a:rPr lang="fr-FR" b="1" i="1">
                                <a:solidFill>
                                  <a:srgbClr val="4B84F4"/>
                                </a:solidFill>
                                <a:latin typeface="Cambria Math" panose="02040503050406030204" pitchFamily="18" charset="0"/>
                              </a:rPr>
                              <m:t>(</m:t>
                            </m:r>
                            <m:r>
                              <a:rPr lang="fr-FR" b="1" i="1">
                                <a:solidFill>
                                  <a:srgbClr val="4B84F4"/>
                                </a:solidFill>
                                <a:latin typeface="Cambria Math" panose="02040503050406030204" pitchFamily="18" charset="0"/>
                              </a:rPr>
                              <m:t>𝒚</m:t>
                            </m:r>
                          </m:e>
                          <m:sub>
                            <m:r>
                              <a:rPr lang="fr-FR" b="1" i="1" smtClean="0">
                                <a:solidFill>
                                  <a:srgbClr val="4B84F4"/>
                                </a:solidFill>
                                <a:latin typeface="Cambria Math" panose="02040503050406030204" pitchFamily="18" charset="0"/>
                              </a:rPr>
                              <m:t>𝒕</m:t>
                            </m:r>
                            <m:r>
                              <a:rPr lang="fr-FR" b="1" i="1" smtClean="0">
                                <a:solidFill>
                                  <a:srgbClr val="4B84F4"/>
                                </a:solidFill>
                                <a:latin typeface="Cambria Math" panose="02040503050406030204" pitchFamily="18" charset="0"/>
                              </a:rPr>
                              <m:t>+</m:t>
                            </m:r>
                            <m:r>
                              <a:rPr lang="fr-FR" b="1" i="1" smtClean="0">
                                <a:solidFill>
                                  <a:srgbClr val="4B84F4"/>
                                </a:solidFill>
                                <a:latin typeface="Cambria Math" panose="02040503050406030204" pitchFamily="18" charset="0"/>
                              </a:rPr>
                              <m:t>𝟏</m:t>
                            </m:r>
                          </m:sub>
                          <m:sup>
                            <m:r>
                              <a:rPr lang="fr-FR" b="1" i="1">
                                <a:solidFill>
                                  <a:srgbClr val="4B84F4"/>
                                </a:solidFill>
                                <a:latin typeface="Cambria Math" panose="02040503050406030204" pitchFamily="18" charset="0"/>
                              </a:rPr>
                              <m:t>𝒋</m:t>
                            </m:r>
                          </m:sup>
                        </m:sSubSup>
                        <m:r>
                          <a:rPr lang="fr-FR" b="1" i="1">
                            <a:solidFill>
                              <a:srgbClr val="4B84F4"/>
                            </a:solidFill>
                            <a:latin typeface="Cambria Math" panose="02040503050406030204" pitchFamily="18" charset="0"/>
                          </a:rPr>
                          <m:t>)</m:t>
                        </m:r>
                      </m:e>
                      <m:sub>
                        <m:r>
                          <a:rPr lang="fr-FR" b="1" i="1">
                            <a:solidFill>
                              <a:srgbClr val="4B84F4"/>
                            </a:solidFill>
                            <a:latin typeface="Cambria Math" panose="02040503050406030204" pitchFamily="18" charset="0"/>
                          </a:rPr>
                          <m:t>𝒋</m:t>
                        </m:r>
                        <m:r>
                          <a:rPr lang="fr-FR" b="1" i="1">
                            <a:solidFill>
                              <a:srgbClr val="4B84F4"/>
                            </a:solidFill>
                            <a:latin typeface="Cambria Math" panose="02040503050406030204" pitchFamily="18" charset="0"/>
                          </a:rPr>
                          <m:t> ∈</m:t>
                        </m:r>
                        <m:d>
                          <m:dPr>
                            <m:begChr m:val="["/>
                            <m:endChr m:val="]"/>
                            <m:ctrlPr>
                              <a:rPr lang="fr-FR" b="1" i="1">
                                <a:solidFill>
                                  <a:srgbClr val="4B84F4"/>
                                </a:solidFill>
                                <a:latin typeface="Cambria Math" panose="02040503050406030204" pitchFamily="18" charset="0"/>
                                <a:ea typeface="Cambria Math" panose="02040503050406030204" pitchFamily="18" charset="0"/>
                              </a:rPr>
                            </m:ctrlPr>
                          </m:dPr>
                          <m:e>
                            <m:r>
                              <a:rPr lang="fr-FR" b="1" i="1">
                                <a:solidFill>
                                  <a:srgbClr val="4B84F4"/>
                                </a:solidFill>
                                <a:latin typeface="Cambria Math" panose="02040503050406030204" pitchFamily="18" charset="0"/>
                                <a:ea typeface="Cambria Math" panose="02040503050406030204" pitchFamily="18" charset="0"/>
                              </a:rPr>
                              <m:t>𝟎</m:t>
                            </m:r>
                            <m:r>
                              <a:rPr lang="fr-FR" b="1" i="1">
                                <a:solidFill>
                                  <a:srgbClr val="4B84F4"/>
                                </a:solidFill>
                                <a:latin typeface="Cambria Math" panose="02040503050406030204" pitchFamily="18" charset="0"/>
                                <a:ea typeface="Cambria Math" panose="02040503050406030204" pitchFamily="18" charset="0"/>
                              </a:rPr>
                              <m:t>, </m:t>
                            </m:r>
                            <m:sSub>
                              <m:sSubPr>
                                <m:ctrlPr>
                                  <a:rPr lang="fr-FR" b="1" i="1">
                                    <a:solidFill>
                                      <a:srgbClr val="4B84F4"/>
                                    </a:solidFill>
                                    <a:latin typeface="Cambria Math" panose="02040503050406030204" pitchFamily="18" charset="0"/>
                                    <a:ea typeface="Cambria Math" panose="02040503050406030204" pitchFamily="18" charset="0"/>
                                  </a:rPr>
                                </m:ctrlPr>
                              </m:sSubPr>
                              <m:e>
                                <m:r>
                                  <a:rPr lang="fr-FR" b="1" i="1">
                                    <a:solidFill>
                                      <a:srgbClr val="4B84F4"/>
                                    </a:solidFill>
                                    <a:latin typeface="Cambria Math" panose="02040503050406030204" pitchFamily="18" charset="0"/>
                                    <a:ea typeface="Cambria Math" panose="02040503050406030204" pitchFamily="18" charset="0"/>
                                  </a:rPr>
                                  <m:t>𝒍</m:t>
                                </m:r>
                              </m:e>
                              <m:sub>
                                <m:r>
                                  <a:rPr lang="fr-FR" b="1" i="1" smtClean="0">
                                    <a:solidFill>
                                      <a:srgbClr val="4B84F4"/>
                                    </a:solidFill>
                                    <a:latin typeface="Cambria Math" panose="02040503050406030204" pitchFamily="18" charset="0"/>
                                    <a:ea typeface="Cambria Math" panose="02040503050406030204" pitchFamily="18" charset="0"/>
                                  </a:rPr>
                                  <m:t>𝒕</m:t>
                                </m:r>
                                <m:r>
                                  <a:rPr lang="fr-FR" b="1" i="1" smtClean="0">
                                    <a:solidFill>
                                      <a:srgbClr val="4B84F4"/>
                                    </a:solidFill>
                                    <a:latin typeface="Cambria Math" panose="02040503050406030204" pitchFamily="18" charset="0"/>
                                    <a:ea typeface="Cambria Math" panose="02040503050406030204" pitchFamily="18" charset="0"/>
                                  </a:rPr>
                                  <m:t>+</m:t>
                                </m:r>
                                <m:r>
                                  <a:rPr lang="fr-FR" b="1" i="1" smtClean="0">
                                    <a:solidFill>
                                      <a:srgbClr val="4B84F4"/>
                                    </a:solidFill>
                                    <a:latin typeface="Cambria Math" panose="02040503050406030204" pitchFamily="18" charset="0"/>
                                    <a:ea typeface="Cambria Math" panose="02040503050406030204" pitchFamily="18" charset="0"/>
                                  </a:rPr>
                                  <m:t>𝟏</m:t>
                                </m:r>
                              </m:sub>
                            </m:sSub>
                          </m:e>
                        </m:d>
                        <m:r>
                          <a:rPr lang="fr-FR" b="1" i="1" smtClean="0">
                            <a:solidFill>
                              <a:srgbClr val="4B84F4"/>
                            </a:solidFill>
                            <a:latin typeface="Cambria Math" panose="02040503050406030204" pitchFamily="18" charset="0"/>
                            <a:ea typeface="Cambria Math" panose="02040503050406030204" pitchFamily="18" charset="0"/>
                          </a:rPr>
                          <m:t>  </m:t>
                        </m:r>
                      </m:sub>
                    </m:sSub>
                    <m:r>
                      <a:rPr lang="fr-FR" b="1" i="1" smtClean="0">
                        <a:solidFill>
                          <a:srgbClr val="4B84F4"/>
                        </a:solidFill>
                        <a:latin typeface="Cambria Math" panose="02040503050406030204" pitchFamily="18" charset="0"/>
                        <a:ea typeface="Cambria Math" panose="02040503050406030204" pitchFamily="18" charset="0"/>
                      </a:rPr>
                      <m:t>∈</m:t>
                    </m:r>
                    <m:sSup>
                      <m:sSupPr>
                        <m:ctrlPr>
                          <a:rPr lang="fr-FR" b="1" i="1" smtClean="0">
                            <a:solidFill>
                              <a:srgbClr val="4B84F4"/>
                            </a:solidFill>
                            <a:latin typeface="Cambria Math" panose="02040503050406030204" pitchFamily="18" charset="0"/>
                            <a:ea typeface="Cambria Math" panose="02040503050406030204" pitchFamily="18" charset="0"/>
                          </a:rPr>
                        </m:ctrlPr>
                      </m:sSupPr>
                      <m:e>
                        <m:r>
                          <a:rPr lang="fr-FR" b="1" i="1" smtClean="0">
                            <a:solidFill>
                              <a:srgbClr val="4B84F4"/>
                            </a:solidFill>
                            <a:latin typeface="Cambria Math" panose="02040503050406030204" pitchFamily="18" charset="0"/>
                            <a:ea typeface="Cambria Math" panose="02040503050406030204" pitchFamily="18" charset="0"/>
                          </a:rPr>
                          <m:t>𝑺𝑬</m:t>
                        </m:r>
                      </m:e>
                      <m:sup>
                        <m:sSub>
                          <m:sSubPr>
                            <m:ctrlPr>
                              <a:rPr lang="fr-FR" b="1" i="1" smtClean="0">
                                <a:solidFill>
                                  <a:srgbClr val="4B84F4"/>
                                </a:solidFill>
                                <a:latin typeface="Cambria Math" panose="02040503050406030204" pitchFamily="18" charset="0"/>
                                <a:ea typeface="Cambria Math" panose="02040503050406030204" pitchFamily="18" charset="0"/>
                              </a:rPr>
                            </m:ctrlPr>
                          </m:sSubPr>
                          <m:e>
                            <m:r>
                              <a:rPr lang="fr-FR" b="1" i="1" smtClean="0">
                                <a:solidFill>
                                  <a:srgbClr val="4B84F4"/>
                                </a:solidFill>
                                <a:latin typeface="Cambria Math" panose="02040503050406030204" pitchFamily="18" charset="0"/>
                                <a:ea typeface="Cambria Math" panose="02040503050406030204" pitchFamily="18" charset="0"/>
                              </a:rPr>
                              <m:t>𝒍</m:t>
                            </m:r>
                          </m:e>
                          <m:sub>
                            <m:r>
                              <a:rPr lang="fr-FR" b="1" i="1" smtClean="0">
                                <a:solidFill>
                                  <a:srgbClr val="4B84F4"/>
                                </a:solidFill>
                                <a:latin typeface="Cambria Math" panose="02040503050406030204" pitchFamily="18" charset="0"/>
                                <a:ea typeface="Cambria Math" panose="02040503050406030204" pitchFamily="18" charset="0"/>
                              </a:rPr>
                              <m:t>𝒕</m:t>
                            </m:r>
                            <m:r>
                              <a:rPr lang="fr-FR" b="1" i="1" smtClean="0">
                                <a:solidFill>
                                  <a:srgbClr val="4B84F4"/>
                                </a:solidFill>
                                <a:latin typeface="Cambria Math" panose="02040503050406030204" pitchFamily="18" charset="0"/>
                                <a:ea typeface="Cambria Math" panose="02040503050406030204" pitchFamily="18" charset="0"/>
                              </a:rPr>
                              <m:t>+</m:t>
                            </m:r>
                            <m:r>
                              <a:rPr lang="fr-FR" b="1" i="1" smtClean="0">
                                <a:solidFill>
                                  <a:srgbClr val="4B84F4"/>
                                </a:solidFill>
                                <a:latin typeface="Cambria Math" panose="02040503050406030204" pitchFamily="18" charset="0"/>
                                <a:ea typeface="Cambria Math" panose="02040503050406030204" pitchFamily="18" charset="0"/>
                              </a:rPr>
                              <m:t>𝟏</m:t>
                            </m:r>
                          </m:sub>
                        </m:sSub>
                      </m:sup>
                    </m:sSup>
                  </m:oMath>
                </a14:m>
                <a:endParaRPr lang="en-GB" b="1" dirty="0">
                  <a:solidFill>
                    <a:srgbClr val="4B84F4"/>
                  </a:solidFill>
                </a:endParaRPr>
              </a:p>
            </p:txBody>
          </p:sp>
        </mc:Choice>
        <mc:Fallback xmlns="">
          <p:sp>
            <p:nvSpPr>
              <p:cNvPr id="37" name="TextBox 36">
                <a:extLst>
                  <a:ext uri="{FF2B5EF4-FFF2-40B4-BE49-F238E27FC236}">
                    <a16:creationId xmlns:a16="http://schemas.microsoft.com/office/drawing/2014/main" id="{DAA9E343-BA98-7D69-BA77-AF2BB56EACC3}"/>
                  </a:ext>
                </a:extLst>
              </p:cNvPr>
              <p:cNvSpPr txBox="1">
                <a:spLocks noRot="1" noChangeAspect="1" noMove="1" noResize="1" noEditPoints="1" noAdjustHandles="1" noChangeArrowheads="1" noChangeShapeType="1" noTextEdit="1"/>
              </p:cNvSpPr>
              <p:nvPr/>
            </p:nvSpPr>
            <p:spPr>
              <a:xfrm>
                <a:off x="7745742" y="1688857"/>
                <a:ext cx="4291116" cy="4706738"/>
              </a:xfrm>
              <a:prstGeom prst="rect">
                <a:avLst/>
              </a:prstGeom>
              <a:blipFill>
                <a:blip r:embed="rId5"/>
                <a:stretch>
                  <a:fillRect l="-1475" t="-269" r="-1475" b="-538"/>
                </a:stretch>
              </a:blipFill>
            </p:spPr>
            <p:txBody>
              <a:bodyPr/>
              <a:lstStyle/>
              <a:p>
                <a:r>
                  <a:rPr lang="en-FR">
                    <a:noFill/>
                  </a:rPr>
                  <a:t> </a:t>
                </a:r>
              </a:p>
            </p:txBody>
          </p:sp>
        </mc:Fallback>
      </mc:AlternateContent>
      <p:sp>
        <p:nvSpPr>
          <p:cNvPr id="38" name="Rectangle 37">
            <a:extLst>
              <a:ext uri="{FF2B5EF4-FFF2-40B4-BE49-F238E27FC236}">
                <a16:creationId xmlns:a16="http://schemas.microsoft.com/office/drawing/2014/main" id="{016CE403-6C23-9714-4FDC-E50E44E03153}"/>
              </a:ext>
            </a:extLst>
          </p:cNvPr>
          <p:cNvSpPr/>
          <p:nvPr/>
        </p:nvSpPr>
        <p:spPr>
          <a:xfrm>
            <a:off x="8251480" y="5818470"/>
            <a:ext cx="3398794" cy="577125"/>
          </a:xfrm>
          <a:prstGeom prst="rect">
            <a:avLst/>
          </a:prstGeom>
          <a:noFill/>
          <a:ln w="38100">
            <a:solidFill>
              <a:srgbClr val="4B84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Tree>
    <p:extLst>
      <p:ext uri="{BB962C8B-B14F-4D97-AF65-F5344CB8AC3E}">
        <p14:creationId xmlns:p14="http://schemas.microsoft.com/office/powerpoint/2010/main" val="42184629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50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50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41523AF-DF88-8B46-FFE7-E517C50FDD71}"/>
            </a:ext>
          </a:extLst>
        </p:cNvPr>
        <p:cNvGrpSpPr/>
        <p:nvPr/>
      </p:nvGrpSpPr>
      <p:grpSpPr>
        <a:xfrm>
          <a:off x="0" y="0"/>
          <a:ext cx="0" cy="0"/>
          <a:chOff x="0" y="0"/>
          <a:chExt cx="0" cy="0"/>
        </a:xfrm>
      </p:grpSpPr>
      <p:sp>
        <p:nvSpPr>
          <p:cNvPr id="39" name="Rounded Rectangle 38">
            <a:extLst>
              <a:ext uri="{FF2B5EF4-FFF2-40B4-BE49-F238E27FC236}">
                <a16:creationId xmlns:a16="http://schemas.microsoft.com/office/drawing/2014/main" id="{91FF420B-84CC-9A07-5E27-6D20B430F1D4}"/>
              </a:ext>
            </a:extLst>
          </p:cNvPr>
          <p:cNvSpPr/>
          <p:nvPr/>
        </p:nvSpPr>
        <p:spPr>
          <a:xfrm>
            <a:off x="456733" y="1817020"/>
            <a:ext cx="2600325" cy="583189"/>
          </a:xfrm>
          <a:prstGeom prst="roundRect">
            <a:avLst/>
          </a:prstGeom>
          <a:solidFill>
            <a:srgbClr val="4B85F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FFD2B2"/>
                </a:solidFill>
              </a:rPr>
              <a:t>Y</a:t>
            </a:r>
            <a:r>
              <a:rPr lang="en-FR" sz="1400" dirty="0">
                <a:solidFill>
                  <a:srgbClr val="FFD2B2"/>
                </a:solidFill>
              </a:rPr>
              <a:t>es.</a:t>
            </a:r>
            <a:r>
              <a:rPr lang="en-FR" sz="1400" dirty="0"/>
              <a:t> </a:t>
            </a:r>
            <a:r>
              <a:rPr lang="en-GB" sz="1400" dirty="0">
                <a:solidFill>
                  <a:srgbClr val="E3ABCC"/>
                </a:solidFill>
              </a:rPr>
              <a:t>F</a:t>
            </a:r>
            <a:r>
              <a:rPr lang="en-FR" sz="1400" dirty="0">
                <a:solidFill>
                  <a:srgbClr val="E3ABCC"/>
                </a:solidFill>
              </a:rPr>
              <a:t>ive pm.</a:t>
            </a:r>
          </a:p>
          <a:p>
            <a:pPr algn="ctr"/>
            <a:r>
              <a:rPr lang="en-GB" sz="1400" dirty="0">
                <a:solidFill>
                  <a:srgbClr val="FFD2B2"/>
                </a:solidFill>
              </a:rPr>
              <a:t>O</a:t>
            </a:r>
            <a:r>
              <a:rPr lang="en-FR" sz="1400" dirty="0">
                <a:solidFill>
                  <a:srgbClr val="FFD2B2"/>
                </a:solidFill>
              </a:rPr>
              <a:t>k, </a:t>
            </a:r>
            <a:r>
              <a:rPr lang="en-FR" sz="1400" u="sng" dirty="0">
                <a:solidFill>
                  <a:srgbClr val="FFD2B2"/>
                </a:solidFill>
              </a:rPr>
              <a:t>perfect!</a:t>
            </a:r>
            <a:r>
              <a:rPr lang="en-FR" sz="1400" dirty="0"/>
              <a:t> </a:t>
            </a:r>
            <a:r>
              <a:rPr lang="en-FR" sz="1400" dirty="0">
                <a:solidFill>
                  <a:srgbClr val="70D141"/>
                </a:solidFill>
              </a:rPr>
              <a:t>thank you.</a:t>
            </a:r>
          </a:p>
        </p:txBody>
      </p:sp>
      <p:sp>
        <p:nvSpPr>
          <p:cNvPr id="2" name="Title 1">
            <a:extLst>
              <a:ext uri="{FF2B5EF4-FFF2-40B4-BE49-F238E27FC236}">
                <a16:creationId xmlns:a16="http://schemas.microsoft.com/office/drawing/2014/main" id="{8280944B-74CC-F369-BAD0-5568E3211586}"/>
              </a:ext>
            </a:extLst>
          </p:cNvPr>
          <p:cNvSpPr>
            <a:spLocks noGrp="1"/>
          </p:cNvSpPr>
          <p:nvPr>
            <p:ph type="title"/>
          </p:nvPr>
        </p:nvSpPr>
        <p:spPr/>
        <p:txBody>
          <a:bodyPr/>
          <a:lstStyle/>
          <a:p>
            <a:r>
              <a:rPr lang="en-FR" dirty="0"/>
              <a:t>Generative Module: Description</a:t>
            </a:r>
          </a:p>
        </p:txBody>
      </p:sp>
      <p:pic>
        <p:nvPicPr>
          <p:cNvPr id="3" name="Graphic 2" descr="Lightbulb and gear with solid fill">
            <a:extLst>
              <a:ext uri="{FF2B5EF4-FFF2-40B4-BE49-F238E27FC236}">
                <a16:creationId xmlns:a16="http://schemas.microsoft.com/office/drawing/2014/main" id="{5B3C4A30-25AC-362F-1563-46AEC832DF6A}"/>
              </a:ext>
            </a:extLst>
          </p:cNvPr>
          <p:cNvPicPr>
            <a:picLocks noChangeAspect="1"/>
          </p:cNvPicPr>
          <p:nvPr/>
        </p:nvPicPr>
        <p:blipFill>
          <a:blip r:embed="rId3">
            <a:alphaModFix/>
            <a:extLst>
              <a:ext uri="{96DAC541-7B7A-43D3-8B79-37D633B846F1}">
                <asvg:svgBlip xmlns:asvg="http://schemas.microsoft.com/office/drawing/2016/SVG/main" r:embed="rId4"/>
              </a:ext>
            </a:extLst>
          </a:blip>
          <a:stretch>
            <a:fillRect/>
          </a:stretch>
        </p:blipFill>
        <p:spPr>
          <a:xfrm>
            <a:off x="155142" y="260967"/>
            <a:ext cx="844390" cy="844390"/>
          </a:xfrm>
          <a:prstGeom prst="rect">
            <a:avLst/>
          </a:prstGeom>
        </p:spPr>
      </p:pic>
      <p:sp>
        <p:nvSpPr>
          <p:cNvPr id="30" name="Rounded Rectangle 29">
            <a:extLst>
              <a:ext uri="{FF2B5EF4-FFF2-40B4-BE49-F238E27FC236}">
                <a16:creationId xmlns:a16="http://schemas.microsoft.com/office/drawing/2014/main" id="{FBC25A40-CD55-1660-6349-2E2FD65652F8}"/>
              </a:ext>
            </a:extLst>
          </p:cNvPr>
          <p:cNvSpPr/>
          <p:nvPr/>
        </p:nvSpPr>
        <p:spPr>
          <a:xfrm>
            <a:off x="2241123" y="5508963"/>
            <a:ext cx="2869705" cy="660029"/>
          </a:xfrm>
          <a:prstGeom prst="round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dirty="0">
                <a:solidFill>
                  <a:srgbClr val="4B85F4"/>
                </a:solidFill>
              </a:rPr>
              <a:t>?</a:t>
            </a:r>
            <a:endParaRPr lang="en-FR" sz="1400" b="1" dirty="0">
              <a:solidFill>
                <a:srgbClr val="4B85F4"/>
              </a:solidFill>
            </a:endParaRPr>
          </a:p>
        </p:txBody>
      </p:sp>
      <p:sp>
        <p:nvSpPr>
          <p:cNvPr id="32" name="Rounded Rectangle 31">
            <a:extLst>
              <a:ext uri="{FF2B5EF4-FFF2-40B4-BE49-F238E27FC236}">
                <a16:creationId xmlns:a16="http://schemas.microsoft.com/office/drawing/2014/main" id="{D186F69D-C386-8F05-E7C7-A836F9C400D1}"/>
              </a:ext>
            </a:extLst>
          </p:cNvPr>
          <p:cNvSpPr/>
          <p:nvPr/>
        </p:nvSpPr>
        <p:spPr>
          <a:xfrm>
            <a:off x="2258478" y="2552850"/>
            <a:ext cx="2869705" cy="1226435"/>
          </a:xfrm>
          <a:prstGeom prst="round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rgbClr val="4B85F4"/>
                </a:solidFill>
              </a:rPr>
              <a:t>Yes, </a:t>
            </a:r>
            <a:r>
              <a:rPr lang="fr-FR" sz="1400" dirty="0" err="1">
                <a:solidFill>
                  <a:srgbClr val="4B85F4"/>
                </a:solidFill>
              </a:rPr>
              <a:t>they</a:t>
            </a:r>
            <a:r>
              <a:rPr lang="fr-FR" sz="1400" dirty="0">
                <a:solidFill>
                  <a:srgbClr val="4B85F4"/>
                </a:solidFill>
              </a:rPr>
              <a:t> </a:t>
            </a:r>
            <a:r>
              <a:rPr lang="fr-FR" sz="1400" dirty="0" err="1">
                <a:solidFill>
                  <a:srgbClr val="4B85F4"/>
                </a:solidFill>
              </a:rPr>
              <a:t>just</a:t>
            </a:r>
            <a:r>
              <a:rPr lang="fr-FR" sz="1400" dirty="0">
                <a:solidFill>
                  <a:srgbClr val="4B85F4"/>
                </a:solidFill>
              </a:rPr>
              <a:t> </a:t>
            </a:r>
            <a:r>
              <a:rPr lang="fr-FR" sz="1400" dirty="0" err="1">
                <a:solidFill>
                  <a:srgbClr val="4B85F4"/>
                </a:solidFill>
              </a:rPr>
              <a:t>told</a:t>
            </a:r>
            <a:r>
              <a:rPr lang="fr-FR" sz="1400" dirty="0">
                <a:solidFill>
                  <a:srgbClr val="4B85F4"/>
                </a:solidFill>
              </a:rPr>
              <a:t> me </a:t>
            </a:r>
            <a:r>
              <a:rPr lang="fr-FR" sz="1400" dirty="0" err="1">
                <a:solidFill>
                  <a:srgbClr val="4B85F4"/>
                </a:solidFill>
              </a:rPr>
              <a:t>that</a:t>
            </a:r>
            <a:r>
              <a:rPr lang="fr-FR" sz="1400" dirty="0">
                <a:solidFill>
                  <a:srgbClr val="4B85F4"/>
                </a:solidFill>
              </a:rPr>
              <a:t> </a:t>
            </a:r>
            <a:r>
              <a:rPr lang="fr-FR" sz="1400" dirty="0" err="1">
                <a:solidFill>
                  <a:srgbClr val="4B85F4"/>
                </a:solidFill>
              </a:rPr>
              <a:t>they</a:t>
            </a:r>
            <a:r>
              <a:rPr lang="fr-FR" sz="1400" dirty="0">
                <a:solidFill>
                  <a:srgbClr val="4B85F4"/>
                </a:solidFill>
              </a:rPr>
              <a:t> </a:t>
            </a:r>
            <a:r>
              <a:rPr lang="fr-FR" sz="1400" dirty="0" err="1">
                <a:solidFill>
                  <a:srgbClr val="4B85F4"/>
                </a:solidFill>
              </a:rPr>
              <a:t>were</a:t>
            </a:r>
            <a:r>
              <a:rPr lang="fr-FR" sz="1400" dirty="0">
                <a:solidFill>
                  <a:srgbClr val="4B85F4"/>
                </a:solidFill>
              </a:rPr>
              <a:t> </a:t>
            </a:r>
            <a:r>
              <a:rPr lang="fr-FR" sz="1400" dirty="0" err="1">
                <a:solidFill>
                  <a:srgbClr val="4B85F4"/>
                </a:solidFill>
              </a:rPr>
              <a:t>still</a:t>
            </a:r>
            <a:r>
              <a:rPr lang="fr-FR" sz="1400" dirty="0">
                <a:solidFill>
                  <a:srgbClr val="4B85F4"/>
                </a:solidFill>
              </a:rPr>
              <a:t> </a:t>
            </a:r>
            <a:r>
              <a:rPr lang="fr-FR" sz="1400" dirty="0" err="1">
                <a:solidFill>
                  <a:srgbClr val="4B85F4"/>
                </a:solidFill>
              </a:rPr>
              <a:t>working</a:t>
            </a:r>
            <a:r>
              <a:rPr lang="fr-FR" sz="1400" dirty="0">
                <a:solidFill>
                  <a:srgbClr val="4B85F4"/>
                </a:solidFill>
              </a:rPr>
              <a:t> on </a:t>
            </a:r>
            <a:r>
              <a:rPr lang="fr-FR" sz="1400" dirty="0" err="1">
                <a:solidFill>
                  <a:srgbClr val="4B85F4"/>
                </a:solidFill>
              </a:rPr>
              <a:t>your</a:t>
            </a:r>
            <a:r>
              <a:rPr lang="fr-FR" sz="1400" dirty="0">
                <a:solidFill>
                  <a:srgbClr val="4B85F4"/>
                </a:solidFill>
              </a:rPr>
              <a:t> </a:t>
            </a:r>
            <a:r>
              <a:rPr lang="fr-FR" sz="1400" dirty="0" err="1">
                <a:solidFill>
                  <a:srgbClr val="4B85F4"/>
                </a:solidFill>
              </a:rPr>
              <a:t>vehicle</a:t>
            </a:r>
            <a:r>
              <a:rPr lang="fr-FR" sz="1400" dirty="0">
                <a:solidFill>
                  <a:srgbClr val="4B85F4"/>
                </a:solidFill>
              </a:rPr>
              <a:t>, and </a:t>
            </a:r>
            <a:r>
              <a:rPr lang="fr-FR" sz="1400" dirty="0" err="1">
                <a:solidFill>
                  <a:srgbClr val="4B85F4"/>
                </a:solidFill>
              </a:rPr>
              <a:t>that</a:t>
            </a:r>
            <a:r>
              <a:rPr lang="fr-FR" sz="1400" dirty="0">
                <a:solidFill>
                  <a:srgbClr val="4B85F4"/>
                </a:solidFill>
              </a:rPr>
              <a:t> </a:t>
            </a:r>
            <a:r>
              <a:rPr lang="fr-FR" sz="1400" dirty="0" err="1">
                <a:solidFill>
                  <a:srgbClr val="4B85F4"/>
                </a:solidFill>
              </a:rPr>
              <a:t>it</a:t>
            </a:r>
            <a:r>
              <a:rPr lang="fr-FR" sz="1400" dirty="0">
                <a:solidFill>
                  <a:srgbClr val="4B85F4"/>
                </a:solidFill>
              </a:rPr>
              <a:t> </a:t>
            </a:r>
            <a:r>
              <a:rPr lang="fr-FR" sz="1400" dirty="0" err="1">
                <a:solidFill>
                  <a:srgbClr val="4B85F4"/>
                </a:solidFill>
              </a:rPr>
              <a:t>should</a:t>
            </a:r>
            <a:r>
              <a:rPr lang="fr-FR" sz="1400" dirty="0">
                <a:solidFill>
                  <a:srgbClr val="4B85F4"/>
                </a:solidFill>
              </a:rPr>
              <a:t> </a:t>
            </a:r>
            <a:r>
              <a:rPr lang="fr-FR" sz="1400" dirty="0" err="1">
                <a:solidFill>
                  <a:srgbClr val="4B85F4"/>
                </a:solidFill>
              </a:rPr>
              <a:t>be</a:t>
            </a:r>
            <a:r>
              <a:rPr lang="fr-FR" sz="1400" dirty="0">
                <a:solidFill>
                  <a:srgbClr val="4B85F4"/>
                </a:solidFill>
              </a:rPr>
              <a:t> good to go in about an </a:t>
            </a:r>
            <a:r>
              <a:rPr lang="fr-FR" sz="1400" dirty="0" err="1">
                <a:solidFill>
                  <a:srgbClr val="4B85F4"/>
                </a:solidFill>
              </a:rPr>
              <a:t>hour</a:t>
            </a:r>
            <a:r>
              <a:rPr lang="fr-FR" sz="1400" dirty="0">
                <a:solidFill>
                  <a:srgbClr val="4B85F4"/>
                </a:solidFill>
              </a:rPr>
              <a:t> and a </a:t>
            </a:r>
            <a:r>
              <a:rPr lang="fr-FR" sz="1400" dirty="0" err="1">
                <a:solidFill>
                  <a:srgbClr val="4B85F4"/>
                </a:solidFill>
              </a:rPr>
              <a:t>half</a:t>
            </a:r>
            <a:r>
              <a:rPr lang="fr-FR" sz="1400" dirty="0">
                <a:solidFill>
                  <a:srgbClr val="4B85F4"/>
                </a:solidFill>
              </a:rPr>
              <a:t>.</a:t>
            </a:r>
            <a:endParaRPr lang="en-FR" sz="1400" dirty="0">
              <a:solidFill>
                <a:srgbClr val="4B85F4"/>
              </a:solidFill>
            </a:endParaRPr>
          </a:p>
        </p:txBody>
      </p:sp>
      <p:sp>
        <p:nvSpPr>
          <p:cNvPr id="33" name="Rounded Rectangle 32">
            <a:extLst>
              <a:ext uri="{FF2B5EF4-FFF2-40B4-BE49-F238E27FC236}">
                <a16:creationId xmlns:a16="http://schemas.microsoft.com/office/drawing/2014/main" id="{33E7B375-1787-841A-6957-2BD9AD0FD598}"/>
              </a:ext>
            </a:extLst>
          </p:cNvPr>
          <p:cNvSpPr/>
          <p:nvPr/>
        </p:nvSpPr>
        <p:spPr>
          <a:xfrm>
            <a:off x="456733" y="3933347"/>
            <a:ext cx="2600325" cy="821067"/>
          </a:xfrm>
          <a:prstGeom prst="roundRect">
            <a:avLst/>
          </a:prstGeom>
          <a:solidFill>
            <a:srgbClr val="4B85F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t>Right, </a:t>
            </a:r>
            <a:r>
              <a:rPr lang="fr-FR" sz="1400" dirty="0" err="1"/>
              <a:t>so</a:t>
            </a:r>
            <a:r>
              <a:rPr lang="fr-FR" sz="1400" dirty="0"/>
              <a:t> I </a:t>
            </a:r>
            <a:r>
              <a:rPr lang="fr-FR" sz="1400" dirty="0" err="1"/>
              <a:t>should</a:t>
            </a:r>
            <a:r>
              <a:rPr lang="fr-FR" sz="1400" dirty="0"/>
              <a:t> </a:t>
            </a:r>
            <a:r>
              <a:rPr lang="fr-FR" sz="1400" dirty="0" err="1"/>
              <a:t>get</a:t>
            </a:r>
            <a:r>
              <a:rPr lang="fr-FR" sz="1400" dirty="0"/>
              <a:t> </a:t>
            </a:r>
            <a:r>
              <a:rPr lang="fr-FR" sz="1400" dirty="0" err="1"/>
              <a:t>there</a:t>
            </a:r>
            <a:r>
              <a:rPr lang="fr-FR" sz="1400" dirty="0"/>
              <a:t> </a:t>
            </a:r>
            <a:r>
              <a:rPr lang="fr-FR" sz="1400" dirty="0" err="1"/>
              <a:t>around</a:t>
            </a:r>
            <a:r>
              <a:rPr lang="fr-FR" sz="1400" dirty="0"/>
              <a:t> five pm. </a:t>
            </a:r>
            <a:r>
              <a:rPr lang="fr-FR" sz="1400" dirty="0" err="1"/>
              <a:t>Thank</a:t>
            </a:r>
            <a:r>
              <a:rPr lang="fr-FR" sz="1400" dirty="0"/>
              <a:t> </a:t>
            </a:r>
            <a:r>
              <a:rPr lang="fr-FR" sz="1400" dirty="0" err="1"/>
              <a:t>you</a:t>
            </a:r>
            <a:r>
              <a:rPr lang="fr-FR" sz="1400" dirty="0"/>
              <a:t>, </a:t>
            </a:r>
            <a:r>
              <a:rPr lang="fr-FR" sz="1400" dirty="0" err="1"/>
              <a:t>madam</a:t>
            </a:r>
            <a:r>
              <a:rPr lang="fr-FR" sz="1400" dirty="0"/>
              <a:t>, have a </a:t>
            </a:r>
            <a:r>
              <a:rPr lang="fr-FR" sz="1400" dirty="0" err="1"/>
              <a:t>nice</a:t>
            </a:r>
            <a:r>
              <a:rPr lang="fr-FR" sz="1400" dirty="0"/>
              <a:t> </a:t>
            </a:r>
            <a:r>
              <a:rPr lang="fr-FR" sz="1400" dirty="0" err="1"/>
              <a:t>day</a:t>
            </a:r>
            <a:r>
              <a:rPr lang="fr-FR" sz="1400" dirty="0"/>
              <a:t>.</a:t>
            </a:r>
            <a:endParaRPr lang="en-FR" sz="1400" dirty="0"/>
          </a:p>
        </p:txBody>
      </p:sp>
      <p:sp>
        <p:nvSpPr>
          <p:cNvPr id="34" name="Rectangle 33">
            <a:extLst>
              <a:ext uri="{FF2B5EF4-FFF2-40B4-BE49-F238E27FC236}">
                <a16:creationId xmlns:a16="http://schemas.microsoft.com/office/drawing/2014/main" id="{3F289E3C-4289-FAF4-A750-0C2D0385FD06}"/>
              </a:ext>
            </a:extLst>
          </p:cNvPr>
          <p:cNvSpPr/>
          <p:nvPr/>
        </p:nvSpPr>
        <p:spPr>
          <a:xfrm>
            <a:off x="294725" y="1513693"/>
            <a:ext cx="5003556" cy="3554435"/>
          </a:xfrm>
          <a:prstGeom prst="rect">
            <a:avLst/>
          </a:prstGeom>
          <a:noFill/>
          <a:ln w="38100">
            <a:solidFill>
              <a:srgbClr val="4B85F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35" name="Rectangle 34">
            <a:extLst>
              <a:ext uri="{FF2B5EF4-FFF2-40B4-BE49-F238E27FC236}">
                <a16:creationId xmlns:a16="http://schemas.microsoft.com/office/drawing/2014/main" id="{7FD6C1B1-8EDC-D74A-09BD-336AAA91A726}"/>
              </a:ext>
            </a:extLst>
          </p:cNvPr>
          <p:cNvSpPr/>
          <p:nvPr/>
        </p:nvSpPr>
        <p:spPr>
          <a:xfrm>
            <a:off x="1833488" y="1275164"/>
            <a:ext cx="1926030" cy="4136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000" b="1" dirty="0">
                <a:solidFill>
                  <a:srgbClr val="4B85F4"/>
                </a:solidFill>
              </a:rPr>
              <a:t>Context History</a:t>
            </a:r>
          </a:p>
        </p:txBody>
      </p:sp>
      <p:cxnSp>
        <p:nvCxnSpPr>
          <p:cNvPr id="36" name="Straight Arrow Connector 35">
            <a:extLst>
              <a:ext uri="{FF2B5EF4-FFF2-40B4-BE49-F238E27FC236}">
                <a16:creationId xmlns:a16="http://schemas.microsoft.com/office/drawing/2014/main" id="{E1AEDC2C-EC1B-CAE1-4555-0B09BCBEDEE5}"/>
              </a:ext>
            </a:extLst>
          </p:cNvPr>
          <p:cNvCxnSpPr>
            <a:cxnSpLocks/>
            <a:endCxn id="30" idx="0"/>
          </p:cNvCxnSpPr>
          <p:nvPr/>
        </p:nvCxnSpPr>
        <p:spPr>
          <a:xfrm>
            <a:off x="3675975" y="5068128"/>
            <a:ext cx="0" cy="440835"/>
          </a:xfrm>
          <a:prstGeom prst="straightConnector1">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46006128-C4F5-7BFE-7387-CFBF3B0741C9}"/>
              </a:ext>
            </a:extLst>
          </p:cNvPr>
          <p:cNvSpPr txBox="1"/>
          <p:nvPr/>
        </p:nvSpPr>
        <p:spPr>
          <a:xfrm>
            <a:off x="580512" y="2323968"/>
            <a:ext cx="1473611" cy="307777"/>
          </a:xfrm>
          <a:prstGeom prst="rect">
            <a:avLst/>
          </a:prstGeom>
          <a:solidFill>
            <a:schemeClr val="bg1"/>
          </a:solidFill>
          <a:ln w="28575">
            <a:solidFill>
              <a:srgbClr val="4B85F4"/>
            </a:solidFill>
          </a:ln>
        </p:spPr>
        <p:txBody>
          <a:bodyPr wrap="square" lIns="91440" tIns="45720" rIns="91440" bIns="45720" anchor="t">
            <a:spAutoFit/>
          </a:bodyPr>
          <a:lstStyle/>
          <a:p>
            <a:pPr algn="ctr"/>
            <a:r>
              <a:rPr lang="en-FR" sz="700" dirty="0">
                <a:solidFill>
                  <a:srgbClr val="4D8AE7"/>
                </a:solidFill>
                <a:latin typeface="Poppins"/>
                <a:cs typeface="Poppins"/>
              </a:rPr>
              <a:t>[</a:t>
            </a:r>
            <a:r>
              <a:rPr lang="en-FR" sz="700" dirty="0">
                <a:solidFill>
                  <a:srgbClr val="DF6245"/>
                </a:solidFill>
                <a:latin typeface="Poppins"/>
                <a:cs typeface="Poppins"/>
              </a:rPr>
              <a:t>Information</a:t>
            </a:r>
            <a:r>
              <a:rPr lang="en-FR" sz="700" dirty="0">
                <a:solidFill>
                  <a:srgbClr val="4D8AE7"/>
                </a:solidFill>
                <a:latin typeface="Poppins"/>
                <a:cs typeface="Poppins"/>
              </a:rPr>
              <a:t>, </a:t>
            </a:r>
            <a:r>
              <a:rPr lang="en-FR" sz="700" dirty="0">
                <a:solidFill>
                  <a:srgbClr val="EC4DCE"/>
                </a:solidFill>
                <a:latin typeface="Poppins"/>
                <a:cs typeface="Poppins"/>
              </a:rPr>
              <a:t>Restating</a:t>
            </a:r>
            <a:r>
              <a:rPr lang="en-FR" sz="700" dirty="0">
                <a:solidFill>
                  <a:srgbClr val="4D8AE7"/>
                </a:solidFill>
                <a:latin typeface="Poppins"/>
                <a:cs typeface="Poppins"/>
              </a:rPr>
              <a:t>, </a:t>
            </a:r>
            <a:br>
              <a:rPr lang="en-FR" sz="700" dirty="0">
                <a:latin typeface="Poppins"/>
                <a:cs typeface="Poppins"/>
              </a:rPr>
            </a:br>
            <a:r>
              <a:rPr lang="en-FR" sz="700" dirty="0">
                <a:solidFill>
                  <a:srgbClr val="DF6245"/>
                </a:solidFill>
                <a:latin typeface="Poppins"/>
                <a:cs typeface="Poppins"/>
              </a:rPr>
              <a:t>Information</a:t>
            </a:r>
            <a:r>
              <a:rPr lang="en-FR" sz="700" dirty="0">
                <a:solidFill>
                  <a:srgbClr val="4D8AE7"/>
                </a:solidFill>
                <a:latin typeface="Poppins"/>
                <a:cs typeface="Poppins"/>
              </a:rPr>
              <a:t>, </a:t>
            </a:r>
            <a:r>
              <a:rPr lang="en-FR" sz="700" u="sng" dirty="0">
                <a:solidFill>
                  <a:srgbClr val="4D8AE7"/>
                </a:solidFill>
                <a:latin typeface="Poppins"/>
                <a:cs typeface="Poppins"/>
              </a:rPr>
              <a:t>Joy</a:t>
            </a:r>
            <a:r>
              <a:rPr lang="en-FR" sz="700" dirty="0">
                <a:solidFill>
                  <a:srgbClr val="4D8AE7"/>
                </a:solidFill>
                <a:latin typeface="Poppins"/>
                <a:cs typeface="Poppins"/>
              </a:rPr>
              <a:t>, </a:t>
            </a:r>
            <a:r>
              <a:rPr lang="en-FR" sz="700" dirty="0">
                <a:solidFill>
                  <a:srgbClr val="00B26D"/>
                </a:solidFill>
                <a:latin typeface="Poppins"/>
                <a:cs typeface="Poppins"/>
              </a:rPr>
              <a:t>Politeness</a:t>
            </a:r>
            <a:r>
              <a:rPr lang="en-FR" sz="700" dirty="0">
                <a:solidFill>
                  <a:srgbClr val="4D8AE7"/>
                </a:solidFill>
                <a:latin typeface="Poppins"/>
                <a:cs typeface="Poppins"/>
              </a:rPr>
              <a:t>]</a:t>
            </a:r>
            <a:endParaRPr lang="fr-FR" sz="700" dirty="0">
              <a:solidFill>
                <a:srgbClr val="4D8AE7"/>
              </a:solidFill>
              <a:latin typeface="Poppins"/>
              <a:cs typeface="Poppins"/>
            </a:endParaRPr>
          </a:p>
        </p:txBody>
      </p:sp>
      <p:sp>
        <p:nvSpPr>
          <p:cNvPr id="41" name="TextBox 40">
            <a:extLst>
              <a:ext uri="{FF2B5EF4-FFF2-40B4-BE49-F238E27FC236}">
                <a16:creationId xmlns:a16="http://schemas.microsoft.com/office/drawing/2014/main" id="{BF9DEA6F-C38A-41F9-6A21-25F66B3F3A0B}"/>
              </a:ext>
            </a:extLst>
          </p:cNvPr>
          <p:cNvSpPr txBox="1"/>
          <p:nvPr/>
        </p:nvSpPr>
        <p:spPr>
          <a:xfrm>
            <a:off x="580511" y="4704241"/>
            <a:ext cx="1473611" cy="200055"/>
          </a:xfrm>
          <a:prstGeom prst="rect">
            <a:avLst/>
          </a:prstGeom>
          <a:solidFill>
            <a:schemeClr val="bg1"/>
          </a:solidFill>
          <a:ln w="28575">
            <a:solidFill>
              <a:srgbClr val="4B85F4"/>
            </a:solidFill>
          </a:ln>
        </p:spPr>
        <p:txBody>
          <a:bodyPr wrap="square" lIns="91440" tIns="45720" rIns="91440" bIns="45720" anchor="t">
            <a:spAutoFit/>
          </a:bodyPr>
          <a:lstStyle/>
          <a:p>
            <a:pPr algn="ctr"/>
            <a:r>
              <a:rPr lang="en-FR" sz="700" dirty="0">
                <a:solidFill>
                  <a:srgbClr val="4B84F4"/>
                </a:solidFill>
                <a:latin typeface="Poppins"/>
                <a:cs typeface="Poppins"/>
              </a:rPr>
              <a:t>[Information, Politeness]</a:t>
            </a:r>
            <a:endParaRPr lang="fr-FR" sz="700" dirty="0">
              <a:solidFill>
                <a:srgbClr val="4B84F4"/>
              </a:solidFill>
              <a:latin typeface="Poppins"/>
              <a:cs typeface="Poppins"/>
            </a:endParaRPr>
          </a:p>
        </p:txBody>
      </p:sp>
      <p:sp>
        <p:nvSpPr>
          <p:cNvPr id="42" name="TextBox 41">
            <a:extLst>
              <a:ext uri="{FF2B5EF4-FFF2-40B4-BE49-F238E27FC236}">
                <a16:creationId xmlns:a16="http://schemas.microsoft.com/office/drawing/2014/main" id="{772B5802-DB6D-2357-9CAE-8E00E9458F2C}"/>
              </a:ext>
            </a:extLst>
          </p:cNvPr>
          <p:cNvSpPr txBox="1"/>
          <p:nvPr/>
        </p:nvSpPr>
        <p:spPr>
          <a:xfrm>
            <a:off x="3459868" y="3674149"/>
            <a:ext cx="1473611" cy="200055"/>
          </a:xfrm>
          <a:prstGeom prst="rect">
            <a:avLst/>
          </a:prstGeom>
          <a:solidFill>
            <a:schemeClr val="bg1"/>
          </a:solidFill>
          <a:ln w="28575">
            <a:solidFill>
              <a:srgbClr val="4B85F4"/>
            </a:solidFill>
          </a:ln>
        </p:spPr>
        <p:txBody>
          <a:bodyPr wrap="square" lIns="91440" tIns="45720" rIns="91440" bIns="45720" anchor="t">
            <a:spAutoFit/>
          </a:bodyPr>
          <a:lstStyle/>
          <a:p>
            <a:pPr algn="ctr"/>
            <a:r>
              <a:rPr lang="en-FR" sz="700" dirty="0">
                <a:solidFill>
                  <a:srgbClr val="4B84F4"/>
                </a:solidFill>
                <a:latin typeface="Poppins"/>
                <a:cs typeface="Poppins"/>
              </a:rPr>
              <a:t>[Information]</a:t>
            </a:r>
            <a:endParaRPr lang="fr-FR" sz="700" dirty="0">
              <a:solidFill>
                <a:srgbClr val="4B84F4"/>
              </a:solidFill>
              <a:latin typeface="Poppins"/>
              <a:cs typeface="Poppins"/>
            </a:endParaRPr>
          </a:p>
        </p:txBody>
      </p:sp>
      <p:grpSp>
        <p:nvGrpSpPr>
          <p:cNvPr id="44" name="Group 43">
            <a:extLst>
              <a:ext uri="{FF2B5EF4-FFF2-40B4-BE49-F238E27FC236}">
                <a16:creationId xmlns:a16="http://schemas.microsoft.com/office/drawing/2014/main" id="{2E55D121-7A4F-1C74-537D-C27A3627A4BC}"/>
              </a:ext>
            </a:extLst>
          </p:cNvPr>
          <p:cNvGrpSpPr/>
          <p:nvPr/>
        </p:nvGrpSpPr>
        <p:grpSpPr>
          <a:xfrm>
            <a:off x="5645316" y="2868900"/>
            <a:ext cx="2182753" cy="790619"/>
            <a:chOff x="8941464" y="1469517"/>
            <a:chExt cx="2182753" cy="790619"/>
          </a:xfrm>
        </p:grpSpPr>
        <p:sp>
          <p:nvSpPr>
            <p:cNvPr id="45" name="Rounded Rectangle 44">
              <a:extLst>
                <a:ext uri="{FF2B5EF4-FFF2-40B4-BE49-F238E27FC236}">
                  <a16:creationId xmlns:a16="http://schemas.microsoft.com/office/drawing/2014/main" id="{EB091587-1212-8E39-3224-91125E475B0D}"/>
                </a:ext>
              </a:extLst>
            </p:cNvPr>
            <p:cNvSpPr/>
            <p:nvPr/>
          </p:nvSpPr>
          <p:spPr>
            <a:xfrm>
              <a:off x="9069970" y="1600107"/>
              <a:ext cx="2054247" cy="660029"/>
            </a:xfrm>
            <a:prstGeom prst="round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dirty="0">
                  <a:solidFill>
                    <a:srgbClr val="4B85F4"/>
                  </a:solidFill>
                </a:rPr>
                <a:t>?</a:t>
              </a:r>
              <a:endParaRPr lang="en-FR" sz="1400" b="1" dirty="0">
                <a:solidFill>
                  <a:srgbClr val="4B85F4"/>
                </a:solidFill>
              </a:endParaRPr>
            </a:p>
          </p:txBody>
        </p:sp>
        <p:sp>
          <p:nvSpPr>
            <p:cNvPr id="46" name="Rectangle 45">
              <a:extLst>
                <a:ext uri="{FF2B5EF4-FFF2-40B4-BE49-F238E27FC236}">
                  <a16:creationId xmlns:a16="http://schemas.microsoft.com/office/drawing/2014/main" id="{92446768-0018-BEA9-A661-AC34056ECEB5}"/>
                </a:ext>
              </a:extLst>
            </p:cNvPr>
            <p:cNvSpPr/>
            <p:nvPr/>
          </p:nvSpPr>
          <p:spPr>
            <a:xfrm>
              <a:off x="8941464" y="1469517"/>
              <a:ext cx="1998037" cy="273132"/>
            </a:xfrm>
            <a:prstGeom prst="rect">
              <a:avLst/>
            </a:prstGeom>
            <a:solidFill>
              <a:schemeClr val="bg1"/>
            </a:solidFill>
            <a:ln w="28575">
              <a:solidFill>
                <a:srgbClr val="4B85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1200" dirty="0">
                  <a:solidFill>
                    <a:srgbClr val="E93F31"/>
                  </a:solidFill>
                </a:rPr>
                <a:t>“Information”, “Politeness”</a:t>
              </a:r>
            </a:p>
          </p:txBody>
        </p:sp>
      </p:grpSp>
      <p:cxnSp>
        <p:nvCxnSpPr>
          <p:cNvPr id="49" name="Straight Arrow Connector 48">
            <a:extLst>
              <a:ext uri="{FF2B5EF4-FFF2-40B4-BE49-F238E27FC236}">
                <a16:creationId xmlns:a16="http://schemas.microsoft.com/office/drawing/2014/main" id="{3ABB9E31-4844-4C50-D9E0-0A22348A2583}"/>
              </a:ext>
            </a:extLst>
          </p:cNvPr>
          <p:cNvCxnSpPr>
            <a:cxnSpLocks/>
            <a:stCxn id="45" idx="2"/>
            <a:endCxn id="43" idx="0"/>
          </p:cNvCxnSpPr>
          <p:nvPr/>
        </p:nvCxnSpPr>
        <p:spPr>
          <a:xfrm>
            <a:off x="6800946" y="3659519"/>
            <a:ext cx="1383" cy="330680"/>
          </a:xfrm>
          <a:prstGeom prst="straightConnector1">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DCC38F7A-371A-0EAB-A459-914B81693E0D}"/>
              </a:ext>
            </a:extLst>
          </p:cNvPr>
          <p:cNvSpPr txBox="1"/>
          <p:nvPr/>
        </p:nvSpPr>
        <p:spPr>
          <a:xfrm>
            <a:off x="5677544" y="3990199"/>
            <a:ext cx="2249570" cy="1077218"/>
          </a:xfrm>
          <a:prstGeom prst="rect">
            <a:avLst/>
          </a:prstGeom>
          <a:solidFill>
            <a:schemeClr val="bg1"/>
          </a:solidFill>
        </p:spPr>
        <p:txBody>
          <a:bodyPr wrap="square" rtlCol="0">
            <a:spAutoFit/>
          </a:bodyPr>
          <a:lstStyle/>
          <a:p>
            <a:pPr algn="ctr"/>
            <a:r>
              <a:rPr lang="en-FR" sz="1600" b="1" u="sng" dirty="0">
                <a:solidFill>
                  <a:srgbClr val="4B85F4"/>
                </a:solidFill>
              </a:rPr>
              <a:t>STEP 2</a:t>
            </a:r>
            <a:r>
              <a:rPr lang="en-FR" sz="1600" b="1" dirty="0">
                <a:solidFill>
                  <a:srgbClr val="4B85F4"/>
                </a:solidFill>
              </a:rPr>
              <a:t>: Using context history and the list of expected labels, generate the response</a:t>
            </a:r>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274C60FE-6FD9-4B95-F675-2CBF3CFB5FF2}"/>
                  </a:ext>
                </a:extLst>
              </p:cNvPr>
              <p:cNvSpPr txBox="1"/>
              <p:nvPr/>
            </p:nvSpPr>
            <p:spPr>
              <a:xfrm>
                <a:off x="8055620" y="1640098"/>
                <a:ext cx="3885838" cy="4268156"/>
              </a:xfrm>
              <a:prstGeom prst="rect">
                <a:avLst/>
              </a:prstGeom>
              <a:noFill/>
            </p:spPr>
            <p:txBody>
              <a:bodyPr wrap="square" rtlCol="0">
                <a:spAutoFit/>
              </a:bodyPr>
              <a:lstStyle/>
              <a:p>
                <a:r>
                  <a:rPr lang="en-GB" dirty="0"/>
                  <a:t>Let us consider:</a:t>
                </a:r>
              </a:p>
              <a:p>
                <a:pPr marL="285750" indent="-285750">
                  <a:buFont typeface="Arial" panose="020B0604020202020204" pitchFamily="34" charset="0"/>
                  <a:buChar char="•"/>
                </a:pPr>
                <a14:m>
                  <m:oMath xmlns:m="http://schemas.openxmlformats.org/officeDocument/2006/math">
                    <m:r>
                      <a:rPr lang="en-GB" i="1" dirty="0" smtClean="0">
                        <a:solidFill>
                          <a:srgbClr val="4B84F4"/>
                        </a:solidFill>
                        <a:latin typeface="Cambria Math" panose="02040503050406030204" pitchFamily="18" charset="0"/>
                      </a:rPr>
                      <m:t>𝐶</m:t>
                    </m:r>
                    <m:r>
                      <a:rPr lang="en-GB" i="1" dirty="0" smtClean="0">
                        <a:solidFill>
                          <a:srgbClr val="4B84F4"/>
                        </a:solidFill>
                        <a:latin typeface="Cambria Math" panose="02040503050406030204" pitchFamily="18" charset="0"/>
                      </a:rPr>
                      <m:t> = </m:t>
                    </m:r>
                    <m:sSub>
                      <m:sSubPr>
                        <m:ctrlPr>
                          <a:rPr lang="en-GB" i="1" dirty="0" smtClean="0">
                            <a:solidFill>
                              <a:srgbClr val="4B84F4"/>
                            </a:solidFill>
                            <a:latin typeface="Cambria Math" panose="02040503050406030204" pitchFamily="18" charset="0"/>
                          </a:rPr>
                        </m:ctrlPr>
                      </m:sSubPr>
                      <m:e>
                        <m:r>
                          <a:rPr lang="en-GB" i="1" dirty="0">
                            <a:solidFill>
                              <a:srgbClr val="4B84F4"/>
                            </a:solidFill>
                            <a:latin typeface="Cambria Math" panose="02040503050406030204" pitchFamily="18" charset="0"/>
                          </a:rPr>
                          <m:t>(</m:t>
                        </m:r>
                        <m:sSub>
                          <m:sSubPr>
                            <m:ctrlPr>
                              <a:rPr lang="en-GB" i="1" dirty="0">
                                <a:solidFill>
                                  <a:srgbClr val="4B84F4"/>
                                </a:solidFill>
                                <a:latin typeface="Cambria Math" panose="02040503050406030204" pitchFamily="18" charset="0"/>
                              </a:rPr>
                            </m:ctrlPr>
                          </m:sSubPr>
                          <m:e>
                            <m:r>
                              <a:rPr lang="fr-FR" i="1" dirty="0">
                                <a:solidFill>
                                  <a:srgbClr val="4B84F4"/>
                                </a:solidFill>
                                <a:latin typeface="Cambria Math" panose="02040503050406030204" pitchFamily="18" charset="0"/>
                              </a:rPr>
                              <m:t>𝑐</m:t>
                            </m:r>
                          </m:e>
                          <m:sub>
                            <m:r>
                              <a:rPr lang="fr-FR" i="1" dirty="0">
                                <a:solidFill>
                                  <a:srgbClr val="4B84F4"/>
                                </a:solidFill>
                                <a:latin typeface="Cambria Math" panose="02040503050406030204" pitchFamily="18" charset="0"/>
                              </a:rPr>
                              <m:t>𝑖</m:t>
                            </m:r>
                          </m:sub>
                        </m:sSub>
                        <m:r>
                          <a:rPr lang="en-GB" i="1" dirty="0">
                            <a:solidFill>
                              <a:srgbClr val="4B84F4"/>
                            </a:solidFill>
                            <a:latin typeface="Cambria Math" panose="02040503050406030204" pitchFamily="18" charset="0"/>
                          </a:rPr>
                          <m:t>)</m:t>
                        </m:r>
                      </m:e>
                      <m:sub>
                        <m:r>
                          <a:rPr lang="en-GB" i="1" dirty="0">
                            <a:solidFill>
                              <a:srgbClr val="4B84F4"/>
                            </a:solidFill>
                            <a:latin typeface="Cambria Math" panose="02040503050406030204" pitchFamily="18" charset="0"/>
                          </a:rPr>
                          <m:t>𝑖</m:t>
                        </m:r>
                        <m:r>
                          <a:rPr lang="en-GB" i="1" dirty="0">
                            <a:solidFill>
                              <a:srgbClr val="4B84F4"/>
                            </a:solidFill>
                            <a:latin typeface="Cambria Math" panose="02040503050406030204" pitchFamily="18" charset="0"/>
                          </a:rPr>
                          <m:t> ∈ [0, </m:t>
                        </m:r>
                        <m:r>
                          <a:rPr lang="en-GB" i="1" dirty="0">
                            <a:solidFill>
                              <a:srgbClr val="4B84F4"/>
                            </a:solidFill>
                            <a:latin typeface="Cambria Math" panose="02040503050406030204" pitchFamily="18" charset="0"/>
                          </a:rPr>
                          <m:t>𝑡</m:t>
                        </m:r>
                        <m:r>
                          <a:rPr lang="en-GB" i="1" dirty="0">
                            <a:solidFill>
                              <a:srgbClr val="4B84F4"/>
                            </a:solidFill>
                            <a:latin typeface="Cambria Math" panose="02040503050406030204" pitchFamily="18" charset="0"/>
                          </a:rPr>
                          <m:t>]</m:t>
                        </m:r>
                      </m:sub>
                    </m:sSub>
                  </m:oMath>
                </a14:m>
                <a:r>
                  <a:rPr lang="fr-FR" dirty="0"/>
                  <a:t>, a conversation</a:t>
                </a:r>
              </a:p>
              <a:p>
                <a:pPr marL="285750" indent="-285750">
                  <a:buFont typeface="Arial" panose="020B0604020202020204" pitchFamily="34" charset="0"/>
                  <a:buChar char="•"/>
                </a:pPr>
                <a14:m>
                  <m:oMath xmlns:m="http://schemas.openxmlformats.org/officeDocument/2006/math">
                    <m:sSub>
                      <m:sSubPr>
                        <m:ctrlPr>
                          <a:rPr lang="fr-FR" b="0" i="1" dirty="0" smtClean="0">
                            <a:solidFill>
                              <a:srgbClr val="4B84F4"/>
                            </a:solidFill>
                            <a:latin typeface="Cambria Math" panose="02040503050406030204" pitchFamily="18" charset="0"/>
                          </a:rPr>
                        </m:ctrlPr>
                      </m:sSubPr>
                      <m:e>
                        <m:r>
                          <a:rPr lang="fr-FR" b="0" i="1" dirty="0" smtClean="0">
                            <a:solidFill>
                              <a:srgbClr val="4B84F4"/>
                            </a:solidFill>
                            <a:latin typeface="Cambria Math" panose="02040503050406030204" pitchFamily="18" charset="0"/>
                          </a:rPr>
                          <m:t>𝑐</m:t>
                        </m:r>
                      </m:e>
                      <m:sub>
                        <m:r>
                          <a:rPr lang="fr-FR" b="0" i="1" dirty="0" smtClean="0">
                            <a:solidFill>
                              <a:srgbClr val="4B84F4"/>
                            </a:solidFill>
                            <a:latin typeface="Cambria Math" panose="02040503050406030204" pitchFamily="18" charset="0"/>
                          </a:rPr>
                          <m:t>𝑡</m:t>
                        </m:r>
                      </m:sub>
                    </m:sSub>
                  </m:oMath>
                </a14:m>
                <a:r>
                  <a:rPr lang="en-GB" dirty="0">
                    <a:solidFill>
                      <a:srgbClr val="4B84F4"/>
                    </a:solidFill>
                  </a:rPr>
                  <a:t> </a:t>
                </a:r>
                <a:r>
                  <a:rPr lang="en-GB" dirty="0"/>
                  <a:t>the current speaker turn </a:t>
                </a:r>
                <a:endParaRPr lang="fr-FR" i="1" dirty="0">
                  <a:solidFill>
                    <a:srgbClr val="0055FF"/>
                  </a:solidFill>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a:rPr lang="en-GB" i="1" dirty="0" smtClean="0">
                        <a:solidFill>
                          <a:srgbClr val="4B84F4"/>
                        </a:solidFill>
                        <a:latin typeface="Cambria Math" panose="02040503050406030204" pitchFamily="18" charset="0"/>
                      </a:rPr>
                      <m:t>𝑆𝐸</m:t>
                    </m:r>
                  </m:oMath>
                </a14:m>
                <a:r>
                  <a:rPr lang="en-GB" dirty="0"/>
                  <a:t> the list of available socio-emotional labels. </a:t>
                </a:r>
              </a:p>
              <a:p>
                <a:pPr marL="285750" indent="-285750">
                  <a:buFont typeface="Arial" panose="020B0604020202020204" pitchFamily="34" charset="0"/>
                  <a:buChar char="•"/>
                </a:pPr>
                <a14:m>
                  <m:oMath xmlns:m="http://schemas.openxmlformats.org/officeDocument/2006/math">
                    <m:r>
                      <m:rPr>
                        <m:nor/>
                      </m:rPr>
                      <a:rPr lang="en-FR" dirty="0"/>
                      <m:t>The</m:t>
                    </m:r>
                    <m:r>
                      <m:rPr>
                        <m:nor/>
                      </m:rPr>
                      <a:rPr lang="en-FR" dirty="0"/>
                      <m:t> </m:t>
                    </m:r>
                    <m:r>
                      <m:rPr>
                        <m:nor/>
                      </m:rPr>
                      <a:rPr lang="en-FR" dirty="0"/>
                      <m:t>planning</m:t>
                    </m:r>
                    <m:r>
                      <m:rPr>
                        <m:nor/>
                      </m:rPr>
                      <a:rPr lang="en-FR" dirty="0"/>
                      <m:t> </m:t>
                    </m:r>
                    <m:r>
                      <m:rPr>
                        <m:nor/>
                      </m:rPr>
                      <a:rPr lang="en-FR" dirty="0"/>
                      <m:t>module</m:t>
                    </m:r>
                    <m:r>
                      <m:rPr>
                        <m:nor/>
                      </m:rPr>
                      <a:rPr lang="en-FR" dirty="0"/>
                      <m:t> </m:t>
                    </m:r>
                    <m:r>
                      <m:rPr>
                        <m:nor/>
                      </m:rPr>
                      <a:rPr lang="en-FR" dirty="0"/>
                      <m:t>has</m:t>
                    </m:r>
                    <m:r>
                      <m:rPr>
                        <m:nor/>
                      </m:rPr>
                      <a:rPr lang="en-FR" dirty="0"/>
                      <m:t> </m:t>
                    </m:r>
                    <m:r>
                      <m:rPr>
                        <m:nor/>
                      </m:rPr>
                      <a:rPr lang="en-FR" dirty="0"/>
                      <m:t>predicted</m:t>
                    </m:r>
                    <m:r>
                      <m:rPr>
                        <m:nor/>
                      </m:rPr>
                      <a:rPr lang="fr-FR" b="0" i="0" dirty="0" smtClean="0"/>
                      <m:t> </m:t>
                    </m:r>
                    <m:sSub>
                      <m:sSubPr>
                        <m:ctrlPr>
                          <a:rPr lang="en-GB" b="1" i="1" dirty="0">
                            <a:solidFill>
                              <a:srgbClr val="4B84F4"/>
                            </a:solidFill>
                            <a:latin typeface="Cambria Math" panose="02040503050406030204" pitchFamily="18" charset="0"/>
                            <a:ea typeface="Cambria Math" panose="02040503050406030204" pitchFamily="18" charset="0"/>
                          </a:rPr>
                        </m:ctrlPr>
                      </m:sSubPr>
                      <m:e>
                        <m:r>
                          <a:rPr lang="fr-FR" b="1" i="1" dirty="0">
                            <a:solidFill>
                              <a:srgbClr val="4B84F4"/>
                            </a:solidFill>
                            <a:latin typeface="Cambria Math" panose="02040503050406030204" pitchFamily="18" charset="0"/>
                            <a:ea typeface="Cambria Math" panose="02040503050406030204" pitchFamily="18" charset="0"/>
                          </a:rPr>
                          <m:t>𝒚</m:t>
                        </m:r>
                      </m:e>
                      <m:sub>
                        <m:r>
                          <a:rPr lang="fr-FR" b="1" i="1" dirty="0">
                            <a:solidFill>
                              <a:srgbClr val="4B84F4"/>
                            </a:solidFill>
                            <a:latin typeface="Cambria Math" panose="02040503050406030204" pitchFamily="18" charset="0"/>
                            <a:ea typeface="Cambria Math" panose="02040503050406030204" pitchFamily="18" charset="0"/>
                          </a:rPr>
                          <m:t>𝒕</m:t>
                        </m:r>
                        <m:r>
                          <a:rPr lang="fr-FR" b="1" i="1" dirty="0">
                            <a:solidFill>
                              <a:srgbClr val="4B84F4"/>
                            </a:solidFill>
                            <a:latin typeface="Cambria Math" panose="02040503050406030204" pitchFamily="18" charset="0"/>
                            <a:ea typeface="Cambria Math" panose="02040503050406030204" pitchFamily="18" charset="0"/>
                          </a:rPr>
                          <m:t>+</m:t>
                        </m:r>
                        <m:r>
                          <a:rPr lang="fr-FR" b="1" i="1" dirty="0">
                            <a:solidFill>
                              <a:srgbClr val="4B84F4"/>
                            </a:solidFill>
                            <a:latin typeface="Cambria Math" panose="02040503050406030204" pitchFamily="18" charset="0"/>
                            <a:ea typeface="Cambria Math" panose="02040503050406030204" pitchFamily="18" charset="0"/>
                          </a:rPr>
                          <m:t>𝟏</m:t>
                        </m:r>
                      </m:sub>
                    </m:sSub>
                  </m:oMath>
                </a14:m>
                <a:r>
                  <a:rPr lang="fr-FR" dirty="0"/>
                  <a:t>, </a:t>
                </a:r>
                <a:r>
                  <a:rPr lang="en-FR" dirty="0"/>
                  <a:t>the sequence of socio-emotional labels related to the next speaker turn </a:t>
                </a:r>
                <a14:m>
                  <m:oMath xmlns:m="http://schemas.openxmlformats.org/officeDocument/2006/math">
                    <m:sSub>
                      <m:sSubPr>
                        <m:ctrlPr>
                          <a:rPr lang="en-GB" i="1">
                            <a:latin typeface="Cambria Math" panose="02040503050406030204" pitchFamily="18" charset="0"/>
                          </a:rPr>
                        </m:ctrlPr>
                      </m:sSubPr>
                      <m:e>
                        <m:r>
                          <a:rPr lang="fr-FR" i="1">
                            <a:latin typeface="Cambria Math" panose="02040503050406030204" pitchFamily="18" charset="0"/>
                          </a:rPr>
                          <m:t>𝑐</m:t>
                        </m:r>
                      </m:e>
                      <m:sub>
                        <m:r>
                          <a:rPr lang="fr-FR" i="1">
                            <a:latin typeface="Cambria Math" panose="02040503050406030204" pitchFamily="18" charset="0"/>
                          </a:rPr>
                          <m:t>𝑡</m:t>
                        </m:r>
                        <m:r>
                          <a:rPr lang="fr-FR" i="1">
                            <a:latin typeface="Cambria Math" panose="02040503050406030204" pitchFamily="18" charset="0"/>
                          </a:rPr>
                          <m:t>+1</m:t>
                        </m:r>
                      </m:sub>
                    </m:sSub>
                  </m:oMath>
                </a14:m>
                <a:r>
                  <a:rPr lang="en-FR" dirty="0"/>
                  <a:t>.</a:t>
                </a:r>
              </a:p>
              <a:p>
                <a:pPr marL="285750" indent="-285750">
                  <a:buFont typeface="Arial" panose="020B0604020202020204" pitchFamily="34" charset="0"/>
                  <a:buChar char="•"/>
                </a:pPr>
                <a:endParaRPr lang="en-GB" dirty="0"/>
              </a:p>
              <a:p>
                <a:r>
                  <a:rPr lang="en-FR" dirty="0"/>
                  <a:t>Let’s now consider </a:t>
                </a:r>
                <a:br>
                  <a:rPr lang="fr-FR" b="1" i="1" dirty="0">
                    <a:solidFill>
                      <a:srgbClr val="4B84F4"/>
                    </a:solidFill>
                    <a:latin typeface="Cambria Math" panose="02040503050406030204" pitchFamily="18" charset="0"/>
                  </a:rPr>
                </a:br>
                <a14:m>
                  <m:oMath xmlns:m="http://schemas.openxmlformats.org/officeDocument/2006/math">
                    <m:r>
                      <a:rPr lang="fr-FR" b="1" i="1" smtClean="0">
                        <a:solidFill>
                          <a:srgbClr val="4B84F4"/>
                        </a:solidFill>
                        <a:latin typeface="Cambria Math" panose="02040503050406030204" pitchFamily="18" charset="0"/>
                      </a:rPr>
                      <m:t>𝑮</m:t>
                    </m:r>
                    <m:r>
                      <a:rPr lang="fr-FR" b="1" i="1" smtClean="0">
                        <a:solidFill>
                          <a:srgbClr val="4B84F4"/>
                        </a:solidFill>
                        <a:latin typeface="Cambria Math" panose="02040503050406030204" pitchFamily="18" charset="0"/>
                      </a:rPr>
                      <m:t>= </m:t>
                    </m:r>
                    <m:sSub>
                      <m:sSubPr>
                        <m:ctrlPr>
                          <a:rPr lang="fr-FR" b="1" i="1">
                            <a:solidFill>
                              <a:srgbClr val="4B84F4"/>
                            </a:solidFill>
                            <a:latin typeface="Cambria Math" panose="02040503050406030204" pitchFamily="18" charset="0"/>
                          </a:rPr>
                        </m:ctrlPr>
                      </m:sSubPr>
                      <m:e>
                        <m:r>
                          <a:rPr lang="fr-FR" b="1" i="1">
                            <a:solidFill>
                              <a:srgbClr val="4B84F4"/>
                            </a:solidFill>
                            <a:latin typeface="Cambria Math" panose="02040503050406030204" pitchFamily="18" charset="0"/>
                          </a:rPr>
                          <m:t>𝒑</m:t>
                        </m:r>
                      </m:e>
                      <m:sub>
                        <m:r>
                          <a:rPr lang="fr-FR" b="1" i="1">
                            <a:solidFill>
                              <a:srgbClr val="4B84F4"/>
                            </a:solidFill>
                            <a:latin typeface="Cambria Math" panose="02040503050406030204" pitchFamily="18" charset="0"/>
                          </a:rPr>
                          <m:t>𝟎</m:t>
                        </m:r>
                      </m:sub>
                    </m:sSub>
                    <m:r>
                      <a:rPr lang="fr-FR" b="1" i="1">
                        <a:solidFill>
                          <a:srgbClr val="4B84F4"/>
                        </a:solidFill>
                        <a:latin typeface="Cambria Math" panose="02040503050406030204" pitchFamily="18" charset="0"/>
                      </a:rPr>
                      <m:t>(</m:t>
                    </m:r>
                    <m:sSub>
                      <m:sSubPr>
                        <m:ctrlPr>
                          <a:rPr lang="fr-FR" b="1" i="1">
                            <a:solidFill>
                              <a:srgbClr val="4B84F4"/>
                            </a:solidFill>
                            <a:latin typeface="Cambria Math" panose="02040503050406030204" pitchFamily="18" charset="0"/>
                          </a:rPr>
                        </m:ctrlPr>
                      </m:sSubPr>
                      <m:e>
                        <m:r>
                          <a:rPr lang="fr-FR" b="1" i="1">
                            <a:solidFill>
                              <a:srgbClr val="4B84F4"/>
                            </a:solidFill>
                            <a:latin typeface="Cambria Math" panose="02040503050406030204" pitchFamily="18" charset="0"/>
                          </a:rPr>
                          <m:t>𝒄</m:t>
                        </m:r>
                      </m:e>
                      <m:sub>
                        <m:r>
                          <a:rPr lang="fr-FR" b="1" i="1" smtClean="0">
                            <a:solidFill>
                              <a:srgbClr val="4B84F4"/>
                            </a:solidFill>
                            <a:latin typeface="Cambria Math" panose="02040503050406030204" pitchFamily="18" charset="0"/>
                          </a:rPr>
                          <m:t>𝒕</m:t>
                        </m:r>
                        <m:r>
                          <a:rPr lang="fr-FR" b="1" i="1">
                            <a:solidFill>
                              <a:srgbClr val="4B84F4"/>
                            </a:solidFill>
                            <a:latin typeface="Cambria Math" panose="02040503050406030204" pitchFamily="18" charset="0"/>
                          </a:rPr>
                          <m:t>+</m:t>
                        </m:r>
                        <m:r>
                          <a:rPr lang="fr-FR" b="1" i="1">
                            <a:solidFill>
                              <a:srgbClr val="4B84F4"/>
                            </a:solidFill>
                            <a:latin typeface="Cambria Math" panose="02040503050406030204" pitchFamily="18" charset="0"/>
                          </a:rPr>
                          <m:t>𝟏</m:t>
                        </m:r>
                      </m:sub>
                    </m:sSub>
                    <m:r>
                      <a:rPr lang="fr-FR" b="1" i="1">
                        <a:solidFill>
                          <a:srgbClr val="4B84F4"/>
                        </a:solidFill>
                        <a:latin typeface="Cambria Math" panose="02040503050406030204" pitchFamily="18" charset="0"/>
                      </a:rPr>
                      <m:t>|</m:t>
                    </m:r>
                    <m:sSub>
                      <m:sSubPr>
                        <m:ctrlPr>
                          <a:rPr lang="fr-FR" b="1" i="1">
                            <a:solidFill>
                              <a:srgbClr val="4B84F4"/>
                            </a:solidFill>
                            <a:latin typeface="Cambria Math" panose="02040503050406030204" pitchFamily="18" charset="0"/>
                          </a:rPr>
                        </m:ctrlPr>
                      </m:sSubPr>
                      <m:e>
                        <m:r>
                          <a:rPr lang="fr-FR" b="1" i="1">
                            <a:solidFill>
                              <a:srgbClr val="4B84F4"/>
                            </a:solidFill>
                            <a:latin typeface="Cambria Math" panose="02040503050406030204" pitchFamily="18" charset="0"/>
                          </a:rPr>
                          <m:t>𝑪</m:t>
                        </m:r>
                      </m:e>
                      <m:sub>
                        <m:r>
                          <a:rPr lang="fr-FR" b="1" i="1">
                            <a:solidFill>
                              <a:srgbClr val="4B84F4"/>
                            </a:solidFill>
                            <a:latin typeface="Cambria Math" panose="02040503050406030204" pitchFamily="18" charset="0"/>
                          </a:rPr>
                          <m:t>𝒌</m:t>
                        </m:r>
                      </m:sub>
                    </m:sSub>
                    <m:r>
                      <a:rPr lang="fr-FR" b="1" i="1">
                        <a:solidFill>
                          <a:srgbClr val="4B84F4"/>
                        </a:solidFill>
                        <a:latin typeface="Cambria Math" panose="02040503050406030204" pitchFamily="18" charset="0"/>
                      </a:rPr>
                      <m:t>;</m:t>
                    </m:r>
                    <m:sSub>
                      <m:sSubPr>
                        <m:ctrlPr>
                          <a:rPr lang="fr-FR" b="1" i="1">
                            <a:solidFill>
                              <a:srgbClr val="4B84F4"/>
                            </a:solidFill>
                            <a:latin typeface="Cambria Math" panose="02040503050406030204" pitchFamily="18" charset="0"/>
                          </a:rPr>
                        </m:ctrlPr>
                      </m:sSubPr>
                      <m:e>
                        <m:r>
                          <a:rPr lang="fr-FR" b="1" i="1">
                            <a:solidFill>
                              <a:srgbClr val="4B84F4"/>
                            </a:solidFill>
                            <a:latin typeface="Cambria Math" panose="02040503050406030204" pitchFamily="18" charset="0"/>
                          </a:rPr>
                          <m:t>𝒚</m:t>
                        </m:r>
                      </m:e>
                      <m:sub>
                        <m:r>
                          <a:rPr lang="fr-FR" b="1" i="1">
                            <a:solidFill>
                              <a:srgbClr val="4B84F4"/>
                            </a:solidFill>
                            <a:latin typeface="Cambria Math" panose="02040503050406030204" pitchFamily="18" charset="0"/>
                          </a:rPr>
                          <m:t>𝒕</m:t>
                        </m:r>
                        <m:r>
                          <a:rPr lang="fr-FR" b="1" i="1">
                            <a:solidFill>
                              <a:srgbClr val="4B84F4"/>
                            </a:solidFill>
                            <a:latin typeface="Cambria Math" panose="02040503050406030204" pitchFamily="18" charset="0"/>
                          </a:rPr>
                          <m:t>+</m:t>
                        </m:r>
                        <m:r>
                          <a:rPr lang="fr-FR" b="1" i="1">
                            <a:solidFill>
                              <a:srgbClr val="4B84F4"/>
                            </a:solidFill>
                            <a:latin typeface="Cambria Math" panose="02040503050406030204" pitchFamily="18" charset="0"/>
                          </a:rPr>
                          <m:t>𝟏</m:t>
                        </m:r>
                      </m:sub>
                    </m:sSub>
                    <m:r>
                      <a:rPr lang="fr-FR" b="1" i="1">
                        <a:solidFill>
                          <a:srgbClr val="4B84F4"/>
                        </a:solidFill>
                        <a:latin typeface="Cambria Math" panose="02040503050406030204" pitchFamily="18" charset="0"/>
                      </a:rPr>
                      <m:t>)</m:t>
                    </m:r>
                  </m:oMath>
                </a14:m>
                <a:r>
                  <a:rPr lang="en-FR" dirty="0"/>
                  <a:t>, the conditional generation module and </a:t>
                </a:r>
                <a14:m>
                  <m:oMath xmlns:m="http://schemas.openxmlformats.org/officeDocument/2006/math">
                    <m:sSub>
                      <m:sSubPr>
                        <m:ctrlPr>
                          <a:rPr lang="fr-FR" i="1" smtClean="0">
                            <a:solidFill>
                              <a:schemeClr val="tx1"/>
                            </a:solidFill>
                            <a:latin typeface="Cambria Math" panose="02040503050406030204" pitchFamily="18" charset="0"/>
                          </a:rPr>
                        </m:ctrlPr>
                      </m:sSubPr>
                      <m:e>
                        <m:r>
                          <m:rPr>
                            <m:sty m:val="p"/>
                          </m:rPr>
                          <a:rPr lang="fr-FR" b="0" i="0">
                            <a:solidFill>
                              <a:schemeClr val="tx1"/>
                            </a:solidFill>
                            <a:latin typeface="Cambria Math" panose="02040503050406030204" pitchFamily="18" charset="0"/>
                          </a:rPr>
                          <m:t>C</m:t>
                        </m:r>
                      </m:e>
                      <m:sub>
                        <m:r>
                          <m:rPr>
                            <m:sty m:val="p"/>
                          </m:rPr>
                          <a:rPr lang="fr-FR" b="0" i="0">
                            <a:solidFill>
                              <a:schemeClr val="tx1"/>
                            </a:solidFill>
                            <a:latin typeface="Cambria Math" panose="02040503050406030204" pitchFamily="18" charset="0"/>
                          </a:rPr>
                          <m:t>k</m:t>
                        </m:r>
                      </m:sub>
                    </m:sSub>
                  </m:oMath>
                </a14:m>
                <a:r>
                  <a:rPr lang="en-FR" dirty="0"/>
                  <a:t>, the context containing the last k utterances. </a:t>
                </a:r>
              </a:p>
            </p:txBody>
          </p:sp>
        </mc:Choice>
        <mc:Fallback xmlns="">
          <p:sp>
            <p:nvSpPr>
              <p:cNvPr id="65" name="TextBox 64">
                <a:extLst>
                  <a:ext uri="{FF2B5EF4-FFF2-40B4-BE49-F238E27FC236}">
                    <a16:creationId xmlns:a16="http://schemas.microsoft.com/office/drawing/2014/main" id="{274C60FE-6FD9-4B95-F675-2CBF3CFB5FF2}"/>
                  </a:ext>
                </a:extLst>
              </p:cNvPr>
              <p:cNvSpPr txBox="1">
                <a:spLocks noRot="1" noChangeAspect="1" noMove="1" noResize="1" noEditPoints="1" noAdjustHandles="1" noChangeArrowheads="1" noChangeShapeType="1" noTextEdit="1"/>
              </p:cNvSpPr>
              <p:nvPr/>
            </p:nvSpPr>
            <p:spPr>
              <a:xfrm>
                <a:off x="8055620" y="1640098"/>
                <a:ext cx="3885838" cy="4268156"/>
              </a:xfrm>
              <a:prstGeom prst="rect">
                <a:avLst/>
              </a:prstGeom>
              <a:blipFill>
                <a:blip r:embed="rId5"/>
                <a:stretch>
                  <a:fillRect l="-1303" t="-593" r="-326" b="-1187"/>
                </a:stretch>
              </a:blipFill>
            </p:spPr>
            <p:txBody>
              <a:bodyPr/>
              <a:lstStyle/>
              <a:p>
                <a:r>
                  <a:rPr lang="en-FR">
                    <a:noFill/>
                  </a:rPr>
                  <a:t> </a:t>
                </a:r>
              </a:p>
            </p:txBody>
          </p:sp>
        </mc:Fallback>
      </mc:AlternateContent>
      <p:cxnSp>
        <p:nvCxnSpPr>
          <p:cNvPr id="72" name="Elbow Connector 71">
            <a:extLst>
              <a:ext uri="{FF2B5EF4-FFF2-40B4-BE49-F238E27FC236}">
                <a16:creationId xmlns:a16="http://schemas.microsoft.com/office/drawing/2014/main" id="{EEE31CC2-0B7E-34A8-3B62-BAA9FE3416F3}"/>
              </a:ext>
            </a:extLst>
          </p:cNvPr>
          <p:cNvCxnSpPr>
            <a:stCxn id="30" idx="3"/>
            <a:endCxn id="45" idx="1"/>
          </p:cNvCxnSpPr>
          <p:nvPr/>
        </p:nvCxnSpPr>
        <p:spPr>
          <a:xfrm flipV="1">
            <a:off x="5110828" y="3329505"/>
            <a:ext cx="662994" cy="2509473"/>
          </a:xfrm>
          <a:prstGeom prst="bentConnector3">
            <a:avLst/>
          </a:prstGeom>
          <a:ln w="28575">
            <a:solidFill>
              <a:srgbClr val="4B85F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711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500"/>
                                  </p:stCondLst>
                                  <p:childTnLst>
                                    <p:set>
                                      <p:cBhvr>
                                        <p:cTn id="6"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DEDD998-2048-36F3-6E31-5FAA9BBBCB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E6A569-5DC2-897E-918E-B7CBF18BD344}"/>
              </a:ext>
            </a:extLst>
          </p:cNvPr>
          <p:cNvSpPr>
            <a:spLocks noGrp="1"/>
          </p:cNvSpPr>
          <p:nvPr>
            <p:ph type="title"/>
          </p:nvPr>
        </p:nvSpPr>
        <p:spPr>
          <a:xfrm>
            <a:off x="1246163" y="58998"/>
            <a:ext cx="10447400" cy="1325563"/>
          </a:xfrm>
        </p:spPr>
        <p:txBody>
          <a:bodyPr>
            <a:normAutofit/>
          </a:bodyPr>
          <a:lstStyle/>
          <a:p>
            <a:r>
              <a:rPr lang="en-GB" sz="2900" b="1" dirty="0"/>
              <a:t>Data for Socio-Emotional Response Generation</a:t>
            </a:r>
            <a:r>
              <a:rPr lang="en-GB" sz="2900" dirty="0"/>
              <a:t> </a:t>
            </a:r>
            <a:br>
              <a:rPr lang="en-GB" dirty="0"/>
            </a:br>
            <a:r>
              <a:rPr lang="en-GB" sz="2200" dirty="0"/>
              <a:t>How is socio-conversational data currently collected and annotated?</a:t>
            </a:r>
            <a:endParaRPr lang="en-FR" sz="2200" dirty="0"/>
          </a:p>
        </p:txBody>
      </p:sp>
      <p:grpSp>
        <p:nvGrpSpPr>
          <p:cNvPr id="3" name="Group 2">
            <a:extLst>
              <a:ext uri="{FF2B5EF4-FFF2-40B4-BE49-F238E27FC236}">
                <a16:creationId xmlns:a16="http://schemas.microsoft.com/office/drawing/2014/main" id="{3F7730B5-3029-2022-3DF5-76C2C522F882}"/>
              </a:ext>
            </a:extLst>
          </p:cNvPr>
          <p:cNvGrpSpPr/>
          <p:nvPr/>
        </p:nvGrpSpPr>
        <p:grpSpPr>
          <a:xfrm>
            <a:off x="6311689" y="1691524"/>
            <a:ext cx="2562905" cy="2783841"/>
            <a:chOff x="5233614" y="1840259"/>
            <a:chExt cx="2994946" cy="3157669"/>
          </a:xfrm>
        </p:grpSpPr>
        <p:grpSp>
          <p:nvGrpSpPr>
            <p:cNvPr id="4" name="Group 3">
              <a:extLst>
                <a:ext uri="{FF2B5EF4-FFF2-40B4-BE49-F238E27FC236}">
                  <a16:creationId xmlns:a16="http://schemas.microsoft.com/office/drawing/2014/main" id="{783AF9CD-CCD6-4BD2-5790-15218FC07473}"/>
                </a:ext>
              </a:extLst>
            </p:cNvPr>
            <p:cNvGrpSpPr/>
            <p:nvPr/>
          </p:nvGrpSpPr>
          <p:grpSpPr>
            <a:xfrm>
              <a:off x="5233614" y="2002982"/>
              <a:ext cx="2994946" cy="2994946"/>
              <a:chOff x="1123740" y="3063969"/>
              <a:chExt cx="2994946" cy="2994946"/>
            </a:xfrm>
          </p:grpSpPr>
          <p:pic>
            <p:nvPicPr>
              <p:cNvPr id="6" name="Graphic 5" descr="Questions with solid fill">
                <a:extLst>
                  <a:ext uri="{FF2B5EF4-FFF2-40B4-BE49-F238E27FC236}">
                    <a16:creationId xmlns:a16="http://schemas.microsoft.com/office/drawing/2014/main" id="{9FF97072-631A-62E8-2F64-BCA5CE2EADA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3740" y="3063969"/>
                <a:ext cx="2994946" cy="2994946"/>
              </a:xfrm>
              <a:prstGeom prst="rect">
                <a:avLst/>
              </a:prstGeom>
            </p:spPr>
          </p:pic>
          <p:sp>
            <p:nvSpPr>
              <p:cNvPr id="7" name="Rectangle 6">
                <a:extLst>
                  <a:ext uri="{FF2B5EF4-FFF2-40B4-BE49-F238E27FC236}">
                    <a16:creationId xmlns:a16="http://schemas.microsoft.com/office/drawing/2014/main" id="{6506C1F5-A5CC-57E2-97A6-CF2F1DB0D8D1}"/>
                  </a:ext>
                </a:extLst>
              </p:cNvPr>
              <p:cNvSpPr/>
              <p:nvPr/>
            </p:nvSpPr>
            <p:spPr>
              <a:xfrm>
                <a:off x="2309247" y="3223647"/>
                <a:ext cx="1611824" cy="10173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grpSp>
        <p:pic>
          <p:nvPicPr>
            <p:cNvPr id="5" name="Graphic 4" descr="Chat bubble with solid fill">
              <a:extLst>
                <a:ext uri="{FF2B5EF4-FFF2-40B4-BE49-F238E27FC236}">
                  <a16:creationId xmlns:a16="http://schemas.microsoft.com/office/drawing/2014/main" id="{8D790FE8-9994-1792-B0E4-08AAC81EFD5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8645" y="1840259"/>
              <a:ext cx="1930783" cy="1930783"/>
            </a:xfrm>
            <a:prstGeom prst="rect">
              <a:avLst/>
            </a:prstGeom>
          </p:spPr>
        </p:pic>
      </p:grpSp>
      <p:pic>
        <p:nvPicPr>
          <p:cNvPr id="8" name="Graphic 7" descr="Speech with solid fill">
            <a:extLst>
              <a:ext uri="{FF2B5EF4-FFF2-40B4-BE49-F238E27FC236}">
                <a16:creationId xmlns:a16="http://schemas.microsoft.com/office/drawing/2014/main" id="{98A17861-40E3-0B54-1B1C-47608426013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9408106" y="3981284"/>
            <a:ext cx="2150164" cy="2055487"/>
          </a:xfrm>
          <a:prstGeom prst="rect">
            <a:avLst/>
          </a:prstGeom>
        </p:spPr>
      </p:pic>
      <p:pic>
        <p:nvPicPr>
          <p:cNvPr id="9" name="Graphic 8" descr="Question Mark with solid fill">
            <a:extLst>
              <a:ext uri="{FF2B5EF4-FFF2-40B4-BE49-F238E27FC236}">
                <a16:creationId xmlns:a16="http://schemas.microsoft.com/office/drawing/2014/main" id="{314C002D-A2A7-CB3E-92D3-6FB7E9CAC2B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69438" y="4591174"/>
            <a:ext cx="544815" cy="520826"/>
          </a:xfrm>
          <a:prstGeom prst="rect">
            <a:avLst/>
          </a:prstGeom>
        </p:spPr>
      </p:pic>
      <p:pic>
        <p:nvPicPr>
          <p:cNvPr id="10" name="Graphic 9" descr="User with solid fill">
            <a:extLst>
              <a:ext uri="{FF2B5EF4-FFF2-40B4-BE49-F238E27FC236}">
                <a16:creationId xmlns:a16="http://schemas.microsoft.com/office/drawing/2014/main" id="{F8CA4687-71E9-17D2-2A84-4CFE3B565BC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748856" y="4263550"/>
            <a:ext cx="2265126" cy="2165387"/>
          </a:xfrm>
          <a:prstGeom prst="rect">
            <a:avLst/>
          </a:prstGeom>
        </p:spPr>
      </p:pic>
      <p:pic>
        <p:nvPicPr>
          <p:cNvPr id="11" name="Graphic 10" descr="Heart with solid fill">
            <a:extLst>
              <a:ext uri="{FF2B5EF4-FFF2-40B4-BE49-F238E27FC236}">
                <a16:creationId xmlns:a16="http://schemas.microsoft.com/office/drawing/2014/main" id="{E45DB777-5D8D-B1B5-4F7D-4FD752BCE2E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956988" y="4591174"/>
            <a:ext cx="618197" cy="590976"/>
          </a:xfrm>
          <a:prstGeom prst="rect">
            <a:avLst/>
          </a:prstGeom>
        </p:spPr>
      </p:pic>
      <p:sp>
        <p:nvSpPr>
          <p:cNvPr id="12" name="Rectangle 11">
            <a:extLst>
              <a:ext uri="{FF2B5EF4-FFF2-40B4-BE49-F238E27FC236}">
                <a16:creationId xmlns:a16="http://schemas.microsoft.com/office/drawing/2014/main" id="{11BF0CCE-AE65-6D03-D5E0-B0A752DC3A18}"/>
              </a:ext>
            </a:extLst>
          </p:cNvPr>
          <p:cNvSpPr/>
          <p:nvPr/>
        </p:nvSpPr>
        <p:spPr>
          <a:xfrm>
            <a:off x="6567383" y="3387130"/>
            <a:ext cx="4726983" cy="848228"/>
          </a:xfrm>
          <a:prstGeom prst="rect">
            <a:avLst/>
          </a:prstGeom>
          <a:noFill/>
          <a:ln w="28575">
            <a:solidFill>
              <a:srgbClr val="D33F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solidFill>
                <a:srgbClr val="D33F49"/>
              </a:solidFill>
            </a:endParaRPr>
          </a:p>
        </p:txBody>
      </p:sp>
      <p:sp>
        <p:nvSpPr>
          <p:cNvPr id="13" name="TextBox 12">
            <a:extLst>
              <a:ext uri="{FF2B5EF4-FFF2-40B4-BE49-F238E27FC236}">
                <a16:creationId xmlns:a16="http://schemas.microsoft.com/office/drawing/2014/main" id="{A423008C-87CD-BCC1-96B5-BCFBB89E88D5}"/>
              </a:ext>
            </a:extLst>
          </p:cNvPr>
          <p:cNvSpPr txBox="1"/>
          <p:nvPr/>
        </p:nvSpPr>
        <p:spPr>
          <a:xfrm>
            <a:off x="6567383" y="3549634"/>
            <a:ext cx="4726983" cy="523220"/>
          </a:xfrm>
          <a:prstGeom prst="rect">
            <a:avLst/>
          </a:prstGeom>
          <a:noFill/>
        </p:spPr>
        <p:txBody>
          <a:bodyPr wrap="square" lIns="91440" tIns="45720" rIns="91440" bIns="45720" rtlCol="0" anchor="t">
            <a:spAutoFit/>
          </a:bodyPr>
          <a:lstStyle/>
          <a:p>
            <a:pPr algn="ctr"/>
            <a:r>
              <a:rPr lang="en-FR" sz="2700" b="1">
                <a:solidFill>
                  <a:srgbClr val="D33F49"/>
                </a:solidFill>
                <a:latin typeface="Poppins"/>
                <a:cs typeface="Poppins"/>
              </a:rPr>
              <a:t>OBSERVER POINT OF VIEW</a:t>
            </a:r>
          </a:p>
        </p:txBody>
      </p:sp>
      <p:sp>
        <p:nvSpPr>
          <p:cNvPr id="14" name="TextBox 13">
            <a:extLst>
              <a:ext uri="{FF2B5EF4-FFF2-40B4-BE49-F238E27FC236}">
                <a16:creationId xmlns:a16="http://schemas.microsoft.com/office/drawing/2014/main" id="{DE4EC3A3-2EE2-33CB-D903-F782E2D80497}"/>
              </a:ext>
            </a:extLst>
          </p:cNvPr>
          <p:cNvSpPr txBox="1"/>
          <p:nvPr/>
        </p:nvSpPr>
        <p:spPr>
          <a:xfrm>
            <a:off x="728419" y="2410981"/>
            <a:ext cx="5039251" cy="923330"/>
          </a:xfrm>
          <a:prstGeom prst="rect">
            <a:avLst/>
          </a:prstGeom>
          <a:noFill/>
        </p:spPr>
        <p:txBody>
          <a:bodyPr wrap="square" rtlCol="0">
            <a:spAutoFit/>
          </a:bodyPr>
          <a:lstStyle/>
          <a:p>
            <a:r>
              <a:rPr lang="en-FR" b="1">
                <a:solidFill>
                  <a:srgbClr val="D33F49"/>
                </a:solidFill>
                <a:latin typeface="Poppins" pitchFamily="2" charset="77"/>
                <a:cs typeface="Poppins" pitchFamily="2" charset="77"/>
              </a:rPr>
              <a:t>Manual Annotation</a:t>
            </a:r>
          </a:p>
          <a:p>
            <a:pPr marL="742950" lvl="1" indent="-285750">
              <a:buFont typeface="Arial" panose="020B0604020202020204" pitchFamily="34" charset="0"/>
              <a:buChar char="•"/>
            </a:pPr>
            <a:r>
              <a:rPr lang="en-FR">
                <a:solidFill>
                  <a:srgbClr val="0055FF"/>
                </a:solidFill>
                <a:latin typeface="Poppins" pitchFamily="2" charset="77"/>
                <a:cs typeface="Poppins" pitchFamily="2" charset="77"/>
              </a:rPr>
              <a:t>Data is entirely annotated by human experts</a:t>
            </a:r>
          </a:p>
        </p:txBody>
      </p:sp>
      <p:sp>
        <p:nvSpPr>
          <p:cNvPr id="15" name="TextBox 14">
            <a:extLst>
              <a:ext uri="{FF2B5EF4-FFF2-40B4-BE49-F238E27FC236}">
                <a16:creationId xmlns:a16="http://schemas.microsoft.com/office/drawing/2014/main" id="{02041BA2-D84B-7E6B-FEDA-64E7E0C04772}"/>
              </a:ext>
            </a:extLst>
          </p:cNvPr>
          <p:cNvSpPr txBox="1"/>
          <p:nvPr/>
        </p:nvSpPr>
        <p:spPr>
          <a:xfrm>
            <a:off x="728419" y="4836442"/>
            <a:ext cx="4726985" cy="1200329"/>
          </a:xfrm>
          <a:prstGeom prst="rect">
            <a:avLst/>
          </a:prstGeom>
          <a:noFill/>
        </p:spPr>
        <p:txBody>
          <a:bodyPr wrap="square" rtlCol="0">
            <a:spAutoFit/>
          </a:bodyPr>
          <a:lstStyle/>
          <a:p>
            <a:r>
              <a:rPr lang="en-FR" b="1">
                <a:solidFill>
                  <a:srgbClr val="D33F49"/>
                </a:solidFill>
                <a:latin typeface="Poppins" pitchFamily="2" charset="77"/>
                <a:cs typeface="Poppins" pitchFamily="2" charset="77"/>
              </a:rPr>
              <a:t>Semi-automatic annotation</a:t>
            </a:r>
          </a:p>
          <a:p>
            <a:pPr marL="742950" lvl="1" indent="-285750" algn="just">
              <a:buFont typeface="Arial" panose="020B0604020202020204" pitchFamily="34" charset="0"/>
              <a:buChar char="•"/>
            </a:pPr>
            <a:r>
              <a:rPr lang="en-FR">
                <a:solidFill>
                  <a:srgbClr val="0055FF"/>
                </a:solidFill>
                <a:latin typeface="Poppins" pitchFamily="2" charset="77"/>
                <a:cs typeface="Poppins" pitchFamily="2" charset="77"/>
              </a:rPr>
              <a:t>Manually annotated data is used to train models to automatically labellize a bigger corpus</a:t>
            </a:r>
          </a:p>
        </p:txBody>
      </p:sp>
      <p:sp>
        <p:nvSpPr>
          <p:cNvPr id="16" name="TextBox 15">
            <a:extLst>
              <a:ext uri="{FF2B5EF4-FFF2-40B4-BE49-F238E27FC236}">
                <a16:creationId xmlns:a16="http://schemas.microsoft.com/office/drawing/2014/main" id="{F3F2B88B-0E29-2C0F-F18E-9974B1C8F79B}"/>
              </a:ext>
            </a:extLst>
          </p:cNvPr>
          <p:cNvSpPr txBox="1"/>
          <p:nvPr/>
        </p:nvSpPr>
        <p:spPr>
          <a:xfrm>
            <a:off x="728418" y="3623711"/>
            <a:ext cx="4726985" cy="923330"/>
          </a:xfrm>
          <a:prstGeom prst="rect">
            <a:avLst/>
          </a:prstGeom>
          <a:noFill/>
        </p:spPr>
        <p:txBody>
          <a:bodyPr wrap="square" rtlCol="0">
            <a:spAutoFit/>
          </a:bodyPr>
          <a:lstStyle/>
          <a:p>
            <a:r>
              <a:rPr lang="en-FR" b="1" dirty="0">
                <a:solidFill>
                  <a:srgbClr val="D33F49"/>
                </a:solidFill>
                <a:latin typeface="Poppins" pitchFamily="2" charset="77"/>
                <a:cs typeface="Poppins" pitchFamily="2" charset="77"/>
              </a:rPr>
              <a:t>Automatic annotation</a:t>
            </a:r>
          </a:p>
          <a:p>
            <a:pPr marL="742950" lvl="1" indent="-285750" algn="just">
              <a:buFont typeface="Arial" panose="020B0604020202020204" pitchFamily="34" charset="0"/>
              <a:buChar char="•"/>
            </a:pPr>
            <a:r>
              <a:rPr lang="en-FR" dirty="0">
                <a:solidFill>
                  <a:srgbClr val="0055FF"/>
                </a:solidFill>
                <a:latin typeface="Poppins" pitchFamily="2" charset="77"/>
                <a:cs typeface="Poppins" pitchFamily="2" charset="77"/>
              </a:rPr>
              <a:t>Data is fully annotated by a large language model</a:t>
            </a:r>
          </a:p>
        </p:txBody>
      </p:sp>
      <p:pic>
        <p:nvPicPr>
          <p:cNvPr id="17" name="Graphic 16" descr="Books with solid fill">
            <a:extLst>
              <a:ext uri="{FF2B5EF4-FFF2-40B4-BE49-F238E27FC236}">
                <a16:creationId xmlns:a16="http://schemas.microsoft.com/office/drawing/2014/main" id="{0CA88518-F81F-E69E-EAAF-E2837F52CE7D}"/>
              </a:ext>
            </a:extLst>
          </p:cNvPr>
          <p:cNvPicPr>
            <a:picLocks noChangeAspect="1"/>
          </p:cNvPicPr>
          <p:nvPr/>
        </p:nvPicPr>
        <p:blipFill>
          <a:blip r:embed="rId14">
            <a:alphaModFix/>
            <a:extLst>
              <a:ext uri="{96DAC541-7B7A-43D3-8B79-37D633B846F1}">
                <asvg:svgBlip xmlns:asvg="http://schemas.microsoft.com/office/drawing/2016/SVG/main" r:embed="rId15"/>
              </a:ext>
            </a:extLst>
          </a:blip>
          <a:stretch>
            <a:fillRect/>
          </a:stretch>
        </p:blipFill>
        <p:spPr>
          <a:xfrm>
            <a:off x="152301" y="299584"/>
            <a:ext cx="844390" cy="844390"/>
          </a:xfrm>
          <a:prstGeom prst="rect">
            <a:avLst/>
          </a:prstGeom>
        </p:spPr>
      </p:pic>
    </p:spTree>
    <p:extLst>
      <p:ext uri="{BB962C8B-B14F-4D97-AF65-F5344CB8AC3E}">
        <p14:creationId xmlns:p14="http://schemas.microsoft.com/office/powerpoint/2010/main" val="1778287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1F9B7F-E1A6-0003-3258-AD67CEB867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3C5F4-0F1C-9590-C9BB-8941A6805AAD}"/>
              </a:ext>
            </a:extLst>
          </p:cNvPr>
          <p:cNvSpPr>
            <a:spLocks noGrp="1"/>
          </p:cNvSpPr>
          <p:nvPr>
            <p:ph type="title"/>
          </p:nvPr>
        </p:nvSpPr>
        <p:spPr>
          <a:xfrm>
            <a:off x="1246163" y="58998"/>
            <a:ext cx="10447400" cy="1325563"/>
          </a:xfrm>
        </p:spPr>
        <p:txBody>
          <a:bodyPr>
            <a:normAutofit/>
          </a:bodyPr>
          <a:lstStyle/>
          <a:p>
            <a:r>
              <a:rPr lang="en-GB" sz="2900" b="1" dirty="0"/>
              <a:t>Data for Socio-Emotional Response Generation</a:t>
            </a:r>
            <a:r>
              <a:rPr lang="en-GB" sz="2900" dirty="0"/>
              <a:t> </a:t>
            </a:r>
            <a:br>
              <a:rPr lang="en-GB" dirty="0"/>
            </a:br>
            <a:r>
              <a:rPr lang="en-GB" sz="2200" dirty="0"/>
              <a:t>How is socio-conversational data currently collected and annotated?</a:t>
            </a:r>
            <a:endParaRPr lang="en-FR" sz="2200" dirty="0"/>
          </a:p>
        </p:txBody>
      </p:sp>
      <p:grpSp>
        <p:nvGrpSpPr>
          <p:cNvPr id="3" name="Group 2">
            <a:extLst>
              <a:ext uri="{FF2B5EF4-FFF2-40B4-BE49-F238E27FC236}">
                <a16:creationId xmlns:a16="http://schemas.microsoft.com/office/drawing/2014/main" id="{89F7651B-9D3A-FF17-E035-BB553509A231}"/>
              </a:ext>
            </a:extLst>
          </p:cNvPr>
          <p:cNvGrpSpPr/>
          <p:nvPr/>
        </p:nvGrpSpPr>
        <p:grpSpPr>
          <a:xfrm>
            <a:off x="6311689" y="1691524"/>
            <a:ext cx="2562905" cy="2783841"/>
            <a:chOff x="5233614" y="1840259"/>
            <a:chExt cx="2994946" cy="3157669"/>
          </a:xfrm>
        </p:grpSpPr>
        <p:grpSp>
          <p:nvGrpSpPr>
            <p:cNvPr id="4" name="Group 3">
              <a:extLst>
                <a:ext uri="{FF2B5EF4-FFF2-40B4-BE49-F238E27FC236}">
                  <a16:creationId xmlns:a16="http://schemas.microsoft.com/office/drawing/2014/main" id="{2B2CE918-B49F-304F-A226-13D4A30384FA}"/>
                </a:ext>
              </a:extLst>
            </p:cNvPr>
            <p:cNvGrpSpPr/>
            <p:nvPr/>
          </p:nvGrpSpPr>
          <p:grpSpPr>
            <a:xfrm>
              <a:off x="5233614" y="2002982"/>
              <a:ext cx="2994946" cy="2994946"/>
              <a:chOff x="1123740" y="3063969"/>
              <a:chExt cx="2994946" cy="2994946"/>
            </a:xfrm>
          </p:grpSpPr>
          <p:pic>
            <p:nvPicPr>
              <p:cNvPr id="6" name="Graphic 5" descr="Questions with solid fill">
                <a:extLst>
                  <a:ext uri="{FF2B5EF4-FFF2-40B4-BE49-F238E27FC236}">
                    <a16:creationId xmlns:a16="http://schemas.microsoft.com/office/drawing/2014/main" id="{8CCFD209-8741-6B88-F176-B07B260B904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3740" y="3063969"/>
                <a:ext cx="2994946" cy="2994946"/>
              </a:xfrm>
              <a:prstGeom prst="rect">
                <a:avLst/>
              </a:prstGeom>
            </p:spPr>
          </p:pic>
          <p:sp>
            <p:nvSpPr>
              <p:cNvPr id="7" name="Rectangle 6">
                <a:extLst>
                  <a:ext uri="{FF2B5EF4-FFF2-40B4-BE49-F238E27FC236}">
                    <a16:creationId xmlns:a16="http://schemas.microsoft.com/office/drawing/2014/main" id="{79DC2409-6786-3057-343A-6AC1D23DB662}"/>
                  </a:ext>
                </a:extLst>
              </p:cNvPr>
              <p:cNvSpPr/>
              <p:nvPr/>
            </p:nvSpPr>
            <p:spPr>
              <a:xfrm>
                <a:off x="2309247" y="3223647"/>
                <a:ext cx="1611824" cy="10173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grpSp>
        <p:pic>
          <p:nvPicPr>
            <p:cNvPr id="5" name="Graphic 4" descr="Chat bubble with solid fill">
              <a:extLst>
                <a:ext uri="{FF2B5EF4-FFF2-40B4-BE49-F238E27FC236}">
                  <a16:creationId xmlns:a16="http://schemas.microsoft.com/office/drawing/2014/main" id="{EBAB8506-6C04-A415-3417-48AE860BC0F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8645" y="1840259"/>
              <a:ext cx="1930783" cy="1930783"/>
            </a:xfrm>
            <a:prstGeom prst="rect">
              <a:avLst/>
            </a:prstGeom>
          </p:spPr>
        </p:pic>
      </p:grpSp>
      <p:pic>
        <p:nvPicPr>
          <p:cNvPr id="8" name="Graphic 7" descr="Speech with solid fill">
            <a:extLst>
              <a:ext uri="{FF2B5EF4-FFF2-40B4-BE49-F238E27FC236}">
                <a16:creationId xmlns:a16="http://schemas.microsoft.com/office/drawing/2014/main" id="{5C09277B-3730-2DBB-DA93-D4E13AF2ED5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9408106" y="3981284"/>
            <a:ext cx="2150164" cy="2055487"/>
          </a:xfrm>
          <a:prstGeom prst="rect">
            <a:avLst/>
          </a:prstGeom>
        </p:spPr>
      </p:pic>
      <p:pic>
        <p:nvPicPr>
          <p:cNvPr id="9" name="Graphic 8" descr="User with solid fill">
            <a:extLst>
              <a:ext uri="{FF2B5EF4-FFF2-40B4-BE49-F238E27FC236}">
                <a16:creationId xmlns:a16="http://schemas.microsoft.com/office/drawing/2014/main" id="{7A556887-2FC5-3122-A5E4-0065FFD843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48856" y="4263550"/>
            <a:ext cx="2265126" cy="2165387"/>
          </a:xfrm>
          <a:prstGeom prst="rect">
            <a:avLst/>
          </a:prstGeom>
        </p:spPr>
      </p:pic>
      <p:grpSp>
        <p:nvGrpSpPr>
          <p:cNvPr id="10" name="Group 9">
            <a:extLst>
              <a:ext uri="{FF2B5EF4-FFF2-40B4-BE49-F238E27FC236}">
                <a16:creationId xmlns:a16="http://schemas.microsoft.com/office/drawing/2014/main" id="{8F822A51-FA42-2D8C-B9EC-DF39222A3A09}"/>
              </a:ext>
            </a:extLst>
          </p:cNvPr>
          <p:cNvGrpSpPr/>
          <p:nvPr/>
        </p:nvGrpSpPr>
        <p:grpSpPr>
          <a:xfrm>
            <a:off x="1266775" y="1542237"/>
            <a:ext cx="3975464" cy="4267760"/>
            <a:chOff x="1123741" y="2943685"/>
            <a:chExt cx="2994946" cy="3115230"/>
          </a:xfrm>
        </p:grpSpPr>
        <p:pic>
          <p:nvPicPr>
            <p:cNvPr id="11" name="Graphic 10" descr="Questions with solid fill">
              <a:extLst>
                <a:ext uri="{FF2B5EF4-FFF2-40B4-BE49-F238E27FC236}">
                  <a16:creationId xmlns:a16="http://schemas.microsoft.com/office/drawing/2014/main" id="{1043D9C7-0403-F8C9-D6AD-69A7EB16A2F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23741" y="3063969"/>
              <a:ext cx="2994946" cy="2994946"/>
            </a:xfrm>
            <a:prstGeom prst="rect">
              <a:avLst/>
            </a:prstGeom>
          </p:spPr>
        </p:pic>
        <p:sp>
          <p:nvSpPr>
            <p:cNvPr id="12" name="Rectangle 11">
              <a:extLst>
                <a:ext uri="{FF2B5EF4-FFF2-40B4-BE49-F238E27FC236}">
                  <a16:creationId xmlns:a16="http://schemas.microsoft.com/office/drawing/2014/main" id="{233EC61A-7777-4DCA-C98D-CF9ADFE1DBD6}"/>
                </a:ext>
              </a:extLst>
            </p:cNvPr>
            <p:cNvSpPr/>
            <p:nvPr/>
          </p:nvSpPr>
          <p:spPr>
            <a:xfrm>
              <a:off x="2309247" y="3223647"/>
              <a:ext cx="1611824" cy="10173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pic>
          <p:nvPicPr>
            <p:cNvPr id="13" name="Graphic 12" descr="Comment Heart with solid fill">
              <a:extLst>
                <a:ext uri="{FF2B5EF4-FFF2-40B4-BE49-F238E27FC236}">
                  <a16:creationId xmlns:a16="http://schemas.microsoft.com/office/drawing/2014/main" id="{4B23E002-ED6B-56C3-7F17-6F1AE7FC202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2122048" y="2943685"/>
              <a:ext cx="1930784" cy="1930784"/>
            </a:xfrm>
            <a:prstGeom prst="rect">
              <a:avLst/>
            </a:prstGeom>
          </p:spPr>
        </p:pic>
      </p:grpSp>
      <p:sp>
        <p:nvSpPr>
          <p:cNvPr id="14" name="Rectangle 13">
            <a:extLst>
              <a:ext uri="{FF2B5EF4-FFF2-40B4-BE49-F238E27FC236}">
                <a16:creationId xmlns:a16="http://schemas.microsoft.com/office/drawing/2014/main" id="{CFF73A43-A5CA-40A0-7A0F-258959B754B9}"/>
              </a:ext>
            </a:extLst>
          </p:cNvPr>
          <p:cNvSpPr/>
          <p:nvPr/>
        </p:nvSpPr>
        <p:spPr>
          <a:xfrm>
            <a:off x="891017" y="3389222"/>
            <a:ext cx="4726983" cy="848228"/>
          </a:xfrm>
          <a:prstGeom prst="rect">
            <a:avLst/>
          </a:prstGeom>
          <a:noFill/>
          <a:ln w="28575">
            <a:solidFill>
              <a:srgbClr val="B08A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5" name="TextBox 14">
            <a:extLst>
              <a:ext uri="{FF2B5EF4-FFF2-40B4-BE49-F238E27FC236}">
                <a16:creationId xmlns:a16="http://schemas.microsoft.com/office/drawing/2014/main" id="{75D8B8AB-1F9B-889D-72EB-04BE4D613C63}"/>
              </a:ext>
            </a:extLst>
          </p:cNvPr>
          <p:cNvSpPr txBox="1"/>
          <p:nvPr/>
        </p:nvSpPr>
        <p:spPr>
          <a:xfrm>
            <a:off x="891015" y="3538233"/>
            <a:ext cx="4726983" cy="523220"/>
          </a:xfrm>
          <a:prstGeom prst="rect">
            <a:avLst/>
          </a:prstGeom>
          <a:noFill/>
        </p:spPr>
        <p:txBody>
          <a:bodyPr wrap="square" lIns="91440" tIns="45720" rIns="91440" bIns="45720" rtlCol="0" anchor="t">
            <a:spAutoFit/>
          </a:bodyPr>
          <a:lstStyle/>
          <a:p>
            <a:pPr algn="ctr"/>
            <a:r>
              <a:rPr lang="en-FR" sz="2700" b="1">
                <a:solidFill>
                  <a:srgbClr val="B08AB4"/>
                </a:solidFill>
                <a:latin typeface="Poppins"/>
                <a:cs typeface="Poppins"/>
              </a:rPr>
              <a:t>SPEAKER POINT OF VIEW</a:t>
            </a:r>
          </a:p>
        </p:txBody>
      </p:sp>
      <p:sp>
        <p:nvSpPr>
          <p:cNvPr id="16" name="Rectangle 15">
            <a:extLst>
              <a:ext uri="{FF2B5EF4-FFF2-40B4-BE49-F238E27FC236}">
                <a16:creationId xmlns:a16="http://schemas.microsoft.com/office/drawing/2014/main" id="{3999657B-A5D9-57FD-0C73-4F3BAC7F905E}"/>
              </a:ext>
            </a:extLst>
          </p:cNvPr>
          <p:cNvSpPr/>
          <p:nvPr/>
        </p:nvSpPr>
        <p:spPr>
          <a:xfrm>
            <a:off x="6567383" y="3387130"/>
            <a:ext cx="4726983" cy="848228"/>
          </a:xfrm>
          <a:prstGeom prst="rect">
            <a:avLst/>
          </a:prstGeom>
          <a:noFill/>
          <a:ln w="28575">
            <a:solidFill>
              <a:srgbClr val="D33F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solidFill>
                <a:srgbClr val="D33F49"/>
              </a:solidFill>
            </a:endParaRPr>
          </a:p>
        </p:txBody>
      </p:sp>
      <p:sp>
        <p:nvSpPr>
          <p:cNvPr id="17" name="TextBox 16">
            <a:extLst>
              <a:ext uri="{FF2B5EF4-FFF2-40B4-BE49-F238E27FC236}">
                <a16:creationId xmlns:a16="http://schemas.microsoft.com/office/drawing/2014/main" id="{54782990-7C6A-A7B7-0C8B-D3A7A819205F}"/>
              </a:ext>
            </a:extLst>
          </p:cNvPr>
          <p:cNvSpPr txBox="1"/>
          <p:nvPr/>
        </p:nvSpPr>
        <p:spPr>
          <a:xfrm>
            <a:off x="6567383" y="3549634"/>
            <a:ext cx="4726983" cy="523220"/>
          </a:xfrm>
          <a:prstGeom prst="rect">
            <a:avLst/>
          </a:prstGeom>
          <a:noFill/>
        </p:spPr>
        <p:txBody>
          <a:bodyPr wrap="square" lIns="91440" tIns="45720" rIns="91440" bIns="45720" rtlCol="0" anchor="t">
            <a:spAutoFit/>
          </a:bodyPr>
          <a:lstStyle/>
          <a:p>
            <a:pPr algn="ctr"/>
            <a:r>
              <a:rPr lang="en-FR" sz="2700" b="1">
                <a:solidFill>
                  <a:srgbClr val="D33F49"/>
                </a:solidFill>
                <a:latin typeface="Poppins"/>
                <a:cs typeface="Poppins"/>
              </a:rPr>
              <a:t>OBSERVER POINT OF VIEW</a:t>
            </a:r>
          </a:p>
        </p:txBody>
      </p:sp>
      <p:pic>
        <p:nvPicPr>
          <p:cNvPr id="18" name="Graphic 17" descr="Badge Unfollow with solid fill">
            <a:extLst>
              <a:ext uri="{FF2B5EF4-FFF2-40B4-BE49-F238E27FC236}">
                <a16:creationId xmlns:a16="http://schemas.microsoft.com/office/drawing/2014/main" id="{FF45256E-14EC-F808-6E8B-05A0B87C2E2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149057" y="4544726"/>
            <a:ext cx="547538" cy="547538"/>
          </a:xfrm>
          <a:prstGeom prst="rect">
            <a:avLst/>
          </a:prstGeom>
        </p:spPr>
      </p:pic>
      <p:pic>
        <p:nvPicPr>
          <p:cNvPr id="19" name="Graphic 18" descr="Badge Follow with solid fill">
            <a:extLst>
              <a:ext uri="{FF2B5EF4-FFF2-40B4-BE49-F238E27FC236}">
                <a16:creationId xmlns:a16="http://schemas.microsoft.com/office/drawing/2014/main" id="{7ED9D0BC-6FD2-D9C5-200E-996618F75DFD}"/>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149057" y="5340415"/>
            <a:ext cx="547538" cy="547538"/>
          </a:xfrm>
          <a:prstGeom prst="rect">
            <a:avLst/>
          </a:prstGeom>
        </p:spPr>
      </p:pic>
      <p:sp>
        <p:nvSpPr>
          <p:cNvPr id="20" name="TextBox 19">
            <a:extLst>
              <a:ext uri="{FF2B5EF4-FFF2-40B4-BE49-F238E27FC236}">
                <a16:creationId xmlns:a16="http://schemas.microsoft.com/office/drawing/2014/main" id="{038329B0-BCEC-2811-C188-6C23D24D2CDC}"/>
              </a:ext>
            </a:extLst>
          </p:cNvPr>
          <p:cNvSpPr txBox="1"/>
          <p:nvPr/>
        </p:nvSpPr>
        <p:spPr>
          <a:xfrm>
            <a:off x="1830750" y="4618440"/>
            <a:ext cx="2079415" cy="400110"/>
          </a:xfrm>
          <a:prstGeom prst="rect">
            <a:avLst/>
          </a:prstGeom>
          <a:noFill/>
        </p:spPr>
        <p:txBody>
          <a:bodyPr wrap="none" rtlCol="0">
            <a:spAutoFit/>
          </a:bodyPr>
          <a:lstStyle/>
          <a:p>
            <a:r>
              <a:rPr lang="en-FR" sz="2000" b="1">
                <a:solidFill>
                  <a:srgbClr val="D33F49"/>
                </a:solidFill>
                <a:latin typeface="Poppins" pitchFamily="2" charset="77"/>
                <a:cs typeface="Poppins" pitchFamily="2" charset="77"/>
              </a:rPr>
              <a:t>Often Scripted</a:t>
            </a:r>
          </a:p>
        </p:txBody>
      </p:sp>
      <p:sp>
        <p:nvSpPr>
          <p:cNvPr id="21" name="TextBox 20">
            <a:extLst>
              <a:ext uri="{FF2B5EF4-FFF2-40B4-BE49-F238E27FC236}">
                <a16:creationId xmlns:a16="http://schemas.microsoft.com/office/drawing/2014/main" id="{246D6D9E-372C-AAFD-B528-5865F42BD77F}"/>
              </a:ext>
            </a:extLst>
          </p:cNvPr>
          <p:cNvSpPr txBox="1"/>
          <p:nvPr/>
        </p:nvSpPr>
        <p:spPr>
          <a:xfrm>
            <a:off x="1830750" y="5279857"/>
            <a:ext cx="3089307" cy="707886"/>
          </a:xfrm>
          <a:prstGeom prst="rect">
            <a:avLst/>
          </a:prstGeom>
          <a:noFill/>
        </p:spPr>
        <p:txBody>
          <a:bodyPr wrap="none" rtlCol="0">
            <a:spAutoFit/>
          </a:bodyPr>
          <a:lstStyle/>
          <a:p>
            <a:r>
              <a:rPr lang="en-FR" sz="2000" b="1">
                <a:solidFill>
                  <a:srgbClr val="56BF8B"/>
                </a:solidFill>
                <a:latin typeface="Poppins" pitchFamily="2" charset="77"/>
                <a:cs typeface="Poppins" pitchFamily="2" charset="77"/>
              </a:rPr>
              <a:t>Reliable annotation of</a:t>
            </a:r>
            <a:br>
              <a:rPr lang="en-FR" sz="2000" b="1">
                <a:solidFill>
                  <a:srgbClr val="56BF8B"/>
                </a:solidFill>
                <a:latin typeface="Poppins" pitchFamily="2" charset="77"/>
                <a:cs typeface="Poppins" pitchFamily="2" charset="77"/>
              </a:rPr>
            </a:br>
            <a:r>
              <a:rPr lang="en-FR" sz="2000" b="1">
                <a:solidFill>
                  <a:srgbClr val="56BF8B"/>
                </a:solidFill>
                <a:latin typeface="Poppins" pitchFamily="2" charset="77"/>
                <a:cs typeface="Poppins" pitchFamily="2" charset="77"/>
              </a:rPr>
              <a:t>subjective labels</a:t>
            </a:r>
          </a:p>
        </p:txBody>
      </p:sp>
      <p:pic>
        <p:nvPicPr>
          <p:cNvPr id="22" name="Graphic 21" descr="Badge Unfollow with solid fill">
            <a:extLst>
              <a:ext uri="{FF2B5EF4-FFF2-40B4-BE49-F238E27FC236}">
                <a16:creationId xmlns:a16="http://schemas.microsoft.com/office/drawing/2014/main" id="{D1AAA2DD-1945-6D33-AA5C-A29397315CC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944070" y="4538766"/>
            <a:ext cx="547538" cy="547538"/>
          </a:xfrm>
          <a:prstGeom prst="rect">
            <a:avLst/>
          </a:prstGeom>
        </p:spPr>
      </p:pic>
      <p:pic>
        <p:nvPicPr>
          <p:cNvPr id="23" name="Graphic 22" descr="Badge Follow with solid fill">
            <a:extLst>
              <a:ext uri="{FF2B5EF4-FFF2-40B4-BE49-F238E27FC236}">
                <a16:creationId xmlns:a16="http://schemas.microsoft.com/office/drawing/2014/main" id="{74AFA8D2-E62A-A706-0353-D62AC28D653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944070" y="5334455"/>
            <a:ext cx="547538" cy="547538"/>
          </a:xfrm>
          <a:prstGeom prst="rect">
            <a:avLst/>
          </a:prstGeom>
        </p:spPr>
      </p:pic>
      <p:sp>
        <p:nvSpPr>
          <p:cNvPr id="24" name="TextBox 23">
            <a:extLst>
              <a:ext uri="{FF2B5EF4-FFF2-40B4-BE49-F238E27FC236}">
                <a16:creationId xmlns:a16="http://schemas.microsoft.com/office/drawing/2014/main" id="{4B6FA11B-15CA-5173-4EBE-4055B4155D4C}"/>
              </a:ext>
            </a:extLst>
          </p:cNvPr>
          <p:cNvSpPr txBox="1"/>
          <p:nvPr/>
        </p:nvSpPr>
        <p:spPr>
          <a:xfrm>
            <a:off x="7625763" y="4612480"/>
            <a:ext cx="3182281" cy="400110"/>
          </a:xfrm>
          <a:prstGeom prst="rect">
            <a:avLst/>
          </a:prstGeom>
          <a:noFill/>
        </p:spPr>
        <p:txBody>
          <a:bodyPr wrap="none" rtlCol="0">
            <a:spAutoFit/>
          </a:bodyPr>
          <a:lstStyle/>
          <a:p>
            <a:r>
              <a:rPr lang="en-FR" sz="2000" b="1">
                <a:solidFill>
                  <a:srgbClr val="D33F49"/>
                </a:solidFill>
                <a:latin typeface="Poppins" pitchFamily="2" charset="77"/>
                <a:cs typeface="Poppins" pitchFamily="2" charset="77"/>
              </a:rPr>
              <a:t>Third Party Annotation</a:t>
            </a:r>
          </a:p>
        </p:txBody>
      </p:sp>
      <p:sp>
        <p:nvSpPr>
          <p:cNvPr id="25" name="TextBox 24">
            <a:extLst>
              <a:ext uri="{FF2B5EF4-FFF2-40B4-BE49-F238E27FC236}">
                <a16:creationId xmlns:a16="http://schemas.microsoft.com/office/drawing/2014/main" id="{553C84BF-E1FC-169E-0008-30B0E00FF0B7}"/>
              </a:ext>
            </a:extLst>
          </p:cNvPr>
          <p:cNvSpPr txBox="1"/>
          <p:nvPr/>
        </p:nvSpPr>
        <p:spPr>
          <a:xfrm>
            <a:off x="7625764" y="5395554"/>
            <a:ext cx="3545510" cy="707886"/>
          </a:xfrm>
          <a:prstGeom prst="rect">
            <a:avLst/>
          </a:prstGeom>
          <a:noFill/>
        </p:spPr>
        <p:txBody>
          <a:bodyPr wrap="square" rtlCol="0">
            <a:spAutoFit/>
          </a:bodyPr>
          <a:lstStyle/>
          <a:p>
            <a:r>
              <a:rPr lang="en-FR" sz="2000" b="1">
                <a:solidFill>
                  <a:srgbClr val="56BF8B"/>
                </a:solidFill>
                <a:latin typeface="Poppins" pitchFamily="2" charset="77"/>
                <a:cs typeface="Poppins" pitchFamily="2" charset="77"/>
              </a:rPr>
              <a:t>Can be used for any kind of data</a:t>
            </a:r>
          </a:p>
        </p:txBody>
      </p:sp>
      <p:pic>
        <p:nvPicPr>
          <p:cNvPr id="26" name="Graphic 25" descr="Books with solid fill">
            <a:extLst>
              <a:ext uri="{FF2B5EF4-FFF2-40B4-BE49-F238E27FC236}">
                <a16:creationId xmlns:a16="http://schemas.microsoft.com/office/drawing/2014/main" id="{1B221925-7A92-6F1A-2586-D193BF0EDA22}"/>
              </a:ext>
            </a:extLst>
          </p:cNvPr>
          <p:cNvPicPr>
            <a:picLocks noChangeAspect="1"/>
          </p:cNvPicPr>
          <p:nvPr/>
        </p:nvPicPr>
        <p:blipFill>
          <a:blip r:embed="rId18">
            <a:alphaModFix/>
            <a:extLst>
              <a:ext uri="{96DAC541-7B7A-43D3-8B79-37D633B846F1}">
                <asvg:svgBlip xmlns:asvg="http://schemas.microsoft.com/office/drawing/2016/SVG/main" r:embed="rId19"/>
              </a:ext>
            </a:extLst>
          </a:blip>
          <a:stretch>
            <a:fillRect/>
          </a:stretch>
        </p:blipFill>
        <p:spPr>
          <a:xfrm>
            <a:off x="152301" y="299584"/>
            <a:ext cx="844390" cy="844390"/>
          </a:xfrm>
          <a:prstGeom prst="rect">
            <a:avLst/>
          </a:prstGeom>
        </p:spPr>
      </p:pic>
    </p:spTree>
    <p:extLst>
      <p:ext uri="{BB962C8B-B14F-4D97-AF65-F5344CB8AC3E}">
        <p14:creationId xmlns:p14="http://schemas.microsoft.com/office/powerpoint/2010/main" val="32723560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4" grpId="0"/>
      <p:bldP spid="25" grpId="0"/>
    </p:bld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275FB-2614-6463-4EB5-C33C8DE53131}"/>
              </a:ext>
            </a:extLst>
          </p:cNvPr>
          <p:cNvSpPr>
            <a:spLocks noGrp="1"/>
          </p:cNvSpPr>
          <p:nvPr>
            <p:ph type="title"/>
          </p:nvPr>
        </p:nvSpPr>
        <p:spPr/>
        <p:txBody>
          <a:bodyPr/>
          <a:lstStyle/>
          <a:p>
            <a:endParaRPr lang="en-FR" dirty="0"/>
          </a:p>
        </p:txBody>
      </p:sp>
      <p:sp>
        <p:nvSpPr>
          <p:cNvPr id="3" name="Rectangle 2">
            <a:extLst>
              <a:ext uri="{FF2B5EF4-FFF2-40B4-BE49-F238E27FC236}">
                <a16:creationId xmlns:a16="http://schemas.microsoft.com/office/drawing/2014/main" id="{FAF2D59A-0476-D12F-59C6-C3C7E5104A10}"/>
              </a:ext>
            </a:extLst>
          </p:cNvPr>
          <p:cNvSpPr/>
          <p:nvPr/>
        </p:nvSpPr>
        <p:spPr>
          <a:xfrm>
            <a:off x="3130476" y="1462163"/>
            <a:ext cx="8692183" cy="688489"/>
          </a:xfrm>
          <a:prstGeom prst="rect">
            <a:avLst/>
          </a:prstGeom>
          <a:solidFill>
            <a:srgbClr val="D33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sz="2400" b="1">
                <a:latin typeface="Poppins" pitchFamily="2" charset="77"/>
                <a:cs typeface="Poppins" pitchFamily="2" charset="77"/>
              </a:rPr>
              <a:t>Planning</a:t>
            </a:r>
            <a:endParaRPr lang="en-FR" sz="3200" b="1">
              <a:latin typeface="Poppins" pitchFamily="2" charset="77"/>
              <a:cs typeface="Poppins" pitchFamily="2" charset="77"/>
            </a:endParaRPr>
          </a:p>
        </p:txBody>
      </p:sp>
      <p:sp>
        <p:nvSpPr>
          <p:cNvPr id="4" name="Rectangle 3">
            <a:extLst>
              <a:ext uri="{FF2B5EF4-FFF2-40B4-BE49-F238E27FC236}">
                <a16:creationId xmlns:a16="http://schemas.microsoft.com/office/drawing/2014/main" id="{42A009B3-ADAD-9B94-6DE3-FD7D03CE82DF}"/>
              </a:ext>
            </a:extLst>
          </p:cNvPr>
          <p:cNvSpPr/>
          <p:nvPr/>
        </p:nvSpPr>
        <p:spPr>
          <a:xfrm>
            <a:off x="195501" y="3223726"/>
            <a:ext cx="941362" cy="2326025"/>
          </a:xfrm>
          <a:prstGeom prst="rect">
            <a:avLst/>
          </a:prstGeom>
          <a:solidFill>
            <a:srgbClr val="4B85F4"/>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FR" sz="2400" b="1">
                <a:latin typeface="Poppins" pitchFamily="2" charset="77"/>
                <a:cs typeface="Poppins" pitchFamily="2" charset="77"/>
              </a:rPr>
              <a:t>GÉNÉRATION</a:t>
            </a:r>
            <a:endParaRPr lang="en-FR" sz="2800" b="1">
              <a:latin typeface="Poppins" pitchFamily="2" charset="77"/>
              <a:cs typeface="Poppins" pitchFamily="2" charset="77"/>
            </a:endParaRPr>
          </a:p>
        </p:txBody>
      </p:sp>
      <p:sp>
        <p:nvSpPr>
          <p:cNvPr id="5" name="Rectangle 4">
            <a:extLst>
              <a:ext uri="{FF2B5EF4-FFF2-40B4-BE49-F238E27FC236}">
                <a16:creationId xmlns:a16="http://schemas.microsoft.com/office/drawing/2014/main" id="{9E328D2D-B66B-B72B-04F1-A502F1C925C7}"/>
              </a:ext>
            </a:extLst>
          </p:cNvPr>
          <p:cNvSpPr/>
          <p:nvPr/>
        </p:nvSpPr>
        <p:spPr>
          <a:xfrm>
            <a:off x="1246163" y="3223727"/>
            <a:ext cx="1592131" cy="1051243"/>
          </a:xfrm>
          <a:prstGeom prst="rect">
            <a:avLst/>
          </a:prstGeom>
          <a:solidFill>
            <a:srgbClr val="D0DC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a:solidFill>
                  <a:srgbClr val="4B85F4"/>
                </a:solidFill>
              </a:rPr>
              <a:t>Fine-tuned</a:t>
            </a:r>
          </a:p>
        </p:txBody>
      </p:sp>
      <p:sp>
        <p:nvSpPr>
          <p:cNvPr id="6" name="Rectangle 5">
            <a:extLst>
              <a:ext uri="{FF2B5EF4-FFF2-40B4-BE49-F238E27FC236}">
                <a16:creationId xmlns:a16="http://schemas.microsoft.com/office/drawing/2014/main" id="{A6DE6202-8BBE-3103-363D-06630339A589}"/>
              </a:ext>
            </a:extLst>
          </p:cNvPr>
          <p:cNvSpPr/>
          <p:nvPr/>
        </p:nvSpPr>
        <p:spPr>
          <a:xfrm>
            <a:off x="1246163" y="4498508"/>
            <a:ext cx="1592131" cy="1051243"/>
          </a:xfrm>
          <a:prstGeom prst="rect">
            <a:avLst/>
          </a:prstGeom>
          <a:solidFill>
            <a:srgbClr val="AEC8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a:solidFill>
                  <a:srgbClr val="4B85F4"/>
                </a:solidFill>
              </a:rPr>
              <a:t>Prompt</a:t>
            </a:r>
          </a:p>
        </p:txBody>
      </p:sp>
      <p:sp>
        <p:nvSpPr>
          <p:cNvPr id="7" name="Rectangle 6">
            <a:extLst>
              <a:ext uri="{FF2B5EF4-FFF2-40B4-BE49-F238E27FC236}">
                <a16:creationId xmlns:a16="http://schemas.microsoft.com/office/drawing/2014/main" id="{9DC2F460-CCD6-275E-5F80-1CA61445126A}"/>
              </a:ext>
            </a:extLst>
          </p:cNvPr>
          <p:cNvSpPr/>
          <p:nvPr/>
        </p:nvSpPr>
        <p:spPr>
          <a:xfrm>
            <a:off x="3130476" y="2319215"/>
            <a:ext cx="1592131" cy="662782"/>
          </a:xfrm>
          <a:prstGeom prst="rect">
            <a:avLst/>
          </a:prstGeom>
          <a:solidFill>
            <a:srgbClr val="FFC8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a:t>Graph</a:t>
            </a:r>
          </a:p>
        </p:txBody>
      </p:sp>
      <p:sp>
        <p:nvSpPr>
          <p:cNvPr id="8" name="Rectangle 7">
            <a:extLst>
              <a:ext uri="{FF2B5EF4-FFF2-40B4-BE49-F238E27FC236}">
                <a16:creationId xmlns:a16="http://schemas.microsoft.com/office/drawing/2014/main" id="{896FC159-56D8-E091-45FF-4BD2F729672C}"/>
              </a:ext>
            </a:extLst>
          </p:cNvPr>
          <p:cNvSpPr/>
          <p:nvPr/>
        </p:nvSpPr>
        <p:spPr>
          <a:xfrm>
            <a:off x="4905489" y="2319214"/>
            <a:ext cx="1592131" cy="662782"/>
          </a:xfrm>
          <a:prstGeom prst="rect">
            <a:avLst/>
          </a:prstGeom>
          <a:solidFill>
            <a:srgbClr val="F59A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a:t>RL</a:t>
            </a:r>
          </a:p>
        </p:txBody>
      </p:sp>
      <p:sp>
        <p:nvSpPr>
          <p:cNvPr id="9" name="Rectangle 8">
            <a:extLst>
              <a:ext uri="{FF2B5EF4-FFF2-40B4-BE49-F238E27FC236}">
                <a16:creationId xmlns:a16="http://schemas.microsoft.com/office/drawing/2014/main" id="{FFA934E1-5989-9A9D-130D-45F0DB7371B7}"/>
              </a:ext>
            </a:extLst>
          </p:cNvPr>
          <p:cNvSpPr/>
          <p:nvPr/>
        </p:nvSpPr>
        <p:spPr>
          <a:xfrm>
            <a:off x="6680502" y="2319214"/>
            <a:ext cx="1592131" cy="662782"/>
          </a:xfrm>
          <a:prstGeom prst="rect">
            <a:avLst/>
          </a:prstGeom>
          <a:solidFill>
            <a:srgbClr val="F27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a:t>Heuristics</a:t>
            </a:r>
          </a:p>
        </p:txBody>
      </p:sp>
      <p:sp>
        <p:nvSpPr>
          <p:cNvPr id="10" name="Rectangle 9">
            <a:extLst>
              <a:ext uri="{FF2B5EF4-FFF2-40B4-BE49-F238E27FC236}">
                <a16:creationId xmlns:a16="http://schemas.microsoft.com/office/drawing/2014/main" id="{5DD1DC63-F6A5-84BA-200F-24E47793CBA6}"/>
              </a:ext>
            </a:extLst>
          </p:cNvPr>
          <p:cNvSpPr/>
          <p:nvPr/>
        </p:nvSpPr>
        <p:spPr>
          <a:xfrm>
            <a:off x="8455515" y="2319214"/>
            <a:ext cx="1592131" cy="662782"/>
          </a:xfrm>
          <a:prstGeom prst="rect">
            <a:avLst/>
          </a:prstGeom>
          <a:solidFill>
            <a:srgbClr val="E764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a:t>Fine-tuned</a:t>
            </a:r>
          </a:p>
        </p:txBody>
      </p:sp>
      <p:sp>
        <p:nvSpPr>
          <p:cNvPr id="11" name="Rectangle 10">
            <a:extLst>
              <a:ext uri="{FF2B5EF4-FFF2-40B4-BE49-F238E27FC236}">
                <a16:creationId xmlns:a16="http://schemas.microsoft.com/office/drawing/2014/main" id="{A2CD012A-41AA-AEBA-EBFC-006B7E2A0821}"/>
              </a:ext>
            </a:extLst>
          </p:cNvPr>
          <p:cNvSpPr/>
          <p:nvPr/>
        </p:nvSpPr>
        <p:spPr>
          <a:xfrm>
            <a:off x="10230528" y="2319214"/>
            <a:ext cx="1592131" cy="662782"/>
          </a:xfrm>
          <a:prstGeom prst="rect">
            <a:avLst/>
          </a:prstGeom>
          <a:solidFill>
            <a:srgbClr val="E93F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a:t>Prompt</a:t>
            </a:r>
          </a:p>
        </p:txBody>
      </p:sp>
      <p:sp>
        <p:nvSpPr>
          <p:cNvPr id="12" name="Rectangle 11">
            <a:extLst>
              <a:ext uri="{FF2B5EF4-FFF2-40B4-BE49-F238E27FC236}">
                <a16:creationId xmlns:a16="http://schemas.microsoft.com/office/drawing/2014/main" id="{3634C1F8-ACC1-9E69-146A-3C4B8CAEAA00}"/>
              </a:ext>
            </a:extLst>
          </p:cNvPr>
          <p:cNvSpPr/>
          <p:nvPr/>
        </p:nvSpPr>
        <p:spPr>
          <a:xfrm>
            <a:off x="3130476" y="3223726"/>
            <a:ext cx="1592131" cy="1051243"/>
          </a:xfrm>
          <a:prstGeom prst="rect">
            <a:avLst/>
          </a:prstGeom>
          <a:solidFill>
            <a:schemeClr val="bg1"/>
          </a:solidFill>
          <a:ln w="28575">
            <a:solidFill>
              <a:srgbClr val="A5B0F6"/>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fr-FR" sz="800" b="1">
                <a:solidFill>
                  <a:srgbClr val="4B85F4"/>
                </a:solidFill>
                <a:latin typeface="Poppins" pitchFamily="2" charset="77"/>
                <a:cs typeface="Poppins" pitchFamily="2" charset="77"/>
              </a:rPr>
              <a:t>Chen et al. (2019a)</a:t>
            </a:r>
          </a:p>
          <a:p>
            <a:r>
              <a:rPr lang="fr-FR" sz="800" b="1">
                <a:solidFill>
                  <a:srgbClr val="4B85F4"/>
                </a:solidFill>
                <a:latin typeface="Poppins" pitchFamily="2" charset="77"/>
                <a:cs typeface="Poppins" pitchFamily="2" charset="77"/>
              </a:rPr>
              <a:t>Yang, Li, and Quan (2021)</a:t>
            </a:r>
          </a:p>
          <a:p>
            <a:r>
              <a:rPr lang="fr-FR" sz="800" b="1">
                <a:solidFill>
                  <a:srgbClr val="4B85F4"/>
                </a:solidFill>
                <a:latin typeface="Poppins" pitchFamily="2" charset="77"/>
                <a:cs typeface="Poppins" pitchFamily="2" charset="77"/>
              </a:rPr>
              <a:t>Wang et al. (2020)</a:t>
            </a:r>
          </a:p>
          <a:p>
            <a:r>
              <a:rPr lang="fr-FR" sz="800" b="1">
                <a:solidFill>
                  <a:srgbClr val="4B85F4"/>
                </a:solidFill>
                <a:latin typeface="Poppins" pitchFamily="2" charset="77"/>
                <a:cs typeface="Poppins" pitchFamily="2" charset="77"/>
              </a:rPr>
              <a:t>Wang, Cheng, and Li (2022)</a:t>
            </a:r>
          </a:p>
          <a:p>
            <a:r>
              <a:rPr lang="fr-FR" sz="800" b="1">
                <a:solidFill>
                  <a:srgbClr val="4B85F4"/>
                </a:solidFill>
                <a:latin typeface="Poppins" pitchFamily="2" charset="77"/>
                <a:cs typeface="Poppins" pitchFamily="2" charset="77"/>
              </a:rPr>
              <a:t>Yan et al. (2023)</a:t>
            </a:r>
          </a:p>
        </p:txBody>
      </p:sp>
      <p:sp>
        <p:nvSpPr>
          <p:cNvPr id="13" name="Rectangle 12">
            <a:extLst>
              <a:ext uri="{FF2B5EF4-FFF2-40B4-BE49-F238E27FC236}">
                <a16:creationId xmlns:a16="http://schemas.microsoft.com/office/drawing/2014/main" id="{7A99851B-7553-84CE-CC23-AAB0AC535999}"/>
              </a:ext>
            </a:extLst>
          </p:cNvPr>
          <p:cNvSpPr/>
          <p:nvPr/>
        </p:nvSpPr>
        <p:spPr>
          <a:xfrm>
            <a:off x="4905489" y="3223726"/>
            <a:ext cx="1592131" cy="1051243"/>
          </a:xfrm>
          <a:prstGeom prst="rect">
            <a:avLst/>
          </a:prstGeom>
          <a:solidFill>
            <a:schemeClr val="bg1"/>
          </a:solidFill>
          <a:ln w="28575">
            <a:solidFill>
              <a:srgbClr val="A5B0F6"/>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fr-FR" sz="1600" b="1">
              <a:solidFill>
                <a:srgbClr val="4B85F4"/>
              </a:solidFill>
              <a:latin typeface="Poppins" pitchFamily="2" charset="77"/>
              <a:cs typeface="Poppins" pitchFamily="2" charset="77"/>
            </a:endParaRPr>
          </a:p>
        </p:txBody>
      </p:sp>
      <p:sp>
        <p:nvSpPr>
          <p:cNvPr id="14" name="Rectangle 13">
            <a:extLst>
              <a:ext uri="{FF2B5EF4-FFF2-40B4-BE49-F238E27FC236}">
                <a16:creationId xmlns:a16="http://schemas.microsoft.com/office/drawing/2014/main" id="{F6AA745A-8F54-BA4F-A7F9-1506E4A53C8F}"/>
              </a:ext>
            </a:extLst>
          </p:cNvPr>
          <p:cNvSpPr/>
          <p:nvPr/>
        </p:nvSpPr>
        <p:spPr>
          <a:xfrm>
            <a:off x="6680502" y="3223725"/>
            <a:ext cx="1592131" cy="1051243"/>
          </a:xfrm>
          <a:prstGeom prst="rect">
            <a:avLst/>
          </a:prstGeom>
          <a:solidFill>
            <a:schemeClr val="bg1"/>
          </a:solidFill>
          <a:ln w="28575">
            <a:solidFill>
              <a:srgbClr val="A5B0F6"/>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fr-FR" sz="1600" b="1">
              <a:solidFill>
                <a:srgbClr val="4B85F4"/>
              </a:solidFill>
              <a:latin typeface="Poppins" pitchFamily="2" charset="77"/>
              <a:cs typeface="Poppins" pitchFamily="2" charset="77"/>
            </a:endParaRPr>
          </a:p>
        </p:txBody>
      </p:sp>
      <p:sp>
        <p:nvSpPr>
          <p:cNvPr id="15" name="Rectangle 14">
            <a:extLst>
              <a:ext uri="{FF2B5EF4-FFF2-40B4-BE49-F238E27FC236}">
                <a16:creationId xmlns:a16="http://schemas.microsoft.com/office/drawing/2014/main" id="{A6DE69B1-3B94-6AD3-2461-521293A8F6DF}"/>
              </a:ext>
            </a:extLst>
          </p:cNvPr>
          <p:cNvSpPr/>
          <p:nvPr/>
        </p:nvSpPr>
        <p:spPr>
          <a:xfrm>
            <a:off x="8455515" y="3223724"/>
            <a:ext cx="1592131" cy="1051243"/>
          </a:xfrm>
          <a:prstGeom prst="rect">
            <a:avLst/>
          </a:prstGeom>
          <a:solidFill>
            <a:schemeClr val="bg1"/>
          </a:solidFill>
          <a:ln w="28575">
            <a:solidFill>
              <a:srgbClr val="A5B0F6"/>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fr-FR" sz="800" b="1" err="1">
                <a:solidFill>
                  <a:srgbClr val="4B85F4"/>
                </a:solidFill>
                <a:latin typeface="Poppins" pitchFamily="2" charset="77"/>
                <a:cs typeface="Poppins" pitchFamily="2" charset="77"/>
              </a:rPr>
              <a:t>Abulimiti</a:t>
            </a:r>
            <a:r>
              <a:rPr lang="fr-FR" sz="800" b="1">
                <a:solidFill>
                  <a:srgbClr val="4B85F4"/>
                </a:solidFill>
                <a:latin typeface="Poppins" pitchFamily="2" charset="77"/>
                <a:cs typeface="Poppins" pitchFamily="2" charset="77"/>
              </a:rPr>
              <a:t>, Clavel, and Cassell (2023)</a:t>
            </a:r>
          </a:p>
          <a:p>
            <a:r>
              <a:rPr lang="fr-FR" sz="800" b="1">
                <a:solidFill>
                  <a:srgbClr val="4B85F4"/>
                </a:solidFill>
                <a:latin typeface="Poppins" pitchFamily="2" charset="77"/>
                <a:cs typeface="Poppins" pitchFamily="2" charset="77"/>
              </a:rPr>
              <a:t>Yang et al. (2024)</a:t>
            </a:r>
          </a:p>
          <a:p>
            <a:r>
              <a:rPr lang="fr-FR" sz="800" b="1" err="1">
                <a:solidFill>
                  <a:srgbClr val="4B85F4"/>
                </a:solidFill>
                <a:latin typeface="Poppins" pitchFamily="2" charset="77"/>
                <a:cs typeface="Poppins" pitchFamily="2" charset="77"/>
              </a:rPr>
              <a:t>Rashkin</a:t>
            </a:r>
            <a:r>
              <a:rPr lang="fr-FR" sz="800" b="1">
                <a:solidFill>
                  <a:srgbClr val="4B85F4"/>
                </a:solidFill>
                <a:latin typeface="Poppins" pitchFamily="2" charset="77"/>
                <a:cs typeface="Poppins" pitchFamily="2" charset="77"/>
              </a:rPr>
              <a:t> et al. (2019)</a:t>
            </a:r>
          </a:p>
          <a:p>
            <a:r>
              <a:rPr lang="fr-FR" sz="800" b="1" err="1">
                <a:solidFill>
                  <a:srgbClr val="4B85F4"/>
                </a:solidFill>
                <a:latin typeface="Poppins" pitchFamily="2" charset="77"/>
                <a:cs typeface="Poppins" pitchFamily="2" charset="77"/>
              </a:rPr>
              <a:t>Zandie</a:t>
            </a:r>
            <a:r>
              <a:rPr lang="fr-FR" sz="800" b="1">
                <a:solidFill>
                  <a:srgbClr val="4B85F4"/>
                </a:solidFill>
                <a:latin typeface="Poppins" pitchFamily="2" charset="77"/>
                <a:cs typeface="Poppins" pitchFamily="2" charset="77"/>
              </a:rPr>
              <a:t> and </a:t>
            </a:r>
            <a:r>
              <a:rPr lang="fr-FR" sz="800" b="1" err="1">
                <a:solidFill>
                  <a:srgbClr val="4B85F4"/>
                </a:solidFill>
                <a:latin typeface="Poppins" pitchFamily="2" charset="77"/>
                <a:cs typeface="Poppins" pitchFamily="2" charset="77"/>
              </a:rPr>
              <a:t>Mahoor</a:t>
            </a:r>
            <a:r>
              <a:rPr lang="fr-FR" sz="800" b="1">
                <a:solidFill>
                  <a:srgbClr val="4B85F4"/>
                </a:solidFill>
                <a:latin typeface="Poppins" pitchFamily="2" charset="77"/>
                <a:cs typeface="Poppins" pitchFamily="2" charset="77"/>
              </a:rPr>
              <a:t> (2020)</a:t>
            </a:r>
          </a:p>
          <a:p>
            <a:r>
              <a:rPr lang="fr-FR" sz="800" b="1" err="1">
                <a:solidFill>
                  <a:srgbClr val="4B85F4"/>
                </a:solidFill>
                <a:latin typeface="Poppins" pitchFamily="2" charset="77"/>
                <a:cs typeface="Poppins" pitchFamily="2" charset="77"/>
              </a:rPr>
              <a:t>Altarawneh</a:t>
            </a:r>
            <a:r>
              <a:rPr lang="fr-FR" sz="800" b="1">
                <a:solidFill>
                  <a:srgbClr val="4B85F4"/>
                </a:solidFill>
                <a:latin typeface="Poppins" pitchFamily="2" charset="77"/>
                <a:cs typeface="Poppins" pitchFamily="2" charset="77"/>
              </a:rPr>
              <a:t> et al. (2023)</a:t>
            </a:r>
          </a:p>
          <a:p>
            <a:r>
              <a:rPr lang="fr-FR" sz="800" b="1">
                <a:solidFill>
                  <a:srgbClr val="4B85F4"/>
                </a:solidFill>
                <a:latin typeface="Poppins" pitchFamily="2" charset="77"/>
                <a:cs typeface="Poppins" pitchFamily="2" charset="77"/>
              </a:rPr>
              <a:t>Qian et al. (2023)</a:t>
            </a:r>
          </a:p>
        </p:txBody>
      </p:sp>
      <p:sp>
        <p:nvSpPr>
          <p:cNvPr id="16" name="Rectangle 15">
            <a:extLst>
              <a:ext uri="{FF2B5EF4-FFF2-40B4-BE49-F238E27FC236}">
                <a16:creationId xmlns:a16="http://schemas.microsoft.com/office/drawing/2014/main" id="{828B1B28-5F6C-527F-7C75-1E29850D9EBB}"/>
              </a:ext>
            </a:extLst>
          </p:cNvPr>
          <p:cNvSpPr/>
          <p:nvPr/>
        </p:nvSpPr>
        <p:spPr>
          <a:xfrm>
            <a:off x="10230527" y="3223724"/>
            <a:ext cx="1592131" cy="1051243"/>
          </a:xfrm>
          <a:prstGeom prst="rect">
            <a:avLst/>
          </a:prstGeom>
          <a:solidFill>
            <a:schemeClr val="bg1"/>
          </a:solidFill>
          <a:ln w="28575">
            <a:solidFill>
              <a:srgbClr val="A5B0F6"/>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fr-FR" sz="1600" b="1">
              <a:solidFill>
                <a:srgbClr val="4B85F4"/>
              </a:solidFill>
              <a:latin typeface="Poppins" pitchFamily="2" charset="77"/>
              <a:cs typeface="Poppins" pitchFamily="2" charset="77"/>
            </a:endParaRPr>
          </a:p>
        </p:txBody>
      </p:sp>
      <p:sp>
        <p:nvSpPr>
          <p:cNvPr id="17" name="Rectangle 16">
            <a:extLst>
              <a:ext uri="{FF2B5EF4-FFF2-40B4-BE49-F238E27FC236}">
                <a16:creationId xmlns:a16="http://schemas.microsoft.com/office/drawing/2014/main" id="{DC4EA71C-C3BE-9797-138C-30465CE24783}"/>
              </a:ext>
            </a:extLst>
          </p:cNvPr>
          <p:cNvSpPr/>
          <p:nvPr/>
        </p:nvSpPr>
        <p:spPr>
          <a:xfrm>
            <a:off x="3130476" y="4498508"/>
            <a:ext cx="1592131" cy="1051243"/>
          </a:xfrm>
          <a:prstGeom prst="rect">
            <a:avLst/>
          </a:prstGeom>
          <a:solidFill>
            <a:schemeClr val="bg1"/>
          </a:solidFill>
          <a:ln w="28575">
            <a:solidFill>
              <a:srgbClr val="A5B0F6"/>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fr-FR" sz="1600" b="1">
              <a:solidFill>
                <a:srgbClr val="4B85F4"/>
              </a:solidFill>
              <a:latin typeface="Poppins" pitchFamily="2" charset="77"/>
              <a:cs typeface="Poppins" pitchFamily="2" charset="77"/>
            </a:endParaRPr>
          </a:p>
        </p:txBody>
      </p:sp>
      <p:sp>
        <p:nvSpPr>
          <p:cNvPr id="18" name="Rectangle 17">
            <a:extLst>
              <a:ext uri="{FF2B5EF4-FFF2-40B4-BE49-F238E27FC236}">
                <a16:creationId xmlns:a16="http://schemas.microsoft.com/office/drawing/2014/main" id="{69BB3A13-3FA4-903D-DEA6-F928D21D4F02}"/>
              </a:ext>
            </a:extLst>
          </p:cNvPr>
          <p:cNvSpPr/>
          <p:nvPr/>
        </p:nvSpPr>
        <p:spPr>
          <a:xfrm>
            <a:off x="4905489" y="4498508"/>
            <a:ext cx="1592131" cy="1051243"/>
          </a:xfrm>
          <a:prstGeom prst="rect">
            <a:avLst/>
          </a:prstGeom>
          <a:solidFill>
            <a:schemeClr val="bg1"/>
          </a:solidFill>
          <a:ln w="28575">
            <a:solidFill>
              <a:srgbClr val="A5B0F6"/>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fr-FR" sz="800" b="1" err="1">
                <a:solidFill>
                  <a:srgbClr val="4B85F4"/>
                </a:solidFill>
                <a:latin typeface="Poppins" pitchFamily="2" charset="77"/>
                <a:cs typeface="Poppins" pitchFamily="2" charset="77"/>
              </a:rPr>
              <a:t>Sotolar</a:t>
            </a:r>
            <a:r>
              <a:rPr lang="fr-FR" sz="800" b="1">
                <a:solidFill>
                  <a:srgbClr val="4B85F4"/>
                </a:solidFill>
                <a:latin typeface="Poppins" pitchFamily="2" charset="77"/>
                <a:cs typeface="Poppins" pitchFamily="2" charset="77"/>
              </a:rPr>
              <a:t> et al. (2024)</a:t>
            </a:r>
          </a:p>
        </p:txBody>
      </p:sp>
      <p:sp>
        <p:nvSpPr>
          <p:cNvPr id="19" name="Rectangle 18">
            <a:extLst>
              <a:ext uri="{FF2B5EF4-FFF2-40B4-BE49-F238E27FC236}">
                <a16:creationId xmlns:a16="http://schemas.microsoft.com/office/drawing/2014/main" id="{87C8C553-BCC7-EEF9-4FB9-3CD46F2B6D00}"/>
              </a:ext>
            </a:extLst>
          </p:cNvPr>
          <p:cNvSpPr/>
          <p:nvPr/>
        </p:nvSpPr>
        <p:spPr>
          <a:xfrm>
            <a:off x="6680502" y="4498507"/>
            <a:ext cx="1592131" cy="1051243"/>
          </a:xfrm>
          <a:prstGeom prst="rect">
            <a:avLst/>
          </a:prstGeom>
          <a:solidFill>
            <a:schemeClr val="bg1"/>
          </a:solidFill>
          <a:ln w="28575">
            <a:solidFill>
              <a:srgbClr val="A5B0F6"/>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fr-FR" sz="800" b="1">
                <a:solidFill>
                  <a:srgbClr val="4B85F4"/>
                </a:solidFill>
                <a:latin typeface="Poppins" pitchFamily="2" charset="77"/>
                <a:cs typeface="Poppins" pitchFamily="2" charset="77"/>
              </a:rPr>
              <a:t>Cheng et al. (2022)</a:t>
            </a:r>
          </a:p>
        </p:txBody>
      </p:sp>
      <p:sp>
        <p:nvSpPr>
          <p:cNvPr id="20" name="Rectangle 19">
            <a:extLst>
              <a:ext uri="{FF2B5EF4-FFF2-40B4-BE49-F238E27FC236}">
                <a16:creationId xmlns:a16="http://schemas.microsoft.com/office/drawing/2014/main" id="{29EB6659-0BAB-9399-14EA-AC850585A633}"/>
              </a:ext>
            </a:extLst>
          </p:cNvPr>
          <p:cNvSpPr/>
          <p:nvPr/>
        </p:nvSpPr>
        <p:spPr>
          <a:xfrm>
            <a:off x="8455515" y="4498506"/>
            <a:ext cx="1592131" cy="1051243"/>
          </a:xfrm>
          <a:prstGeom prst="rect">
            <a:avLst/>
          </a:prstGeom>
          <a:solidFill>
            <a:schemeClr val="bg1"/>
          </a:solidFill>
          <a:ln w="28575">
            <a:solidFill>
              <a:srgbClr val="A5B0F6"/>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fr-FR" sz="1600" b="1">
              <a:solidFill>
                <a:srgbClr val="4B85F4"/>
              </a:solidFill>
              <a:latin typeface="Poppins" pitchFamily="2" charset="77"/>
              <a:cs typeface="Poppins" pitchFamily="2" charset="77"/>
            </a:endParaRPr>
          </a:p>
        </p:txBody>
      </p:sp>
      <p:sp>
        <p:nvSpPr>
          <p:cNvPr id="21" name="Rectangle 20">
            <a:extLst>
              <a:ext uri="{FF2B5EF4-FFF2-40B4-BE49-F238E27FC236}">
                <a16:creationId xmlns:a16="http://schemas.microsoft.com/office/drawing/2014/main" id="{36C9449F-8984-8991-95D5-0AAE69F1DE80}"/>
              </a:ext>
            </a:extLst>
          </p:cNvPr>
          <p:cNvSpPr/>
          <p:nvPr/>
        </p:nvSpPr>
        <p:spPr>
          <a:xfrm>
            <a:off x="10230527" y="4498506"/>
            <a:ext cx="1592131" cy="1051243"/>
          </a:xfrm>
          <a:prstGeom prst="rect">
            <a:avLst/>
          </a:prstGeom>
          <a:solidFill>
            <a:schemeClr val="bg1"/>
          </a:solidFill>
          <a:ln w="28575">
            <a:solidFill>
              <a:srgbClr val="A5B0F6"/>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fr-FR" sz="800" b="1" err="1">
                <a:solidFill>
                  <a:srgbClr val="4B85F4"/>
                </a:solidFill>
                <a:latin typeface="Poppins" pitchFamily="2" charset="77"/>
                <a:cs typeface="Poppins" pitchFamily="2" charset="77"/>
              </a:rPr>
              <a:t>Resendiz</a:t>
            </a:r>
            <a:r>
              <a:rPr lang="fr-FR" sz="800" b="1">
                <a:solidFill>
                  <a:srgbClr val="4B85F4"/>
                </a:solidFill>
                <a:latin typeface="Poppins" pitchFamily="2" charset="77"/>
                <a:cs typeface="Poppins" pitchFamily="2" charset="77"/>
              </a:rPr>
              <a:t> and Klinger (2023)</a:t>
            </a:r>
          </a:p>
          <a:p>
            <a:r>
              <a:rPr lang="fr-FR" sz="800" b="1">
                <a:solidFill>
                  <a:srgbClr val="4B85F4"/>
                </a:solidFill>
                <a:latin typeface="Poppins" pitchFamily="2" charset="77"/>
                <a:cs typeface="Poppins" pitchFamily="2" charset="77"/>
              </a:rPr>
              <a:t>Chen et al. (2023)</a:t>
            </a:r>
          </a:p>
          <a:p>
            <a:r>
              <a:rPr lang="fr-FR" sz="800" b="1">
                <a:solidFill>
                  <a:srgbClr val="4B85F4"/>
                </a:solidFill>
                <a:latin typeface="Poppins" pitchFamily="2" charset="77"/>
                <a:cs typeface="Poppins" pitchFamily="2" charset="77"/>
              </a:rPr>
              <a:t>Li et al. (2024b)</a:t>
            </a:r>
          </a:p>
          <a:p>
            <a:r>
              <a:rPr lang="fr-FR" sz="800" b="1">
                <a:solidFill>
                  <a:srgbClr val="4B85F4"/>
                </a:solidFill>
                <a:latin typeface="Poppins" pitchFamily="2" charset="77"/>
                <a:cs typeface="Poppins" pitchFamily="2" charset="77"/>
              </a:rPr>
              <a:t>Lee et al. (</a:t>
            </a:r>
            <a:r>
              <a:rPr lang="fr-FR" sz="800" b="1" err="1">
                <a:solidFill>
                  <a:srgbClr val="4B85F4"/>
                </a:solidFill>
                <a:latin typeface="Poppins" pitchFamily="2" charset="77"/>
                <a:cs typeface="Poppins" pitchFamily="2" charset="77"/>
              </a:rPr>
              <a:t>n.d</a:t>
            </a:r>
            <a:r>
              <a:rPr lang="fr-FR" sz="800" b="1">
                <a:solidFill>
                  <a:srgbClr val="4B85F4"/>
                </a:solidFill>
                <a:latin typeface="Poppins" pitchFamily="2" charset="77"/>
                <a:cs typeface="Poppins" pitchFamily="2" charset="77"/>
              </a:rPr>
              <a:t>.)</a:t>
            </a:r>
          </a:p>
          <a:p>
            <a:r>
              <a:rPr lang="fr-FR" sz="800" b="1">
                <a:solidFill>
                  <a:srgbClr val="4B85F4"/>
                </a:solidFill>
                <a:latin typeface="Poppins" pitchFamily="2" charset="77"/>
                <a:cs typeface="Poppins" pitchFamily="2" charset="77"/>
              </a:rPr>
              <a:t>Zheng et al. (2024)</a:t>
            </a:r>
          </a:p>
          <a:p>
            <a:r>
              <a:rPr lang="fr-FR" sz="800" b="1">
                <a:solidFill>
                  <a:srgbClr val="4B85F4"/>
                </a:solidFill>
                <a:latin typeface="Poppins" pitchFamily="2" charset="77"/>
                <a:cs typeface="Poppins" pitchFamily="2" charset="77"/>
              </a:rPr>
              <a:t>Kang et al. (2024a)</a:t>
            </a:r>
          </a:p>
          <a:p>
            <a:r>
              <a:rPr lang="fr-FR" sz="800" b="1">
                <a:solidFill>
                  <a:srgbClr val="4B85F4"/>
                </a:solidFill>
                <a:latin typeface="Poppins" pitchFamily="2" charset="77"/>
                <a:cs typeface="Poppins" pitchFamily="2" charset="77"/>
              </a:rPr>
              <a:t>Zhao et al. (2024b)</a:t>
            </a:r>
          </a:p>
        </p:txBody>
      </p:sp>
      <p:sp>
        <p:nvSpPr>
          <p:cNvPr id="22" name="Rectangle 21">
            <a:extLst>
              <a:ext uri="{FF2B5EF4-FFF2-40B4-BE49-F238E27FC236}">
                <a16:creationId xmlns:a16="http://schemas.microsoft.com/office/drawing/2014/main" id="{21CE5116-3CAB-A866-514A-B218E0251CBB}"/>
              </a:ext>
            </a:extLst>
          </p:cNvPr>
          <p:cNvSpPr/>
          <p:nvPr/>
        </p:nvSpPr>
        <p:spPr>
          <a:xfrm>
            <a:off x="6680502" y="5773290"/>
            <a:ext cx="1592131" cy="710288"/>
          </a:xfrm>
          <a:prstGeom prst="rect">
            <a:avLst/>
          </a:prstGeom>
          <a:solidFill>
            <a:schemeClr val="bg1"/>
          </a:solidFill>
          <a:ln w="28575">
            <a:solidFill>
              <a:srgbClr val="A5B0F6"/>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fr-FR" sz="800" b="1">
                <a:solidFill>
                  <a:srgbClr val="4B85F4"/>
                </a:solidFill>
                <a:latin typeface="Poppins" pitchFamily="2" charset="77"/>
                <a:cs typeface="Poppins" pitchFamily="2" charset="77"/>
              </a:rPr>
              <a:t>He et al. (2024)</a:t>
            </a:r>
            <a:endParaRPr lang="en-FR" sz="800" b="1">
              <a:solidFill>
                <a:srgbClr val="4B85F4"/>
              </a:solidFill>
              <a:latin typeface="Poppins" pitchFamily="2" charset="77"/>
              <a:cs typeface="Poppins" pitchFamily="2" charset="77"/>
            </a:endParaRPr>
          </a:p>
        </p:txBody>
      </p:sp>
      <p:sp>
        <p:nvSpPr>
          <p:cNvPr id="23" name="Rectangle 22">
            <a:extLst>
              <a:ext uri="{FF2B5EF4-FFF2-40B4-BE49-F238E27FC236}">
                <a16:creationId xmlns:a16="http://schemas.microsoft.com/office/drawing/2014/main" id="{8FB77D85-0C30-D460-61F6-BB44A1BAD17A}"/>
              </a:ext>
            </a:extLst>
          </p:cNvPr>
          <p:cNvSpPr/>
          <p:nvPr/>
        </p:nvSpPr>
        <p:spPr>
          <a:xfrm>
            <a:off x="4905489" y="5773290"/>
            <a:ext cx="1592131" cy="710288"/>
          </a:xfrm>
          <a:prstGeom prst="rect">
            <a:avLst/>
          </a:prstGeom>
          <a:solidFill>
            <a:schemeClr val="bg1"/>
          </a:solidFill>
          <a:ln w="28575">
            <a:solidFill>
              <a:srgbClr val="A5B0F6"/>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fr-FR" sz="800" b="1">
                <a:solidFill>
                  <a:srgbClr val="4B85F4"/>
                </a:solidFill>
                <a:latin typeface="Poppins" pitchFamily="2" charset="77"/>
                <a:cs typeface="Poppins" pitchFamily="2" charset="77"/>
              </a:rPr>
              <a:t>Galland, </a:t>
            </a:r>
            <a:r>
              <a:rPr lang="fr-FR" sz="800" b="1" err="1">
                <a:solidFill>
                  <a:srgbClr val="4B85F4"/>
                </a:solidFill>
                <a:latin typeface="Poppins" pitchFamily="2" charset="77"/>
                <a:cs typeface="Poppins" pitchFamily="2" charset="77"/>
              </a:rPr>
              <a:t>Pelachaud</a:t>
            </a:r>
            <a:r>
              <a:rPr lang="fr-FR" sz="800" b="1">
                <a:solidFill>
                  <a:srgbClr val="4B85F4"/>
                </a:solidFill>
                <a:latin typeface="Poppins" pitchFamily="2" charset="77"/>
                <a:cs typeface="Poppins" pitchFamily="2" charset="77"/>
              </a:rPr>
              <a:t>, and </a:t>
            </a:r>
            <a:r>
              <a:rPr lang="fr-FR" sz="800" b="1" err="1">
                <a:solidFill>
                  <a:srgbClr val="4B85F4"/>
                </a:solidFill>
                <a:latin typeface="Poppins" pitchFamily="2" charset="77"/>
                <a:cs typeface="Poppins" pitchFamily="2" charset="77"/>
              </a:rPr>
              <a:t>Pecune</a:t>
            </a:r>
            <a:r>
              <a:rPr lang="fr-FR" sz="800" b="1">
                <a:solidFill>
                  <a:srgbClr val="4B85F4"/>
                </a:solidFill>
                <a:latin typeface="Poppins" pitchFamily="2" charset="77"/>
                <a:cs typeface="Poppins" pitchFamily="2" charset="77"/>
              </a:rPr>
              <a:t> (2022),</a:t>
            </a:r>
          </a:p>
          <a:p>
            <a:r>
              <a:rPr lang="fr-FR" sz="800" b="1">
                <a:solidFill>
                  <a:srgbClr val="4B85F4"/>
                </a:solidFill>
                <a:latin typeface="Poppins" pitchFamily="2" charset="77"/>
                <a:cs typeface="Poppins" pitchFamily="2" charset="77"/>
              </a:rPr>
              <a:t>Cordier et al. (2022)</a:t>
            </a:r>
          </a:p>
        </p:txBody>
      </p:sp>
    </p:spTree>
    <p:extLst>
      <p:ext uri="{BB962C8B-B14F-4D97-AF65-F5344CB8AC3E}">
        <p14:creationId xmlns:p14="http://schemas.microsoft.com/office/powerpoint/2010/main" val="35218268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commentaire xmlns="c6f4f978-69b4-45f1-a007-154b6064d09e" xsi:nil="true"/>
    <lcf76f155ced4ddcb4097134ff3c332f xmlns="c6f4f978-69b4-45f1-a007-154b6064d09e">
      <Terms xmlns="http://schemas.microsoft.com/office/infopath/2007/PartnerControls"/>
    </lcf76f155ced4ddcb4097134ff3c332f>
    <TaxCatchAll xmlns="e90d8395-40b8-4eb6-b3a3-fcf63baa4cfc" xsi:nil="true"/>
    <SharedWithUsers xmlns="e90d8395-40b8-4eb6-b3a3-fcf63baa4cfc">
      <UserInfo>
        <DisplayName/>
        <AccountId xsi:nil="true"/>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5D2CE2405749D418709165CC3E5869D" ma:contentTypeVersion="20" ma:contentTypeDescription="Crée un document." ma:contentTypeScope="" ma:versionID="b3e12047f76841293d7b5a5749cc18d2">
  <xsd:schema xmlns:xsd="http://www.w3.org/2001/XMLSchema" xmlns:xs="http://www.w3.org/2001/XMLSchema" xmlns:p="http://schemas.microsoft.com/office/2006/metadata/properties" xmlns:ns2="c6f4f978-69b4-45f1-a007-154b6064d09e" xmlns:ns3="e90d8395-40b8-4eb6-b3a3-fcf63baa4cfc" targetNamespace="http://schemas.microsoft.com/office/2006/metadata/properties" ma:root="true" ma:fieldsID="9ba581493e7acf1b529603c7f41f264e" ns2:_="" ns3:_="">
    <xsd:import namespace="c6f4f978-69b4-45f1-a007-154b6064d09e"/>
    <xsd:import namespace="e90d8395-40b8-4eb6-b3a3-fcf63baa4cf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commentaire"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6f4f978-69b4-45f1-a007-154b6064d09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commentaire" ma:index="20" nillable="true" ma:displayName="commentaire" ma:description="report folder&#10;" ma:format="Dropdown" ma:internalName="commentaire">
      <xsd:simpleType>
        <xsd:restriction base="dms:Choice">
          <xsd:enumeration value="rapport daily"/>
          <xsd:enumeration value="rapport hebdo"/>
          <xsd:enumeration value="Choix 3"/>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Balises d’images" ma:readOnly="false" ma:fieldId="{5cf76f15-5ced-4ddc-b409-7134ff3c332f}" ma:taxonomyMulti="true" ma:sspId="c49d0c85-6a8e-4261-8026-caeabc2b82a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90d8395-40b8-4eb6-b3a3-fcf63baa4cfc" elementFormDefault="qualified">
    <xsd:import namespace="http://schemas.microsoft.com/office/2006/documentManagement/types"/>
    <xsd:import namespace="http://schemas.microsoft.com/office/infopath/2007/PartnerControls"/>
    <xsd:element name="SharedWithUsers" ma:index="16"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Partagé avec détails" ma:internalName="SharedWithDetails" ma:readOnly="true">
      <xsd:simpleType>
        <xsd:restriction base="dms:Note">
          <xsd:maxLength value="255"/>
        </xsd:restriction>
      </xsd:simpleType>
    </xsd:element>
    <xsd:element name="TaxCatchAll" ma:index="24" nillable="true" ma:displayName="Taxonomy Catch All Column" ma:hidden="true" ma:list="{f3c18c4f-1663-43c7-a58e-72503b9ba68e}" ma:internalName="TaxCatchAll" ma:showField="CatchAllData" ma:web="e90d8395-40b8-4eb6-b3a3-fcf63baa4cf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474AE8-A1D1-49A6-BE04-2CB10026DD59}">
  <ds:schemaRefs>
    <ds:schemaRef ds:uri="http://purl.org/dc/elements/1.1/"/>
    <ds:schemaRef ds:uri="http://www.w3.org/XML/1998/namespace"/>
    <ds:schemaRef ds:uri="http://schemas.microsoft.com/office/2006/metadata/properties"/>
    <ds:schemaRef ds:uri="http://schemas.microsoft.com/office/infopath/2007/PartnerControls"/>
    <ds:schemaRef ds:uri="http://schemas.microsoft.com/office/2006/documentManagement/types"/>
    <ds:schemaRef ds:uri="http://purl.org/dc/terms/"/>
    <ds:schemaRef ds:uri="http://schemas.openxmlformats.org/package/2006/metadata/core-properties"/>
    <ds:schemaRef ds:uri="e90d8395-40b8-4eb6-b3a3-fcf63baa4cfc"/>
    <ds:schemaRef ds:uri="c6f4f978-69b4-45f1-a007-154b6064d09e"/>
    <ds:schemaRef ds:uri="http://purl.org/dc/dcmitype/"/>
  </ds:schemaRefs>
</ds:datastoreItem>
</file>

<file path=customXml/itemProps2.xml><?xml version="1.0" encoding="utf-8"?>
<ds:datastoreItem xmlns:ds="http://schemas.openxmlformats.org/officeDocument/2006/customXml" ds:itemID="{9F639D9C-2957-4CD8-A5B5-0161829BC8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6f4f978-69b4-45f1-a007-154b6064d09e"/>
    <ds:schemaRef ds:uri="e90d8395-40b8-4eb6-b3a3-fcf63baa4c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41D1F28-EFB5-4BCE-9BB4-21DEA4AF235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64282</TotalTime>
  <Words>10651</Words>
  <Application>Microsoft Macintosh PowerPoint</Application>
  <PresentationFormat>Widescreen</PresentationFormat>
  <Paragraphs>1139</Paragraphs>
  <Slides>63</Slides>
  <Notes>57</Notes>
  <HiddenSlides>9</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63</vt:i4>
      </vt:variant>
    </vt:vector>
  </HeadingPairs>
  <TitlesOfParts>
    <vt:vector size="74" baseType="lpstr">
      <vt:lpstr>Aptos</vt:lpstr>
      <vt:lpstr>Arial</vt:lpstr>
      <vt:lpstr>Avenir Next LT Pro</vt:lpstr>
      <vt:lpstr>Calibri</vt:lpstr>
      <vt:lpstr>Calibri Light</vt:lpstr>
      <vt:lpstr>Cambria</vt:lpstr>
      <vt:lpstr>Cambria Math</vt:lpstr>
      <vt:lpstr>Poppins</vt:lpstr>
      <vt:lpstr>Times New Roman</vt:lpstr>
      <vt:lpstr>Wingdings</vt:lpstr>
      <vt:lpstr>Office Theme</vt:lpstr>
      <vt:lpstr>Planning Socio-Emotional  Response Generation  for Conversational Agents</vt:lpstr>
      <vt:lpstr>Research Situation - CIFRE</vt:lpstr>
      <vt:lpstr>Current Industrial Conversational Systems</vt:lpstr>
      <vt:lpstr>Research Questions</vt:lpstr>
      <vt:lpstr>Our proposed Approach</vt:lpstr>
      <vt:lpstr>Contributions of this thesis</vt:lpstr>
      <vt:lpstr>PowerPoint Presentation</vt:lpstr>
      <vt:lpstr>Socio-Emotional Labels</vt:lpstr>
      <vt:lpstr>Socio-Emotional Labels</vt:lpstr>
      <vt:lpstr>Socio-Emotional Labels</vt:lpstr>
      <vt:lpstr>E2E Generation (NO-CD) VS ConDitional Generation (CD) </vt:lpstr>
      <vt:lpstr>Planning Module</vt:lpstr>
      <vt:lpstr>Planning Module: Evaluation Protocol</vt:lpstr>
      <vt:lpstr>Generative Module</vt:lpstr>
      <vt:lpstr>Generative Module: Response Evaluation</vt:lpstr>
      <vt:lpstr>Human Evaluation Protocol</vt:lpstr>
      <vt:lpstr>Human Evaluation: Instructions (Step 3)</vt:lpstr>
      <vt:lpstr>Human Evaluation: Scores</vt:lpstr>
      <vt:lpstr>PowerPoint Presentation</vt:lpstr>
      <vt:lpstr>DATA-SERGe A DATAset for Socio-Emotional Response Generation</vt:lpstr>
      <vt:lpstr>DATA-SERGe A DATAset for Socio-Emotional Response Generation</vt:lpstr>
      <vt:lpstr>DATA-SERGe: Annotation</vt:lpstr>
      <vt:lpstr>DATA-SERGe: Analysis</vt:lpstr>
      <vt:lpstr>PowerPoint Presentation</vt:lpstr>
      <vt:lpstr>Experimental Setting</vt:lpstr>
      <vt:lpstr>Results</vt:lpstr>
      <vt:lpstr>Annotators’ Qualitative feedback</vt:lpstr>
      <vt:lpstr>Additional Experiment on DailyDialog</vt:lpstr>
      <vt:lpstr>Main Experimental Takeaways</vt:lpstr>
      <vt:lpstr>PowerPoint Presentation</vt:lpstr>
      <vt:lpstr>RQ1. Discussion &amp; Conclusion  How to improve the socio-emotional response generation for task-oriented dialogue while meeting the industry technological requirements?</vt:lpstr>
      <vt:lpstr>RQ2. Discussion &amp; Conclusion  What data can be used to implement this approach in the specific context of French, customer service dialogue?</vt:lpstr>
      <vt:lpstr>RQ3. Discussion &amp; Conclusion  How to evaluate the general quality as well as the social and emotional consistency of a generative conversational system?</vt:lpstr>
      <vt:lpstr>Ethical considerations  Assessing the impact of our system</vt:lpstr>
      <vt:lpstr>PowerPoint Presentation</vt:lpstr>
      <vt:lpstr>Planning Socio-Emotional  Response Generation  for Conversational Agents</vt:lpstr>
      <vt:lpstr>Generative Module: Rerank &amp; Select</vt:lpstr>
      <vt:lpstr>DATA-SERGe: Speaker Turn-Level Annotation</vt:lpstr>
      <vt:lpstr>DATA-SERGe: Conversation-Level Annotation</vt:lpstr>
      <vt:lpstr>Analysis of DATA-SERGe – Emotion Labels</vt:lpstr>
      <vt:lpstr>Analysis of DATA-SERGe – Dialogue Strategy Labels</vt:lpstr>
      <vt:lpstr>Analysis of DATA-SERGe – Statictics</vt:lpstr>
      <vt:lpstr>DailyDialog: Description</vt:lpstr>
      <vt:lpstr>DATA-SERGe vs. DailyDialog</vt:lpstr>
      <vt:lpstr>Experiment 1: Planning Module</vt:lpstr>
      <vt:lpstr>Experiment 1: Generative Module</vt:lpstr>
      <vt:lpstr>Experiment 1: Generative Module - Results</vt:lpstr>
      <vt:lpstr>Experiment 2: Results</vt:lpstr>
      <vt:lpstr>Experiment 3: Prompts</vt:lpstr>
      <vt:lpstr>Experiment 3: Prompts – Naïve Planning</vt:lpstr>
      <vt:lpstr>Experiment 3: Prompts – 2-Step Planning</vt:lpstr>
      <vt:lpstr>Experiment 3: Prompts – 3-Step Planning</vt:lpstr>
      <vt:lpstr>Experiment 3: Automatic Evaluation</vt:lpstr>
      <vt:lpstr>Experiment 3: Metrics Correlations</vt:lpstr>
      <vt:lpstr>DATA-SERGe: Data Processing</vt:lpstr>
      <vt:lpstr>Data for Socio-Emotional Response Generation  How is socio-conversational data currently collected and annotated?</vt:lpstr>
      <vt:lpstr>Data for Socio-Emotional Response Generation  How is socio-conversational data currently collected and annotated?</vt:lpstr>
      <vt:lpstr>Generative Module: Approaches</vt:lpstr>
      <vt:lpstr>Planning Module: Task Formulation</vt:lpstr>
      <vt:lpstr>Generative Module: Description</vt:lpstr>
      <vt:lpstr>Data for Socio-Emotional Response Generation  How is socio-conversational data currently collected and annotated?</vt:lpstr>
      <vt:lpstr>Data for Socio-Emotional Response Generation  How is socio-conversational data currently collected and annotated?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Lorraine Vanel</dc:creator>
  <cp:lastModifiedBy>Lorraine Vanel</cp:lastModifiedBy>
  <cp:revision>63</cp:revision>
  <dcterms:created xsi:type="dcterms:W3CDTF">2023-09-20T12:30:19Z</dcterms:created>
  <dcterms:modified xsi:type="dcterms:W3CDTF">2025-07-08T16:50:15Z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0x010100D5D2CE2405749D418709165CC3E5869D</vt:lpwstr>
  </property>
  <property fmtid="{D5CDD505-2E9C-101B-9397-08002B2CF9AE}" pid="3" name="MediaServiceImageTags">
    <vt:lpwstr/>
  </property>
  <property fmtid="{D5CDD505-2E9C-101B-9397-08002B2CF9AE}" pid="4" name="ComplianceAssetId">
    <vt:lpwstr/>
  </property>
  <property fmtid="{D5CDD505-2E9C-101B-9397-08002B2CF9AE}" pid="5" name="TriggerFlowInfo">
    <vt:lpwstr/>
  </property>
  <property fmtid="{D5CDD505-2E9C-101B-9397-08002B2CF9AE}" pid="6" name="_SharedFileIndex">
    <vt:lpwstr/>
  </property>
  <property fmtid="{D5CDD505-2E9C-101B-9397-08002B2CF9AE}" pid="7" name="_ExtendedDescription">
    <vt:lpwstr/>
  </property>
  <property fmtid="{D5CDD505-2E9C-101B-9397-08002B2CF9AE}" pid="8" name="_SourceUrl">
    <vt:lpwstr/>
  </property>
  <property fmtid="{D5CDD505-2E9C-101B-9397-08002B2CF9AE}" pid="9" name="Order">
    <vt:r8>8025300</vt:r8>
  </property>
</Properties>
</file>